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6" r:id="rId4"/>
    <p:sldId id="273" r:id="rId5"/>
    <p:sldId id="259" r:id="rId6"/>
    <p:sldId id="260" r:id="rId7"/>
    <p:sldId id="277" r:id="rId8"/>
    <p:sldId id="274" r:id="rId9"/>
    <p:sldId id="275" r:id="rId10"/>
    <p:sldId id="271" r:id="rId11"/>
    <p:sldId id="261" r:id="rId12"/>
    <p:sldId id="263" r:id="rId13"/>
    <p:sldId id="278" r:id="rId14"/>
    <p:sldId id="264" r:id="rId15"/>
    <p:sldId id="268" r:id="rId16"/>
    <p:sldId id="270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251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5BED-5EB1-5994-AA9C-CCD3F2CF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905E3-B60C-B26E-73A9-B40F9F32A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189F8-C7A2-9E08-7EBA-65A10F486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AAA1-5248-0F50-A643-E608C1D862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82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cidchart.com/pages/uml-class-diagram" TargetMode="External"/><Relationship Id="rId2" Type="http://schemas.openxmlformats.org/officeDocument/2006/relationships/hyperlink" Target="https://www.geeksforgeeks.org/system-design/unified-modeling-language-uml-introduction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utorialspoint.com/uml/uml_basic_notations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0a2a5b37-b91a-497a-bc06-b60e313825fe.png"/>
          <p:cNvPicPr>
            <a:picLocks noChangeAspect="1"/>
          </p:cNvPicPr>
          <p:nvPr/>
        </p:nvPicPr>
        <p:blipFill>
          <a:blip r:embed="rId3"/>
          <a:srcRect l="26296" r="26296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0A18"/>
                </a:solidFill>
              </a:rPr>
              <a:t>Lecture 10</a:t>
            </a:r>
          </a:p>
          <a:p>
            <a:pPr marL="0" indent="0" algn="l">
              <a:buNone/>
            </a:pPr>
            <a:r>
              <a:rPr lang="en-US" sz="3600" b="1" dirty="0">
                <a:solidFill>
                  <a:srgbClr val="030A18"/>
                </a:solidFill>
              </a:rPr>
              <a:t>UML </a:t>
            </a:r>
            <a:r>
              <a:rPr lang="en-US" sz="3600" b="1" dirty="0">
                <a:solidFill>
                  <a:srgbClr val="5B93C4"/>
                </a:solidFill>
              </a:rPr>
              <a:t>Diagrams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30A18"/>
                </a:solidFill>
              </a:rPr>
              <a:t>Notations, Structures &amp; Behaviour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October 12,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2971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Recap &amp; Agenda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Last lecture, we explored the basics of UML: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• Class diagrams illustrate the static structure of a system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• Use case diagrams capture user interactions with the system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• Sequence diagrams show object interactions over time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3268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Notations &amp; UML building blocks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35608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0352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Relationships &amp; multiplicity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38528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0352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Other structural diagrams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41448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0352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Behavioural diagrams overview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944368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0352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Examples &amp; best practices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9" name="Freeform: Shape 615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0A4C7D-B7FB-36F7-01CE-89839B0034A6}"/>
              </a:ext>
            </a:extLst>
          </p:cNvPr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3000" b="1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UML Notations</a:t>
            </a:r>
          </a:p>
        </p:txBody>
      </p:sp>
      <p:pic>
        <p:nvPicPr>
          <p:cNvPr id="6146" name="Picture 2" descr="UML class diagram cheat sheet">
            <a:extLst>
              <a:ext uri="{FF2B5EF4-FFF2-40B4-BE49-F238E27FC236}">
                <a16:creationId xmlns:a16="http://schemas.microsoft.com/office/drawing/2014/main" id="{42512E94-7F9D-232B-05C5-48CDF8B3A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5" t="13199" r="7332" b="53114"/>
          <a:stretch>
            <a:fillRect/>
          </a:stretch>
        </p:blipFill>
        <p:spPr bwMode="auto">
          <a:xfrm>
            <a:off x="3260009" y="119642"/>
            <a:ext cx="5510667" cy="438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3B976F-9DA7-B543-5161-7F90844AA6B7}"/>
              </a:ext>
            </a:extLst>
          </p:cNvPr>
          <p:cNvSpPr txBox="1"/>
          <p:nvPr/>
        </p:nvSpPr>
        <p:spPr>
          <a:xfrm>
            <a:off x="3371854" y="4612010"/>
            <a:ext cx="4885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*Sometimes italics are used to represent abstract</a:t>
            </a:r>
          </a:p>
        </p:txBody>
      </p:sp>
    </p:spTree>
    <p:extLst>
      <p:ext uri="{BB962C8B-B14F-4D97-AF65-F5344CB8AC3E}">
        <p14:creationId xmlns:p14="http://schemas.microsoft.com/office/powerpoint/2010/main" val="2094579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39C96-F2DC-4EA1-2ED1-A50A714FC050}"/>
              </a:ext>
            </a:extLst>
          </p:cNvPr>
          <p:cNvSpPr txBox="1"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3000" b="1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Member access modifiers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02753-AC85-3EA9-FFA7-9503CD741A5F}"/>
              </a:ext>
            </a:extLst>
          </p:cNvPr>
          <p:cNvSpPr txBox="1"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1500" b="0" i="0" dirty="0">
                <a:effectLst/>
              </a:rPr>
              <a:t>All classes have different access levels depending on the access modifier (visibility). Here are the access levels with their corresponding symbols: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</a:rPr>
              <a:t>Public (+)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</a:rPr>
              <a:t>Private (-)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</a:rPr>
              <a:t>Protected (#)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</a:rPr>
              <a:t>Package (~)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</a:rPr>
              <a:t>Derived (/)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</a:rPr>
              <a:t>Static (underlined)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endParaRPr lang="en-US" sz="1500" dirty="0"/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1500" dirty="0"/>
              <a:t>Underline in class name means it’s representing object, 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1500" dirty="0"/>
              <a:t>Underline in attribute name means it’s a static variable/function</a:t>
            </a:r>
          </a:p>
        </p:txBody>
      </p:sp>
    </p:spTree>
    <p:extLst>
      <p:ext uri="{BB962C8B-B14F-4D97-AF65-F5344CB8AC3E}">
        <p14:creationId xmlns:p14="http://schemas.microsoft.com/office/powerpoint/2010/main" val="1729127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189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Relationships &amp; Multiplicity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980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731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Dependency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005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A dashed arrow from one element to another indicates that a change in the supplier may require changes in the client.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81328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Association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40080" y="1737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Solid line showing a structural connection between classes; multiplicity labels show how many instances participate.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212848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Generalization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40080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Hollow triangle arrow from child to parent represents inheritance – the child is a specialized form of the parent.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94436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008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Aggregation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4008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Hollow diamond indicates a whole–part relationship where parts can exist independently of the whole.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675888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Composition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40080" y="3931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Filled diamond indicates a whole–part relationship where parts cannot exist outside the whole.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754880" y="1097280"/>
            <a:ext cx="1005840" cy="548640"/>
          </a:xfrm>
          <a:prstGeom prst="rect">
            <a:avLst/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3"/>
          <p:cNvSpPr/>
          <p:nvPr/>
        </p:nvSpPr>
        <p:spPr>
          <a:xfrm>
            <a:off x="4754880" y="10972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0A18"/>
                </a:solidFill>
              </a:rPr>
              <a:t>Book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126480" y="1005840"/>
            <a:ext cx="1005840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5"/>
          <p:cNvSpPr/>
          <p:nvPr/>
        </p:nvSpPr>
        <p:spPr>
          <a:xfrm>
            <a:off x="6126480" y="10058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0A18"/>
                </a:solidFill>
              </a:rPr>
              <a:t>Chapter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5746804" y="1207008"/>
            <a:ext cx="228600" cy="228600"/>
          </a:xfrm>
          <a:prstGeom prst="diamond">
            <a:avLst/>
          </a:prstGeom>
          <a:solidFill>
            <a:srgbClr val="F9FAFC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8"/>
          <p:cNvSpPr/>
          <p:nvPr/>
        </p:nvSpPr>
        <p:spPr>
          <a:xfrm>
            <a:off x="4754880" y="2011680"/>
            <a:ext cx="1005840" cy="548640"/>
          </a:xfrm>
          <a:prstGeom prst="rect">
            <a:avLst/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19"/>
          <p:cNvSpPr/>
          <p:nvPr/>
        </p:nvSpPr>
        <p:spPr>
          <a:xfrm>
            <a:off x="475488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0A18"/>
                </a:solidFill>
              </a:rPr>
              <a:t>Folder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221893" y="1999751"/>
            <a:ext cx="1005840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1"/>
          <p:cNvSpPr/>
          <p:nvPr/>
        </p:nvSpPr>
        <p:spPr>
          <a:xfrm>
            <a:off x="6213943" y="20077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30A18"/>
                </a:solidFill>
              </a:rPr>
              <a:t>File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746804" y="2145261"/>
            <a:ext cx="228600" cy="228600"/>
          </a:xfrm>
          <a:prstGeom prst="diamond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5920140" y="2256181"/>
            <a:ext cx="301752" cy="4573"/>
          </a:xfrm>
          <a:prstGeom prst="line">
            <a:avLst/>
          </a:prstGeom>
          <a:noFill/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4754880" y="822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0A18"/>
                </a:solidFill>
              </a:rPr>
              <a:t>Aggregation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75488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0A18"/>
                </a:solidFill>
              </a:rPr>
              <a:t>Composition</a:t>
            </a:r>
            <a:endParaRPr lang="en-US" sz="1000" dirty="0"/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F4DE7311-311B-DAC9-06DE-20F025815396}"/>
              </a:ext>
            </a:extLst>
          </p:cNvPr>
          <p:cNvSpPr/>
          <p:nvPr/>
        </p:nvSpPr>
        <p:spPr>
          <a:xfrm>
            <a:off x="5963871" y="1309878"/>
            <a:ext cx="162609" cy="0"/>
          </a:xfrm>
          <a:prstGeom prst="line">
            <a:avLst/>
          </a:prstGeom>
          <a:noFill/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11480" y="36059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Relationship Examples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0A18"/>
                </a:solidFill>
              </a:rPr>
              <a:t>Dependency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4008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Client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926080" y="11430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92608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Service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011680" y="1280160"/>
            <a:ext cx="914400" cy="0"/>
          </a:xfrm>
          <a:prstGeom prst="line">
            <a:avLst/>
          </a:prstGeom>
          <a:noFill/>
          <a:ln w="12700">
            <a:solidFill>
              <a:srgbClr val="030A1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 rot="5400000">
            <a:off x="2752344" y="1207008"/>
            <a:ext cx="146304" cy="146304"/>
          </a:xfrm>
          <a:prstGeom prst="triangle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572000" y="9144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0A18"/>
                </a:solidFill>
              </a:rPr>
              <a:t>Association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1430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75488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Person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040880" y="11430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04088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Company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126480" y="1280160"/>
            <a:ext cx="914400" cy="0"/>
          </a:xfrm>
          <a:prstGeom prst="line">
            <a:avLst/>
          </a:prstGeom>
          <a:noFill/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078772" y="108515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030A18"/>
                </a:solidFill>
              </a:rPr>
              <a:t>1..*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6842893" y="108555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030A18"/>
                </a:solidFill>
              </a:rPr>
              <a:t>1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57200" y="21031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0A18"/>
                </a:solidFill>
              </a:rPr>
              <a:t>Generalization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828800" y="2101133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828800" y="2109085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Animal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1828800" y="28346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828800" y="2830661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Dog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514600" y="2743200"/>
            <a:ext cx="0" cy="0"/>
          </a:xfrm>
          <a:prstGeom prst="line">
            <a:avLst/>
          </a:prstGeom>
          <a:noFill/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4572000" y="21031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0A18"/>
                </a:solidFill>
              </a:rPr>
              <a:t>Aggregation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242316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4846320" y="2423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Team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7223760" y="242316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7223760" y="2423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Player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404779" y="2532888"/>
            <a:ext cx="164592" cy="164592"/>
          </a:xfrm>
          <a:prstGeom prst="diamond">
            <a:avLst/>
          </a:prstGeom>
          <a:solidFill>
            <a:srgbClr val="F9FAFC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/>
          <p:cNvSpPr/>
          <p:nvPr/>
        </p:nvSpPr>
        <p:spPr>
          <a:xfrm>
            <a:off x="6565392" y="2615184"/>
            <a:ext cx="658368" cy="0"/>
          </a:xfrm>
          <a:prstGeom prst="line">
            <a:avLst/>
          </a:prstGeom>
          <a:noFill/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457200" y="3291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0A18"/>
                </a:solidFill>
              </a:rPr>
              <a:t>Composition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371600" y="361188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13716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Car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9200" y="361188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502920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0A18"/>
                </a:solidFill>
              </a:rPr>
              <a:t>Engine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200400" y="3708485"/>
            <a:ext cx="164592" cy="164592"/>
          </a:xfrm>
          <a:prstGeom prst="diamond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 flipV="1">
            <a:off x="3364992" y="3780050"/>
            <a:ext cx="1664208" cy="4771"/>
          </a:xfrm>
          <a:prstGeom prst="line">
            <a:avLst/>
          </a:prstGeom>
          <a:noFill/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F19A136-4998-F273-0C88-207F6B1A1372}"/>
              </a:ext>
            </a:extLst>
          </p:cNvPr>
          <p:cNvCxnSpPr>
            <a:cxnSpLocks/>
          </p:cNvCxnSpPr>
          <p:nvPr/>
        </p:nvCxnSpPr>
        <p:spPr>
          <a:xfrm>
            <a:off x="2514600" y="2591331"/>
            <a:ext cx="0" cy="240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hape 23">
            <a:extLst>
              <a:ext uri="{FF2B5EF4-FFF2-40B4-BE49-F238E27FC236}">
                <a16:creationId xmlns:a16="http://schemas.microsoft.com/office/drawing/2014/main" id="{4A7B4C20-1D12-461B-C674-D56EC71FBBC1}"/>
              </a:ext>
            </a:extLst>
          </p:cNvPr>
          <p:cNvSpPr/>
          <p:nvPr/>
        </p:nvSpPr>
        <p:spPr>
          <a:xfrm>
            <a:off x="2441448" y="2423795"/>
            <a:ext cx="146304" cy="160934"/>
          </a:xfrm>
          <a:prstGeom prst="triangle">
            <a:avLst/>
          </a:prstGeom>
          <a:solidFill>
            <a:srgbClr val="F9FAFC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784D0-9C00-9EFE-4E69-AC579CF48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9" name="Freeform: Shape 615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D67DB-94EF-5675-2947-EFE2A6C70B41}"/>
              </a:ext>
            </a:extLst>
          </p:cNvPr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3000" b="1" i="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UML Notations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(Contd.)</a:t>
            </a:r>
            <a:endParaRPr lang="en-US" sz="3000" b="1" i="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6146" name="Picture 2" descr="UML class diagram cheat sheet">
            <a:extLst>
              <a:ext uri="{FF2B5EF4-FFF2-40B4-BE49-F238E27FC236}">
                <a16:creationId xmlns:a16="http://schemas.microsoft.com/office/drawing/2014/main" id="{42BE0F1B-7EE9-CFCB-CD0A-4FB77DE0A0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82"/>
          <a:stretch>
            <a:fillRect/>
          </a:stretch>
        </p:blipFill>
        <p:spPr bwMode="auto">
          <a:xfrm>
            <a:off x="4029600" y="350406"/>
            <a:ext cx="4113752" cy="444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23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2A524-5CD7-233F-996A-B9FD24255AE9}"/>
              </a:ext>
            </a:extLst>
          </p:cNvPr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2600" b="1" i="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Class Diagram of Hotel Management System</a:t>
            </a:r>
          </a:p>
        </p:txBody>
      </p:sp>
      <p:pic>
        <p:nvPicPr>
          <p:cNvPr id="3074" name="Picture 2" descr="class diagram template for hotel management">
            <a:extLst>
              <a:ext uri="{FF2B5EF4-FFF2-40B4-BE49-F238E27FC236}">
                <a16:creationId xmlns:a16="http://schemas.microsoft.com/office/drawing/2014/main" id="{4D94EC07-25AA-3B45-AD29-EF77E39FA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76821" y="620798"/>
            <a:ext cx="5419311" cy="390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40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1A79F-869A-28E1-F8A8-1889FE6D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5" name="Freeform: Shape 513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38D68D-FEF2-134C-B8BC-19A0B27AF43F}"/>
              </a:ext>
            </a:extLst>
          </p:cNvPr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3000" b="1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Class Diagram of ATM Machine</a:t>
            </a:r>
          </a:p>
        </p:txBody>
      </p:sp>
      <p:pic>
        <p:nvPicPr>
          <p:cNvPr id="5122" name="Picture 2" descr="class diagram template for atm system">
            <a:extLst>
              <a:ext uri="{FF2B5EF4-FFF2-40B4-BE49-F238E27FC236}">
                <a16:creationId xmlns:a16="http://schemas.microsoft.com/office/drawing/2014/main" id="{A8D8D9F0-F6F8-4DD8-293B-3BAB45BC3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2222" y="350406"/>
            <a:ext cx="5048509" cy="444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6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ML-Diagrams">
            <a:extLst>
              <a:ext uri="{FF2B5EF4-FFF2-40B4-BE49-F238E27FC236}">
                <a16:creationId xmlns:a16="http://schemas.microsoft.com/office/drawing/2014/main" id="{48F0DFDC-B923-4289-F033-BA91AFB72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900" y="457200"/>
            <a:ext cx="84582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590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320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Object Diagram Example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416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Object diagrams capture a particular state of a system by illustrating the objects that exist and how they are linked.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
</a:t>
            </a:r>
            <a:r>
              <a:rPr lang="en-US" sz="1000" dirty="0">
                <a:solidFill>
                  <a:srgbClr val="030A18"/>
                </a:solidFill>
              </a:rPr>
              <a:t>They are especially helpful for validating class diagrams and exploring test scenarios.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20116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960120" y="2057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30A18"/>
                </a:solidFill>
              </a:rPr>
              <a:t>Student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name = "Alice"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age = 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20116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532120" y="2057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30A18"/>
                </a:solidFill>
              </a:rPr>
              <a:t>Course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code = "CS101"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title = "Intro to CS"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2423160"/>
            <a:ext cx="2468880" cy="0"/>
          </a:xfrm>
          <a:prstGeom prst="line">
            <a:avLst/>
          </a:prstGeom>
          <a:noFill/>
          <a:ln w="1524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937000" y="2189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30A18"/>
                </a:solidFill>
              </a:rPr>
              <a:t>enrolledIn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199" y="320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Deployment Diagram Example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199" y="640080"/>
            <a:ext cx="780420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Deployment diagrams map software components onto hardware nodes to describe the physical architecture.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Useful for illustrating distributed systems, cloud architectures and deployment strategies.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20116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A18"/>
                </a:solidFill>
              </a:rPr>
              <a:t>Web Server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188720" y="2286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887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30A18"/>
                </a:solidFill>
              </a:rPr>
              <a:t>Web App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0" y="20116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B58DB6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4864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A18"/>
                </a:solidFill>
              </a:rPr>
              <a:t>DB Server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7607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30A18"/>
                </a:solidFill>
              </a:rPr>
              <a:t>MySQL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2468880"/>
            <a:ext cx="2286000" cy="0"/>
          </a:xfrm>
          <a:prstGeom prst="line">
            <a:avLst/>
          </a:prstGeom>
          <a:noFill/>
          <a:ln w="12700">
            <a:solidFill>
              <a:srgbClr val="030A1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114800" y="22211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30A18"/>
                </a:solidFill>
              </a:rPr>
              <a:t>JDBC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F126B-4E8B-26E3-CD36-B35A15B0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ML-Diagrams">
            <a:extLst>
              <a:ext uri="{FF2B5EF4-FFF2-40B4-BE49-F238E27FC236}">
                <a16:creationId xmlns:a16="http://schemas.microsoft.com/office/drawing/2014/main" id="{F82F0585-1F62-4C6B-6401-B4566CDD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900" y="457200"/>
            <a:ext cx="84582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802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5920" y="1783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Behavioural Diagrams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4980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731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Use Case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1520" y="896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Captures user goals and system interactions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749808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20640" y="731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Sequence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120640" y="896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Shows the chronological order of messages between objects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81328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1463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Activity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731520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Models workflows and decision paths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20640" y="1463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Communication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120640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Highlights object interactions and message routing</a:t>
            </a:r>
            <a:endParaRPr lang="en-US" sz="8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212848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3152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State Machine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731520" y="2359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Describes how an object transitions between states</a:t>
            </a:r>
            <a:endParaRPr lang="en-US" sz="8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212848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2064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Interaction Overview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5120640" y="2359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Combines activity flow with references to other interaction diagrams</a:t>
            </a:r>
            <a:endParaRPr lang="en-US" sz="8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944368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31520" y="2926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0A18"/>
                </a:solidFill>
              </a:rPr>
              <a:t>Timing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731520" y="30906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0A18"/>
                </a:solidFill>
              </a:rPr>
              <a:t>Focuses on state or value changes along a timeline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20540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Choosing the Right Diagram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When to use…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D6F62-590D-7A45-4220-9C0A3BBB7C41}"/>
              </a:ext>
            </a:extLst>
          </p:cNvPr>
          <p:cNvSpPr txBox="1"/>
          <p:nvPr/>
        </p:nvSpPr>
        <p:spPr>
          <a:xfrm>
            <a:off x="457200" y="1029034"/>
            <a:ext cx="8106355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30A18"/>
                </a:solidFill>
              </a:rPr>
              <a:t>• Use case diagrams:</a:t>
            </a:r>
            <a:r>
              <a:rPr lang="en-US" sz="1800" dirty="0">
                <a:solidFill>
                  <a:srgbClr val="030A18"/>
                </a:solidFill>
              </a:rPr>
              <a:t> capture functional requirements and actors
</a:t>
            </a:r>
            <a:r>
              <a:rPr lang="en-US" sz="1800" b="1" dirty="0">
                <a:solidFill>
                  <a:srgbClr val="030A18"/>
                </a:solidFill>
              </a:rPr>
              <a:t>• Class diagrams:</a:t>
            </a:r>
            <a:r>
              <a:rPr lang="en-US" sz="1800" dirty="0">
                <a:solidFill>
                  <a:srgbClr val="030A18"/>
                </a:solidFill>
              </a:rPr>
              <a:t> model static structure of a system
</a:t>
            </a:r>
            <a:r>
              <a:rPr lang="en-US" sz="1800" b="1" dirty="0">
                <a:solidFill>
                  <a:srgbClr val="030A18"/>
                </a:solidFill>
              </a:rPr>
              <a:t>• Sequence diagrams:</a:t>
            </a:r>
            <a:r>
              <a:rPr lang="en-US" sz="1800" dirty="0">
                <a:solidFill>
                  <a:srgbClr val="030A18"/>
                </a:solidFill>
              </a:rPr>
              <a:t> describe the order of interactions
</a:t>
            </a:r>
            <a:r>
              <a:rPr lang="en-US" sz="1800" b="1" dirty="0">
                <a:solidFill>
                  <a:srgbClr val="030A18"/>
                </a:solidFill>
              </a:rPr>
              <a:t>• Activity diagrams:</a:t>
            </a:r>
            <a:r>
              <a:rPr lang="en-US" sz="1800" dirty="0">
                <a:solidFill>
                  <a:srgbClr val="030A18"/>
                </a:solidFill>
              </a:rPr>
              <a:t> model workflows and decisions
</a:t>
            </a:r>
            <a:r>
              <a:rPr lang="en-US" sz="1800" b="1" dirty="0">
                <a:solidFill>
                  <a:srgbClr val="030A18"/>
                </a:solidFill>
              </a:rPr>
              <a:t>• State machines:</a:t>
            </a:r>
            <a:r>
              <a:rPr lang="en-US" sz="1800" dirty="0">
                <a:solidFill>
                  <a:srgbClr val="030A18"/>
                </a:solidFill>
              </a:rPr>
              <a:t> illustrate life cycles of objects
</a:t>
            </a:r>
            <a:r>
              <a:rPr lang="en-US" sz="1800" b="1" dirty="0">
                <a:solidFill>
                  <a:srgbClr val="030A18"/>
                </a:solidFill>
              </a:rPr>
              <a:t>• Component &amp; deployment:</a:t>
            </a:r>
            <a:r>
              <a:rPr lang="en-US" sz="1800" dirty="0">
                <a:solidFill>
                  <a:srgbClr val="030A18"/>
                </a:solidFill>
              </a:rPr>
              <a:t> show physical and logical modules
</a:t>
            </a:r>
            <a:r>
              <a:rPr lang="en-US" sz="1800" b="1" dirty="0">
                <a:solidFill>
                  <a:srgbClr val="030A18"/>
                </a:solidFill>
              </a:rPr>
              <a:t>• Communication &amp; interaction overview:</a:t>
            </a:r>
            <a:r>
              <a:rPr lang="en-US" sz="1800" dirty="0">
                <a:solidFill>
                  <a:srgbClr val="030A18"/>
                </a:solidFill>
              </a:rPr>
              <a:t> emphasize object dialogue and big-picture flows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1AB0-2A26-C9BA-D73F-3AE5685B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E2E2642-42ED-381F-34DB-A750E50D637E}"/>
              </a:ext>
            </a:extLst>
          </p:cNvPr>
          <p:cNvSpPr/>
          <p:nvPr/>
        </p:nvSpPr>
        <p:spPr>
          <a:xfrm>
            <a:off x="640080" y="315801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Best Practices</a:t>
            </a:r>
            <a:endParaRPr lang="en-US" sz="2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F9C4956-625B-7298-A41D-2FB4BF1F0D75}"/>
              </a:ext>
            </a:extLst>
          </p:cNvPr>
          <p:cNvSpPr/>
          <p:nvPr/>
        </p:nvSpPr>
        <p:spPr>
          <a:xfrm>
            <a:off x="6400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D484E-6AAD-D3CB-5E61-DFD48245B3C7}"/>
              </a:ext>
            </a:extLst>
          </p:cNvPr>
          <p:cNvSpPr txBox="1"/>
          <p:nvPr/>
        </p:nvSpPr>
        <p:spPr>
          <a:xfrm>
            <a:off x="640080" y="677321"/>
            <a:ext cx="786384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30A18"/>
                </a:solidFill>
              </a:rPr>
              <a:t>• Keep it simple:</a:t>
            </a:r>
            <a:r>
              <a:rPr lang="en-US" sz="1800" dirty="0">
                <a:solidFill>
                  <a:srgbClr val="030A18"/>
                </a:solidFill>
              </a:rPr>
              <a:t> include only essential elements
</a:t>
            </a:r>
            <a:r>
              <a:rPr lang="en-US" sz="1800" b="1" dirty="0">
                <a:solidFill>
                  <a:srgbClr val="030A18"/>
                </a:solidFill>
              </a:rPr>
              <a:t>• Consistent naming:</a:t>
            </a:r>
            <a:r>
              <a:rPr lang="en-US" sz="1800" dirty="0">
                <a:solidFill>
                  <a:srgbClr val="030A18"/>
                </a:solidFill>
              </a:rPr>
              <a:t> use meaningful names for classes, methods and actors
</a:t>
            </a:r>
            <a:r>
              <a:rPr lang="en-US" sz="1800" b="1" dirty="0">
                <a:solidFill>
                  <a:srgbClr val="030A18"/>
                </a:solidFill>
              </a:rPr>
              <a:t>• Logical layout:</a:t>
            </a:r>
            <a:r>
              <a:rPr lang="en-US" sz="1800" dirty="0">
                <a:solidFill>
                  <a:srgbClr val="030A18"/>
                </a:solidFill>
              </a:rPr>
              <a:t> group related elements and align them clearly
</a:t>
            </a:r>
            <a:r>
              <a:rPr lang="en-US" sz="1800" b="1" dirty="0">
                <a:solidFill>
                  <a:srgbClr val="030A18"/>
                </a:solidFill>
              </a:rPr>
              <a:t>• Use proper notation:</a:t>
            </a:r>
            <a:r>
              <a:rPr lang="en-US" sz="1800" dirty="0">
                <a:solidFill>
                  <a:srgbClr val="030A18"/>
                </a:solidFill>
              </a:rPr>
              <a:t> leverage standard symbols for clarity
</a:t>
            </a:r>
            <a:r>
              <a:rPr lang="en-US" sz="1800" b="1" dirty="0">
                <a:solidFill>
                  <a:srgbClr val="030A18"/>
                </a:solidFill>
              </a:rPr>
              <a:t>• Avoid overcrowding:</a:t>
            </a:r>
            <a:r>
              <a:rPr lang="en-US" sz="1800" dirty="0">
                <a:solidFill>
                  <a:srgbClr val="030A18"/>
                </a:solidFill>
              </a:rPr>
              <a:t> split large models into multiple diagrams
</a:t>
            </a:r>
            <a:r>
              <a:rPr lang="en-US" sz="1800" b="1" dirty="0">
                <a:solidFill>
                  <a:srgbClr val="030A18"/>
                </a:solidFill>
              </a:rPr>
              <a:t>• Keep diagrams updated:</a:t>
            </a:r>
            <a:r>
              <a:rPr lang="en-US" sz="1800" dirty="0">
                <a:solidFill>
                  <a:srgbClr val="030A18"/>
                </a:solidFill>
              </a:rPr>
              <a:t> revise diagrams as the design evolves
</a:t>
            </a:r>
            <a:r>
              <a:rPr lang="en-US" sz="1800" b="1" dirty="0">
                <a:solidFill>
                  <a:srgbClr val="030A18"/>
                </a:solidFill>
              </a:rPr>
              <a:t>• Validate with code &amp; peers:</a:t>
            </a:r>
            <a:r>
              <a:rPr lang="en-US" sz="1800" dirty="0">
                <a:solidFill>
                  <a:srgbClr val="030A18"/>
                </a:solidFill>
              </a:rPr>
              <a:t> cross‑check diagrams against implementation and review with colleagues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20079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CE15A-DAEF-8E50-0C33-E94BC262EA11}"/>
              </a:ext>
            </a:extLst>
          </p:cNvPr>
          <p:cNvSpPr txBox="1"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3000" b="1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CD8EC-E606-8B3E-9B6E-D52D121A2192}"/>
              </a:ext>
            </a:extLst>
          </p:cNvPr>
          <p:cNvSpPr txBox="1"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hlinkClick r:id="rId2"/>
              </a:rPr>
              <a:t>https://modeling-languages.com/best-uml-cheatsheets-and-reference-guides/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500" dirty="0">
              <a:hlinkClick r:id="rId2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hlinkClick r:id="rId2"/>
              </a:rPr>
              <a:t>https://www.geeksforgeeks.org/system-design/unified-modeling-language-uml-introduction/</a:t>
            </a: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hlinkClick r:id="rId3"/>
              </a:rPr>
              <a:t>https://www.lucidchart.com/pages/uml-class-diagram</a:t>
            </a: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hlinkClick r:id="rId4"/>
              </a:rPr>
              <a:t>https://www.tutorialspoint.com/uml/uml_basic_notations.htm</a:t>
            </a: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9700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674</Words>
  <Application>Microsoft Macintosh PowerPoint</Application>
  <PresentationFormat>On-screen Show (16:9)</PresentationFormat>
  <Paragraphs>127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Fahim Arefin</cp:lastModifiedBy>
  <cp:revision>10</cp:revision>
  <dcterms:created xsi:type="dcterms:W3CDTF">2025-10-11T20:38:18Z</dcterms:created>
  <dcterms:modified xsi:type="dcterms:W3CDTF">2025-10-12T05:30:23Z</dcterms:modified>
</cp:coreProperties>
</file>