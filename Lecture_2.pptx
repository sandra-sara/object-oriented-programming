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22"/>
  </p:notesMasterIdLst>
  <p:sldIdLst>
    <p:sldId id="256" r:id="rId2"/>
    <p:sldId id="277" r:id="rId3"/>
    <p:sldId id="257" r:id="rId4"/>
    <p:sldId id="258" r:id="rId5"/>
    <p:sldId id="259" r:id="rId6"/>
    <p:sldId id="267" r:id="rId7"/>
    <p:sldId id="276" r:id="rId8"/>
    <p:sldId id="260" r:id="rId9"/>
    <p:sldId id="261" r:id="rId10"/>
    <p:sldId id="262" r:id="rId11"/>
    <p:sldId id="263" r:id="rId12"/>
    <p:sldId id="265" r:id="rId13"/>
    <p:sldId id="264" r:id="rId14"/>
    <p:sldId id="266" r:id="rId15"/>
    <p:sldId id="269" r:id="rId16"/>
    <p:sldId id="270" r:id="rId17"/>
    <p:sldId id="271" r:id="rId18"/>
    <p:sldId id="274" r:id="rId19"/>
    <p:sldId id="275" r:id="rId20"/>
    <p:sldId id="278" r:id="rId2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3"/>
  </p:normalViewPr>
  <p:slideViewPr>
    <p:cSldViewPr>
      <p:cViewPr varScale="1">
        <p:scale>
          <a:sx n="115" d="100"/>
          <a:sy n="115" d="100"/>
        </p:scale>
        <p:origin x="1752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fld id="{53F0D894-08B8-4397-830B-81A5CEBEEA0D}" type="datetimeFigureOut">
              <a:rPr lang="en-US"/>
              <a:pPr>
                <a:defRPr/>
              </a:pPr>
              <a:t>8/23/25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94EE188-7FB5-4220-A0D2-3A3E7824D36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53870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5082A2E-8963-4E5F-BA1F-1DC0D86A0D9E}" type="slidenum">
              <a:rPr lang="en-US" altLang="en-US"/>
              <a:pPr eaLnBrk="1" hangingPunct="1"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8338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4EE188-7FB5-4220-A0D2-3A3E7824D363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29932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en-US"/>
              <a:t>  </a:t>
            </a:r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FCC034B-D23C-41BB-A98C-5D0E1014916A}" type="slidenum">
              <a:rPr lang="en-US" altLang="en-US"/>
              <a:pPr eaLnBrk="1" hangingPunct="1"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3817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.jpe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440777F1-1137-4423-AC13-7B57E62781C4}" type="datetime1">
              <a:rPr lang="en-US" smtClean="0"/>
              <a:t>8/23/25</a:t>
            </a:fld>
            <a:endParaRPr lang="en-US"/>
          </a:p>
        </p:txBody>
      </p:sp>
      <p:sp>
        <p:nvSpPr>
          <p:cNvPr id="12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FD28A1D-1CE1-441B-B929-DBD178A7409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2462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73D9D3-ED87-4A5E-9FA6-B77DA7C73FFC}" type="datetime1">
              <a:rPr lang="en-US" smtClean="0"/>
              <a:t>8/23/25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A2346E-28D5-4E61-9C3A-F74003B5108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9890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/>
        </p:nvSpPr>
        <p:spPr>
          <a:xfrm>
            <a:off x="3636963" y="3005138"/>
            <a:ext cx="182562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5" name="Chevron 4"/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807168F1-9807-46B5-96EB-FD1A570DF166}" type="datetime1">
              <a:rPr lang="en-US" smtClean="0"/>
              <a:t>8/23/25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E7BA56-CF4E-4191-97B8-D575817DDD3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30230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6B589A6C-535E-4010-96E4-B22B10758723}" type="datetime1">
              <a:rPr lang="en-US" smtClean="0"/>
              <a:t>8/23/25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7366E4-9D3B-4CBA-9DDE-E6CE133CBED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82982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5568C8C4-C431-42C1-AFFE-92871F4E26E1}" type="datetime1">
              <a:rPr lang="en-US" smtClean="0"/>
              <a:t>8/23/25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8CB360-FF2D-4164-A928-843C57AF992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35577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10D5F454-952F-484C-A87A-313E4C76C4E9}" type="datetime1">
              <a:rPr lang="en-US" smtClean="0"/>
              <a:t>8/23/25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215C1F-E6A0-4BF3-AF8B-3931FFB2EA1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72825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33CD0E-3766-47A5-A42D-52AC97850AE6}" type="datetime1">
              <a:rPr lang="en-US" smtClean="0"/>
              <a:t>8/23/25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D99F39-E31C-400E-AECE-DEE62635954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7716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AE76D8F9-8A92-4EE7-91EA-E083F1DAD24E}" type="datetime1">
              <a:rPr lang="en-US" smtClean="0"/>
              <a:t>8/23/25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DBCBA8-698D-44B4-B5A7-25854714F93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3031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/>
        </p:nvSpPr>
        <p:spPr bwMode="auto">
          <a:xfrm>
            <a:off x="715963" y="5002213"/>
            <a:ext cx="3802062" cy="14430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6" name="Freeform 5"/>
          <p:cNvSpPr>
            <a:spLocks/>
          </p:cNvSpPr>
          <p:nvPr/>
        </p:nvSpPr>
        <p:spPr bwMode="auto">
          <a:xfrm>
            <a:off x="-53975" y="5784850"/>
            <a:ext cx="380206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7" name="Right Triangle 6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10" name="Chevron 9"/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39224060-BB51-4C6C-81FD-1E684A5C4232}" type="datetime1">
              <a:rPr lang="en-US" smtClean="0"/>
              <a:t>8/23/25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C1ACB1-B83D-4CF6-B065-44019A5DF4B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33868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8B9B4F-2362-4711-8BFE-7EA416F387C4}" type="datetime1">
              <a:rPr lang="en-US" smtClean="0"/>
              <a:t>8/23/25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1600DE-324D-4C47-AB1E-739F68129B1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9199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59B4C3-693C-48C7-96C5-B65E7D1704BF}" type="datetime1">
              <a:rPr lang="en-US" smtClean="0"/>
              <a:t>8/23/25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C3330A-4857-4697-81D5-68BA84F85D7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9077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5963" y="5002213"/>
            <a:ext cx="3802062" cy="14430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975" y="5784850"/>
            <a:ext cx="380206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  <a:latin typeface="Arial" charset="0"/>
              </a:defRPr>
            </a:lvl1pPr>
            <a:extLst/>
          </a:lstStyle>
          <a:p>
            <a:pPr>
              <a:defRPr/>
            </a:pPr>
            <a:fld id="{3718F488-3468-4BF5-AC7C-898453F39317}" type="datetime1">
              <a:rPr lang="en-US" smtClean="0"/>
              <a:t>8/23/25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  <a:latin typeface="Arial" charset="0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8F2C11AB-1B6E-4BE3-BF31-4A1B114540F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96" r:id="rId2"/>
    <p:sldLayoutId id="2147483701" r:id="rId3"/>
    <p:sldLayoutId id="2147483702" r:id="rId4"/>
    <p:sldLayoutId id="2147483703" r:id="rId5"/>
    <p:sldLayoutId id="2147483704" r:id="rId6"/>
    <p:sldLayoutId id="2147483697" r:id="rId7"/>
    <p:sldLayoutId id="2147483705" r:id="rId8"/>
    <p:sldLayoutId id="2147483706" r:id="rId9"/>
    <p:sldLayoutId id="2147483698" r:id="rId10"/>
    <p:sldLayoutId id="2147483699" r:id="rId11"/>
  </p:sldLayoutIdLst>
  <p:hf hdr="0" ftr="0"/>
  <p:txStyles>
    <p:titleStyle>
      <a:lvl1pPr algn="l" rtl="0" fontAlgn="base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9pPr>
      <a:extLst/>
    </p:titleStyle>
    <p:bodyStyle>
      <a:lvl1pPr marL="365125" indent="-255588" algn="l" rtl="0" fontAlgn="base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0713" indent="-228600" algn="l" rtl="0" fontAlgn="base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8838" indent="-228600" algn="l" rtl="0" fontAlgn="base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fontAlgn="base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fontAlgn="base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oracle.com/javase/tutorial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tutorialspoint.com/java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000" dirty="0"/>
              <a:t>Object Oriented Programming (OOP)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611563"/>
            <a:ext cx="7772400" cy="1200150"/>
          </a:xfrm>
        </p:spPr>
        <p:txBody>
          <a:bodyPr/>
          <a:lstStyle/>
          <a:p>
            <a:pPr marR="0"/>
            <a:r>
              <a:rPr lang="en-US" altLang="en-US" sz="6000" dirty="0">
                <a:latin typeface="Times New Roman" panose="02020603050405020304" pitchFamily="18" charset="0"/>
              </a:rPr>
              <a:t>Introduction to Java</a:t>
            </a:r>
          </a:p>
        </p:txBody>
      </p:sp>
      <p:sp>
        <p:nvSpPr>
          <p:cNvPr id="922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FAB8D07-BECB-466E-82CB-62A52600C5B3}" type="slidenum">
              <a:rPr lang="en-US" altLang="en-US">
                <a:solidFill>
                  <a:srgbClr val="FFFFFF"/>
                </a:solidFill>
              </a:rPr>
              <a:pPr eaLnBrk="1" hangingPunct="1"/>
              <a:t>1</a:t>
            </a:fld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5CD898-6807-4EE6-84CC-12238E3BBD28}" type="datetime1">
              <a:rPr lang="en-US" smtClean="0"/>
              <a:t>8/23/25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55577"/>
            <a:ext cx="1066800" cy="19558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9533" y="424574"/>
            <a:ext cx="860936" cy="15573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</a:rPr>
              <a:t>Java The Complete Reference 12</a:t>
            </a:r>
            <a:r>
              <a:rPr lang="en-US" altLang="en-US" sz="2400" baseline="30000" dirty="0">
                <a:latin typeface="Times New Roman" panose="02020603050405020304" pitchFamily="18" charset="0"/>
              </a:rPr>
              <a:t>th</a:t>
            </a:r>
            <a:r>
              <a:rPr lang="en-US" altLang="en-US" sz="2400" dirty="0">
                <a:latin typeface="Times New Roman" panose="02020603050405020304" pitchFamily="18" charset="0"/>
              </a:rPr>
              <a:t> Edition</a:t>
            </a:r>
          </a:p>
          <a:p>
            <a:pPr marL="952500" lvl="1" indent="-495300">
              <a:buFont typeface="Wingdings" panose="05000000000000000000" pitchFamily="2" charset="2"/>
              <a:buNone/>
            </a:pPr>
            <a:r>
              <a:rPr lang="en-US" altLang="en-US" sz="2200" dirty="0">
                <a:latin typeface="Times New Roman" panose="02020603050405020304" pitchFamily="18" charset="0"/>
              </a:rPr>
              <a:t>Author : Herbert </a:t>
            </a:r>
            <a:r>
              <a:rPr lang="en-US" altLang="en-US" sz="2200" dirty="0" err="1">
                <a:latin typeface="Times New Roman" panose="02020603050405020304" pitchFamily="18" charset="0"/>
              </a:rPr>
              <a:t>Schildt</a:t>
            </a:r>
            <a:endParaRPr lang="en-US" altLang="en-US" sz="2200" dirty="0">
              <a:latin typeface="Times New Roman" panose="02020603050405020304" pitchFamily="18" charset="0"/>
            </a:endParaRPr>
          </a:p>
          <a:p>
            <a:pPr marL="952500" lvl="1" indent="-495300">
              <a:buFont typeface="Wingdings" panose="05000000000000000000" pitchFamily="2" charset="2"/>
              <a:buNone/>
            </a:pPr>
            <a:endParaRPr lang="en-US" altLang="en-US" sz="2200" dirty="0">
              <a:latin typeface="Times New Roman" panose="02020603050405020304" pitchFamily="18" charset="0"/>
            </a:endParaRPr>
          </a:p>
          <a:p>
            <a:pPr marL="952500" lvl="1" indent="-495300">
              <a:buFont typeface="Wingdings" panose="05000000000000000000" pitchFamily="2" charset="2"/>
              <a:buNone/>
            </a:pPr>
            <a:endParaRPr lang="en-US" altLang="en-US" sz="2200" dirty="0">
              <a:latin typeface="Times New Roman" panose="02020603050405020304" pitchFamily="18" charset="0"/>
            </a:endParaRPr>
          </a:p>
          <a:p>
            <a:pPr marL="952500" lvl="1" indent="-495300">
              <a:buFont typeface="Wingdings" panose="05000000000000000000" pitchFamily="2" charset="2"/>
              <a:buNone/>
            </a:pPr>
            <a:r>
              <a:rPr lang="en-US" altLang="en-US" sz="2200" dirty="0">
                <a:latin typeface="Times New Roman" panose="02020603050405020304" pitchFamily="18" charset="0"/>
              </a:rPr>
              <a:t>Web Source:</a:t>
            </a:r>
          </a:p>
          <a:p>
            <a:pPr marL="952500" lvl="1" indent="-495300">
              <a:buFont typeface="Wingdings" panose="05000000000000000000" pitchFamily="2" charset="2"/>
              <a:buChar char="ü"/>
            </a:pPr>
            <a:r>
              <a:rPr lang="en-US" altLang="en-US" dirty="0">
                <a:latin typeface="Times New Roman" panose="02020603050405020304" pitchFamily="18" charset="0"/>
                <a:hlinkClick r:id="rId3"/>
              </a:rPr>
              <a:t>http://docs.oracle.com/javase/tutorial/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 marL="952500" lvl="1" indent="-495300">
              <a:buFont typeface="Wingdings" panose="05000000000000000000" pitchFamily="2" charset="2"/>
              <a:buChar char="ü"/>
            </a:pPr>
            <a:r>
              <a:rPr lang="en-US" altLang="en-US" dirty="0">
                <a:latin typeface="Times New Roman" panose="02020603050405020304" pitchFamily="18" charset="0"/>
                <a:hlinkClick r:id="rId4"/>
              </a:rPr>
              <a:t>http://www.tutorialspoint.com/java/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Book’s Name</a:t>
            </a:r>
          </a:p>
        </p:txBody>
      </p:sp>
      <p:sp>
        <p:nvSpPr>
          <p:cNvPr id="1024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EA8EA25-B4C4-4F0C-85BC-92D60D2C977E}" type="slidenum">
              <a:rPr lang="en-US" altLang="en-US"/>
              <a:pPr eaLnBrk="1" hangingPunct="1"/>
              <a:t>2</a:t>
            </a:fld>
            <a:endParaRPr lang="en-US" alt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77FD40D-0238-48AE-890C-7DFD1BCE1160}" type="datetime1">
              <a:rPr lang="en-US" smtClean="0"/>
              <a:t>8/23/25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en-US" sz="2400" dirty="0">
                <a:latin typeface="Times New Roman" panose="02020603050405020304" pitchFamily="18" charset="0"/>
              </a:rPr>
              <a:t>Java is a general purpose object oriented programming language.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400" dirty="0">
                <a:latin typeface="Times New Roman" panose="02020603050405020304" pitchFamily="18" charset="0"/>
              </a:rPr>
              <a:t>Developed by Sun Microsystems. (James </a:t>
            </a:r>
            <a:r>
              <a:rPr lang="en-US" altLang="en-US" sz="2400" dirty="0" err="1">
                <a:latin typeface="Times New Roman" panose="02020603050405020304" pitchFamily="18" charset="0"/>
              </a:rPr>
              <a:t>Gostling</a:t>
            </a:r>
            <a:r>
              <a:rPr lang="en-US" altLang="en-US" sz="2400" dirty="0">
                <a:latin typeface="Times New Roman" panose="02020603050405020304" pitchFamily="18" charset="0"/>
              </a:rPr>
              <a:t>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400" dirty="0">
                <a:latin typeface="Times New Roman" panose="02020603050405020304" pitchFamily="18" charset="0"/>
              </a:rPr>
              <a:t>Initially called “Oak” but was renamed as “Java” in 1995.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400" dirty="0">
                <a:latin typeface="Times New Roman" panose="02020603050405020304" pitchFamily="18" charset="0"/>
              </a:rPr>
              <a:t>Initial motivation is to develop a platform independent language to create software to be embedded in various consumer electronics devices.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400" dirty="0">
                <a:latin typeface="Times New Roman" panose="02020603050405020304" pitchFamily="18" charset="0"/>
              </a:rPr>
              <a:t>Become the language of internet. (portability and security).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400" dirty="0">
                <a:latin typeface="Times New Roman" panose="02020603050405020304" pitchFamily="18" charset="0"/>
              </a:rPr>
              <a:t>Oracle acquired Sun Microsystems as well as Java </a:t>
            </a:r>
            <a:r>
              <a:rPr lang="en-US" altLang="en-US" sz="2400">
                <a:latin typeface="Times New Roman" panose="02020603050405020304" pitchFamily="18" charset="0"/>
              </a:rPr>
              <a:t>in 2009.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History of Java</a:t>
            </a:r>
          </a:p>
        </p:txBody>
      </p:sp>
      <p:sp>
        <p:nvSpPr>
          <p:cNvPr id="1126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F95231E-E219-4762-A8B2-4AFAE258BF7C}" type="slidenum">
              <a:rPr lang="en-US" altLang="en-US"/>
              <a:pPr eaLnBrk="1" hangingPunct="1"/>
              <a:t>3</a:t>
            </a:fld>
            <a:endParaRPr lang="en-US" alt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9DFD32B-AFDB-4F29-9959-83E3D1BBCAB4}" type="datetime1">
              <a:rPr lang="en-US" smtClean="0"/>
              <a:t>8/23/25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 sz="2000">
                <a:latin typeface="Times New Roman" panose="02020603050405020304" pitchFamily="18" charset="0"/>
              </a:rPr>
              <a:t>Simple, Small and Familiar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 sz="2000">
                <a:latin typeface="Times New Roman" panose="02020603050405020304" pitchFamily="18" charset="0"/>
              </a:rPr>
              <a:t>Compiled and Interpreted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 sz="2000">
                <a:latin typeface="Times New Roman" panose="02020603050405020304" pitchFamily="18" charset="0"/>
              </a:rPr>
              <a:t>Object Oriented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 sz="2000">
                <a:latin typeface="Times New Roman" panose="02020603050405020304" pitchFamily="18" charset="0"/>
              </a:rPr>
              <a:t>Platform Independent and portable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 sz="2000">
                <a:latin typeface="Times New Roman" panose="02020603050405020304" pitchFamily="18" charset="0"/>
              </a:rPr>
              <a:t>Robust and Secure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 sz="2000">
                <a:latin typeface="Times New Roman" panose="02020603050405020304" pitchFamily="18" charset="0"/>
              </a:rPr>
              <a:t>Distributed / Network Oriented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 sz="2000">
                <a:latin typeface="Times New Roman" panose="02020603050405020304" pitchFamily="18" charset="0"/>
              </a:rPr>
              <a:t>Multithreaded and Interactive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 sz="2000">
                <a:latin typeface="Times New Roman" panose="02020603050405020304" pitchFamily="18" charset="0"/>
              </a:rPr>
              <a:t>High Performance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 sz="2000">
                <a:latin typeface="Times New Roman" panose="02020603050405020304" pitchFamily="18" charset="0"/>
              </a:rPr>
              <a:t>Dynamic </a:t>
            </a:r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Features of Java</a:t>
            </a:r>
          </a:p>
        </p:txBody>
      </p:sp>
      <p:sp>
        <p:nvSpPr>
          <p:cNvPr id="1229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FAB19D2-752C-44BB-89B3-CFBA8A3E44A3}" type="slidenum">
              <a:rPr lang="en-US" altLang="en-US"/>
              <a:pPr eaLnBrk="1" hangingPunct="1"/>
              <a:t>4</a:t>
            </a:fld>
            <a:endParaRPr lang="en-US" alt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27BC34B-DC03-4649-91EE-01A1E65C6D6A}" type="datetime1">
              <a:rPr lang="en-US" smtClean="0"/>
              <a:t>8/23/25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SzTx/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 sz="2400">
                <a:latin typeface="Times New Roman" panose="02020603050405020304" pitchFamily="18" charset="0"/>
              </a:rPr>
              <a:t>Similar to C/C++ in syntax</a:t>
            </a:r>
          </a:p>
          <a:p>
            <a:pPr>
              <a:buSzTx/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 sz="2400">
                <a:latin typeface="Times New Roman" panose="02020603050405020304" pitchFamily="18" charset="0"/>
              </a:rPr>
              <a:t>But eliminates several complexities of</a:t>
            </a:r>
          </a:p>
          <a:p>
            <a:pPr lvl="1"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>
                <a:latin typeface="Times New Roman" panose="02020603050405020304" pitchFamily="18" charset="0"/>
              </a:rPr>
              <a:t>No operator overloading</a:t>
            </a:r>
          </a:p>
          <a:p>
            <a:pPr lvl="1"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>
                <a:latin typeface="Times New Roman" panose="02020603050405020304" pitchFamily="18" charset="0"/>
              </a:rPr>
              <a:t>No direct pointer manipulation or pointer arithmetic</a:t>
            </a:r>
          </a:p>
          <a:p>
            <a:pPr lvl="1"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>
                <a:latin typeface="Times New Roman" panose="02020603050405020304" pitchFamily="18" charset="0"/>
              </a:rPr>
              <a:t>No multiple inheritance</a:t>
            </a:r>
          </a:p>
          <a:p>
            <a:pPr lvl="1"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>
                <a:latin typeface="Times New Roman" panose="02020603050405020304" pitchFamily="18" charset="0"/>
              </a:rPr>
              <a:t>No malloc() and free() – handles memory automatically</a:t>
            </a:r>
          </a:p>
          <a:p>
            <a:pPr>
              <a:buSzTx/>
              <a:buFont typeface="Wingdings" panose="05000000000000000000" pitchFamily="2" charset="2"/>
              <a:buBlip>
                <a:blip r:embed="rId2"/>
              </a:buBlip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Simple, Small and Familiar</a:t>
            </a:r>
          </a:p>
        </p:txBody>
      </p:sp>
      <p:sp>
        <p:nvSpPr>
          <p:cNvPr id="1331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9D26E30-5DDA-4DB0-8808-CF208A42F380}" type="slidenum">
              <a:rPr lang="en-US" altLang="en-US"/>
              <a:pPr eaLnBrk="1" hangingPunct="1"/>
              <a:t>5</a:t>
            </a:fld>
            <a:endParaRPr lang="en-US" alt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077767B-2E44-42B7-97E3-A22D7F7211EF}" type="datetime1">
              <a:rPr lang="en-US" smtClean="0"/>
              <a:t>8/23/25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65760" indent="-256032" fontAlgn="auto">
              <a:spcAft>
                <a:spcPts val="0"/>
              </a:spcAft>
              <a:buFont typeface="Wingdings" pitchFamily="2" charset="2"/>
              <a:buBlip>
                <a:blip r:embed="rId3"/>
              </a:buBlip>
              <a:defRPr/>
            </a:pPr>
            <a:r>
              <a:rPr lang="en-US" sz="2600" dirty="0">
                <a:latin typeface="Times New Roman" pitchFamily="18" charset="0"/>
              </a:rPr>
              <a:t>Java works in two stage</a:t>
            </a:r>
          </a:p>
          <a:p>
            <a:pPr marL="621792" lvl="1" fontAlgn="auto">
              <a:spcBef>
                <a:spcPts val="324"/>
              </a:spcBef>
              <a:spcAft>
                <a:spcPts val="0"/>
              </a:spcAft>
              <a:buFont typeface="Wingdings" pitchFamily="2" charset="2"/>
              <a:buBlip>
                <a:blip r:embed="rId3"/>
              </a:buBlip>
              <a:defRPr/>
            </a:pPr>
            <a:r>
              <a:rPr lang="en-US" dirty="0">
                <a:latin typeface="Times New Roman" pitchFamily="18" charset="0"/>
              </a:rPr>
              <a:t>Java compiler translate the source code into byte code.</a:t>
            </a:r>
          </a:p>
          <a:p>
            <a:pPr marL="621792" lvl="1" fontAlgn="auto">
              <a:spcBef>
                <a:spcPts val="324"/>
              </a:spcBef>
              <a:spcAft>
                <a:spcPts val="0"/>
              </a:spcAft>
              <a:buFont typeface="Wingdings" pitchFamily="2" charset="2"/>
              <a:buBlip>
                <a:blip r:embed="rId3"/>
              </a:buBlip>
              <a:defRPr/>
            </a:pPr>
            <a:r>
              <a:rPr lang="en-US" dirty="0">
                <a:latin typeface="Times New Roman" pitchFamily="18" charset="0"/>
              </a:rPr>
              <a:t>Java interpreter converts the byte code into machine level representation.</a:t>
            </a:r>
          </a:p>
          <a:p>
            <a:pPr marL="621792" lvl="1" fontAlgn="auto">
              <a:spcBef>
                <a:spcPts val="324"/>
              </a:spcBef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b="1" u="sng" dirty="0">
                <a:latin typeface="Times New Roman" pitchFamily="18" charset="0"/>
              </a:rPr>
              <a:t>Byte Code:</a:t>
            </a:r>
          </a:p>
          <a:p>
            <a:pPr marL="621792" lvl="1" fontAlgn="auto">
              <a:spcBef>
                <a:spcPts val="324"/>
              </a:spcBef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dirty="0">
                <a:latin typeface="Times New Roman" pitchFamily="18" charset="0"/>
              </a:rPr>
              <a:t>-A highly optimized set of instructions to be executed </a:t>
            </a:r>
            <a:r>
              <a:rPr lang="en-US">
                <a:latin typeface="Times New Roman" pitchFamily="18" charset="0"/>
              </a:rPr>
              <a:t>by the </a:t>
            </a:r>
            <a:r>
              <a:rPr lang="en-US" dirty="0">
                <a:latin typeface="Times New Roman" pitchFamily="18" charset="0"/>
              </a:rPr>
              <a:t>java runtime system, known as java virtual machine (JVM).</a:t>
            </a:r>
          </a:p>
          <a:p>
            <a:pPr marL="621792" lvl="1" fontAlgn="auto">
              <a:spcBef>
                <a:spcPts val="324"/>
              </a:spcBef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dirty="0">
                <a:latin typeface="Times New Roman" pitchFamily="18" charset="0"/>
              </a:rPr>
              <a:t>-Not executable code.</a:t>
            </a:r>
          </a:p>
          <a:p>
            <a:pPr marL="621792" lvl="1" fontAlgn="auto">
              <a:spcBef>
                <a:spcPts val="324"/>
              </a:spcBef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b="1" u="sng" dirty="0">
                <a:latin typeface="Times New Roman" pitchFamily="18" charset="0"/>
              </a:rPr>
              <a:t>Java Virtual Machine (JVM):</a:t>
            </a:r>
          </a:p>
          <a:p>
            <a:pPr marL="621792" lvl="1" fontAlgn="auto">
              <a:spcBef>
                <a:spcPts val="324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>
                <a:latin typeface="Times New Roman" pitchFamily="18" charset="0"/>
              </a:rPr>
              <a:t>Need to be implemented for each platform.</a:t>
            </a:r>
          </a:p>
          <a:p>
            <a:pPr marL="621792" lvl="1" fontAlgn="auto">
              <a:spcBef>
                <a:spcPts val="324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>
                <a:latin typeface="Times New Roman" pitchFamily="18" charset="0"/>
              </a:rPr>
              <a:t>Although the details vary from machine to machine, all JVM understand the same byte code.</a:t>
            </a:r>
          </a:p>
          <a:p>
            <a:pPr marL="621792" lvl="1" fontAlgn="auto">
              <a:spcBef>
                <a:spcPts val="324"/>
              </a:spcBef>
              <a:spcAft>
                <a:spcPts val="0"/>
              </a:spcAft>
              <a:buFontTx/>
              <a:buChar char="-"/>
              <a:defRPr/>
            </a:pPr>
            <a:endParaRPr lang="en-US" dirty="0">
              <a:latin typeface="Times New Roman" pitchFamily="18" charset="0"/>
            </a:endParaRPr>
          </a:p>
          <a:p>
            <a:pPr marL="621792" lvl="1" fontAlgn="auto">
              <a:spcBef>
                <a:spcPts val="324"/>
              </a:spcBef>
              <a:spcAft>
                <a:spcPts val="0"/>
              </a:spcAft>
              <a:buFont typeface="Verdana"/>
              <a:buNone/>
              <a:defRPr/>
            </a:pPr>
            <a:endParaRPr lang="en-US" dirty="0">
              <a:latin typeface="Times New Roman" pitchFamily="18" charset="0"/>
            </a:endParaRPr>
          </a:p>
          <a:p>
            <a:pPr marL="621792" lvl="1" fontAlgn="auto">
              <a:spcBef>
                <a:spcPts val="324"/>
              </a:spcBef>
              <a:spcAft>
                <a:spcPts val="0"/>
              </a:spcAft>
              <a:buFont typeface="Wingdings" pitchFamily="2" charset="2"/>
              <a:buNone/>
              <a:defRPr/>
            </a:pPr>
            <a:endParaRPr lang="en-US" dirty="0">
              <a:latin typeface="Times New Roman" pitchFamily="18" charset="0"/>
            </a:endParaRPr>
          </a:p>
          <a:p>
            <a:pPr marL="365760" indent="-256032" fontAlgn="auto">
              <a:spcAft>
                <a:spcPts val="0"/>
              </a:spcAft>
              <a:buFont typeface="Wingdings" pitchFamily="2" charset="2"/>
              <a:buBlip>
                <a:blip r:embed="rId3"/>
              </a:buBlip>
              <a:defRPr/>
            </a:pPr>
            <a:endParaRPr lang="en-US" sz="2600" dirty="0">
              <a:latin typeface="Times New Roman" pitchFamily="18" charset="0"/>
            </a:endParaRPr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Compiled and Interpreted</a:t>
            </a:r>
          </a:p>
        </p:txBody>
      </p:sp>
      <p:sp>
        <p:nvSpPr>
          <p:cNvPr id="1434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10CDA22-CA69-434B-AD80-B4A16C375CAD}" type="slidenum">
              <a:rPr lang="en-US" altLang="en-US"/>
              <a:pPr eaLnBrk="1" hangingPunct="1"/>
              <a:t>6</a:t>
            </a:fld>
            <a:endParaRPr lang="en-US" alt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93A5AC9-79A8-4909-966C-A815D832DA42}" type="datetime1">
              <a:rPr lang="en-US" smtClean="0"/>
              <a:t>8/23/25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600200"/>
            <a:ext cx="7848600" cy="4953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en-US" sz="2400">
                <a:latin typeface="Times New Roman" panose="02020603050405020304" pitchFamily="18" charset="0"/>
              </a:rPr>
              <a:t>Java compiler produces an intermediate code known as byte code for a machine, known as JVM.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400">
                <a:latin typeface="Times New Roman" panose="02020603050405020304" pitchFamily="18" charset="0"/>
              </a:rPr>
              <a:t>It exists only inside the computer memory.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altLang="en-US" sz="2400">
              <a:latin typeface="Times New Roman" panose="02020603050405020304" pitchFamily="18" charset="0"/>
            </a:endParaRPr>
          </a:p>
          <a:p>
            <a:pPr>
              <a:buFont typeface="Wingdings 3" panose="05040102010807070707" pitchFamily="18" charset="2"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  <a:p>
            <a:pPr>
              <a:buFont typeface="Wingdings 3" panose="05040102010807070707" pitchFamily="18" charset="2"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400">
                <a:latin typeface="Times New Roman" panose="02020603050405020304" pitchFamily="18" charset="0"/>
              </a:rPr>
              <a:t>Machine code is generated by the java interpreter by acting as an intermediary between the virtual machine and real machine.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	 </a:t>
            </a: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Java Virtual Machine</a:t>
            </a: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1295400" y="3048000"/>
            <a:ext cx="13716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>
                <a:latin typeface="Times New Roman" panose="02020603050405020304" pitchFamily="18" charset="0"/>
              </a:rPr>
              <a:t>Java Program</a:t>
            </a:r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3505200" y="3048000"/>
            <a:ext cx="18288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>
                <a:latin typeface="Times New Roman" panose="02020603050405020304" pitchFamily="18" charset="0"/>
              </a:rPr>
              <a:t>Java Compiler</a:t>
            </a:r>
          </a:p>
        </p:txBody>
      </p:sp>
      <p:sp>
        <p:nvSpPr>
          <p:cNvPr id="15366" name="Rectangle 6"/>
          <p:cNvSpPr>
            <a:spLocks noChangeArrowheads="1"/>
          </p:cNvSpPr>
          <p:nvPr/>
        </p:nvSpPr>
        <p:spPr bwMode="auto">
          <a:xfrm>
            <a:off x="6172200" y="3048000"/>
            <a:ext cx="1828800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>
                <a:latin typeface="Times New Roman" panose="02020603050405020304" pitchFamily="18" charset="0"/>
              </a:rPr>
              <a:t>Virtual Machine</a:t>
            </a:r>
          </a:p>
        </p:txBody>
      </p:sp>
      <p:sp>
        <p:nvSpPr>
          <p:cNvPr id="15367" name="Line 7"/>
          <p:cNvSpPr>
            <a:spLocks noChangeShapeType="1"/>
          </p:cNvSpPr>
          <p:nvPr/>
        </p:nvSpPr>
        <p:spPr bwMode="auto">
          <a:xfrm>
            <a:off x="2667000" y="3352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8" name="Line 8"/>
          <p:cNvSpPr>
            <a:spLocks noChangeShapeType="1"/>
          </p:cNvSpPr>
          <p:nvPr/>
        </p:nvSpPr>
        <p:spPr bwMode="auto">
          <a:xfrm>
            <a:off x="5334000" y="3352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9" name="Rectangle 9"/>
          <p:cNvSpPr>
            <a:spLocks noChangeArrowheads="1"/>
          </p:cNvSpPr>
          <p:nvPr/>
        </p:nvSpPr>
        <p:spPr bwMode="auto">
          <a:xfrm>
            <a:off x="1447800" y="5791200"/>
            <a:ext cx="16002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>
                <a:latin typeface="Times New Roman" panose="02020603050405020304" pitchFamily="18" charset="0"/>
              </a:rPr>
              <a:t>Bytecode</a:t>
            </a:r>
          </a:p>
        </p:txBody>
      </p:sp>
      <p:sp>
        <p:nvSpPr>
          <p:cNvPr id="15370" name="Rectangle 10"/>
          <p:cNvSpPr>
            <a:spLocks noChangeArrowheads="1"/>
          </p:cNvSpPr>
          <p:nvPr/>
        </p:nvSpPr>
        <p:spPr bwMode="auto">
          <a:xfrm>
            <a:off x="3810000" y="5791200"/>
            <a:ext cx="16764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>
                <a:latin typeface="Times New Roman" panose="02020603050405020304" pitchFamily="18" charset="0"/>
              </a:rPr>
              <a:t>Java Interpreter</a:t>
            </a:r>
          </a:p>
        </p:txBody>
      </p:sp>
      <p:sp>
        <p:nvSpPr>
          <p:cNvPr id="15371" name="Rectangle 11"/>
          <p:cNvSpPr>
            <a:spLocks noChangeArrowheads="1"/>
          </p:cNvSpPr>
          <p:nvPr/>
        </p:nvSpPr>
        <p:spPr bwMode="auto">
          <a:xfrm>
            <a:off x="6324600" y="5791200"/>
            <a:ext cx="17526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>
                <a:latin typeface="Times New Roman" panose="02020603050405020304" pitchFamily="18" charset="0"/>
              </a:rPr>
              <a:t>Machine Code</a:t>
            </a:r>
          </a:p>
        </p:txBody>
      </p:sp>
      <p:sp>
        <p:nvSpPr>
          <p:cNvPr id="15372" name="Line 12"/>
          <p:cNvSpPr>
            <a:spLocks noChangeShapeType="1"/>
          </p:cNvSpPr>
          <p:nvPr/>
        </p:nvSpPr>
        <p:spPr bwMode="auto">
          <a:xfrm>
            <a:off x="3048000" y="60960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3" name="Line 15"/>
          <p:cNvSpPr>
            <a:spLocks noChangeShapeType="1"/>
          </p:cNvSpPr>
          <p:nvPr/>
        </p:nvSpPr>
        <p:spPr bwMode="auto">
          <a:xfrm>
            <a:off x="3810000" y="60960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4" name="Line 16"/>
          <p:cNvSpPr>
            <a:spLocks noChangeShapeType="1"/>
          </p:cNvSpPr>
          <p:nvPr/>
        </p:nvSpPr>
        <p:spPr bwMode="auto">
          <a:xfrm>
            <a:off x="5486400" y="60960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5" name="Slide Number Placeholder 1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195B347-C22F-4622-AE93-59472D3AECDA}" type="slidenum">
              <a:rPr lang="en-US" altLang="en-US"/>
              <a:pPr eaLnBrk="1" hangingPunct="1"/>
              <a:t>7</a:t>
            </a:fld>
            <a:endParaRPr lang="en-US" alt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E31A844-115F-4893-B356-45F72BF460D3}" type="datetime1">
              <a:rPr lang="en-US" smtClean="0"/>
              <a:t>8/23/25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SzTx/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>
                <a:latin typeface="Times New Roman" panose="02020603050405020304" pitchFamily="18" charset="0"/>
              </a:rPr>
              <a:t>Fundamentally based on OOP</a:t>
            </a:r>
          </a:p>
          <a:p>
            <a:pPr lvl="1"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>
                <a:latin typeface="Times New Roman" panose="02020603050405020304" pitchFamily="18" charset="0"/>
              </a:rPr>
              <a:t>Classes and Objects</a:t>
            </a:r>
          </a:p>
          <a:p>
            <a:pPr lvl="1"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>
                <a:latin typeface="Times New Roman" panose="02020603050405020304" pitchFamily="18" charset="0"/>
              </a:rPr>
              <a:t>Efficient re-use of packages such that the programmer only cares about the interface and not the implementation</a:t>
            </a:r>
          </a:p>
          <a:p>
            <a:pPr lvl="1"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>
                <a:latin typeface="Times New Roman" panose="02020603050405020304" pitchFamily="18" charset="0"/>
              </a:rPr>
              <a:t>The object model in java is simple and easy to extend.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Object Oriented</a:t>
            </a:r>
          </a:p>
        </p:txBody>
      </p:sp>
      <p:sp>
        <p:nvSpPr>
          <p:cNvPr id="1638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4F8D9A6-4EC7-4F44-B4E2-8A94EF287B34}" type="slidenum">
              <a:rPr lang="en-US" altLang="en-US"/>
              <a:pPr eaLnBrk="1" hangingPunct="1"/>
              <a:t>8</a:t>
            </a:fld>
            <a:endParaRPr lang="en-US" alt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4AD32CE-35B9-455A-AECA-8B1A65AB1EF6}" type="datetime1">
              <a:rPr lang="en-US" smtClean="0"/>
              <a:t>8/23/25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SzTx/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 sz="2400">
                <a:latin typeface="Times New Roman" panose="02020603050405020304" pitchFamily="18" charset="0"/>
              </a:rPr>
              <a:t>“Write-Once Run-Anywhere”</a:t>
            </a:r>
          </a:p>
          <a:p>
            <a:pPr>
              <a:buSzTx/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 sz="2400">
                <a:latin typeface="Times New Roman" panose="02020603050405020304" pitchFamily="18" charset="0"/>
              </a:rPr>
              <a:t>Changes in system resources will not force any change in the program.</a:t>
            </a:r>
          </a:p>
          <a:p>
            <a:pPr>
              <a:buSzTx/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 sz="2400">
                <a:latin typeface="Times New Roman" panose="02020603050405020304" pitchFamily="18" charset="0"/>
              </a:rPr>
              <a:t>The Java Virtual Machine (JVM) hides the complexity of working on a particular platform</a:t>
            </a:r>
          </a:p>
          <a:p>
            <a:pPr lvl="1"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 sz="2400">
                <a:latin typeface="Times New Roman" panose="02020603050405020304" pitchFamily="18" charset="0"/>
              </a:rPr>
              <a:t>Convert byte code into machine level representation. </a:t>
            </a:r>
          </a:p>
          <a:p>
            <a:pPr>
              <a:buSzTx/>
              <a:buFont typeface="Wingdings" panose="05000000000000000000" pitchFamily="2" charset="2"/>
              <a:buBlip>
                <a:blip r:embed="rId2"/>
              </a:buBlip>
            </a:pPr>
            <a:endParaRPr lang="en-US" altLang="en-US" sz="240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en-US" sz="2000"/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Platform Independent and Portable</a:t>
            </a:r>
          </a:p>
        </p:txBody>
      </p:sp>
      <p:sp>
        <p:nvSpPr>
          <p:cNvPr id="1741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C0B4B87-796A-4F2D-B320-6FCEEC0411A7}" type="slidenum">
              <a:rPr lang="en-US" altLang="en-US"/>
              <a:pPr eaLnBrk="1" hangingPunct="1"/>
              <a:t>9</a:t>
            </a:fld>
            <a:endParaRPr lang="en-US" alt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8739351-170E-4881-9AC1-BB87AB23148C}" type="datetime1">
              <a:rPr lang="en-US" smtClean="0"/>
              <a:t>8/23/25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SzTx/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>
                <a:latin typeface="Times New Roman" panose="02020603050405020304" pitchFamily="18" charset="0"/>
              </a:rPr>
              <a:t>Designed with the intention of being secure</a:t>
            </a:r>
          </a:p>
          <a:p>
            <a:pPr lvl="1"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>
                <a:latin typeface="Times New Roman" panose="02020603050405020304" pitchFamily="18" charset="0"/>
              </a:rPr>
              <a:t>No pointer arithmetic or memory management!</a:t>
            </a:r>
          </a:p>
          <a:p>
            <a:pPr lvl="1"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>
                <a:latin typeface="Times New Roman" panose="02020603050405020304" pitchFamily="18" charset="0"/>
              </a:rPr>
              <a:t>Strict compile time and run time checking of data type.</a:t>
            </a:r>
          </a:p>
          <a:p>
            <a:pPr lvl="1"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>
                <a:latin typeface="Times New Roman" panose="02020603050405020304" pitchFamily="18" charset="0"/>
              </a:rPr>
              <a:t>Exception handling</a:t>
            </a:r>
          </a:p>
          <a:p>
            <a:pPr lvl="1"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>
                <a:latin typeface="Times New Roman" panose="02020603050405020304" pitchFamily="18" charset="0"/>
              </a:rPr>
              <a:t>It verify all memory access</a:t>
            </a:r>
          </a:p>
          <a:p>
            <a:pPr lvl="1"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>
                <a:latin typeface="Times New Roman" panose="02020603050405020304" pitchFamily="18" charset="0"/>
              </a:rPr>
              <a:t>Ensure that no viruses are communicated with an applet.</a:t>
            </a:r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Robust and Secure</a:t>
            </a:r>
          </a:p>
        </p:txBody>
      </p:sp>
      <p:sp>
        <p:nvSpPr>
          <p:cNvPr id="1843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D006854-E83E-49DF-AA3F-413B110ECCBD}" type="slidenum">
              <a:rPr lang="en-US" altLang="en-US"/>
              <a:pPr eaLnBrk="1" hangingPunct="1"/>
              <a:t>10</a:t>
            </a:fld>
            <a:endParaRPr lang="en-US" alt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AD8005B-9A35-4C4A-ABC2-911E074561A7}" type="datetime1">
              <a:rPr lang="en-US" smtClean="0"/>
              <a:t>8/23/25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pitchFamily="18" charset="0"/>
              </a:rPr>
              <a:t>Java grew up in the days of the Internet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</a:rPr>
              <a:t>Inherently network friendly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</a:rPr>
              <a:t>Original release of Java came with Networking libraries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</a:rPr>
              <a:t>Newer releases contain even more for handling distributed applications</a:t>
            </a:r>
          </a:p>
          <a:p>
            <a:pPr lvl="2"/>
            <a:r>
              <a:rPr lang="en-US" altLang="en-US">
                <a:latin typeface="Times New Roman" panose="02020603050405020304" pitchFamily="18" charset="0"/>
              </a:rPr>
              <a:t>RMI, Transactions</a:t>
            </a:r>
          </a:p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Distributed and Network Oriented</a:t>
            </a:r>
          </a:p>
        </p:txBody>
      </p:sp>
      <p:sp>
        <p:nvSpPr>
          <p:cNvPr id="1946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F7EEFA8-657F-4EE3-8D32-C5541EF02A06}" type="slidenum">
              <a:rPr lang="en-US" altLang="en-US"/>
              <a:pPr eaLnBrk="1" hangingPunct="1"/>
              <a:t>11</a:t>
            </a:fld>
            <a:endParaRPr lang="en-US" alt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BEDB892-C36E-4250-9792-9F8F8DB09B43}" type="datetime1">
              <a:rPr lang="en-US" smtClean="0"/>
              <a:t>8/23/25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 sz="2400">
                <a:latin typeface="Times New Roman" panose="02020603050405020304" pitchFamily="18" charset="0"/>
              </a:rPr>
              <a:t>Handles multiple tasks simultaneously.</a:t>
            </a:r>
          </a:p>
          <a:p>
            <a:pPr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 sz="2400">
                <a:latin typeface="Times New Roman" panose="02020603050405020304" pitchFamily="18" charset="0"/>
              </a:rPr>
              <a:t>Java runtime system contains tools to support multiprocess synchronization and construct smoothly running interactive systems.</a:t>
            </a:r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Multithreaded and Interactive</a:t>
            </a:r>
          </a:p>
        </p:txBody>
      </p:sp>
      <p:sp>
        <p:nvSpPr>
          <p:cNvPr id="2048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8A9EBD6-5DC0-48DA-9349-DC206AE35CEA}" type="slidenum">
              <a:rPr lang="en-US" altLang="en-US"/>
              <a:pPr eaLnBrk="1" hangingPunct="1"/>
              <a:t>12</a:t>
            </a:fld>
            <a:endParaRPr lang="en-US" alt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B0E386D-5BE5-434A-9CDD-E746A73DF2A4}" type="datetime1">
              <a:rPr lang="en-US" smtClean="0"/>
              <a:t>8/23/25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SzTx/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 sz="2600">
                <a:latin typeface="Times New Roman" panose="02020603050405020304" pitchFamily="18" charset="0"/>
              </a:rPr>
              <a:t>Java performance is slower than C</a:t>
            </a:r>
          </a:p>
          <a:p>
            <a:pPr>
              <a:buSzTx/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 sz="2600">
                <a:latin typeface="Times New Roman" panose="02020603050405020304" pitchFamily="18" charset="0"/>
              </a:rPr>
              <a:t>Provisions are added to reduce overhead at runtime.</a:t>
            </a:r>
          </a:p>
          <a:p>
            <a:pPr>
              <a:buSzTx/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 sz="2600">
                <a:latin typeface="Times New Roman" panose="02020603050405020304" pitchFamily="18" charset="0"/>
              </a:rPr>
              <a:t>Incorporation of multithreading enhance the overall execution speed.</a:t>
            </a:r>
          </a:p>
          <a:p>
            <a:pPr>
              <a:buSzTx/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 sz="2600">
                <a:latin typeface="Times New Roman" panose="02020603050405020304" pitchFamily="18" charset="0"/>
              </a:rPr>
              <a:t>Just-in-Time (JIT) can compile the byte code into machine code.</a:t>
            </a:r>
          </a:p>
          <a:p>
            <a:pPr>
              <a:buSzTx/>
            </a:pPr>
            <a:r>
              <a:rPr lang="en-US" altLang="en-US" sz="2600">
                <a:latin typeface="Times New Roman" panose="02020603050405020304" pitchFamily="18" charset="0"/>
              </a:rPr>
              <a:t>Can sometimes be even faster than compiled C code!</a:t>
            </a:r>
          </a:p>
          <a:p>
            <a:pPr>
              <a:buSzTx/>
            </a:pPr>
            <a:endParaRPr lang="en-US" altLang="en-US" sz="2600">
              <a:latin typeface="Times New Roman" panose="02020603050405020304" pitchFamily="18" charset="0"/>
            </a:endParaRP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High Performance</a:t>
            </a:r>
          </a:p>
        </p:txBody>
      </p:sp>
      <p:sp>
        <p:nvSpPr>
          <p:cNvPr id="2150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6FD8625-7483-4948-9832-C53AC9A33CB4}" type="slidenum">
              <a:rPr lang="en-US" altLang="en-US"/>
              <a:pPr eaLnBrk="1" hangingPunct="1"/>
              <a:t>13</a:t>
            </a:fld>
            <a:endParaRPr lang="en-US" alt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660C579-2699-4E94-90DC-312DB20A49C6}" type="datetime1">
              <a:rPr lang="en-US" smtClean="0"/>
              <a:t>8/23/25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 sz="2600">
                <a:latin typeface="Times New Roman" panose="02020603050405020304" pitchFamily="18" charset="0"/>
              </a:rPr>
              <a:t>Capable of dynamically linking a new class libraries, methods and objects.</a:t>
            </a:r>
          </a:p>
          <a:p>
            <a:pPr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 sz="2600">
                <a:latin typeface="Times New Roman" panose="02020603050405020304" pitchFamily="18" charset="0"/>
              </a:rPr>
              <a:t>Java can use efficient functions available in C/C++. </a:t>
            </a:r>
          </a:p>
          <a:p>
            <a:pPr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 sz="2600">
                <a:latin typeface="Times New Roman" panose="02020603050405020304" pitchFamily="18" charset="0"/>
              </a:rPr>
              <a:t>Installing new version of library automatically updates all programs </a:t>
            </a:r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Dynamic</a:t>
            </a:r>
          </a:p>
        </p:txBody>
      </p:sp>
      <p:sp>
        <p:nvSpPr>
          <p:cNvPr id="2253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3263039-6DC4-415A-B279-5393BB48E4E5}" type="slidenum">
              <a:rPr lang="en-US" altLang="en-US"/>
              <a:pPr eaLnBrk="1" hangingPunct="1"/>
              <a:t>14</a:t>
            </a:fld>
            <a:endParaRPr lang="en-US" alt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2A89D9-2560-49AC-A2D7-9B2937762E2F}" type="datetime1">
              <a:rPr lang="en-US" smtClean="0"/>
              <a:t>8/23/25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60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Why portable and Secure?</a:t>
            </a:r>
          </a:p>
        </p:txBody>
      </p:sp>
      <p:sp>
        <p:nvSpPr>
          <p:cNvPr id="24580" name="Text Box 5"/>
          <p:cNvSpPr txBox="1">
            <a:spLocks noChangeArrowheads="1"/>
          </p:cNvSpPr>
          <p:nvPr/>
        </p:nvSpPr>
        <p:spPr bwMode="auto">
          <a:xfrm>
            <a:off x="914400" y="1905000"/>
            <a:ext cx="7772400" cy="319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Blip>
                <a:blip r:embed="rId2"/>
              </a:buBlip>
            </a:pPr>
            <a:r>
              <a:rPr lang="en-US" altLang="en-US"/>
              <a:t> </a:t>
            </a:r>
            <a:r>
              <a:rPr lang="en-US" altLang="en-US" sz="2400">
                <a:latin typeface="Times New Roman" panose="02020603050405020304" pitchFamily="18" charset="0"/>
              </a:rPr>
              <a:t>The output of java compiler is not executable code.</a:t>
            </a:r>
          </a:p>
          <a:p>
            <a:pPr eaLnBrk="1" hangingPunct="1">
              <a:spcBef>
                <a:spcPct val="50000"/>
              </a:spcBef>
              <a:buFontTx/>
              <a:buBlip>
                <a:blip r:embed="rId2"/>
              </a:buBlip>
            </a:pPr>
            <a:r>
              <a:rPr lang="en-US" altLang="en-US" sz="2400">
                <a:latin typeface="Times New Roman" panose="02020603050405020304" pitchFamily="18" charset="0"/>
              </a:rPr>
              <a:t> Once JVM exists for a platform, any java program can run on it.</a:t>
            </a:r>
          </a:p>
          <a:p>
            <a:pPr eaLnBrk="1" hangingPunct="1">
              <a:spcBef>
                <a:spcPct val="50000"/>
              </a:spcBef>
              <a:buFontTx/>
              <a:buBlip>
                <a:blip r:embed="rId2"/>
              </a:buBlip>
            </a:pPr>
            <a:r>
              <a:rPr lang="en-US" altLang="en-US" sz="2400">
                <a:latin typeface="Times New Roman" panose="02020603050405020304" pitchFamily="18" charset="0"/>
              </a:rPr>
              <a:t> The execution of byte code by the JVM makes java programs portable.</a:t>
            </a:r>
          </a:p>
          <a:p>
            <a:pPr eaLnBrk="1" hangingPunct="1">
              <a:spcBef>
                <a:spcPct val="50000"/>
              </a:spcBef>
              <a:buFontTx/>
              <a:buBlip>
                <a:blip r:embed="rId2"/>
              </a:buBlip>
            </a:pPr>
            <a:r>
              <a:rPr lang="en-US" altLang="en-US" sz="2400">
                <a:latin typeface="Times New Roman" panose="02020603050405020304" pitchFamily="18" charset="0"/>
              </a:rPr>
              <a:t> Java program is confined within  the java execution environment and cannot access the other part of the computer.</a:t>
            </a:r>
          </a:p>
        </p:txBody>
      </p:sp>
      <p:sp>
        <p:nvSpPr>
          <p:cNvPr id="24581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EA3A0E6-434D-47B1-8F54-43EEA3C97AD8}" type="slidenum">
              <a:rPr lang="en-US" altLang="en-US"/>
              <a:pPr eaLnBrk="1" hangingPunct="1"/>
              <a:t>15</a:t>
            </a:fld>
            <a:endParaRPr lang="en-US" alt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7BAC7CD-DB6F-429D-A755-1AA6E80A76D2}" type="datetime1">
              <a:rPr lang="en-US" smtClean="0"/>
              <a:t>8/23/25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buSzTx/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 sz="2400">
                <a:latin typeface="Times New Roman" panose="02020603050405020304" pitchFamily="18" charset="0"/>
              </a:rPr>
              <a:t>Java programs normally undergo five phases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 sz="2200">
                <a:latin typeface="Times New Roman" panose="02020603050405020304" pitchFamily="18" charset="0"/>
              </a:rPr>
              <a:t>Edit</a:t>
            </a:r>
          </a:p>
          <a:p>
            <a:pPr lvl="2">
              <a:lnSpc>
                <a:spcPct val="90000"/>
              </a:lnSpc>
              <a:buSzTx/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>
                <a:latin typeface="Times New Roman" panose="02020603050405020304" pitchFamily="18" charset="0"/>
              </a:rPr>
              <a:t>Programmer writes program (and stores program on disk)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 sz="2200">
                <a:latin typeface="Times New Roman" panose="02020603050405020304" pitchFamily="18" charset="0"/>
              </a:rPr>
              <a:t>Compile</a:t>
            </a:r>
          </a:p>
          <a:p>
            <a:pPr lvl="2">
              <a:lnSpc>
                <a:spcPct val="90000"/>
              </a:lnSpc>
              <a:buSzTx/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>
                <a:latin typeface="Times New Roman" panose="02020603050405020304" pitchFamily="18" charset="0"/>
              </a:rPr>
              <a:t>Compiler creates </a:t>
            </a:r>
            <a:r>
              <a:rPr lang="en-US" altLang="en-US" i="1">
                <a:latin typeface="Times New Roman" panose="02020603050405020304" pitchFamily="18" charset="0"/>
              </a:rPr>
              <a:t>bytecodes</a:t>
            </a:r>
            <a:r>
              <a:rPr lang="en-US" altLang="en-US">
                <a:latin typeface="Times New Roman" panose="02020603050405020304" pitchFamily="18" charset="0"/>
              </a:rPr>
              <a:t> from program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 sz="2200">
                <a:latin typeface="Times New Roman" panose="02020603050405020304" pitchFamily="18" charset="0"/>
              </a:rPr>
              <a:t>Load</a:t>
            </a:r>
          </a:p>
          <a:p>
            <a:pPr lvl="2">
              <a:lnSpc>
                <a:spcPct val="90000"/>
              </a:lnSpc>
              <a:buSzTx/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>
                <a:latin typeface="Times New Roman" panose="02020603050405020304" pitchFamily="18" charset="0"/>
              </a:rPr>
              <a:t>Class loader stores bytecodes in memory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 sz="2200">
                <a:latin typeface="Times New Roman" panose="02020603050405020304" pitchFamily="18" charset="0"/>
              </a:rPr>
              <a:t>Verify</a:t>
            </a:r>
          </a:p>
          <a:p>
            <a:pPr lvl="2">
              <a:lnSpc>
                <a:spcPct val="90000"/>
              </a:lnSpc>
              <a:buSzTx/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>
                <a:latin typeface="Times New Roman" panose="02020603050405020304" pitchFamily="18" charset="0"/>
              </a:rPr>
              <a:t>Verifier ensures bytecodes do not violate security requirements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 sz="2200">
                <a:latin typeface="Times New Roman" panose="02020603050405020304" pitchFamily="18" charset="0"/>
              </a:rPr>
              <a:t>Execute</a:t>
            </a:r>
          </a:p>
          <a:p>
            <a:pPr lvl="2">
              <a:lnSpc>
                <a:spcPct val="90000"/>
              </a:lnSpc>
              <a:buSzTx/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>
                <a:latin typeface="Times New Roman" panose="02020603050405020304" pitchFamily="18" charset="0"/>
              </a:rPr>
              <a:t>Interpreter translates bytecodes into machine language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Basics of Java Environments</a:t>
            </a:r>
          </a:p>
        </p:txBody>
      </p:sp>
      <p:sp>
        <p:nvSpPr>
          <p:cNvPr id="2560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D1E93BD-DF40-4F03-B060-AB54EC627DD8}" type="slidenum">
              <a:rPr lang="en-US" altLang="en-US"/>
              <a:pPr eaLnBrk="1" hangingPunct="1"/>
              <a:t>16</a:t>
            </a:fld>
            <a:endParaRPr lang="en-US" alt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E8976A0-E4EB-4A5F-9298-6EAEBFE0A479}" type="datetime1">
              <a:rPr lang="en-US" smtClean="0"/>
              <a:t>8/23/25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6" name="Group 4"/>
          <p:cNvGrpSpPr>
            <a:grpSpLocks/>
          </p:cNvGrpSpPr>
          <p:nvPr/>
        </p:nvGrpSpPr>
        <p:grpSpPr bwMode="auto">
          <a:xfrm>
            <a:off x="1981200" y="0"/>
            <a:ext cx="6858000" cy="6858000"/>
            <a:chOff x="1344" y="0"/>
            <a:chExt cx="4224" cy="4224"/>
          </a:xfrm>
        </p:grpSpPr>
        <p:sp>
          <p:nvSpPr>
            <p:cNvPr id="26629" name="Rectangle 5"/>
            <p:cNvSpPr>
              <a:spLocks noChangeArrowheads="1"/>
            </p:cNvSpPr>
            <p:nvPr/>
          </p:nvSpPr>
          <p:spPr bwMode="auto">
            <a:xfrm>
              <a:off x="1344" y="0"/>
              <a:ext cx="4224" cy="422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 sz="900" b="1">
                <a:cs typeface="Times New Roman" panose="02020603050405020304" pitchFamily="18" charset="0"/>
              </a:endParaRPr>
            </a:p>
          </p:txBody>
        </p:sp>
        <p:grpSp>
          <p:nvGrpSpPr>
            <p:cNvPr id="26630" name="Group 6"/>
            <p:cNvGrpSpPr>
              <a:grpSpLocks/>
            </p:cNvGrpSpPr>
            <p:nvPr/>
          </p:nvGrpSpPr>
          <p:grpSpPr bwMode="auto">
            <a:xfrm>
              <a:off x="3633" y="847"/>
              <a:ext cx="636" cy="1043"/>
              <a:chOff x="0" y="0"/>
              <a:chExt cx="20000" cy="20002"/>
            </a:xfrm>
          </p:grpSpPr>
          <p:sp>
            <p:nvSpPr>
              <p:cNvPr id="26745" name="Rectangl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9980" cy="34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</a:pPr>
                <a:r>
                  <a:rPr lang="en-US" altLang="en-US" sz="1200" noProof="1">
                    <a:solidFill>
                      <a:srgbClr val="000000"/>
                    </a:solidFill>
                  </a:rPr>
                  <a:t>Primary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en-US" sz="1200" noProof="1">
                    <a:solidFill>
                      <a:srgbClr val="000000"/>
                    </a:solidFill>
                  </a:rPr>
                  <a:t>Memory</a:t>
                </a:r>
              </a:p>
            </p:txBody>
          </p:sp>
          <p:grpSp>
            <p:nvGrpSpPr>
              <p:cNvPr id="26746" name="Group 8"/>
              <p:cNvGrpSpPr>
                <a:grpSpLocks/>
              </p:cNvGrpSpPr>
              <p:nvPr/>
            </p:nvGrpSpPr>
            <p:grpSpPr bwMode="auto">
              <a:xfrm>
                <a:off x="0" y="3575"/>
                <a:ext cx="20000" cy="16427"/>
                <a:chOff x="0" y="0"/>
                <a:chExt cx="20000" cy="20000"/>
              </a:xfrm>
            </p:grpSpPr>
            <p:sp>
              <p:nvSpPr>
                <p:cNvPr id="26747" name="Freeform 9"/>
                <p:cNvSpPr>
                  <a:spLocks/>
                </p:cNvSpPr>
                <p:nvPr/>
              </p:nvSpPr>
              <p:spPr bwMode="auto">
                <a:xfrm>
                  <a:off x="0" y="0"/>
                  <a:ext cx="19834" cy="19981"/>
                </a:xfrm>
                <a:custGeom>
                  <a:avLst/>
                  <a:gdLst>
                    <a:gd name="T0" fmla="*/ 19981 w 20000"/>
                    <a:gd name="T1" fmla="*/ 0 h 20000"/>
                    <a:gd name="T2" fmla="*/ 19981 w 20000"/>
                    <a:gd name="T3" fmla="*/ 19990 h 20000"/>
                    <a:gd name="T4" fmla="*/ 0 w 20000"/>
                    <a:gd name="T5" fmla="*/ 19990 h 20000"/>
                    <a:gd name="T6" fmla="*/ 0 w 20000"/>
                    <a:gd name="T7" fmla="*/ 0 h 20000"/>
                    <a:gd name="T8" fmla="*/ 19981 w 20000"/>
                    <a:gd name="T9" fmla="*/ 0 h 200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000"/>
                    <a:gd name="T16" fmla="*/ 0 h 20000"/>
                    <a:gd name="T17" fmla="*/ 20000 w 20000"/>
                    <a:gd name="T18" fmla="*/ 20000 h 200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000" h="20000">
                      <a:moveTo>
                        <a:pt x="19981" y="0"/>
                      </a:moveTo>
                      <a:lnTo>
                        <a:pt x="19981" y="19990"/>
                      </a:lnTo>
                      <a:lnTo>
                        <a:pt x="0" y="19990"/>
                      </a:lnTo>
                      <a:lnTo>
                        <a:pt x="0" y="0"/>
                      </a:lnTo>
                      <a:lnTo>
                        <a:pt x="19981" y="0"/>
                      </a:lnTo>
                      <a:close/>
                    </a:path>
                  </a:pathLst>
                </a:custGeom>
                <a:solidFill>
                  <a:srgbClr val="4DB3E6"/>
                </a:solidFill>
                <a:ln w="3175">
                  <a:solidFill>
                    <a:srgbClr val="4DB3E6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6748" name="Freeform 10"/>
                <p:cNvSpPr>
                  <a:spLocks/>
                </p:cNvSpPr>
                <p:nvPr/>
              </p:nvSpPr>
              <p:spPr bwMode="auto">
                <a:xfrm>
                  <a:off x="33" y="10"/>
                  <a:ext cx="19967" cy="2493"/>
                </a:xfrm>
                <a:custGeom>
                  <a:avLst/>
                  <a:gdLst>
                    <a:gd name="T0" fmla="*/ 19981 w 20000"/>
                    <a:gd name="T1" fmla="*/ 0 h 20000"/>
                    <a:gd name="T2" fmla="*/ 19981 w 20000"/>
                    <a:gd name="T3" fmla="*/ 19916 h 20000"/>
                    <a:gd name="T4" fmla="*/ 0 w 20000"/>
                    <a:gd name="T5" fmla="*/ 19916 h 20000"/>
                    <a:gd name="T6" fmla="*/ 0 w 20000"/>
                    <a:gd name="T7" fmla="*/ 0 h 20000"/>
                    <a:gd name="T8" fmla="*/ 19981 w 20000"/>
                    <a:gd name="T9" fmla="*/ 0 h 200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000"/>
                    <a:gd name="T16" fmla="*/ 0 h 20000"/>
                    <a:gd name="T17" fmla="*/ 20000 w 20000"/>
                    <a:gd name="T18" fmla="*/ 20000 h 200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000" h="20000">
                      <a:moveTo>
                        <a:pt x="19981" y="0"/>
                      </a:moveTo>
                      <a:lnTo>
                        <a:pt x="19981" y="19916"/>
                      </a:lnTo>
                      <a:lnTo>
                        <a:pt x="0" y="19916"/>
                      </a:lnTo>
                      <a:lnTo>
                        <a:pt x="0" y="0"/>
                      </a:lnTo>
                      <a:lnTo>
                        <a:pt x="19981" y="0"/>
                      </a:lnTo>
                      <a:close/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6749" name="Freeform 11"/>
                <p:cNvSpPr>
                  <a:spLocks/>
                </p:cNvSpPr>
                <p:nvPr/>
              </p:nvSpPr>
              <p:spPr bwMode="auto">
                <a:xfrm>
                  <a:off x="33" y="2523"/>
                  <a:ext cx="19967" cy="2509"/>
                </a:xfrm>
                <a:custGeom>
                  <a:avLst/>
                  <a:gdLst>
                    <a:gd name="T0" fmla="*/ 19981 w 20000"/>
                    <a:gd name="T1" fmla="*/ 0 h 20000"/>
                    <a:gd name="T2" fmla="*/ 19981 w 20000"/>
                    <a:gd name="T3" fmla="*/ 19917 h 20000"/>
                    <a:gd name="T4" fmla="*/ 0 w 20000"/>
                    <a:gd name="T5" fmla="*/ 19917 h 20000"/>
                    <a:gd name="T6" fmla="*/ 0 w 20000"/>
                    <a:gd name="T7" fmla="*/ 0 h 20000"/>
                    <a:gd name="T8" fmla="*/ 19981 w 20000"/>
                    <a:gd name="T9" fmla="*/ 0 h 200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000"/>
                    <a:gd name="T16" fmla="*/ 0 h 20000"/>
                    <a:gd name="T17" fmla="*/ 20000 w 20000"/>
                    <a:gd name="T18" fmla="*/ 20000 h 200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000" h="20000">
                      <a:moveTo>
                        <a:pt x="19981" y="0"/>
                      </a:moveTo>
                      <a:lnTo>
                        <a:pt x="19981" y="19917"/>
                      </a:lnTo>
                      <a:lnTo>
                        <a:pt x="0" y="19917"/>
                      </a:lnTo>
                      <a:lnTo>
                        <a:pt x="0" y="0"/>
                      </a:lnTo>
                      <a:lnTo>
                        <a:pt x="19981" y="0"/>
                      </a:lnTo>
                      <a:close/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grpSp>
              <p:nvGrpSpPr>
                <p:cNvPr id="26750" name="Group 12"/>
                <p:cNvGrpSpPr>
                  <a:grpSpLocks/>
                </p:cNvGrpSpPr>
                <p:nvPr/>
              </p:nvGrpSpPr>
              <p:grpSpPr bwMode="auto">
                <a:xfrm>
                  <a:off x="33" y="5032"/>
                  <a:ext cx="19967" cy="14968"/>
                  <a:chOff x="3" y="1"/>
                  <a:chExt cx="19994" cy="19998"/>
                </a:xfrm>
              </p:grpSpPr>
              <p:sp>
                <p:nvSpPr>
                  <p:cNvPr id="26751" name="Rectangle 13"/>
                  <p:cNvSpPr>
                    <a:spLocks noChangeArrowheads="1"/>
                  </p:cNvSpPr>
                  <p:nvPr/>
                </p:nvSpPr>
                <p:spPr bwMode="auto">
                  <a:xfrm>
                    <a:off x="8320" y="10115"/>
                    <a:ext cx="2240" cy="728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just">
                      <a:lnSpc>
                        <a:spcPct val="88000"/>
                      </a:lnSpc>
                    </a:pPr>
                    <a:r>
                      <a:rPr lang="en-US" altLang="en-US" sz="900" noProof="1">
                        <a:solidFill>
                          <a:srgbClr val="000000"/>
                        </a:solidFill>
                      </a:rPr>
                      <a:t>.</a:t>
                    </a:r>
                  </a:p>
                  <a:p>
                    <a:pPr algn="just">
                      <a:lnSpc>
                        <a:spcPct val="88000"/>
                      </a:lnSpc>
                    </a:pPr>
                    <a:r>
                      <a:rPr lang="en-US" altLang="en-US" sz="900" noProof="1">
                        <a:solidFill>
                          <a:srgbClr val="000000"/>
                        </a:solidFill>
                      </a:rPr>
                      <a:t>.</a:t>
                    </a:r>
                  </a:p>
                  <a:p>
                    <a:pPr algn="just">
                      <a:lnSpc>
                        <a:spcPct val="88000"/>
                      </a:lnSpc>
                    </a:pPr>
                    <a:r>
                      <a:rPr lang="en-US" altLang="en-US" sz="900" noProof="1">
                        <a:solidFill>
                          <a:srgbClr val="000000"/>
                        </a:solidFill>
                      </a:rPr>
                      <a:t>.</a:t>
                    </a:r>
                  </a:p>
                </p:txBody>
              </p:sp>
              <p:sp>
                <p:nvSpPr>
                  <p:cNvPr id="26752" name="Freeform 14"/>
                  <p:cNvSpPr>
                    <a:spLocks/>
                  </p:cNvSpPr>
                  <p:nvPr/>
                </p:nvSpPr>
                <p:spPr bwMode="auto">
                  <a:xfrm>
                    <a:off x="3" y="1"/>
                    <a:ext cx="19994" cy="3332"/>
                  </a:xfrm>
                  <a:custGeom>
                    <a:avLst/>
                    <a:gdLst>
                      <a:gd name="T0" fmla="*/ 19981 w 20000"/>
                      <a:gd name="T1" fmla="*/ 0 h 20000"/>
                      <a:gd name="T2" fmla="*/ 19981 w 20000"/>
                      <a:gd name="T3" fmla="*/ 19916 h 20000"/>
                      <a:gd name="T4" fmla="*/ 0 w 20000"/>
                      <a:gd name="T5" fmla="*/ 19916 h 20000"/>
                      <a:gd name="T6" fmla="*/ 0 w 20000"/>
                      <a:gd name="T7" fmla="*/ 0 h 20000"/>
                      <a:gd name="T8" fmla="*/ 19981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1" y="0"/>
                        </a:moveTo>
                        <a:lnTo>
                          <a:pt x="19981" y="19916"/>
                        </a:lnTo>
                        <a:lnTo>
                          <a:pt x="0" y="19916"/>
                        </a:lnTo>
                        <a:lnTo>
                          <a:pt x="0" y="0"/>
                        </a:lnTo>
                        <a:lnTo>
                          <a:pt x="19981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/>
                  </a:p>
                </p:txBody>
              </p:sp>
              <p:sp>
                <p:nvSpPr>
                  <p:cNvPr id="26753" name="Freeform 15"/>
                  <p:cNvSpPr>
                    <a:spLocks/>
                  </p:cNvSpPr>
                  <p:nvPr/>
                </p:nvSpPr>
                <p:spPr bwMode="auto">
                  <a:xfrm>
                    <a:off x="3" y="3345"/>
                    <a:ext cx="19994" cy="3327"/>
                  </a:xfrm>
                  <a:custGeom>
                    <a:avLst/>
                    <a:gdLst>
                      <a:gd name="T0" fmla="*/ 19981 w 20000"/>
                      <a:gd name="T1" fmla="*/ 0 h 20000"/>
                      <a:gd name="T2" fmla="*/ 19981 w 20000"/>
                      <a:gd name="T3" fmla="*/ 19916 h 20000"/>
                      <a:gd name="T4" fmla="*/ 0 w 20000"/>
                      <a:gd name="T5" fmla="*/ 19916 h 20000"/>
                      <a:gd name="T6" fmla="*/ 0 w 20000"/>
                      <a:gd name="T7" fmla="*/ 0 h 20000"/>
                      <a:gd name="T8" fmla="*/ 19981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1" y="0"/>
                        </a:moveTo>
                        <a:lnTo>
                          <a:pt x="19981" y="19916"/>
                        </a:lnTo>
                        <a:lnTo>
                          <a:pt x="0" y="19916"/>
                        </a:lnTo>
                        <a:lnTo>
                          <a:pt x="0" y="0"/>
                        </a:lnTo>
                        <a:lnTo>
                          <a:pt x="19981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/>
                  </a:p>
                </p:txBody>
              </p:sp>
              <p:sp>
                <p:nvSpPr>
                  <p:cNvPr id="26754" name="Freeform 16"/>
                  <p:cNvSpPr>
                    <a:spLocks/>
                  </p:cNvSpPr>
                  <p:nvPr/>
                </p:nvSpPr>
                <p:spPr bwMode="auto">
                  <a:xfrm>
                    <a:off x="3" y="6672"/>
                    <a:ext cx="19994" cy="3332"/>
                  </a:xfrm>
                  <a:custGeom>
                    <a:avLst/>
                    <a:gdLst>
                      <a:gd name="T0" fmla="*/ 19981 w 20000"/>
                      <a:gd name="T1" fmla="*/ 0 h 20000"/>
                      <a:gd name="T2" fmla="*/ 19981 w 20000"/>
                      <a:gd name="T3" fmla="*/ 19916 h 20000"/>
                      <a:gd name="T4" fmla="*/ 0 w 20000"/>
                      <a:gd name="T5" fmla="*/ 19916 h 20000"/>
                      <a:gd name="T6" fmla="*/ 0 w 20000"/>
                      <a:gd name="T7" fmla="*/ 0 h 20000"/>
                      <a:gd name="T8" fmla="*/ 19981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1" y="0"/>
                        </a:moveTo>
                        <a:lnTo>
                          <a:pt x="19981" y="19916"/>
                        </a:lnTo>
                        <a:lnTo>
                          <a:pt x="0" y="19916"/>
                        </a:lnTo>
                        <a:lnTo>
                          <a:pt x="0" y="0"/>
                        </a:lnTo>
                        <a:lnTo>
                          <a:pt x="19981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/>
                  </a:p>
                </p:txBody>
              </p:sp>
              <p:sp>
                <p:nvSpPr>
                  <p:cNvPr id="26755" name="Freeform 17"/>
                  <p:cNvSpPr>
                    <a:spLocks/>
                  </p:cNvSpPr>
                  <p:nvPr/>
                </p:nvSpPr>
                <p:spPr bwMode="auto">
                  <a:xfrm>
                    <a:off x="3" y="10004"/>
                    <a:ext cx="19994" cy="6671"/>
                  </a:xfrm>
                  <a:custGeom>
                    <a:avLst/>
                    <a:gdLst>
                      <a:gd name="T0" fmla="*/ 19981 w 20000"/>
                      <a:gd name="T1" fmla="*/ 0 h 20000"/>
                      <a:gd name="T2" fmla="*/ 19981 w 20000"/>
                      <a:gd name="T3" fmla="*/ 19958 h 20000"/>
                      <a:gd name="T4" fmla="*/ 0 w 20000"/>
                      <a:gd name="T5" fmla="*/ 19958 h 20000"/>
                      <a:gd name="T6" fmla="*/ 0 w 20000"/>
                      <a:gd name="T7" fmla="*/ 0 h 20000"/>
                      <a:gd name="T8" fmla="*/ 19981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1" y="0"/>
                        </a:moveTo>
                        <a:lnTo>
                          <a:pt x="19981" y="19958"/>
                        </a:lnTo>
                        <a:lnTo>
                          <a:pt x="0" y="19958"/>
                        </a:lnTo>
                        <a:lnTo>
                          <a:pt x="0" y="0"/>
                        </a:lnTo>
                        <a:lnTo>
                          <a:pt x="19981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/>
                  </a:p>
                </p:txBody>
              </p:sp>
              <p:sp>
                <p:nvSpPr>
                  <p:cNvPr id="26756" name="Freeform 18"/>
                  <p:cNvSpPr>
                    <a:spLocks/>
                  </p:cNvSpPr>
                  <p:nvPr/>
                </p:nvSpPr>
                <p:spPr bwMode="auto">
                  <a:xfrm>
                    <a:off x="3" y="16675"/>
                    <a:ext cx="19994" cy="3324"/>
                  </a:xfrm>
                  <a:custGeom>
                    <a:avLst/>
                    <a:gdLst>
                      <a:gd name="T0" fmla="*/ 19981 w 20000"/>
                      <a:gd name="T1" fmla="*/ 0 h 20000"/>
                      <a:gd name="T2" fmla="*/ 19981 w 20000"/>
                      <a:gd name="T3" fmla="*/ 19916 h 20000"/>
                      <a:gd name="T4" fmla="*/ 0 w 20000"/>
                      <a:gd name="T5" fmla="*/ 19916 h 20000"/>
                      <a:gd name="T6" fmla="*/ 0 w 20000"/>
                      <a:gd name="T7" fmla="*/ 0 h 20000"/>
                      <a:gd name="T8" fmla="*/ 19981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1" y="0"/>
                        </a:moveTo>
                        <a:lnTo>
                          <a:pt x="19981" y="19916"/>
                        </a:lnTo>
                        <a:lnTo>
                          <a:pt x="0" y="19916"/>
                        </a:lnTo>
                        <a:lnTo>
                          <a:pt x="0" y="0"/>
                        </a:lnTo>
                        <a:lnTo>
                          <a:pt x="19981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/>
                  </a:p>
                </p:txBody>
              </p:sp>
              <p:sp>
                <p:nvSpPr>
                  <p:cNvPr id="26757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8874" y="10003"/>
                    <a:ext cx="2239" cy="724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>
                      <a:lnSpc>
                        <a:spcPct val="64000"/>
                      </a:lnSpc>
                    </a:pPr>
                    <a:r>
                      <a:rPr lang="en-US" altLang="en-US" sz="900" noProof="1">
                        <a:solidFill>
                          <a:srgbClr val="000000"/>
                        </a:solidFill>
                      </a:rPr>
                      <a:t>.</a:t>
                    </a:r>
                  </a:p>
                  <a:p>
                    <a:pPr algn="ctr">
                      <a:lnSpc>
                        <a:spcPct val="64000"/>
                      </a:lnSpc>
                    </a:pPr>
                    <a:r>
                      <a:rPr lang="en-US" altLang="en-US" sz="900" noProof="1">
                        <a:solidFill>
                          <a:srgbClr val="000000"/>
                        </a:solidFill>
                      </a:rPr>
                      <a:t>.</a:t>
                    </a:r>
                  </a:p>
                  <a:p>
                    <a:pPr algn="ctr">
                      <a:lnSpc>
                        <a:spcPct val="64000"/>
                      </a:lnSpc>
                    </a:pPr>
                    <a:r>
                      <a:rPr lang="en-US" altLang="en-US" sz="900" noProof="1">
                        <a:solidFill>
                          <a:srgbClr val="000000"/>
                        </a:solidFill>
                      </a:rPr>
                      <a:t>.</a:t>
                    </a:r>
                  </a:p>
                </p:txBody>
              </p:sp>
            </p:grpSp>
          </p:grpSp>
        </p:grpSp>
        <p:grpSp>
          <p:nvGrpSpPr>
            <p:cNvPr id="26631" name="Group 20"/>
            <p:cNvGrpSpPr>
              <a:grpSpLocks/>
            </p:cNvGrpSpPr>
            <p:nvPr/>
          </p:nvGrpSpPr>
          <p:grpSpPr bwMode="auto">
            <a:xfrm>
              <a:off x="3633" y="504"/>
              <a:ext cx="636" cy="218"/>
              <a:chOff x="0" y="-1"/>
              <a:chExt cx="20000" cy="20001"/>
            </a:xfrm>
          </p:grpSpPr>
          <p:sp>
            <p:nvSpPr>
              <p:cNvPr id="26742" name="Oval 21"/>
              <p:cNvSpPr>
                <a:spLocks noChangeArrowheads="1"/>
              </p:cNvSpPr>
              <p:nvPr/>
            </p:nvSpPr>
            <p:spPr bwMode="auto">
              <a:xfrm>
                <a:off x="0" y="15019"/>
                <a:ext cx="20000" cy="4981"/>
              </a:xfrm>
              <a:prstGeom prst="ellipse">
                <a:avLst/>
              </a:prstGeom>
              <a:solidFill>
                <a:srgbClr val="4DB3E6"/>
              </a:solidFill>
              <a:ln w="3175">
                <a:solidFill>
                  <a:srgbClr val="4DB3E6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6743" name="Freeform 22"/>
              <p:cNvSpPr>
                <a:spLocks/>
              </p:cNvSpPr>
              <p:nvPr/>
            </p:nvSpPr>
            <p:spPr bwMode="auto">
              <a:xfrm>
                <a:off x="20" y="2557"/>
                <a:ext cx="19980" cy="14807"/>
              </a:xfrm>
              <a:custGeom>
                <a:avLst/>
                <a:gdLst>
                  <a:gd name="T0" fmla="*/ 19981 w 20000"/>
                  <a:gd name="T1" fmla="*/ 0 h 20000"/>
                  <a:gd name="T2" fmla="*/ 19981 w 20000"/>
                  <a:gd name="T3" fmla="*/ 19944 h 20000"/>
                  <a:gd name="T4" fmla="*/ 0 w 20000"/>
                  <a:gd name="T5" fmla="*/ 19944 h 20000"/>
                  <a:gd name="T6" fmla="*/ 0 w 20000"/>
                  <a:gd name="T7" fmla="*/ 0 h 20000"/>
                  <a:gd name="T8" fmla="*/ 19981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000"/>
                  <a:gd name="T16" fmla="*/ 0 h 20000"/>
                  <a:gd name="T17" fmla="*/ 20000 w 20000"/>
                  <a:gd name="T18" fmla="*/ 20000 h 2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000" h="20000">
                    <a:moveTo>
                      <a:pt x="19981" y="0"/>
                    </a:moveTo>
                    <a:lnTo>
                      <a:pt x="19981" y="19944"/>
                    </a:lnTo>
                    <a:lnTo>
                      <a:pt x="0" y="19944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solidFill>
                <a:srgbClr val="4DB3E6"/>
              </a:solidFill>
              <a:ln w="3175">
                <a:solidFill>
                  <a:srgbClr val="4DB3E6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6744" name="Oval 23"/>
              <p:cNvSpPr>
                <a:spLocks noChangeArrowheads="1"/>
              </p:cNvSpPr>
              <p:nvPr/>
            </p:nvSpPr>
            <p:spPr bwMode="auto">
              <a:xfrm>
                <a:off x="0" y="-1"/>
                <a:ext cx="20000" cy="4981"/>
              </a:xfrm>
              <a:prstGeom prst="ellipse">
                <a:avLst/>
              </a:prstGeom>
              <a:solidFill>
                <a:srgbClr val="4DB3E6"/>
              </a:solidFill>
              <a:ln w="3175">
                <a:solidFill>
                  <a:srgbClr val="4DB3E6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26632" name="Oval 24"/>
            <p:cNvSpPr>
              <a:spLocks noChangeArrowheads="1"/>
            </p:cNvSpPr>
            <p:nvPr/>
          </p:nvSpPr>
          <p:spPr bwMode="auto">
            <a:xfrm>
              <a:off x="3633" y="666"/>
              <a:ext cx="636" cy="54"/>
            </a:xfrm>
            <a:prstGeom prst="ellips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633" name="Freeform 25"/>
            <p:cNvSpPr>
              <a:spLocks/>
            </p:cNvSpPr>
            <p:nvPr/>
          </p:nvSpPr>
          <p:spPr bwMode="auto">
            <a:xfrm>
              <a:off x="3633" y="532"/>
              <a:ext cx="636" cy="160"/>
            </a:xfrm>
            <a:custGeom>
              <a:avLst/>
              <a:gdLst>
                <a:gd name="T0" fmla="*/ 19981 w 20000"/>
                <a:gd name="T1" fmla="*/ 0 h 20000"/>
                <a:gd name="T2" fmla="*/ 19981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81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81" y="0"/>
                  </a:moveTo>
                  <a:lnTo>
                    <a:pt x="19981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81" y="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634" name="Freeform 26"/>
            <p:cNvSpPr>
              <a:spLocks/>
            </p:cNvSpPr>
            <p:nvPr/>
          </p:nvSpPr>
          <p:spPr bwMode="auto">
            <a:xfrm>
              <a:off x="3639" y="666"/>
              <a:ext cx="624" cy="30"/>
            </a:xfrm>
            <a:custGeom>
              <a:avLst/>
              <a:gdLst>
                <a:gd name="T0" fmla="*/ 19981 w 20000"/>
                <a:gd name="T1" fmla="*/ 0 h 20000"/>
                <a:gd name="T2" fmla="*/ 19981 w 20000"/>
                <a:gd name="T3" fmla="*/ 19692 h 20000"/>
                <a:gd name="T4" fmla="*/ 0 w 20000"/>
                <a:gd name="T5" fmla="*/ 19692 h 20000"/>
                <a:gd name="T6" fmla="*/ 0 w 20000"/>
                <a:gd name="T7" fmla="*/ 0 h 20000"/>
                <a:gd name="T8" fmla="*/ 19981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81" y="0"/>
                  </a:moveTo>
                  <a:lnTo>
                    <a:pt x="19981" y="19692"/>
                  </a:lnTo>
                  <a:lnTo>
                    <a:pt x="0" y="19692"/>
                  </a:lnTo>
                  <a:lnTo>
                    <a:pt x="0" y="0"/>
                  </a:lnTo>
                  <a:lnTo>
                    <a:pt x="19981" y="0"/>
                  </a:lnTo>
                  <a:close/>
                </a:path>
              </a:pathLst>
            </a:custGeom>
            <a:solidFill>
              <a:srgbClr val="4DB3E6"/>
            </a:solidFill>
            <a:ln w="3175">
              <a:solidFill>
                <a:srgbClr val="4DB3E6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635" name="Rectangle 27"/>
            <p:cNvSpPr>
              <a:spLocks noChangeArrowheads="1"/>
            </p:cNvSpPr>
            <p:nvPr/>
          </p:nvSpPr>
          <p:spPr bwMode="auto">
            <a:xfrm>
              <a:off x="3738" y="592"/>
              <a:ext cx="408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64000"/>
                </a:lnSpc>
              </a:pPr>
              <a:r>
                <a:rPr lang="en-US" altLang="en-US" sz="1200" noProof="1">
                  <a:solidFill>
                    <a:srgbClr val="000000"/>
                  </a:solidFill>
                </a:rPr>
                <a:t>Disk</a:t>
              </a:r>
            </a:p>
          </p:txBody>
        </p:sp>
        <p:sp>
          <p:nvSpPr>
            <p:cNvPr id="26636" name="Freeform 28"/>
            <p:cNvSpPr>
              <a:spLocks/>
            </p:cNvSpPr>
            <p:nvPr/>
          </p:nvSpPr>
          <p:spPr bwMode="auto">
            <a:xfrm>
              <a:off x="3638" y="527"/>
              <a:ext cx="628" cy="30"/>
            </a:xfrm>
            <a:custGeom>
              <a:avLst/>
              <a:gdLst>
                <a:gd name="T0" fmla="*/ 19981 w 20000"/>
                <a:gd name="T1" fmla="*/ 0 h 20000"/>
                <a:gd name="T2" fmla="*/ 19981 w 20000"/>
                <a:gd name="T3" fmla="*/ 19701 h 20000"/>
                <a:gd name="T4" fmla="*/ 0 w 20000"/>
                <a:gd name="T5" fmla="*/ 19701 h 20000"/>
                <a:gd name="T6" fmla="*/ 0 w 20000"/>
                <a:gd name="T7" fmla="*/ 0 h 20000"/>
                <a:gd name="T8" fmla="*/ 19981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81" y="0"/>
                  </a:moveTo>
                  <a:lnTo>
                    <a:pt x="19981" y="19701"/>
                  </a:lnTo>
                  <a:lnTo>
                    <a:pt x="0" y="19701"/>
                  </a:lnTo>
                  <a:lnTo>
                    <a:pt x="0" y="0"/>
                  </a:lnTo>
                  <a:lnTo>
                    <a:pt x="19981" y="0"/>
                  </a:lnTo>
                  <a:close/>
                </a:path>
              </a:pathLst>
            </a:custGeom>
            <a:solidFill>
              <a:srgbClr val="4DB3E6"/>
            </a:solidFill>
            <a:ln w="3175">
              <a:solidFill>
                <a:srgbClr val="4DB3E6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637" name="Oval 29"/>
            <p:cNvSpPr>
              <a:spLocks noChangeArrowheads="1"/>
            </p:cNvSpPr>
            <p:nvPr/>
          </p:nvSpPr>
          <p:spPr bwMode="auto">
            <a:xfrm>
              <a:off x="3633" y="504"/>
              <a:ext cx="636" cy="54"/>
            </a:xfrm>
            <a:prstGeom prst="ellips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pSp>
          <p:nvGrpSpPr>
            <p:cNvPr id="26638" name="Group 30"/>
            <p:cNvGrpSpPr>
              <a:grpSpLocks/>
            </p:cNvGrpSpPr>
            <p:nvPr/>
          </p:nvGrpSpPr>
          <p:grpSpPr bwMode="auto">
            <a:xfrm>
              <a:off x="3633" y="100"/>
              <a:ext cx="636" cy="220"/>
              <a:chOff x="0" y="-1"/>
              <a:chExt cx="20000" cy="20001"/>
            </a:xfrm>
          </p:grpSpPr>
          <p:sp>
            <p:nvSpPr>
              <p:cNvPr id="26739" name="Oval 31"/>
              <p:cNvSpPr>
                <a:spLocks noChangeArrowheads="1"/>
              </p:cNvSpPr>
              <p:nvPr/>
            </p:nvSpPr>
            <p:spPr bwMode="auto">
              <a:xfrm>
                <a:off x="0" y="15019"/>
                <a:ext cx="20000" cy="4981"/>
              </a:xfrm>
              <a:prstGeom prst="ellipse">
                <a:avLst/>
              </a:prstGeom>
              <a:solidFill>
                <a:srgbClr val="4DB3E6"/>
              </a:solidFill>
              <a:ln w="3175">
                <a:solidFill>
                  <a:srgbClr val="4DB3E6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6740" name="Freeform 32"/>
              <p:cNvSpPr>
                <a:spLocks/>
              </p:cNvSpPr>
              <p:nvPr/>
            </p:nvSpPr>
            <p:spPr bwMode="auto">
              <a:xfrm>
                <a:off x="20" y="2557"/>
                <a:ext cx="19980" cy="14807"/>
              </a:xfrm>
              <a:custGeom>
                <a:avLst/>
                <a:gdLst>
                  <a:gd name="T0" fmla="*/ 19981 w 20000"/>
                  <a:gd name="T1" fmla="*/ 0 h 20000"/>
                  <a:gd name="T2" fmla="*/ 19981 w 20000"/>
                  <a:gd name="T3" fmla="*/ 19944 h 20000"/>
                  <a:gd name="T4" fmla="*/ 0 w 20000"/>
                  <a:gd name="T5" fmla="*/ 19944 h 20000"/>
                  <a:gd name="T6" fmla="*/ 0 w 20000"/>
                  <a:gd name="T7" fmla="*/ 0 h 20000"/>
                  <a:gd name="T8" fmla="*/ 19981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000"/>
                  <a:gd name="T16" fmla="*/ 0 h 20000"/>
                  <a:gd name="T17" fmla="*/ 20000 w 20000"/>
                  <a:gd name="T18" fmla="*/ 20000 h 2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000" h="20000">
                    <a:moveTo>
                      <a:pt x="19981" y="0"/>
                    </a:moveTo>
                    <a:lnTo>
                      <a:pt x="19981" y="19944"/>
                    </a:lnTo>
                    <a:lnTo>
                      <a:pt x="0" y="19944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solidFill>
                <a:srgbClr val="4DB3E6"/>
              </a:solidFill>
              <a:ln w="3175">
                <a:solidFill>
                  <a:srgbClr val="4DB3E6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6741" name="Oval 33"/>
              <p:cNvSpPr>
                <a:spLocks noChangeArrowheads="1"/>
              </p:cNvSpPr>
              <p:nvPr/>
            </p:nvSpPr>
            <p:spPr bwMode="auto">
              <a:xfrm>
                <a:off x="0" y="-1"/>
                <a:ext cx="20000" cy="4981"/>
              </a:xfrm>
              <a:prstGeom prst="ellipse">
                <a:avLst/>
              </a:prstGeom>
              <a:solidFill>
                <a:srgbClr val="4DB3E6"/>
              </a:solidFill>
              <a:ln w="3175">
                <a:solidFill>
                  <a:srgbClr val="4DB3E6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26639" name="Oval 34"/>
            <p:cNvSpPr>
              <a:spLocks noChangeArrowheads="1"/>
            </p:cNvSpPr>
            <p:nvPr/>
          </p:nvSpPr>
          <p:spPr bwMode="auto">
            <a:xfrm>
              <a:off x="3633" y="265"/>
              <a:ext cx="636" cy="55"/>
            </a:xfrm>
            <a:prstGeom prst="ellips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640" name="Freeform 35"/>
            <p:cNvSpPr>
              <a:spLocks/>
            </p:cNvSpPr>
            <p:nvPr/>
          </p:nvSpPr>
          <p:spPr bwMode="auto">
            <a:xfrm>
              <a:off x="3633" y="129"/>
              <a:ext cx="636" cy="162"/>
            </a:xfrm>
            <a:custGeom>
              <a:avLst/>
              <a:gdLst>
                <a:gd name="T0" fmla="*/ 19981 w 20000"/>
                <a:gd name="T1" fmla="*/ 0 h 20000"/>
                <a:gd name="T2" fmla="*/ 19981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81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81" y="0"/>
                  </a:moveTo>
                  <a:lnTo>
                    <a:pt x="19981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81" y="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641" name="Freeform 36"/>
            <p:cNvSpPr>
              <a:spLocks/>
            </p:cNvSpPr>
            <p:nvPr/>
          </p:nvSpPr>
          <p:spPr bwMode="auto">
            <a:xfrm>
              <a:off x="3639" y="265"/>
              <a:ext cx="624" cy="29"/>
            </a:xfrm>
            <a:custGeom>
              <a:avLst/>
              <a:gdLst>
                <a:gd name="T0" fmla="*/ 19981 w 20000"/>
                <a:gd name="T1" fmla="*/ 0 h 20000"/>
                <a:gd name="T2" fmla="*/ 19981 w 20000"/>
                <a:gd name="T3" fmla="*/ 19692 h 20000"/>
                <a:gd name="T4" fmla="*/ 0 w 20000"/>
                <a:gd name="T5" fmla="*/ 19692 h 20000"/>
                <a:gd name="T6" fmla="*/ 0 w 20000"/>
                <a:gd name="T7" fmla="*/ 0 h 20000"/>
                <a:gd name="T8" fmla="*/ 19981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81" y="0"/>
                  </a:moveTo>
                  <a:lnTo>
                    <a:pt x="19981" y="19692"/>
                  </a:lnTo>
                  <a:lnTo>
                    <a:pt x="0" y="19692"/>
                  </a:lnTo>
                  <a:lnTo>
                    <a:pt x="0" y="0"/>
                  </a:lnTo>
                  <a:lnTo>
                    <a:pt x="19981" y="0"/>
                  </a:lnTo>
                  <a:close/>
                </a:path>
              </a:pathLst>
            </a:custGeom>
            <a:solidFill>
              <a:srgbClr val="4DB3E6"/>
            </a:solidFill>
            <a:ln w="3175">
              <a:solidFill>
                <a:srgbClr val="4DB3E6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642" name="Rectangle 37"/>
            <p:cNvSpPr>
              <a:spLocks noChangeArrowheads="1"/>
            </p:cNvSpPr>
            <p:nvPr/>
          </p:nvSpPr>
          <p:spPr bwMode="auto">
            <a:xfrm>
              <a:off x="3738" y="189"/>
              <a:ext cx="338" cy="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64000"/>
                </a:lnSpc>
              </a:pPr>
              <a:r>
                <a:rPr lang="en-US" altLang="en-US" sz="1200" noProof="1">
                  <a:solidFill>
                    <a:srgbClr val="000000"/>
                  </a:solidFill>
                </a:rPr>
                <a:t>Disk</a:t>
              </a:r>
            </a:p>
          </p:txBody>
        </p:sp>
        <p:sp>
          <p:nvSpPr>
            <p:cNvPr id="26643" name="Freeform 38"/>
            <p:cNvSpPr>
              <a:spLocks/>
            </p:cNvSpPr>
            <p:nvPr/>
          </p:nvSpPr>
          <p:spPr bwMode="auto">
            <a:xfrm>
              <a:off x="3638" y="123"/>
              <a:ext cx="628" cy="30"/>
            </a:xfrm>
            <a:custGeom>
              <a:avLst/>
              <a:gdLst>
                <a:gd name="T0" fmla="*/ 19981 w 20000"/>
                <a:gd name="T1" fmla="*/ 0 h 20000"/>
                <a:gd name="T2" fmla="*/ 19981 w 20000"/>
                <a:gd name="T3" fmla="*/ 19701 h 20000"/>
                <a:gd name="T4" fmla="*/ 0 w 20000"/>
                <a:gd name="T5" fmla="*/ 19701 h 20000"/>
                <a:gd name="T6" fmla="*/ 0 w 20000"/>
                <a:gd name="T7" fmla="*/ 0 h 20000"/>
                <a:gd name="T8" fmla="*/ 19981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81" y="0"/>
                  </a:moveTo>
                  <a:lnTo>
                    <a:pt x="19981" y="19701"/>
                  </a:lnTo>
                  <a:lnTo>
                    <a:pt x="0" y="19701"/>
                  </a:lnTo>
                  <a:lnTo>
                    <a:pt x="0" y="0"/>
                  </a:lnTo>
                  <a:lnTo>
                    <a:pt x="19981" y="0"/>
                  </a:lnTo>
                  <a:close/>
                </a:path>
              </a:pathLst>
            </a:custGeom>
            <a:solidFill>
              <a:srgbClr val="4DB3E6"/>
            </a:solidFill>
            <a:ln w="3175">
              <a:solidFill>
                <a:srgbClr val="4DB3E6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644" name="Oval 39"/>
            <p:cNvSpPr>
              <a:spLocks noChangeArrowheads="1"/>
            </p:cNvSpPr>
            <p:nvPr/>
          </p:nvSpPr>
          <p:spPr bwMode="auto">
            <a:xfrm>
              <a:off x="3633" y="100"/>
              <a:ext cx="636" cy="54"/>
            </a:xfrm>
            <a:prstGeom prst="ellips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pSp>
          <p:nvGrpSpPr>
            <p:cNvPr id="26645" name="Group 40"/>
            <p:cNvGrpSpPr>
              <a:grpSpLocks/>
            </p:cNvGrpSpPr>
            <p:nvPr/>
          </p:nvGrpSpPr>
          <p:grpSpPr bwMode="auto">
            <a:xfrm>
              <a:off x="2401" y="1440"/>
              <a:ext cx="634" cy="218"/>
              <a:chOff x="0" y="-1"/>
              <a:chExt cx="20000" cy="20001"/>
            </a:xfrm>
          </p:grpSpPr>
          <p:sp>
            <p:nvSpPr>
              <p:cNvPr id="26736" name="Oval 41"/>
              <p:cNvSpPr>
                <a:spLocks noChangeArrowheads="1"/>
              </p:cNvSpPr>
              <p:nvPr/>
            </p:nvSpPr>
            <p:spPr bwMode="auto">
              <a:xfrm>
                <a:off x="0" y="15019"/>
                <a:ext cx="20000" cy="4981"/>
              </a:xfrm>
              <a:prstGeom prst="ellipse">
                <a:avLst/>
              </a:prstGeom>
              <a:solidFill>
                <a:srgbClr val="4DB3E6"/>
              </a:solidFill>
              <a:ln w="3175">
                <a:solidFill>
                  <a:srgbClr val="4DB3E6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6737" name="Freeform 42"/>
              <p:cNvSpPr>
                <a:spLocks/>
              </p:cNvSpPr>
              <p:nvPr/>
            </p:nvSpPr>
            <p:spPr bwMode="auto">
              <a:xfrm>
                <a:off x="20" y="2557"/>
                <a:ext cx="19980" cy="14827"/>
              </a:xfrm>
              <a:custGeom>
                <a:avLst/>
                <a:gdLst>
                  <a:gd name="T0" fmla="*/ 19981 w 20000"/>
                  <a:gd name="T1" fmla="*/ 0 h 20000"/>
                  <a:gd name="T2" fmla="*/ 19981 w 20000"/>
                  <a:gd name="T3" fmla="*/ 19944 h 20000"/>
                  <a:gd name="T4" fmla="*/ 0 w 20000"/>
                  <a:gd name="T5" fmla="*/ 19944 h 20000"/>
                  <a:gd name="T6" fmla="*/ 0 w 20000"/>
                  <a:gd name="T7" fmla="*/ 0 h 20000"/>
                  <a:gd name="T8" fmla="*/ 19981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000"/>
                  <a:gd name="T16" fmla="*/ 0 h 20000"/>
                  <a:gd name="T17" fmla="*/ 20000 w 20000"/>
                  <a:gd name="T18" fmla="*/ 20000 h 2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000" h="20000">
                    <a:moveTo>
                      <a:pt x="19981" y="0"/>
                    </a:moveTo>
                    <a:lnTo>
                      <a:pt x="19981" y="19944"/>
                    </a:lnTo>
                    <a:lnTo>
                      <a:pt x="0" y="19944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solidFill>
                <a:srgbClr val="4DB3E6"/>
              </a:solidFill>
              <a:ln w="3175">
                <a:solidFill>
                  <a:srgbClr val="4DB3E6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6738" name="Oval 43"/>
              <p:cNvSpPr>
                <a:spLocks noChangeArrowheads="1"/>
              </p:cNvSpPr>
              <p:nvPr/>
            </p:nvSpPr>
            <p:spPr bwMode="auto">
              <a:xfrm>
                <a:off x="0" y="-1"/>
                <a:ext cx="20000" cy="4981"/>
              </a:xfrm>
              <a:prstGeom prst="ellipse">
                <a:avLst/>
              </a:prstGeom>
              <a:solidFill>
                <a:srgbClr val="4DB3E6"/>
              </a:solidFill>
              <a:ln w="3175">
                <a:solidFill>
                  <a:srgbClr val="4DB3E6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26646" name="Oval 44"/>
            <p:cNvSpPr>
              <a:spLocks noChangeArrowheads="1"/>
            </p:cNvSpPr>
            <p:nvPr/>
          </p:nvSpPr>
          <p:spPr bwMode="auto">
            <a:xfrm>
              <a:off x="2401" y="1603"/>
              <a:ext cx="634" cy="55"/>
            </a:xfrm>
            <a:prstGeom prst="ellips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647" name="Freeform 45"/>
            <p:cNvSpPr>
              <a:spLocks/>
            </p:cNvSpPr>
            <p:nvPr/>
          </p:nvSpPr>
          <p:spPr bwMode="auto">
            <a:xfrm>
              <a:off x="2401" y="1468"/>
              <a:ext cx="634" cy="161"/>
            </a:xfrm>
            <a:custGeom>
              <a:avLst/>
              <a:gdLst>
                <a:gd name="T0" fmla="*/ 19981 w 20000"/>
                <a:gd name="T1" fmla="*/ 0 h 20000"/>
                <a:gd name="T2" fmla="*/ 19981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81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81" y="0"/>
                  </a:moveTo>
                  <a:lnTo>
                    <a:pt x="19981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81" y="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648" name="Freeform 46"/>
            <p:cNvSpPr>
              <a:spLocks/>
            </p:cNvSpPr>
            <p:nvPr/>
          </p:nvSpPr>
          <p:spPr bwMode="auto">
            <a:xfrm>
              <a:off x="2407" y="1603"/>
              <a:ext cx="623" cy="29"/>
            </a:xfrm>
            <a:custGeom>
              <a:avLst/>
              <a:gdLst>
                <a:gd name="T0" fmla="*/ 19981 w 20000"/>
                <a:gd name="T1" fmla="*/ 0 h 20000"/>
                <a:gd name="T2" fmla="*/ 19981 w 20000"/>
                <a:gd name="T3" fmla="*/ 19692 h 20000"/>
                <a:gd name="T4" fmla="*/ 0 w 20000"/>
                <a:gd name="T5" fmla="*/ 19692 h 20000"/>
                <a:gd name="T6" fmla="*/ 0 w 20000"/>
                <a:gd name="T7" fmla="*/ 0 h 20000"/>
                <a:gd name="T8" fmla="*/ 19981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81" y="0"/>
                  </a:moveTo>
                  <a:lnTo>
                    <a:pt x="19981" y="19692"/>
                  </a:lnTo>
                  <a:lnTo>
                    <a:pt x="0" y="19692"/>
                  </a:lnTo>
                  <a:lnTo>
                    <a:pt x="0" y="0"/>
                  </a:lnTo>
                  <a:lnTo>
                    <a:pt x="19981" y="0"/>
                  </a:lnTo>
                  <a:close/>
                </a:path>
              </a:pathLst>
            </a:custGeom>
            <a:solidFill>
              <a:srgbClr val="4DB3E6"/>
            </a:solidFill>
            <a:ln w="3175">
              <a:solidFill>
                <a:srgbClr val="4DB3E6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649" name="Rectangle 47"/>
            <p:cNvSpPr>
              <a:spLocks noChangeArrowheads="1"/>
            </p:cNvSpPr>
            <p:nvPr/>
          </p:nvSpPr>
          <p:spPr bwMode="auto">
            <a:xfrm>
              <a:off x="2540" y="1506"/>
              <a:ext cx="373" cy="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64000"/>
                </a:lnSpc>
              </a:pPr>
              <a:r>
                <a:rPr lang="en-US" altLang="en-US" sz="1200" noProof="1">
                  <a:solidFill>
                    <a:srgbClr val="000000"/>
                  </a:solidFill>
                </a:rPr>
                <a:t>Disk</a:t>
              </a:r>
            </a:p>
          </p:txBody>
        </p:sp>
        <p:sp>
          <p:nvSpPr>
            <p:cNvPr id="26650" name="Freeform 48"/>
            <p:cNvSpPr>
              <a:spLocks/>
            </p:cNvSpPr>
            <p:nvPr/>
          </p:nvSpPr>
          <p:spPr bwMode="auto">
            <a:xfrm>
              <a:off x="2406" y="1464"/>
              <a:ext cx="626" cy="29"/>
            </a:xfrm>
            <a:custGeom>
              <a:avLst/>
              <a:gdLst>
                <a:gd name="T0" fmla="*/ 19981 w 20000"/>
                <a:gd name="T1" fmla="*/ 0 h 20000"/>
                <a:gd name="T2" fmla="*/ 19981 w 20000"/>
                <a:gd name="T3" fmla="*/ 19701 h 20000"/>
                <a:gd name="T4" fmla="*/ 0 w 20000"/>
                <a:gd name="T5" fmla="*/ 19701 h 20000"/>
                <a:gd name="T6" fmla="*/ 0 w 20000"/>
                <a:gd name="T7" fmla="*/ 0 h 20000"/>
                <a:gd name="T8" fmla="*/ 19981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81" y="0"/>
                  </a:moveTo>
                  <a:lnTo>
                    <a:pt x="19981" y="19701"/>
                  </a:lnTo>
                  <a:lnTo>
                    <a:pt x="0" y="19701"/>
                  </a:lnTo>
                  <a:lnTo>
                    <a:pt x="0" y="0"/>
                  </a:lnTo>
                  <a:lnTo>
                    <a:pt x="19981" y="0"/>
                  </a:lnTo>
                  <a:close/>
                </a:path>
              </a:pathLst>
            </a:custGeom>
            <a:solidFill>
              <a:srgbClr val="4DB3E6"/>
            </a:solidFill>
            <a:ln w="3175">
              <a:solidFill>
                <a:srgbClr val="4DB3E6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651" name="Oval 49"/>
            <p:cNvSpPr>
              <a:spLocks noChangeArrowheads="1"/>
            </p:cNvSpPr>
            <p:nvPr/>
          </p:nvSpPr>
          <p:spPr bwMode="auto">
            <a:xfrm>
              <a:off x="2401" y="1440"/>
              <a:ext cx="634" cy="54"/>
            </a:xfrm>
            <a:prstGeom prst="ellips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652" name="Freeform 50"/>
            <p:cNvSpPr>
              <a:spLocks/>
            </p:cNvSpPr>
            <p:nvPr/>
          </p:nvSpPr>
          <p:spPr bwMode="auto">
            <a:xfrm>
              <a:off x="2223" y="925"/>
              <a:ext cx="985" cy="322"/>
            </a:xfrm>
            <a:custGeom>
              <a:avLst/>
              <a:gdLst>
                <a:gd name="T0" fmla="*/ 19988 w 20000"/>
                <a:gd name="T1" fmla="*/ 0 h 20000"/>
                <a:gd name="T2" fmla="*/ 19988 w 20000"/>
                <a:gd name="T3" fmla="*/ 19972 h 20000"/>
                <a:gd name="T4" fmla="*/ 0 w 20000"/>
                <a:gd name="T5" fmla="*/ 19972 h 20000"/>
                <a:gd name="T6" fmla="*/ 0 w 20000"/>
                <a:gd name="T7" fmla="*/ 0 h 20000"/>
                <a:gd name="T8" fmla="*/ 19988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88" y="0"/>
                  </a:moveTo>
                  <a:lnTo>
                    <a:pt x="19988" y="19972"/>
                  </a:lnTo>
                  <a:lnTo>
                    <a:pt x="0" y="19972"/>
                  </a:lnTo>
                  <a:lnTo>
                    <a:pt x="0" y="0"/>
                  </a:lnTo>
                  <a:lnTo>
                    <a:pt x="19988" y="0"/>
                  </a:lnTo>
                  <a:close/>
                </a:path>
              </a:pathLst>
            </a:custGeom>
            <a:solidFill>
              <a:srgbClr val="4DB3E6"/>
            </a:solidFill>
            <a:ln w="3175">
              <a:solidFill>
                <a:srgbClr val="4DB3E6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653" name="Freeform 51"/>
            <p:cNvSpPr>
              <a:spLocks/>
            </p:cNvSpPr>
            <p:nvPr/>
          </p:nvSpPr>
          <p:spPr bwMode="auto">
            <a:xfrm>
              <a:off x="2223" y="453"/>
              <a:ext cx="985" cy="322"/>
            </a:xfrm>
            <a:custGeom>
              <a:avLst/>
              <a:gdLst>
                <a:gd name="T0" fmla="*/ 19988 w 20000"/>
                <a:gd name="T1" fmla="*/ 0 h 20000"/>
                <a:gd name="T2" fmla="*/ 19988 w 20000"/>
                <a:gd name="T3" fmla="*/ 19972 h 20000"/>
                <a:gd name="T4" fmla="*/ 0 w 20000"/>
                <a:gd name="T5" fmla="*/ 19972 h 20000"/>
                <a:gd name="T6" fmla="*/ 0 w 20000"/>
                <a:gd name="T7" fmla="*/ 0 h 20000"/>
                <a:gd name="T8" fmla="*/ 19988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88" y="0"/>
                  </a:moveTo>
                  <a:lnTo>
                    <a:pt x="19988" y="19972"/>
                  </a:lnTo>
                  <a:lnTo>
                    <a:pt x="0" y="19972"/>
                  </a:lnTo>
                  <a:lnTo>
                    <a:pt x="0" y="0"/>
                  </a:lnTo>
                  <a:lnTo>
                    <a:pt x="19988" y="0"/>
                  </a:lnTo>
                  <a:close/>
                </a:path>
              </a:pathLst>
            </a:custGeom>
            <a:solidFill>
              <a:srgbClr val="4DB3E6"/>
            </a:solidFill>
            <a:ln w="3175">
              <a:solidFill>
                <a:srgbClr val="4DB3E6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654" name="Freeform 52"/>
            <p:cNvSpPr>
              <a:spLocks/>
            </p:cNvSpPr>
            <p:nvPr/>
          </p:nvSpPr>
          <p:spPr bwMode="auto">
            <a:xfrm>
              <a:off x="2223" y="49"/>
              <a:ext cx="985" cy="322"/>
            </a:xfrm>
            <a:custGeom>
              <a:avLst/>
              <a:gdLst>
                <a:gd name="T0" fmla="*/ 19988 w 20000"/>
                <a:gd name="T1" fmla="*/ 0 h 20000"/>
                <a:gd name="T2" fmla="*/ 19988 w 20000"/>
                <a:gd name="T3" fmla="*/ 19972 h 20000"/>
                <a:gd name="T4" fmla="*/ 0 w 20000"/>
                <a:gd name="T5" fmla="*/ 19972 h 20000"/>
                <a:gd name="T6" fmla="*/ 0 w 20000"/>
                <a:gd name="T7" fmla="*/ 0 h 20000"/>
                <a:gd name="T8" fmla="*/ 19988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88" y="0"/>
                  </a:moveTo>
                  <a:lnTo>
                    <a:pt x="19988" y="19972"/>
                  </a:lnTo>
                  <a:lnTo>
                    <a:pt x="0" y="19972"/>
                  </a:lnTo>
                  <a:lnTo>
                    <a:pt x="0" y="0"/>
                  </a:lnTo>
                  <a:lnTo>
                    <a:pt x="19988" y="0"/>
                  </a:lnTo>
                  <a:close/>
                </a:path>
              </a:pathLst>
            </a:custGeom>
            <a:solidFill>
              <a:srgbClr val="4DB3E6"/>
            </a:solidFill>
            <a:ln w="3175">
              <a:solidFill>
                <a:srgbClr val="4DB3E6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655" name="Freeform 53"/>
            <p:cNvSpPr>
              <a:spLocks/>
            </p:cNvSpPr>
            <p:nvPr/>
          </p:nvSpPr>
          <p:spPr bwMode="auto">
            <a:xfrm>
              <a:off x="2223" y="49"/>
              <a:ext cx="985" cy="322"/>
            </a:xfrm>
            <a:custGeom>
              <a:avLst/>
              <a:gdLst>
                <a:gd name="T0" fmla="*/ 19988 w 20000"/>
                <a:gd name="T1" fmla="*/ 0 h 20000"/>
                <a:gd name="T2" fmla="*/ 19988 w 20000"/>
                <a:gd name="T3" fmla="*/ 19972 h 20000"/>
                <a:gd name="T4" fmla="*/ 0 w 20000"/>
                <a:gd name="T5" fmla="*/ 19972 h 20000"/>
                <a:gd name="T6" fmla="*/ 0 w 20000"/>
                <a:gd name="T7" fmla="*/ 0 h 20000"/>
                <a:gd name="T8" fmla="*/ 19988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88" y="0"/>
                  </a:moveTo>
                  <a:lnTo>
                    <a:pt x="19988" y="19972"/>
                  </a:lnTo>
                  <a:lnTo>
                    <a:pt x="0" y="19972"/>
                  </a:lnTo>
                  <a:lnTo>
                    <a:pt x="0" y="0"/>
                  </a:lnTo>
                  <a:lnTo>
                    <a:pt x="19988" y="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656" name="Rectangle 54"/>
            <p:cNvSpPr>
              <a:spLocks noChangeArrowheads="1"/>
            </p:cNvSpPr>
            <p:nvPr/>
          </p:nvSpPr>
          <p:spPr bwMode="auto">
            <a:xfrm>
              <a:off x="2400" y="160"/>
              <a:ext cx="496" cy="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64000"/>
                </a:lnSpc>
              </a:pPr>
              <a:r>
                <a:rPr lang="en-US" altLang="en-US" sz="1400" noProof="1">
                  <a:solidFill>
                    <a:srgbClr val="000000"/>
                  </a:solidFill>
                </a:rPr>
                <a:t>Editor</a:t>
              </a:r>
            </a:p>
          </p:txBody>
        </p:sp>
        <p:sp>
          <p:nvSpPr>
            <p:cNvPr id="26657" name="Freeform 55"/>
            <p:cNvSpPr>
              <a:spLocks/>
            </p:cNvSpPr>
            <p:nvPr/>
          </p:nvSpPr>
          <p:spPr bwMode="auto">
            <a:xfrm>
              <a:off x="2223" y="453"/>
              <a:ext cx="985" cy="322"/>
            </a:xfrm>
            <a:custGeom>
              <a:avLst/>
              <a:gdLst>
                <a:gd name="T0" fmla="*/ 19988 w 20000"/>
                <a:gd name="T1" fmla="*/ 0 h 20000"/>
                <a:gd name="T2" fmla="*/ 19988 w 20000"/>
                <a:gd name="T3" fmla="*/ 19972 h 20000"/>
                <a:gd name="T4" fmla="*/ 0 w 20000"/>
                <a:gd name="T5" fmla="*/ 19972 h 20000"/>
                <a:gd name="T6" fmla="*/ 0 w 20000"/>
                <a:gd name="T7" fmla="*/ 0 h 20000"/>
                <a:gd name="T8" fmla="*/ 19988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88" y="0"/>
                  </a:moveTo>
                  <a:lnTo>
                    <a:pt x="19988" y="19972"/>
                  </a:lnTo>
                  <a:lnTo>
                    <a:pt x="0" y="19972"/>
                  </a:lnTo>
                  <a:lnTo>
                    <a:pt x="0" y="0"/>
                  </a:lnTo>
                  <a:lnTo>
                    <a:pt x="19988" y="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658" name="Rectangle 56"/>
            <p:cNvSpPr>
              <a:spLocks noChangeArrowheads="1"/>
            </p:cNvSpPr>
            <p:nvPr/>
          </p:nvSpPr>
          <p:spPr bwMode="auto">
            <a:xfrm>
              <a:off x="2330" y="566"/>
              <a:ext cx="844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64000"/>
                </a:lnSpc>
              </a:pPr>
              <a:r>
                <a:rPr lang="en-US" altLang="en-US" sz="1400" noProof="1">
                  <a:solidFill>
                    <a:srgbClr val="000000"/>
                  </a:solidFill>
                </a:rPr>
                <a:t>Compiler</a:t>
              </a:r>
            </a:p>
          </p:txBody>
        </p:sp>
        <p:sp>
          <p:nvSpPr>
            <p:cNvPr id="26659" name="Freeform 57"/>
            <p:cNvSpPr>
              <a:spLocks/>
            </p:cNvSpPr>
            <p:nvPr/>
          </p:nvSpPr>
          <p:spPr bwMode="auto">
            <a:xfrm>
              <a:off x="2223" y="925"/>
              <a:ext cx="985" cy="322"/>
            </a:xfrm>
            <a:custGeom>
              <a:avLst/>
              <a:gdLst>
                <a:gd name="T0" fmla="*/ 19988 w 20000"/>
                <a:gd name="T1" fmla="*/ 0 h 20000"/>
                <a:gd name="T2" fmla="*/ 19988 w 20000"/>
                <a:gd name="T3" fmla="*/ 19972 h 20000"/>
                <a:gd name="T4" fmla="*/ 0 w 20000"/>
                <a:gd name="T5" fmla="*/ 19972 h 20000"/>
                <a:gd name="T6" fmla="*/ 0 w 20000"/>
                <a:gd name="T7" fmla="*/ 0 h 20000"/>
                <a:gd name="T8" fmla="*/ 19988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88" y="0"/>
                  </a:moveTo>
                  <a:lnTo>
                    <a:pt x="19988" y="19972"/>
                  </a:lnTo>
                  <a:lnTo>
                    <a:pt x="0" y="19972"/>
                  </a:lnTo>
                  <a:lnTo>
                    <a:pt x="0" y="0"/>
                  </a:lnTo>
                  <a:lnTo>
                    <a:pt x="19988" y="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660" name="Rectangle 58"/>
            <p:cNvSpPr>
              <a:spLocks noChangeArrowheads="1"/>
            </p:cNvSpPr>
            <p:nvPr/>
          </p:nvSpPr>
          <p:spPr bwMode="auto">
            <a:xfrm>
              <a:off x="2260" y="1038"/>
              <a:ext cx="914" cy="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64000"/>
                </a:lnSpc>
              </a:pPr>
              <a:r>
                <a:rPr lang="en-US" altLang="en-US" sz="1400" noProof="1">
                  <a:solidFill>
                    <a:srgbClr val="000000"/>
                  </a:solidFill>
                </a:rPr>
                <a:t>Class Loader</a:t>
              </a:r>
            </a:p>
          </p:txBody>
        </p:sp>
        <p:sp>
          <p:nvSpPr>
            <p:cNvPr id="26661" name="Freeform 59"/>
            <p:cNvSpPr>
              <a:spLocks/>
            </p:cNvSpPr>
            <p:nvPr/>
          </p:nvSpPr>
          <p:spPr bwMode="auto">
            <a:xfrm>
              <a:off x="3213" y="210"/>
              <a:ext cx="422" cy="0"/>
            </a:xfrm>
            <a:custGeom>
              <a:avLst/>
              <a:gdLst>
                <a:gd name="T0" fmla="*/ 19972 w 20000"/>
                <a:gd name="T1" fmla="*/ 0 h 20000"/>
                <a:gd name="T2" fmla="*/ 0 w 20000"/>
                <a:gd name="T3" fmla="*/ 0 h 20000"/>
                <a:gd name="T4" fmla="*/ 0 60000 65536"/>
                <a:gd name="T5" fmla="*/ 0 60000 65536"/>
                <a:gd name="T6" fmla="*/ 0 w 20000"/>
                <a:gd name="T7" fmla="*/ 0 h 20000"/>
                <a:gd name="T8" fmla="*/ 20000 w 20000"/>
                <a:gd name="T9" fmla="*/ 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19972" y="0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662" name="Freeform 60"/>
            <p:cNvSpPr>
              <a:spLocks/>
            </p:cNvSpPr>
            <p:nvPr/>
          </p:nvSpPr>
          <p:spPr bwMode="auto">
            <a:xfrm>
              <a:off x="3213" y="614"/>
              <a:ext cx="422" cy="0"/>
            </a:xfrm>
            <a:custGeom>
              <a:avLst/>
              <a:gdLst>
                <a:gd name="T0" fmla="*/ 19972 w 20000"/>
                <a:gd name="T1" fmla="*/ 0 h 20000"/>
                <a:gd name="T2" fmla="*/ 0 w 20000"/>
                <a:gd name="T3" fmla="*/ 0 h 20000"/>
                <a:gd name="T4" fmla="*/ 0 60000 65536"/>
                <a:gd name="T5" fmla="*/ 0 60000 65536"/>
                <a:gd name="T6" fmla="*/ 0 w 20000"/>
                <a:gd name="T7" fmla="*/ 0 h 20000"/>
                <a:gd name="T8" fmla="*/ 20000 w 20000"/>
                <a:gd name="T9" fmla="*/ 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19972" y="0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663" name="Freeform 61"/>
            <p:cNvSpPr>
              <a:spLocks/>
            </p:cNvSpPr>
            <p:nvPr/>
          </p:nvSpPr>
          <p:spPr bwMode="auto">
            <a:xfrm>
              <a:off x="2718" y="1247"/>
              <a:ext cx="2" cy="21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19958 h 20000"/>
                <a:gd name="T4" fmla="*/ 0 60000 65536"/>
                <a:gd name="T5" fmla="*/ 0 60000 65536"/>
                <a:gd name="T6" fmla="*/ 0 w 20000"/>
                <a:gd name="T7" fmla="*/ 0 h 20000"/>
                <a:gd name="T8" fmla="*/ 20000 w 20000"/>
                <a:gd name="T9" fmla="*/ 2000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0" y="0"/>
                  </a:moveTo>
                  <a:lnTo>
                    <a:pt x="0" y="19958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664" name="Freeform 62"/>
            <p:cNvSpPr>
              <a:spLocks/>
            </p:cNvSpPr>
            <p:nvPr/>
          </p:nvSpPr>
          <p:spPr bwMode="auto">
            <a:xfrm>
              <a:off x="3213" y="1086"/>
              <a:ext cx="422" cy="0"/>
            </a:xfrm>
            <a:custGeom>
              <a:avLst/>
              <a:gdLst>
                <a:gd name="T0" fmla="*/ 19972 w 20000"/>
                <a:gd name="T1" fmla="*/ 0 h 20000"/>
                <a:gd name="T2" fmla="*/ 0 w 20000"/>
                <a:gd name="T3" fmla="*/ 0 h 20000"/>
                <a:gd name="T4" fmla="*/ 0 60000 65536"/>
                <a:gd name="T5" fmla="*/ 0 60000 65536"/>
                <a:gd name="T6" fmla="*/ 0 w 20000"/>
                <a:gd name="T7" fmla="*/ 0 h 20000"/>
                <a:gd name="T8" fmla="*/ 20000 w 20000"/>
                <a:gd name="T9" fmla="*/ 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19972" y="0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pSp>
          <p:nvGrpSpPr>
            <p:cNvPr id="26665" name="Group 63"/>
            <p:cNvGrpSpPr>
              <a:grpSpLocks/>
            </p:cNvGrpSpPr>
            <p:nvPr/>
          </p:nvGrpSpPr>
          <p:grpSpPr bwMode="auto">
            <a:xfrm>
              <a:off x="4337" y="838"/>
              <a:ext cx="143" cy="1076"/>
              <a:chOff x="0" y="0"/>
              <a:chExt cx="20000" cy="20000"/>
            </a:xfrm>
          </p:grpSpPr>
          <p:sp>
            <p:nvSpPr>
              <p:cNvPr id="26732" name="Arc 64"/>
              <p:cNvSpPr>
                <a:spLocks/>
              </p:cNvSpPr>
              <p:nvPr/>
            </p:nvSpPr>
            <p:spPr bwMode="auto">
              <a:xfrm>
                <a:off x="0" y="0"/>
                <a:ext cx="10045" cy="5005"/>
              </a:xfrm>
              <a:custGeom>
                <a:avLst/>
                <a:gdLst>
                  <a:gd name="T0" fmla="*/ 0 w 21600"/>
                  <a:gd name="T1" fmla="*/ 0 h 21600"/>
                  <a:gd name="T2" fmla="*/ 10045 w 21600"/>
                  <a:gd name="T3" fmla="*/ 5005 h 21600"/>
                  <a:gd name="T4" fmla="*/ 0 w 21600"/>
                  <a:gd name="T5" fmla="*/ 5005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6733" name="Arc 65"/>
              <p:cNvSpPr>
                <a:spLocks/>
              </p:cNvSpPr>
              <p:nvPr/>
            </p:nvSpPr>
            <p:spPr bwMode="auto">
              <a:xfrm flipV="1">
                <a:off x="0" y="14995"/>
                <a:ext cx="10045" cy="5005"/>
              </a:xfrm>
              <a:custGeom>
                <a:avLst/>
                <a:gdLst>
                  <a:gd name="T0" fmla="*/ 0 w 21600"/>
                  <a:gd name="T1" fmla="*/ 0 h 21600"/>
                  <a:gd name="T2" fmla="*/ 10045 w 21600"/>
                  <a:gd name="T3" fmla="*/ 5005 h 21600"/>
                  <a:gd name="T4" fmla="*/ 0 w 21600"/>
                  <a:gd name="T5" fmla="*/ 5005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6734" name="Arc 66"/>
              <p:cNvSpPr>
                <a:spLocks/>
              </p:cNvSpPr>
              <p:nvPr/>
            </p:nvSpPr>
            <p:spPr bwMode="auto">
              <a:xfrm flipH="1">
                <a:off x="9955" y="9994"/>
                <a:ext cx="10045" cy="5009"/>
              </a:xfrm>
              <a:custGeom>
                <a:avLst/>
                <a:gdLst>
                  <a:gd name="T0" fmla="*/ 0 w 21600"/>
                  <a:gd name="T1" fmla="*/ 0 h 21600"/>
                  <a:gd name="T2" fmla="*/ 10045 w 21600"/>
                  <a:gd name="T3" fmla="*/ 5009 h 21600"/>
                  <a:gd name="T4" fmla="*/ 0 w 21600"/>
                  <a:gd name="T5" fmla="*/ 5009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6735" name="Arc 67"/>
              <p:cNvSpPr>
                <a:spLocks/>
              </p:cNvSpPr>
              <p:nvPr/>
            </p:nvSpPr>
            <p:spPr bwMode="auto">
              <a:xfrm flipH="1" flipV="1">
                <a:off x="9955" y="4997"/>
                <a:ext cx="10045" cy="5009"/>
              </a:xfrm>
              <a:custGeom>
                <a:avLst/>
                <a:gdLst>
                  <a:gd name="T0" fmla="*/ 0 w 21600"/>
                  <a:gd name="T1" fmla="*/ 0 h 21600"/>
                  <a:gd name="T2" fmla="*/ 10045 w 21600"/>
                  <a:gd name="T3" fmla="*/ 5009 h 21600"/>
                  <a:gd name="T4" fmla="*/ 0 w 21600"/>
                  <a:gd name="T5" fmla="*/ 5009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grpSp>
          <p:nvGrpSpPr>
            <p:cNvPr id="26666" name="Group 68"/>
            <p:cNvGrpSpPr>
              <a:grpSpLocks/>
            </p:cNvGrpSpPr>
            <p:nvPr/>
          </p:nvGrpSpPr>
          <p:grpSpPr bwMode="auto">
            <a:xfrm>
              <a:off x="4337" y="49"/>
              <a:ext cx="143" cy="322"/>
              <a:chOff x="0" y="0"/>
              <a:chExt cx="20000" cy="19998"/>
            </a:xfrm>
          </p:grpSpPr>
          <p:sp>
            <p:nvSpPr>
              <p:cNvPr id="26728" name="Arc 69"/>
              <p:cNvSpPr>
                <a:spLocks/>
              </p:cNvSpPr>
              <p:nvPr/>
            </p:nvSpPr>
            <p:spPr bwMode="auto">
              <a:xfrm>
                <a:off x="0" y="0"/>
                <a:ext cx="10045" cy="5029"/>
              </a:xfrm>
              <a:custGeom>
                <a:avLst/>
                <a:gdLst>
                  <a:gd name="T0" fmla="*/ 0 w 21600"/>
                  <a:gd name="T1" fmla="*/ 0 h 21600"/>
                  <a:gd name="T2" fmla="*/ 10045 w 21600"/>
                  <a:gd name="T3" fmla="*/ 5029 h 21600"/>
                  <a:gd name="T4" fmla="*/ 0 w 21600"/>
                  <a:gd name="T5" fmla="*/ 5029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6729" name="Arc 70"/>
              <p:cNvSpPr>
                <a:spLocks/>
              </p:cNvSpPr>
              <p:nvPr/>
            </p:nvSpPr>
            <p:spPr bwMode="auto">
              <a:xfrm flipV="1">
                <a:off x="0" y="14983"/>
                <a:ext cx="10045" cy="5015"/>
              </a:xfrm>
              <a:custGeom>
                <a:avLst/>
                <a:gdLst>
                  <a:gd name="T0" fmla="*/ 0 w 21600"/>
                  <a:gd name="T1" fmla="*/ 0 h 21600"/>
                  <a:gd name="T2" fmla="*/ 10045 w 21600"/>
                  <a:gd name="T3" fmla="*/ 5015 h 21600"/>
                  <a:gd name="T4" fmla="*/ 0 w 21600"/>
                  <a:gd name="T5" fmla="*/ 5015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6730" name="Arc 71"/>
              <p:cNvSpPr>
                <a:spLocks/>
              </p:cNvSpPr>
              <p:nvPr/>
            </p:nvSpPr>
            <p:spPr bwMode="auto">
              <a:xfrm flipH="1">
                <a:off x="9955" y="9992"/>
                <a:ext cx="10045" cy="5016"/>
              </a:xfrm>
              <a:custGeom>
                <a:avLst/>
                <a:gdLst>
                  <a:gd name="T0" fmla="*/ 0 w 21600"/>
                  <a:gd name="T1" fmla="*/ 0 h 21600"/>
                  <a:gd name="T2" fmla="*/ 10045 w 21600"/>
                  <a:gd name="T3" fmla="*/ 5016 h 21600"/>
                  <a:gd name="T4" fmla="*/ 0 w 21600"/>
                  <a:gd name="T5" fmla="*/ 5016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6731" name="Arc 72"/>
              <p:cNvSpPr>
                <a:spLocks/>
              </p:cNvSpPr>
              <p:nvPr/>
            </p:nvSpPr>
            <p:spPr bwMode="auto">
              <a:xfrm flipH="1" flipV="1">
                <a:off x="9955" y="4990"/>
                <a:ext cx="10045" cy="5029"/>
              </a:xfrm>
              <a:custGeom>
                <a:avLst/>
                <a:gdLst>
                  <a:gd name="T0" fmla="*/ 0 w 21600"/>
                  <a:gd name="T1" fmla="*/ 0 h 21600"/>
                  <a:gd name="T2" fmla="*/ 10045 w 21600"/>
                  <a:gd name="T3" fmla="*/ 5029 h 21600"/>
                  <a:gd name="T4" fmla="*/ 0 w 21600"/>
                  <a:gd name="T5" fmla="*/ 5029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grpSp>
          <p:nvGrpSpPr>
            <p:cNvPr id="26667" name="Group 73"/>
            <p:cNvGrpSpPr>
              <a:grpSpLocks/>
            </p:cNvGrpSpPr>
            <p:nvPr/>
          </p:nvGrpSpPr>
          <p:grpSpPr bwMode="auto">
            <a:xfrm>
              <a:off x="4337" y="445"/>
              <a:ext cx="143" cy="323"/>
              <a:chOff x="0" y="0"/>
              <a:chExt cx="20000" cy="19999"/>
            </a:xfrm>
          </p:grpSpPr>
          <p:sp>
            <p:nvSpPr>
              <p:cNvPr id="26724" name="Arc 74"/>
              <p:cNvSpPr>
                <a:spLocks/>
              </p:cNvSpPr>
              <p:nvPr/>
            </p:nvSpPr>
            <p:spPr bwMode="auto">
              <a:xfrm>
                <a:off x="0" y="0"/>
                <a:ext cx="10045" cy="5016"/>
              </a:xfrm>
              <a:custGeom>
                <a:avLst/>
                <a:gdLst>
                  <a:gd name="T0" fmla="*/ 0 w 21600"/>
                  <a:gd name="T1" fmla="*/ 0 h 21600"/>
                  <a:gd name="T2" fmla="*/ 10045 w 21600"/>
                  <a:gd name="T3" fmla="*/ 5016 h 21600"/>
                  <a:gd name="T4" fmla="*/ 0 w 21600"/>
                  <a:gd name="T5" fmla="*/ 5016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6725" name="Arc 75"/>
              <p:cNvSpPr>
                <a:spLocks/>
              </p:cNvSpPr>
              <p:nvPr/>
            </p:nvSpPr>
            <p:spPr bwMode="auto">
              <a:xfrm flipV="1">
                <a:off x="0" y="14970"/>
                <a:ext cx="10045" cy="5029"/>
              </a:xfrm>
              <a:custGeom>
                <a:avLst/>
                <a:gdLst>
                  <a:gd name="T0" fmla="*/ 0 w 21600"/>
                  <a:gd name="T1" fmla="*/ 0 h 21600"/>
                  <a:gd name="T2" fmla="*/ 10045 w 21600"/>
                  <a:gd name="T3" fmla="*/ 5029 h 21600"/>
                  <a:gd name="T4" fmla="*/ 0 w 21600"/>
                  <a:gd name="T5" fmla="*/ 5029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6726" name="Arc 76"/>
              <p:cNvSpPr>
                <a:spLocks/>
              </p:cNvSpPr>
              <p:nvPr/>
            </p:nvSpPr>
            <p:spPr bwMode="auto">
              <a:xfrm flipH="1">
                <a:off x="9955" y="9980"/>
                <a:ext cx="10045" cy="5016"/>
              </a:xfrm>
              <a:custGeom>
                <a:avLst/>
                <a:gdLst>
                  <a:gd name="T0" fmla="*/ 0 w 21600"/>
                  <a:gd name="T1" fmla="*/ 0 h 21600"/>
                  <a:gd name="T2" fmla="*/ 10045 w 21600"/>
                  <a:gd name="T3" fmla="*/ 5016 h 21600"/>
                  <a:gd name="T4" fmla="*/ 0 w 21600"/>
                  <a:gd name="T5" fmla="*/ 5016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6727" name="Arc 77"/>
              <p:cNvSpPr>
                <a:spLocks/>
              </p:cNvSpPr>
              <p:nvPr/>
            </p:nvSpPr>
            <p:spPr bwMode="auto">
              <a:xfrm flipH="1" flipV="1">
                <a:off x="9955" y="4990"/>
                <a:ext cx="10045" cy="5016"/>
              </a:xfrm>
              <a:custGeom>
                <a:avLst/>
                <a:gdLst>
                  <a:gd name="T0" fmla="*/ 0 w 21600"/>
                  <a:gd name="T1" fmla="*/ 0 h 21600"/>
                  <a:gd name="T2" fmla="*/ 10045 w 21600"/>
                  <a:gd name="T3" fmla="*/ 5016 h 21600"/>
                  <a:gd name="T4" fmla="*/ 0 w 21600"/>
                  <a:gd name="T5" fmla="*/ 5016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26668" name="Rectangle 78"/>
            <p:cNvSpPr>
              <a:spLocks noChangeArrowheads="1"/>
            </p:cNvSpPr>
            <p:nvPr/>
          </p:nvSpPr>
          <p:spPr bwMode="auto">
            <a:xfrm>
              <a:off x="4549" y="68"/>
              <a:ext cx="949" cy="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en-US" sz="1000" b="1" noProof="1">
                  <a:solidFill>
                    <a:srgbClr val="000000"/>
                  </a:solidFill>
                </a:rPr>
                <a:t>Program is created in an editor and stored on disk in a file ending with </a:t>
              </a:r>
              <a:r>
                <a:rPr lang="en-US" altLang="en-US" sz="1000" b="1" noProof="1">
                  <a:solidFill>
                    <a:srgbClr val="000000"/>
                  </a:solidFill>
                  <a:latin typeface="Lucida Console" panose="020B0609040504020204" pitchFamily="49" charset="0"/>
                </a:rPr>
                <a:t>.java</a:t>
              </a:r>
              <a:r>
                <a:rPr lang="en-US" altLang="en-US" sz="1000" b="1" noProof="1">
                  <a:solidFill>
                    <a:srgbClr val="000000"/>
                  </a:solidFill>
                </a:rPr>
                <a:t>.</a:t>
              </a:r>
            </a:p>
          </p:txBody>
        </p:sp>
        <p:sp>
          <p:nvSpPr>
            <p:cNvPr id="26669" name="Rectangle 79"/>
            <p:cNvSpPr>
              <a:spLocks noChangeArrowheads="1"/>
            </p:cNvSpPr>
            <p:nvPr/>
          </p:nvSpPr>
          <p:spPr bwMode="auto">
            <a:xfrm>
              <a:off x="4512" y="497"/>
              <a:ext cx="982" cy="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en-US" sz="1000" b="1" noProof="1">
                  <a:solidFill>
                    <a:srgbClr val="000000"/>
                  </a:solidFill>
                </a:rPr>
                <a:t>Compiler creates bytecodes and stores them on disk in a file ending with </a:t>
              </a:r>
              <a:r>
                <a:rPr lang="en-US" altLang="en-US" sz="1000" b="1" noProof="1">
                  <a:solidFill>
                    <a:srgbClr val="000000"/>
                  </a:solidFill>
                  <a:latin typeface="Lucida Console" panose="020B0609040504020204" pitchFamily="49" charset="0"/>
                </a:rPr>
                <a:t>.class</a:t>
              </a:r>
              <a:r>
                <a:rPr lang="en-US" altLang="en-US" sz="1000" b="1" noProof="1">
                  <a:solidFill>
                    <a:srgbClr val="000000"/>
                  </a:solidFill>
                </a:rPr>
                <a:t>.</a:t>
              </a:r>
            </a:p>
          </p:txBody>
        </p:sp>
        <p:sp>
          <p:nvSpPr>
            <p:cNvPr id="26670" name="Rectangle 80"/>
            <p:cNvSpPr>
              <a:spLocks noChangeArrowheads="1"/>
            </p:cNvSpPr>
            <p:nvPr/>
          </p:nvSpPr>
          <p:spPr bwMode="auto">
            <a:xfrm>
              <a:off x="4562" y="1092"/>
              <a:ext cx="787" cy="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en-US" sz="1000" b="1" noProof="1">
                  <a:solidFill>
                    <a:srgbClr val="000000"/>
                  </a:solidFill>
                </a:rPr>
                <a:t>Class loader reads </a:t>
              </a:r>
              <a:r>
                <a:rPr lang="en-US" altLang="en-US" sz="1000" b="1" noProof="1">
                  <a:solidFill>
                    <a:srgbClr val="000000"/>
                  </a:solidFill>
                  <a:latin typeface="Lucida Console" panose="020B0609040504020204" pitchFamily="49" charset="0"/>
                </a:rPr>
                <a:t>.class</a:t>
              </a:r>
              <a:r>
                <a:rPr lang="en-US" altLang="en-US" sz="1000" b="1" noProof="1">
                  <a:solidFill>
                    <a:srgbClr val="000000"/>
                  </a:solidFill>
                </a:rPr>
                <a:t> files containing bytecodes from disk and puts those bytecodes in memory.</a:t>
              </a:r>
            </a:p>
          </p:txBody>
        </p:sp>
        <p:sp>
          <p:nvSpPr>
            <p:cNvPr id="26671" name="Rectangle 81"/>
            <p:cNvSpPr>
              <a:spLocks noChangeArrowheads="1"/>
            </p:cNvSpPr>
            <p:nvPr/>
          </p:nvSpPr>
          <p:spPr bwMode="auto">
            <a:xfrm>
              <a:off x="1453" y="175"/>
              <a:ext cx="739" cy="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en-US" sz="1400" noProof="1">
                  <a:solidFill>
                    <a:srgbClr val="000000"/>
                  </a:solidFill>
                </a:rPr>
                <a:t>Phase 1</a:t>
              </a:r>
            </a:p>
          </p:txBody>
        </p:sp>
        <p:sp>
          <p:nvSpPr>
            <p:cNvPr id="26672" name="Rectangle 82"/>
            <p:cNvSpPr>
              <a:spLocks noChangeArrowheads="1"/>
            </p:cNvSpPr>
            <p:nvPr/>
          </p:nvSpPr>
          <p:spPr bwMode="auto">
            <a:xfrm>
              <a:off x="1453" y="582"/>
              <a:ext cx="739" cy="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en-US" sz="1400" noProof="1">
                  <a:solidFill>
                    <a:srgbClr val="000000"/>
                  </a:solidFill>
                </a:rPr>
                <a:t>Phase 2</a:t>
              </a:r>
            </a:p>
          </p:txBody>
        </p:sp>
        <p:sp>
          <p:nvSpPr>
            <p:cNvPr id="26673" name="Rectangle 83"/>
            <p:cNvSpPr>
              <a:spLocks noChangeArrowheads="1"/>
            </p:cNvSpPr>
            <p:nvPr/>
          </p:nvSpPr>
          <p:spPr bwMode="auto">
            <a:xfrm>
              <a:off x="1453" y="1054"/>
              <a:ext cx="739" cy="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en-US" sz="1400" noProof="1">
                  <a:solidFill>
                    <a:srgbClr val="000000"/>
                  </a:solidFill>
                </a:rPr>
                <a:t>Phase 3</a:t>
              </a:r>
            </a:p>
          </p:txBody>
        </p:sp>
        <p:grpSp>
          <p:nvGrpSpPr>
            <p:cNvPr id="26674" name="Group 84"/>
            <p:cNvGrpSpPr>
              <a:grpSpLocks/>
            </p:cNvGrpSpPr>
            <p:nvPr/>
          </p:nvGrpSpPr>
          <p:grpSpPr bwMode="auto">
            <a:xfrm>
              <a:off x="3633" y="1973"/>
              <a:ext cx="636" cy="1044"/>
              <a:chOff x="0" y="0"/>
              <a:chExt cx="20000" cy="20002"/>
            </a:xfrm>
          </p:grpSpPr>
          <p:sp>
            <p:nvSpPr>
              <p:cNvPr id="26711" name="Rectangle 85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9981" cy="34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</a:pPr>
                <a:r>
                  <a:rPr lang="en-US" altLang="en-US" sz="1200" noProof="1">
                    <a:solidFill>
                      <a:srgbClr val="000000"/>
                    </a:solidFill>
                  </a:rPr>
                  <a:t>Primary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en-US" sz="1200" noProof="1">
                    <a:solidFill>
                      <a:srgbClr val="000000"/>
                    </a:solidFill>
                  </a:rPr>
                  <a:t>Memory</a:t>
                </a:r>
              </a:p>
            </p:txBody>
          </p:sp>
          <p:grpSp>
            <p:nvGrpSpPr>
              <p:cNvPr id="26712" name="Group 86"/>
              <p:cNvGrpSpPr>
                <a:grpSpLocks/>
              </p:cNvGrpSpPr>
              <p:nvPr/>
            </p:nvGrpSpPr>
            <p:grpSpPr bwMode="auto">
              <a:xfrm>
                <a:off x="0" y="3584"/>
                <a:ext cx="20000" cy="16418"/>
                <a:chOff x="0" y="0"/>
                <a:chExt cx="20000" cy="20000"/>
              </a:xfrm>
            </p:grpSpPr>
            <p:sp>
              <p:nvSpPr>
                <p:cNvPr id="26713" name="Freeform 87"/>
                <p:cNvSpPr>
                  <a:spLocks/>
                </p:cNvSpPr>
                <p:nvPr/>
              </p:nvSpPr>
              <p:spPr bwMode="auto">
                <a:xfrm>
                  <a:off x="0" y="0"/>
                  <a:ext cx="19831" cy="19981"/>
                </a:xfrm>
                <a:custGeom>
                  <a:avLst/>
                  <a:gdLst>
                    <a:gd name="T0" fmla="*/ 19981 w 20000"/>
                    <a:gd name="T1" fmla="*/ 0 h 20000"/>
                    <a:gd name="T2" fmla="*/ 19981 w 20000"/>
                    <a:gd name="T3" fmla="*/ 19990 h 20000"/>
                    <a:gd name="T4" fmla="*/ 0 w 20000"/>
                    <a:gd name="T5" fmla="*/ 19990 h 20000"/>
                    <a:gd name="T6" fmla="*/ 0 w 20000"/>
                    <a:gd name="T7" fmla="*/ 0 h 20000"/>
                    <a:gd name="T8" fmla="*/ 19981 w 20000"/>
                    <a:gd name="T9" fmla="*/ 0 h 200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000"/>
                    <a:gd name="T16" fmla="*/ 0 h 20000"/>
                    <a:gd name="T17" fmla="*/ 20000 w 20000"/>
                    <a:gd name="T18" fmla="*/ 20000 h 200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000" h="20000">
                      <a:moveTo>
                        <a:pt x="19981" y="0"/>
                      </a:moveTo>
                      <a:lnTo>
                        <a:pt x="19981" y="19990"/>
                      </a:lnTo>
                      <a:lnTo>
                        <a:pt x="0" y="19990"/>
                      </a:lnTo>
                      <a:lnTo>
                        <a:pt x="0" y="0"/>
                      </a:lnTo>
                      <a:lnTo>
                        <a:pt x="19981" y="0"/>
                      </a:lnTo>
                      <a:close/>
                    </a:path>
                  </a:pathLst>
                </a:custGeom>
                <a:solidFill>
                  <a:srgbClr val="4DB3E6"/>
                </a:solidFill>
                <a:ln w="3175">
                  <a:solidFill>
                    <a:srgbClr val="4DB3E6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6714" name="Freeform 88"/>
                <p:cNvSpPr>
                  <a:spLocks/>
                </p:cNvSpPr>
                <p:nvPr/>
              </p:nvSpPr>
              <p:spPr bwMode="auto">
                <a:xfrm>
                  <a:off x="31" y="10"/>
                  <a:ext cx="19969" cy="2490"/>
                </a:xfrm>
                <a:custGeom>
                  <a:avLst/>
                  <a:gdLst>
                    <a:gd name="T0" fmla="*/ 19981 w 20000"/>
                    <a:gd name="T1" fmla="*/ 0 h 20000"/>
                    <a:gd name="T2" fmla="*/ 19981 w 20000"/>
                    <a:gd name="T3" fmla="*/ 19916 h 20000"/>
                    <a:gd name="T4" fmla="*/ 0 w 20000"/>
                    <a:gd name="T5" fmla="*/ 19916 h 20000"/>
                    <a:gd name="T6" fmla="*/ 0 w 20000"/>
                    <a:gd name="T7" fmla="*/ 0 h 20000"/>
                    <a:gd name="T8" fmla="*/ 19981 w 20000"/>
                    <a:gd name="T9" fmla="*/ 0 h 200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000"/>
                    <a:gd name="T16" fmla="*/ 0 h 20000"/>
                    <a:gd name="T17" fmla="*/ 20000 w 20000"/>
                    <a:gd name="T18" fmla="*/ 20000 h 200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000" h="20000">
                      <a:moveTo>
                        <a:pt x="19981" y="0"/>
                      </a:moveTo>
                      <a:lnTo>
                        <a:pt x="19981" y="19916"/>
                      </a:lnTo>
                      <a:lnTo>
                        <a:pt x="0" y="19916"/>
                      </a:lnTo>
                      <a:lnTo>
                        <a:pt x="0" y="0"/>
                      </a:lnTo>
                      <a:lnTo>
                        <a:pt x="19981" y="0"/>
                      </a:lnTo>
                      <a:close/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6715" name="Freeform 89"/>
                <p:cNvSpPr>
                  <a:spLocks/>
                </p:cNvSpPr>
                <p:nvPr/>
              </p:nvSpPr>
              <p:spPr bwMode="auto">
                <a:xfrm>
                  <a:off x="31" y="2519"/>
                  <a:ext cx="19969" cy="2513"/>
                </a:xfrm>
                <a:custGeom>
                  <a:avLst/>
                  <a:gdLst>
                    <a:gd name="T0" fmla="*/ 19981 w 20000"/>
                    <a:gd name="T1" fmla="*/ 0 h 20000"/>
                    <a:gd name="T2" fmla="*/ 19981 w 20000"/>
                    <a:gd name="T3" fmla="*/ 19917 h 20000"/>
                    <a:gd name="T4" fmla="*/ 0 w 20000"/>
                    <a:gd name="T5" fmla="*/ 19917 h 20000"/>
                    <a:gd name="T6" fmla="*/ 0 w 20000"/>
                    <a:gd name="T7" fmla="*/ 0 h 20000"/>
                    <a:gd name="T8" fmla="*/ 19981 w 20000"/>
                    <a:gd name="T9" fmla="*/ 0 h 200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000"/>
                    <a:gd name="T16" fmla="*/ 0 h 20000"/>
                    <a:gd name="T17" fmla="*/ 20000 w 20000"/>
                    <a:gd name="T18" fmla="*/ 20000 h 200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000" h="20000">
                      <a:moveTo>
                        <a:pt x="19981" y="0"/>
                      </a:moveTo>
                      <a:lnTo>
                        <a:pt x="19981" y="19917"/>
                      </a:lnTo>
                      <a:lnTo>
                        <a:pt x="0" y="19917"/>
                      </a:lnTo>
                      <a:lnTo>
                        <a:pt x="0" y="0"/>
                      </a:lnTo>
                      <a:lnTo>
                        <a:pt x="19981" y="0"/>
                      </a:lnTo>
                      <a:close/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grpSp>
              <p:nvGrpSpPr>
                <p:cNvPr id="26716" name="Group 90"/>
                <p:cNvGrpSpPr>
                  <a:grpSpLocks/>
                </p:cNvGrpSpPr>
                <p:nvPr/>
              </p:nvGrpSpPr>
              <p:grpSpPr bwMode="auto">
                <a:xfrm>
                  <a:off x="31" y="5032"/>
                  <a:ext cx="19969" cy="14968"/>
                  <a:chOff x="2" y="2"/>
                  <a:chExt cx="19996" cy="19997"/>
                </a:xfrm>
              </p:grpSpPr>
              <p:sp>
                <p:nvSpPr>
                  <p:cNvPr id="26717" name="Rectangle 91"/>
                  <p:cNvSpPr>
                    <a:spLocks noChangeArrowheads="1"/>
                  </p:cNvSpPr>
                  <p:nvPr/>
                </p:nvSpPr>
                <p:spPr bwMode="auto">
                  <a:xfrm>
                    <a:off x="8318" y="10110"/>
                    <a:ext cx="2242" cy="7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just">
                      <a:lnSpc>
                        <a:spcPct val="88000"/>
                      </a:lnSpc>
                    </a:pPr>
                    <a:r>
                      <a:rPr lang="en-US" altLang="en-US" sz="900" noProof="1">
                        <a:solidFill>
                          <a:srgbClr val="000000"/>
                        </a:solidFill>
                      </a:rPr>
                      <a:t>.</a:t>
                    </a:r>
                  </a:p>
                  <a:p>
                    <a:pPr algn="just">
                      <a:lnSpc>
                        <a:spcPct val="88000"/>
                      </a:lnSpc>
                    </a:pPr>
                    <a:r>
                      <a:rPr lang="en-US" altLang="en-US" sz="900" noProof="1">
                        <a:solidFill>
                          <a:srgbClr val="000000"/>
                        </a:solidFill>
                      </a:rPr>
                      <a:t>.</a:t>
                    </a:r>
                  </a:p>
                  <a:p>
                    <a:pPr algn="just">
                      <a:lnSpc>
                        <a:spcPct val="88000"/>
                      </a:lnSpc>
                    </a:pPr>
                    <a:r>
                      <a:rPr lang="en-US" altLang="en-US" sz="900" noProof="1">
                        <a:solidFill>
                          <a:srgbClr val="000000"/>
                        </a:solidFill>
                      </a:rPr>
                      <a:t>.</a:t>
                    </a:r>
                  </a:p>
                </p:txBody>
              </p:sp>
              <p:sp>
                <p:nvSpPr>
                  <p:cNvPr id="26718" name="Freeform 92"/>
                  <p:cNvSpPr>
                    <a:spLocks/>
                  </p:cNvSpPr>
                  <p:nvPr/>
                </p:nvSpPr>
                <p:spPr bwMode="auto">
                  <a:xfrm>
                    <a:off x="2" y="2"/>
                    <a:ext cx="19996" cy="3325"/>
                  </a:xfrm>
                  <a:custGeom>
                    <a:avLst/>
                    <a:gdLst>
                      <a:gd name="T0" fmla="*/ 19981 w 20000"/>
                      <a:gd name="T1" fmla="*/ 0 h 20000"/>
                      <a:gd name="T2" fmla="*/ 19981 w 20000"/>
                      <a:gd name="T3" fmla="*/ 19916 h 20000"/>
                      <a:gd name="T4" fmla="*/ 0 w 20000"/>
                      <a:gd name="T5" fmla="*/ 19916 h 20000"/>
                      <a:gd name="T6" fmla="*/ 0 w 20000"/>
                      <a:gd name="T7" fmla="*/ 0 h 20000"/>
                      <a:gd name="T8" fmla="*/ 19981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1" y="0"/>
                        </a:moveTo>
                        <a:lnTo>
                          <a:pt x="19981" y="19916"/>
                        </a:lnTo>
                        <a:lnTo>
                          <a:pt x="0" y="19916"/>
                        </a:lnTo>
                        <a:lnTo>
                          <a:pt x="0" y="0"/>
                        </a:lnTo>
                        <a:lnTo>
                          <a:pt x="19981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/>
                  </a:p>
                </p:txBody>
              </p:sp>
              <p:sp>
                <p:nvSpPr>
                  <p:cNvPr id="26719" name="Freeform 93"/>
                  <p:cNvSpPr>
                    <a:spLocks/>
                  </p:cNvSpPr>
                  <p:nvPr/>
                </p:nvSpPr>
                <p:spPr bwMode="auto">
                  <a:xfrm>
                    <a:off x="2" y="3327"/>
                    <a:ext cx="19996" cy="3332"/>
                  </a:xfrm>
                  <a:custGeom>
                    <a:avLst/>
                    <a:gdLst>
                      <a:gd name="T0" fmla="*/ 19981 w 20000"/>
                      <a:gd name="T1" fmla="*/ 0 h 20000"/>
                      <a:gd name="T2" fmla="*/ 19981 w 20000"/>
                      <a:gd name="T3" fmla="*/ 19916 h 20000"/>
                      <a:gd name="T4" fmla="*/ 0 w 20000"/>
                      <a:gd name="T5" fmla="*/ 19916 h 20000"/>
                      <a:gd name="T6" fmla="*/ 0 w 20000"/>
                      <a:gd name="T7" fmla="*/ 0 h 20000"/>
                      <a:gd name="T8" fmla="*/ 19981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1" y="0"/>
                        </a:moveTo>
                        <a:lnTo>
                          <a:pt x="19981" y="19916"/>
                        </a:lnTo>
                        <a:lnTo>
                          <a:pt x="0" y="19916"/>
                        </a:lnTo>
                        <a:lnTo>
                          <a:pt x="0" y="0"/>
                        </a:lnTo>
                        <a:lnTo>
                          <a:pt x="19981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/>
                  </a:p>
                </p:txBody>
              </p:sp>
              <p:sp>
                <p:nvSpPr>
                  <p:cNvPr id="26720" name="Freeform 94"/>
                  <p:cNvSpPr>
                    <a:spLocks/>
                  </p:cNvSpPr>
                  <p:nvPr/>
                </p:nvSpPr>
                <p:spPr bwMode="auto">
                  <a:xfrm>
                    <a:off x="2" y="6673"/>
                    <a:ext cx="19996" cy="3326"/>
                  </a:xfrm>
                  <a:custGeom>
                    <a:avLst/>
                    <a:gdLst>
                      <a:gd name="T0" fmla="*/ 19981 w 20000"/>
                      <a:gd name="T1" fmla="*/ 0 h 20000"/>
                      <a:gd name="T2" fmla="*/ 19981 w 20000"/>
                      <a:gd name="T3" fmla="*/ 19916 h 20000"/>
                      <a:gd name="T4" fmla="*/ 0 w 20000"/>
                      <a:gd name="T5" fmla="*/ 19916 h 20000"/>
                      <a:gd name="T6" fmla="*/ 0 w 20000"/>
                      <a:gd name="T7" fmla="*/ 0 h 20000"/>
                      <a:gd name="T8" fmla="*/ 19981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1" y="0"/>
                        </a:moveTo>
                        <a:lnTo>
                          <a:pt x="19981" y="19916"/>
                        </a:lnTo>
                        <a:lnTo>
                          <a:pt x="0" y="19916"/>
                        </a:lnTo>
                        <a:lnTo>
                          <a:pt x="0" y="0"/>
                        </a:lnTo>
                        <a:lnTo>
                          <a:pt x="19981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/>
                  </a:p>
                </p:txBody>
              </p:sp>
              <p:sp>
                <p:nvSpPr>
                  <p:cNvPr id="26721" name="Freeform 95"/>
                  <p:cNvSpPr>
                    <a:spLocks/>
                  </p:cNvSpPr>
                  <p:nvPr/>
                </p:nvSpPr>
                <p:spPr bwMode="auto">
                  <a:xfrm>
                    <a:off x="2" y="9999"/>
                    <a:ext cx="19996" cy="6670"/>
                  </a:xfrm>
                  <a:custGeom>
                    <a:avLst/>
                    <a:gdLst>
                      <a:gd name="T0" fmla="*/ 19981 w 20000"/>
                      <a:gd name="T1" fmla="*/ 0 h 20000"/>
                      <a:gd name="T2" fmla="*/ 19981 w 20000"/>
                      <a:gd name="T3" fmla="*/ 19958 h 20000"/>
                      <a:gd name="T4" fmla="*/ 0 w 20000"/>
                      <a:gd name="T5" fmla="*/ 19958 h 20000"/>
                      <a:gd name="T6" fmla="*/ 0 w 20000"/>
                      <a:gd name="T7" fmla="*/ 0 h 20000"/>
                      <a:gd name="T8" fmla="*/ 19981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1" y="0"/>
                        </a:moveTo>
                        <a:lnTo>
                          <a:pt x="19981" y="19958"/>
                        </a:lnTo>
                        <a:lnTo>
                          <a:pt x="0" y="19958"/>
                        </a:lnTo>
                        <a:lnTo>
                          <a:pt x="0" y="0"/>
                        </a:lnTo>
                        <a:lnTo>
                          <a:pt x="19981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/>
                  </a:p>
                </p:txBody>
              </p:sp>
              <p:sp>
                <p:nvSpPr>
                  <p:cNvPr id="26722" name="Freeform 96"/>
                  <p:cNvSpPr>
                    <a:spLocks/>
                  </p:cNvSpPr>
                  <p:nvPr/>
                </p:nvSpPr>
                <p:spPr bwMode="auto">
                  <a:xfrm>
                    <a:off x="2" y="16669"/>
                    <a:ext cx="19996" cy="3330"/>
                  </a:xfrm>
                  <a:custGeom>
                    <a:avLst/>
                    <a:gdLst>
                      <a:gd name="T0" fmla="*/ 19981 w 20000"/>
                      <a:gd name="T1" fmla="*/ 0 h 20000"/>
                      <a:gd name="T2" fmla="*/ 19981 w 20000"/>
                      <a:gd name="T3" fmla="*/ 19916 h 20000"/>
                      <a:gd name="T4" fmla="*/ 0 w 20000"/>
                      <a:gd name="T5" fmla="*/ 19916 h 20000"/>
                      <a:gd name="T6" fmla="*/ 0 w 20000"/>
                      <a:gd name="T7" fmla="*/ 0 h 20000"/>
                      <a:gd name="T8" fmla="*/ 19981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1" y="0"/>
                        </a:moveTo>
                        <a:lnTo>
                          <a:pt x="19981" y="19916"/>
                        </a:lnTo>
                        <a:lnTo>
                          <a:pt x="0" y="19916"/>
                        </a:lnTo>
                        <a:lnTo>
                          <a:pt x="0" y="0"/>
                        </a:lnTo>
                        <a:lnTo>
                          <a:pt x="19981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/>
                  </a:p>
                </p:txBody>
              </p:sp>
              <p:sp>
                <p:nvSpPr>
                  <p:cNvPr id="26723" name="Rectangle 97"/>
                  <p:cNvSpPr>
                    <a:spLocks noChangeArrowheads="1"/>
                  </p:cNvSpPr>
                  <p:nvPr/>
                </p:nvSpPr>
                <p:spPr bwMode="auto">
                  <a:xfrm>
                    <a:off x="8876" y="9998"/>
                    <a:ext cx="2236" cy="724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>
                      <a:lnSpc>
                        <a:spcPct val="64000"/>
                      </a:lnSpc>
                    </a:pPr>
                    <a:r>
                      <a:rPr lang="en-US" altLang="en-US" sz="900" noProof="1">
                        <a:solidFill>
                          <a:srgbClr val="000000"/>
                        </a:solidFill>
                      </a:rPr>
                      <a:t>.</a:t>
                    </a:r>
                  </a:p>
                  <a:p>
                    <a:pPr algn="ctr">
                      <a:lnSpc>
                        <a:spcPct val="64000"/>
                      </a:lnSpc>
                    </a:pPr>
                    <a:r>
                      <a:rPr lang="en-US" altLang="en-US" sz="900" noProof="1">
                        <a:solidFill>
                          <a:srgbClr val="000000"/>
                        </a:solidFill>
                      </a:rPr>
                      <a:t>.</a:t>
                    </a:r>
                  </a:p>
                  <a:p>
                    <a:pPr algn="ctr">
                      <a:lnSpc>
                        <a:spcPct val="64000"/>
                      </a:lnSpc>
                    </a:pPr>
                    <a:r>
                      <a:rPr lang="en-US" altLang="en-US" sz="900" noProof="1">
                        <a:solidFill>
                          <a:srgbClr val="000000"/>
                        </a:solidFill>
                      </a:rPr>
                      <a:t>.</a:t>
                    </a:r>
                  </a:p>
                </p:txBody>
              </p:sp>
            </p:grpSp>
          </p:grpSp>
        </p:grpSp>
        <p:sp>
          <p:nvSpPr>
            <p:cNvPr id="26675" name="Freeform 98"/>
            <p:cNvSpPr>
              <a:spLocks/>
            </p:cNvSpPr>
            <p:nvPr/>
          </p:nvSpPr>
          <p:spPr bwMode="auto">
            <a:xfrm>
              <a:off x="2223" y="2050"/>
              <a:ext cx="985" cy="323"/>
            </a:xfrm>
            <a:custGeom>
              <a:avLst/>
              <a:gdLst>
                <a:gd name="T0" fmla="*/ 19988 w 20000"/>
                <a:gd name="T1" fmla="*/ 0 h 20000"/>
                <a:gd name="T2" fmla="*/ 19988 w 20000"/>
                <a:gd name="T3" fmla="*/ 19972 h 20000"/>
                <a:gd name="T4" fmla="*/ 0 w 20000"/>
                <a:gd name="T5" fmla="*/ 19972 h 20000"/>
                <a:gd name="T6" fmla="*/ 0 w 20000"/>
                <a:gd name="T7" fmla="*/ 0 h 20000"/>
                <a:gd name="T8" fmla="*/ 19988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88" y="0"/>
                  </a:moveTo>
                  <a:lnTo>
                    <a:pt x="19988" y="19972"/>
                  </a:lnTo>
                  <a:lnTo>
                    <a:pt x="0" y="19972"/>
                  </a:lnTo>
                  <a:lnTo>
                    <a:pt x="0" y="0"/>
                  </a:lnTo>
                  <a:lnTo>
                    <a:pt x="19988" y="0"/>
                  </a:lnTo>
                  <a:close/>
                </a:path>
              </a:pathLst>
            </a:custGeom>
            <a:solidFill>
              <a:srgbClr val="4DB3E6"/>
            </a:solidFill>
            <a:ln w="3175">
              <a:solidFill>
                <a:srgbClr val="4DB3E6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676" name="Freeform 99"/>
            <p:cNvSpPr>
              <a:spLocks/>
            </p:cNvSpPr>
            <p:nvPr/>
          </p:nvSpPr>
          <p:spPr bwMode="auto">
            <a:xfrm>
              <a:off x="2223" y="2050"/>
              <a:ext cx="985" cy="323"/>
            </a:xfrm>
            <a:custGeom>
              <a:avLst/>
              <a:gdLst>
                <a:gd name="T0" fmla="*/ 19988 w 20000"/>
                <a:gd name="T1" fmla="*/ 0 h 20000"/>
                <a:gd name="T2" fmla="*/ 19988 w 20000"/>
                <a:gd name="T3" fmla="*/ 19972 h 20000"/>
                <a:gd name="T4" fmla="*/ 0 w 20000"/>
                <a:gd name="T5" fmla="*/ 19972 h 20000"/>
                <a:gd name="T6" fmla="*/ 0 w 20000"/>
                <a:gd name="T7" fmla="*/ 0 h 20000"/>
                <a:gd name="T8" fmla="*/ 19988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88" y="0"/>
                  </a:moveTo>
                  <a:lnTo>
                    <a:pt x="19988" y="19972"/>
                  </a:lnTo>
                  <a:lnTo>
                    <a:pt x="0" y="19972"/>
                  </a:lnTo>
                  <a:lnTo>
                    <a:pt x="0" y="0"/>
                  </a:lnTo>
                  <a:lnTo>
                    <a:pt x="19988" y="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677" name="Rectangle 100"/>
            <p:cNvSpPr>
              <a:spLocks noChangeArrowheads="1"/>
            </p:cNvSpPr>
            <p:nvPr/>
          </p:nvSpPr>
          <p:spPr bwMode="auto">
            <a:xfrm>
              <a:off x="2330" y="2152"/>
              <a:ext cx="98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64000"/>
                </a:lnSpc>
              </a:pPr>
              <a:r>
                <a:rPr lang="en-US" altLang="en-US" sz="1400" noProof="1">
                  <a:solidFill>
                    <a:srgbClr val="000000"/>
                  </a:solidFill>
                </a:rPr>
                <a:t>Bytecode Verifier</a:t>
              </a:r>
            </a:p>
          </p:txBody>
        </p:sp>
        <p:sp>
          <p:nvSpPr>
            <p:cNvPr id="26678" name="Freeform 101"/>
            <p:cNvSpPr>
              <a:spLocks/>
            </p:cNvSpPr>
            <p:nvPr/>
          </p:nvSpPr>
          <p:spPr bwMode="auto">
            <a:xfrm>
              <a:off x="3213" y="2210"/>
              <a:ext cx="422" cy="1"/>
            </a:xfrm>
            <a:custGeom>
              <a:avLst/>
              <a:gdLst>
                <a:gd name="T0" fmla="*/ 19972 w 20000"/>
                <a:gd name="T1" fmla="*/ 0 h 20000"/>
                <a:gd name="T2" fmla="*/ 0 w 20000"/>
                <a:gd name="T3" fmla="*/ 0 h 20000"/>
                <a:gd name="T4" fmla="*/ 0 60000 65536"/>
                <a:gd name="T5" fmla="*/ 0 60000 65536"/>
                <a:gd name="T6" fmla="*/ 0 w 20000"/>
                <a:gd name="T7" fmla="*/ 0 h 20000"/>
                <a:gd name="T8" fmla="*/ 20000 w 20000"/>
                <a:gd name="T9" fmla="*/ 2000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19972" y="0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pSp>
          <p:nvGrpSpPr>
            <p:cNvPr id="26679" name="Group 102"/>
            <p:cNvGrpSpPr>
              <a:grpSpLocks/>
            </p:cNvGrpSpPr>
            <p:nvPr/>
          </p:nvGrpSpPr>
          <p:grpSpPr bwMode="auto">
            <a:xfrm>
              <a:off x="4337" y="1968"/>
              <a:ext cx="141" cy="1075"/>
              <a:chOff x="0" y="0"/>
              <a:chExt cx="20000" cy="19999"/>
            </a:xfrm>
          </p:grpSpPr>
          <p:sp>
            <p:nvSpPr>
              <p:cNvPr id="26707" name="Arc 103"/>
              <p:cNvSpPr>
                <a:spLocks/>
              </p:cNvSpPr>
              <p:nvPr/>
            </p:nvSpPr>
            <p:spPr bwMode="auto">
              <a:xfrm>
                <a:off x="0" y="0"/>
                <a:ext cx="10056" cy="5006"/>
              </a:xfrm>
              <a:custGeom>
                <a:avLst/>
                <a:gdLst>
                  <a:gd name="T0" fmla="*/ 0 w 21600"/>
                  <a:gd name="T1" fmla="*/ 0 h 21600"/>
                  <a:gd name="T2" fmla="*/ 10056 w 21600"/>
                  <a:gd name="T3" fmla="*/ 5006 h 21600"/>
                  <a:gd name="T4" fmla="*/ 0 w 21600"/>
                  <a:gd name="T5" fmla="*/ 5006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6708" name="Arc 104"/>
              <p:cNvSpPr>
                <a:spLocks/>
              </p:cNvSpPr>
              <p:nvPr/>
            </p:nvSpPr>
            <p:spPr bwMode="auto">
              <a:xfrm flipV="1">
                <a:off x="0" y="14993"/>
                <a:ext cx="10056" cy="5006"/>
              </a:xfrm>
              <a:custGeom>
                <a:avLst/>
                <a:gdLst>
                  <a:gd name="T0" fmla="*/ 0 w 21600"/>
                  <a:gd name="T1" fmla="*/ 0 h 21600"/>
                  <a:gd name="T2" fmla="*/ 10056 w 21600"/>
                  <a:gd name="T3" fmla="*/ 5006 h 21600"/>
                  <a:gd name="T4" fmla="*/ 0 w 21600"/>
                  <a:gd name="T5" fmla="*/ 5006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6709" name="Arc 105"/>
              <p:cNvSpPr>
                <a:spLocks/>
              </p:cNvSpPr>
              <p:nvPr/>
            </p:nvSpPr>
            <p:spPr bwMode="auto">
              <a:xfrm flipH="1">
                <a:off x="9972" y="9996"/>
                <a:ext cx="10028" cy="5005"/>
              </a:xfrm>
              <a:custGeom>
                <a:avLst/>
                <a:gdLst>
                  <a:gd name="T0" fmla="*/ 0 w 21600"/>
                  <a:gd name="T1" fmla="*/ 0 h 21600"/>
                  <a:gd name="T2" fmla="*/ 10028 w 21600"/>
                  <a:gd name="T3" fmla="*/ 5005 h 21600"/>
                  <a:gd name="T4" fmla="*/ 0 w 21600"/>
                  <a:gd name="T5" fmla="*/ 5005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6710" name="Arc 106"/>
              <p:cNvSpPr>
                <a:spLocks/>
              </p:cNvSpPr>
              <p:nvPr/>
            </p:nvSpPr>
            <p:spPr bwMode="auto">
              <a:xfrm flipH="1" flipV="1">
                <a:off x="9944" y="4998"/>
                <a:ext cx="10056" cy="5005"/>
              </a:xfrm>
              <a:custGeom>
                <a:avLst/>
                <a:gdLst>
                  <a:gd name="T0" fmla="*/ 0 w 21600"/>
                  <a:gd name="T1" fmla="*/ 0 h 21600"/>
                  <a:gd name="T2" fmla="*/ 10056 w 21600"/>
                  <a:gd name="T3" fmla="*/ 5005 h 21600"/>
                  <a:gd name="T4" fmla="*/ 0 w 21600"/>
                  <a:gd name="T5" fmla="*/ 5005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26680" name="Rectangle 107"/>
            <p:cNvSpPr>
              <a:spLocks noChangeArrowheads="1"/>
            </p:cNvSpPr>
            <p:nvPr/>
          </p:nvSpPr>
          <p:spPr bwMode="auto">
            <a:xfrm>
              <a:off x="4549" y="2190"/>
              <a:ext cx="872" cy="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en-US" sz="1200" b="1" noProof="1">
                  <a:solidFill>
                    <a:srgbClr val="000000"/>
                  </a:solidFill>
                </a:rPr>
                <a:t>Bytecode verifier confirms that all bytecodes are valid and do not violate Java’s security restrictions.</a:t>
              </a:r>
            </a:p>
          </p:txBody>
        </p:sp>
        <p:sp>
          <p:nvSpPr>
            <p:cNvPr id="26681" name="Rectangle 108"/>
            <p:cNvSpPr>
              <a:spLocks noChangeArrowheads="1"/>
            </p:cNvSpPr>
            <p:nvPr/>
          </p:nvSpPr>
          <p:spPr bwMode="auto">
            <a:xfrm>
              <a:off x="1453" y="2181"/>
              <a:ext cx="739" cy="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en-US" sz="1400" noProof="1">
                  <a:solidFill>
                    <a:srgbClr val="000000"/>
                  </a:solidFill>
                </a:rPr>
                <a:t>Phase 4</a:t>
              </a:r>
            </a:p>
          </p:txBody>
        </p:sp>
        <p:grpSp>
          <p:nvGrpSpPr>
            <p:cNvPr id="26682" name="Group 109"/>
            <p:cNvGrpSpPr>
              <a:grpSpLocks/>
            </p:cNvGrpSpPr>
            <p:nvPr/>
          </p:nvGrpSpPr>
          <p:grpSpPr bwMode="auto">
            <a:xfrm>
              <a:off x="3635" y="3106"/>
              <a:ext cx="634" cy="1042"/>
              <a:chOff x="0" y="0"/>
              <a:chExt cx="20000" cy="20002"/>
            </a:xfrm>
          </p:grpSpPr>
          <p:sp>
            <p:nvSpPr>
              <p:cNvPr id="26694" name="Rectangle 110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9981" cy="34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</a:pPr>
                <a:r>
                  <a:rPr lang="en-US" altLang="en-US" sz="1200" noProof="1">
                    <a:solidFill>
                      <a:srgbClr val="000000"/>
                    </a:solidFill>
                  </a:rPr>
                  <a:t>Primary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en-US" sz="1200" noProof="1">
                    <a:solidFill>
                      <a:srgbClr val="000000"/>
                    </a:solidFill>
                  </a:rPr>
                  <a:t>Memory</a:t>
                </a:r>
              </a:p>
            </p:txBody>
          </p:sp>
          <p:grpSp>
            <p:nvGrpSpPr>
              <p:cNvPr id="26695" name="Group 111"/>
              <p:cNvGrpSpPr>
                <a:grpSpLocks/>
              </p:cNvGrpSpPr>
              <p:nvPr/>
            </p:nvGrpSpPr>
            <p:grpSpPr bwMode="auto">
              <a:xfrm>
                <a:off x="0" y="3575"/>
                <a:ext cx="20000" cy="16427"/>
                <a:chOff x="0" y="0"/>
                <a:chExt cx="20000" cy="20000"/>
              </a:xfrm>
            </p:grpSpPr>
            <p:sp>
              <p:nvSpPr>
                <p:cNvPr id="26696" name="Freeform 112"/>
                <p:cNvSpPr>
                  <a:spLocks/>
                </p:cNvSpPr>
                <p:nvPr/>
              </p:nvSpPr>
              <p:spPr bwMode="auto">
                <a:xfrm>
                  <a:off x="0" y="0"/>
                  <a:ext cx="19832" cy="19979"/>
                </a:xfrm>
                <a:custGeom>
                  <a:avLst/>
                  <a:gdLst>
                    <a:gd name="T0" fmla="*/ 19981 w 20000"/>
                    <a:gd name="T1" fmla="*/ 0 h 20000"/>
                    <a:gd name="T2" fmla="*/ 19981 w 20000"/>
                    <a:gd name="T3" fmla="*/ 19990 h 20000"/>
                    <a:gd name="T4" fmla="*/ 0 w 20000"/>
                    <a:gd name="T5" fmla="*/ 19990 h 20000"/>
                    <a:gd name="T6" fmla="*/ 0 w 20000"/>
                    <a:gd name="T7" fmla="*/ 0 h 20000"/>
                    <a:gd name="T8" fmla="*/ 19981 w 20000"/>
                    <a:gd name="T9" fmla="*/ 0 h 200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000"/>
                    <a:gd name="T16" fmla="*/ 0 h 20000"/>
                    <a:gd name="T17" fmla="*/ 20000 w 20000"/>
                    <a:gd name="T18" fmla="*/ 20000 h 200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000" h="20000">
                      <a:moveTo>
                        <a:pt x="19981" y="0"/>
                      </a:moveTo>
                      <a:lnTo>
                        <a:pt x="19981" y="19990"/>
                      </a:lnTo>
                      <a:lnTo>
                        <a:pt x="0" y="19990"/>
                      </a:lnTo>
                      <a:lnTo>
                        <a:pt x="0" y="0"/>
                      </a:lnTo>
                      <a:lnTo>
                        <a:pt x="19981" y="0"/>
                      </a:lnTo>
                      <a:close/>
                    </a:path>
                  </a:pathLst>
                </a:custGeom>
                <a:solidFill>
                  <a:srgbClr val="4DB3E6"/>
                </a:solidFill>
                <a:ln w="3175">
                  <a:solidFill>
                    <a:srgbClr val="4DB3E6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6697" name="Freeform 113"/>
                <p:cNvSpPr>
                  <a:spLocks/>
                </p:cNvSpPr>
                <p:nvPr/>
              </p:nvSpPr>
              <p:spPr bwMode="auto">
                <a:xfrm>
                  <a:off x="31" y="9"/>
                  <a:ext cx="19969" cy="2489"/>
                </a:xfrm>
                <a:custGeom>
                  <a:avLst/>
                  <a:gdLst>
                    <a:gd name="T0" fmla="*/ 19981 w 20000"/>
                    <a:gd name="T1" fmla="*/ 0 h 20000"/>
                    <a:gd name="T2" fmla="*/ 19981 w 20000"/>
                    <a:gd name="T3" fmla="*/ 19916 h 20000"/>
                    <a:gd name="T4" fmla="*/ 0 w 20000"/>
                    <a:gd name="T5" fmla="*/ 19916 h 20000"/>
                    <a:gd name="T6" fmla="*/ 0 w 20000"/>
                    <a:gd name="T7" fmla="*/ 0 h 20000"/>
                    <a:gd name="T8" fmla="*/ 19981 w 20000"/>
                    <a:gd name="T9" fmla="*/ 0 h 200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000"/>
                    <a:gd name="T16" fmla="*/ 0 h 20000"/>
                    <a:gd name="T17" fmla="*/ 20000 w 20000"/>
                    <a:gd name="T18" fmla="*/ 20000 h 200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000" h="20000">
                      <a:moveTo>
                        <a:pt x="19981" y="0"/>
                      </a:moveTo>
                      <a:lnTo>
                        <a:pt x="19981" y="19916"/>
                      </a:lnTo>
                      <a:lnTo>
                        <a:pt x="0" y="19916"/>
                      </a:lnTo>
                      <a:lnTo>
                        <a:pt x="0" y="0"/>
                      </a:lnTo>
                      <a:lnTo>
                        <a:pt x="19981" y="0"/>
                      </a:lnTo>
                      <a:close/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6698" name="Freeform 114"/>
                <p:cNvSpPr>
                  <a:spLocks/>
                </p:cNvSpPr>
                <p:nvPr/>
              </p:nvSpPr>
              <p:spPr bwMode="auto">
                <a:xfrm>
                  <a:off x="31" y="2523"/>
                  <a:ext cx="19969" cy="2508"/>
                </a:xfrm>
                <a:custGeom>
                  <a:avLst/>
                  <a:gdLst>
                    <a:gd name="T0" fmla="*/ 19981 w 20000"/>
                    <a:gd name="T1" fmla="*/ 0 h 20000"/>
                    <a:gd name="T2" fmla="*/ 19981 w 20000"/>
                    <a:gd name="T3" fmla="*/ 19917 h 20000"/>
                    <a:gd name="T4" fmla="*/ 0 w 20000"/>
                    <a:gd name="T5" fmla="*/ 19917 h 20000"/>
                    <a:gd name="T6" fmla="*/ 0 w 20000"/>
                    <a:gd name="T7" fmla="*/ 0 h 20000"/>
                    <a:gd name="T8" fmla="*/ 19981 w 20000"/>
                    <a:gd name="T9" fmla="*/ 0 h 200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000"/>
                    <a:gd name="T16" fmla="*/ 0 h 20000"/>
                    <a:gd name="T17" fmla="*/ 20000 w 20000"/>
                    <a:gd name="T18" fmla="*/ 20000 h 200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000" h="20000">
                      <a:moveTo>
                        <a:pt x="19981" y="0"/>
                      </a:moveTo>
                      <a:lnTo>
                        <a:pt x="19981" y="19917"/>
                      </a:lnTo>
                      <a:lnTo>
                        <a:pt x="0" y="19917"/>
                      </a:lnTo>
                      <a:lnTo>
                        <a:pt x="0" y="0"/>
                      </a:lnTo>
                      <a:lnTo>
                        <a:pt x="19981" y="0"/>
                      </a:lnTo>
                      <a:close/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grpSp>
              <p:nvGrpSpPr>
                <p:cNvPr id="26699" name="Group 115"/>
                <p:cNvGrpSpPr>
                  <a:grpSpLocks/>
                </p:cNvGrpSpPr>
                <p:nvPr/>
              </p:nvGrpSpPr>
              <p:grpSpPr bwMode="auto">
                <a:xfrm>
                  <a:off x="31" y="5031"/>
                  <a:ext cx="19969" cy="14969"/>
                  <a:chOff x="2" y="-1"/>
                  <a:chExt cx="19996" cy="20002"/>
                </a:xfrm>
              </p:grpSpPr>
              <p:sp>
                <p:nvSpPr>
                  <p:cNvPr id="26700" name="Rectangle 116"/>
                  <p:cNvSpPr>
                    <a:spLocks noChangeArrowheads="1"/>
                  </p:cNvSpPr>
                  <p:nvPr/>
                </p:nvSpPr>
                <p:spPr bwMode="auto">
                  <a:xfrm>
                    <a:off x="8321" y="10114"/>
                    <a:ext cx="2241" cy="728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just">
                      <a:lnSpc>
                        <a:spcPct val="88000"/>
                      </a:lnSpc>
                    </a:pPr>
                    <a:r>
                      <a:rPr lang="en-US" altLang="en-US" sz="900" noProof="1">
                        <a:solidFill>
                          <a:srgbClr val="000000"/>
                        </a:solidFill>
                      </a:rPr>
                      <a:t>.</a:t>
                    </a:r>
                  </a:p>
                  <a:p>
                    <a:pPr algn="just">
                      <a:lnSpc>
                        <a:spcPct val="88000"/>
                      </a:lnSpc>
                    </a:pPr>
                    <a:r>
                      <a:rPr lang="en-US" altLang="en-US" sz="900" noProof="1">
                        <a:solidFill>
                          <a:srgbClr val="000000"/>
                        </a:solidFill>
                      </a:rPr>
                      <a:t>.</a:t>
                    </a:r>
                  </a:p>
                  <a:p>
                    <a:pPr algn="just">
                      <a:lnSpc>
                        <a:spcPct val="88000"/>
                      </a:lnSpc>
                    </a:pPr>
                    <a:r>
                      <a:rPr lang="en-US" altLang="en-US" sz="900" noProof="1">
                        <a:solidFill>
                          <a:srgbClr val="000000"/>
                        </a:solidFill>
                      </a:rPr>
                      <a:t>.</a:t>
                    </a:r>
                  </a:p>
                </p:txBody>
              </p:sp>
              <p:sp>
                <p:nvSpPr>
                  <p:cNvPr id="26701" name="Freeform 117"/>
                  <p:cNvSpPr>
                    <a:spLocks/>
                  </p:cNvSpPr>
                  <p:nvPr/>
                </p:nvSpPr>
                <p:spPr bwMode="auto">
                  <a:xfrm>
                    <a:off x="2" y="-1"/>
                    <a:ext cx="19996" cy="3332"/>
                  </a:xfrm>
                  <a:custGeom>
                    <a:avLst/>
                    <a:gdLst>
                      <a:gd name="T0" fmla="*/ 19981 w 20000"/>
                      <a:gd name="T1" fmla="*/ 0 h 20000"/>
                      <a:gd name="T2" fmla="*/ 19981 w 20000"/>
                      <a:gd name="T3" fmla="*/ 19916 h 20000"/>
                      <a:gd name="T4" fmla="*/ 0 w 20000"/>
                      <a:gd name="T5" fmla="*/ 19916 h 20000"/>
                      <a:gd name="T6" fmla="*/ 0 w 20000"/>
                      <a:gd name="T7" fmla="*/ 0 h 20000"/>
                      <a:gd name="T8" fmla="*/ 19981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1" y="0"/>
                        </a:moveTo>
                        <a:lnTo>
                          <a:pt x="19981" y="19916"/>
                        </a:lnTo>
                        <a:lnTo>
                          <a:pt x="0" y="19916"/>
                        </a:lnTo>
                        <a:lnTo>
                          <a:pt x="0" y="0"/>
                        </a:lnTo>
                        <a:lnTo>
                          <a:pt x="19981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/>
                  </a:p>
                </p:txBody>
              </p:sp>
              <p:sp>
                <p:nvSpPr>
                  <p:cNvPr id="26702" name="Freeform 118"/>
                  <p:cNvSpPr>
                    <a:spLocks/>
                  </p:cNvSpPr>
                  <p:nvPr/>
                </p:nvSpPr>
                <p:spPr bwMode="auto">
                  <a:xfrm>
                    <a:off x="2" y="3345"/>
                    <a:ext cx="19996" cy="3326"/>
                  </a:xfrm>
                  <a:custGeom>
                    <a:avLst/>
                    <a:gdLst>
                      <a:gd name="T0" fmla="*/ 19981 w 20000"/>
                      <a:gd name="T1" fmla="*/ 0 h 20000"/>
                      <a:gd name="T2" fmla="*/ 19981 w 20000"/>
                      <a:gd name="T3" fmla="*/ 19916 h 20000"/>
                      <a:gd name="T4" fmla="*/ 0 w 20000"/>
                      <a:gd name="T5" fmla="*/ 19916 h 20000"/>
                      <a:gd name="T6" fmla="*/ 0 w 20000"/>
                      <a:gd name="T7" fmla="*/ 0 h 20000"/>
                      <a:gd name="T8" fmla="*/ 19981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1" y="0"/>
                        </a:moveTo>
                        <a:lnTo>
                          <a:pt x="19981" y="19916"/>
                        </a:lnTo>
                        <a:lnTo>
                          <a:pt x="0" y="19916"/>
                        </a:lnTo>
                        <a:lnTo>
                          <a:pt x="0" y="0"/>
                        </a:lnTo>
                        <a:lnTo>
                          <a:pt x="19981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/>
                  </a:p>
                </p:txBody>
              </p:sp>
              <p:sp>
                <p:nvSpPr>
                  <p:cNvPr id="26703" name="Freeform 119"/>
                  <p:cNvSpPr>
                    <a:spLocks/>
                  </p:cNvSpPr>
                  <p:nvPr/>
                </p:nvSpPr>
                <p:spPr bwMode="auto">
                  <a:xfrm>
                    <a:off x="2" y="6671"/>
                    <a:ext cx="19996" cy="3331"/>
                  </a:xfrm>
                  <a:custGeom>
                    <a:avLst/>
                    <a:gdLst>
                      <a:gd name="T0" fmla="*/ 19981 w 20000"/>
                      <a:gd name="T1" fmla="*/ 0 h 20000"/>
                      <a:gd name="T2" fmla="*/ 19981 w 20000"/>
                      <a:gd name="T3" fmla="*/ 19916 h 20000"/>
                      <a:gd name="T4" fmla="*/ 0 w 20000"/>
                      <a:gd name="T5" fmla="*/ 19916 h 20000"/>
                      <a:gd name="T6" fmla="*/ 0 w 20000"/>
                      <a:gd name="T7" fmla="*/ 0 h 20000"/>
                      <a:gd name="T8" fmla="*/ 19981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1" y="0"/>
                        </a:moveTo>
                        <a:lnTo>
                          <a:pt x="19981" y="19916"/>
                        </a:lnTo>
                        <a:lnTo>
                          <a:pt x="0" y="19916"/>
                        </a:lnTo>
                        <a:lnTo>
                          <a:pt x="0" y="0"/>
                        </a:lnTo>
                        <a:lnTo>
                          <a:pt x="19981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/>
                  </a:p>
                </p:txBody>
              </p:sp>
              <p:sp>
                <p:nvSpPr>
                  <p:cNvPr id="26704" name="Freeform 120"/>
                  <p:cNvSpPr>
                    <a:spLocks/>
                  </p:cNvSpPr>
                  <p:nvPr/>
                </p:nvSpPr>
                <p:spPr bwMode="auto">
                  <a:xfrm>
                    <a:off x="2" y="10015"/>
                    <a:ext cx="19996" cy="6672"/>
                  </a:xfrm>
                  <a:custGeom>
                    <a:avLst/>
                    <a:gdLst>
                      <a:gd name="T0" fmla="*/ 19981 w 20000"/>
                      <a:gd name="T1" fmla="*/ 0 h 20000"/>
                      <a:gd name="T2" fmla="*/ 19981 w 20000"/>
                      <a:gd name="T3" fmla="*/ 19958 h 20000"/>
                      <a:gd name="T4" fmla="*/ 0 w 20000"/>
                      <a:gd name="T5" fmla="*/ 19958 h 20000"/>
                      <a:gd name="T6" fmla="*/ 0 w 20000"/>
                      <a:gd name="T7" fmla="*/ 0 h 20000"/>
                      <a:gd name="T8" fmla="*/ 19981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1" y="0"/>
                        </a:moveTo>
                        <a:lnTo>
                          <a:pt x="19981" y="19958"/>
                        </a:lnTo>
                        <a:lnTo>
                          <a:pt x="0" y="19958"/>
                        </a:lnTo>
                        <a:lnTo>
                          <a:pt x="0" y="0"/>
                        </a:lnTo>
                        <a:lnTo>
                          <a:pt x="19981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/>
                  </a:p>
                </p:txBody>
              </p:sp>
              <p:sp>
                <p:nvSpPr>
                  <p:cNvPr id="26705" name="Freeform 121"/>
                  <p:cNvSpPr>
                    <a:spLocks/>
                  </p:cNvSpPr>
                  <p:nvPr/>
                </p:nvSpPr>
                <p:spPr bwMode="auto">
                  <a:xfrm>
                    <a:off x="2" y="16673"/>
                    <a:ext cx="19996" cy="3328"/>
                  </a:xfrm>
                  <a:custGeom>
                    <a:avLst/>
                    <a:gdLst>
                      <a:gd name="T0" fmla="*/ 19981 w 20000"/>
                      <a:gd name="T1" fmla="*/ 0 h 20000"/>
                      <a:gd name="T2" fmla="*/ 19981 w 20000"/>
                      <a:gd name="T3" fmla="*/ 19916 h 20000"/>
                      <a:gd name="T4" fmla="*/ 0 w 20000"/>
                      <a:gd name="T5" fmla="*/ 19916 h 20000"/>
                      <a:gd name="T6" fmla="*/ 0 w 20000"/>
                      <a:gd name="T7" fmla="*/ 0 h 20000"/>
                      <a:gd name="T8" fmla="*/ 19981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1" y="0"/>
                        </a:moveTo>
                        <a:lnTo>
                          <a:pt x="19981" y="19916"/>
                        </a:lnTo>
                        <a:lnTo>
                          <a:pt x="0" y="19916"/>
                        </a:lnTo>
                        <a:lnTo>
                          <a:pt x="0" y="0"/>
                        </a:lnTo>
                        <a:lnTo>
                          <a:pt x="19981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/>
                  </a:p>
                </p:txBody>
              </p:sp>
              <p:sp>
                <p:nvSpPr>
                  <p:cNvPr id="26706" name="Rectangle 122"/>
                  <p:cNvSpPr>
                    <a:spLocks noChangeArrowheads="1"/>
                  </p:cNvSpPr>
                  <p:nvPr/>
                </p:nvSpPr>
                <p:spPr bwMode="auto">
                  <a:xfrm>
                    <a:off x="8877" y="10017"/>
                    <a:ext cx="2240" cy="724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>
                      <a:lnSpc>
                        <a:spcPct val="64000"/>
                      </a:lnSpc>
                    </a:pPr>
                    <a:r>
                      <a:rPr lang="en-US" altLang="en-US" sz="900" noProof="1">
                        <a:solidFill>
                          <a:srgbClr val="000000"/>
                        </a:solidFill>
                      </a:rPr>
                      <a:t>.</a:t>
                    </a:r>
                  </a:p>
                  <a:p>
                    <a:pPr algn="ctr">
                      <a:lnSpc>
                        <a:spcPct val="64000"/>
                      </a:lnSpc>
                    </a:pPr>
                    <a:r>
                      <a:rPr lang="en-US" altLang="en-US" sz="900" noProof="1">
                        <a:solidFill>
                          <a:srgbClr val="000000"/>
                        </a:solidFill>
                      </a:rPr>
                      <a:t>.</a:t>
                    </a:r>
                  </a:p>
                  <a:p>
                    <a:pPr algn="ctr">
                      <a:lnSpc>
                        <a:spcPct val="64000"/>
                      </a:lnSpc>
                    </a:pPr>
                    <a:r>
                      <a:rPr lang="en-US" altLang="en-US" sz="900" noProof="1">
                        <a:solidFill>
                          <a:srgbClr val="000000"/>
                        </a:solidFill>
                      </a:rPr>
                      <a:t>.</a:t>
                    </a:r>
                  </a:p>
                </p:txBody>
              </p:sp>
            </p:grpSp>
          </p:grpSp>
        </p:grpSp>
        <p:sp>
          <p:nvSpPr>
            <p:cNvPr id="26683" name="Freeform 123"/>
            <p:cNvSpPr>
              <a:spLocks/>
            </p:cNvSpPr>
            <p:nvPr/>
          </p:nvSpPr>
          <p:spPr bwMode="auto">
            <a:xfrm>
              <a:off x="2224" y="3183"/>
              <a:ext cx="984" cy="323"/>
            </a:xfrm>
            <a:custGeom>
              <a:avLst/>
              <a:gdLst>
                <a:gd name="T0" fmla="*/ 19988 w 20000"/>
                <a:gd name="T1" fmla="*/ 0 h 20000"/>
                <a:gd name="T2" fmla="*/ 19988 w 20000"/>
                <a:gd name="T3" fmla="*/ 19972 h 20000"/>
                <a:gd name="T4" fmla="*/ 0 w 20000"/>
                <a:gd name="T5" fmla="*/ 19972 h 20000"/>
                <a:gd name="T6" fmla="*/ 0 w 20000"/>
                <a:gd name="T7" fmla="*/ 0 h 20000"/>
                <a:gd name="T8" fmla="*/ 19988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88" y="0"/>
                  </a:moveTo>
                  <a:lnTo>
                    <a:pt x="19988" y="19972"/>
                  </a:lnTo>
                  <a:lnTo>
                    <a:pt x="0" y="19972"/>
                  </a:lnTo>
                  <a:lnTo>
                    <a:pt x="0" y="0"/>
                  </a:lnTo>
                  <a:lnTo>
                    <a:pt x="19988" y="0"/>
                  </a:lnTo>
                  <a:close/>
                </a:path>
              </a:pathLst>
            </a:custGeom>
            <a:solidFill>
              <a:srgbClr val="4DB3E6"/>
            </a:solidFill>
            <a:ln w="3175">
              <a:solidFill>
                <a:srgbClr val="4DB3E6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684" name="Freeform 124"/>
            <p:cNvSpPr>
              <a:spLocks/>
            </p:cNvSpPr>
            <p:nvPr/>
          </p:nvSpPr>
          <p:spPr bwMode="auto">
            <a:xfrm>
              <a:off x="2224" y="3183"/>
              <a:ext cx="984" cy="323"/>
            </a:xfrm>
            <a:custGeom>
              <a:avLst/>
              <a:gdLst>
                <a:gd name="T0" fmla="*/ 19988 w 20000"/>
                <a:gd name="T1" fmla="*/ 0 h 20000"/>
                <a:gd name="T2" fmla="*/ 19988 w 20000"/>
                <a:gd name="T3" fmla="*/ 19972 h 20000"/>
                <a:gd name="T4" fmla="*/ 0 w 20000"/>
                <a:gd name="T5" fmla="*/ 19972 h 20000"/>
                <a:gd name="T6" fmla="*/ 0 w 20000"/>
                <a:gd name="T7" fmla="*/ 0 h 20000"/>
                <a:gd name="T8" fmla="*/ 19988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88" y="0"/>
                  </a:moveTo>
                  <a:lnTo>
                    <a:pt x="19988" y="19972"/>
                  </a:lnTo>
                  <a:lnTo>
                    <a:pt x="0" y="19972"/>
                  </a:lnTo>
                  <a:lnTo>
                    <a:pt x="0" y="0"/>
                  </a:lnTo>
                  <a:lnTo>
                    <a:pt x="19988" y="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685" name="Rectangle 125"/>
            <p:cNvSpPr>
              <a:spLocks noChangeArrowheads="1"/>
            </p:cNvSpPr>
            <p:nvPr/>
          </p:nvSpPr>
          <p:spPr bwMode="auto">
            <a:xfrm>
              <a:off x="2260" y="3308"/>
              <a:ext cx="914" cy="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64000"/>
                </a:lnSpc>
              </a:pPr>
              <a:r>
                <a:rPr lang="en-US" altLang="en-US" sz="1400" noProof="1">
                  <a:solidFill>
                    <a:srgbClr val="000000"/>
                  </a:solidFill>
                </a:rPr>
                <a:t>Interpreter</a:t>
              </a:r>
            </a:p>
          </p:txBody>
        </p:sp>
        <p:sp>
          <p:nvSpPr>
            <p:cNvPr id="26686" name="Freeform 126"/>
            <p:cNvSpPr>
              <a:spLocks/>
            </p:cNvSpPr>
            <p:nvPr/>
          </p:nvSpPr>
          <p:spPr bwMode="auto">
            <a:xfrm>
              <a:off x="3213" y="3344"/>
              <a:ext cx="422" cy="0"/>
            </a:xfrm>
            <a:custGeom>
              <a:avLst/>
              <a:gdLst>
                <a:gd name="T0" fmla="*/ 19972 w 20000"/>
                <a:gd name="T1" fmla="*/ 0 h 20000"/>
                <a:gd name="T2" fmla="*/ 0 w 20000"/>
                <a:gd name="T3" fmla="*/ 0 h 20000"/>
                <a:gd name="T4" fmla="*/ 0 60000 65536"/>
                <a:gd name="T5" fmla="*/ 0 60000 65536"/>
                <a:gd name="T6" fmla="*/ 0 w 20000"/>
                <a:gd name="T7" fmla="*/ 0 h 20000"/>
                <a:gd name="T8" fmla="*/ 20000 w 20000"/>
                <a:gd name="T9" fmla="*/ 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19972" y="0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pSp>
          <p:nvGrpSpPr>
            <p:cNvPr id="26687" name="Group 127"/>
            <p:cNvGrpSpPr>
              <a:grpSpLocks/>
            </p:cNvGrpSpPr>
            <p:nvPr/>
          </p:nvGrpSpPr>
          <p:grpSpPr bwMode="auto">
            <a:xfrm>
              <a:off x="4337" y="3097"/>
              <a:ext cx="143" cy="1075"/>
              <a:chOff x="0" y="0"/>
              <a:chExt cx="20000" cy="20001"/>
            </a:xfrm>
          </p:grpSpPr>
          <p:sp>
            <p:nvSpPr>
              <p:cNvPr id="26690" name="Arc 128"/>
              <p:cNvSpPr>
                <a:spLocks/>
              </p:cNvSpPr>
              <p:nvPr/>
            </p:nvSpPr>
            <p:spPr bwMode="auto">
              <a:xfrm>
                <a:off x="28" y="0"/>
                <a:ext cx="10014" cy="5005"/>
              </a:xfrm>
              <a:custGeom>
                <a:avLst/>
                <a:gdLst>
                  <a:gd name="T0" fmla="*/ 0 w 21600"/>
                  <a:gd name="T1" fmla="*/ 0 h 21600"/>
                  <a:gd name="T2" fmla="*/ 10014 w 21600"/>
                  <a:gd name="T3" fmla="*/ 5005 h 21600"/>
                  <a:gd name="T4" fmla="*/ 0 w 21600"/>
                  <a:gd name="T5" fmla="*/ 5005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6691" name="Arc 129"/>
              <p:cNvSpPr>
                <a:spLocks/>
              </p:cNvSpPr>
              <p:nvPr/>
            </p:nvSpPr>
            <p:spPr bwMode="auto">
              <a:xfrm flipV="1">
                <a:off x="0" y="14992"/>
                <a:ext cx="10042" cy="5009"/>
              </a:xfrm>
              <a:custGeom>
                <a:avLst/>
                <a:gdLst>
                  <a:gd name="T0" fmla="*/ 0 w 21600"/>
                  <a:gd name="T1" fmla="*/ 0 h 21600"/>
                  <a:gd name="T2" fmla="*/ 10042 w 21600"/>
                  <a:gd name="T3" fmla="*/ 5009 h 21600"/>
                  <a:gd name="T4" fmla="*/ 0 w 21600"/>
                  <a:gd name="T5" fmla="*/ 5009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6692" name="Arc 130"/>
              <p:cNvSpPr>
                <a:spLocks/>
              </p:cNvSpPr>
              <p:nvPr/>
            </p:nvSpPr>
            <p:spPr bwMode="auto">
              <a:xfrm flipH="1">
                <a:off x="9958" y="9995"/>
                <a:ext cx="10042" cy="5009"/>
              </a:xfrm>
              <a:custGeom>
                <a:avLst/>
                <a:gdLst>
                  <a:gd name="T0" fmla="*/ 0 w 21600"/>
                  <a:gd name="T1" fmla="*/ 0 h 21600"/>
                  <a:gd name="T2" fmla="*/ 10042 w 21600"/>
                  <a:gd name="T3" fmla="*/ 5009 h 21600"/>
                  <a:gd name="T4" fmla="*/ 0 w 21600"/>
                  <a:gd name="T5" fmla="*/ 5009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6693" name="Arc 131"/>
              <p:cNvSpPr>
                <a:spLocks/>
              </p:cNvSpPr>
              <p:nvPr/>
            </p:nvSpPr>
            <p:spPr bwMode="auto">
              <a:xfrm flipH="1" flipV="1">
                <a:off x="9958" y="4997"/>
                <a:ext cx="10042" cy="5005"/>
              </a:xfrm>
              <a:custGeom>
                <a:avLst/>
                <a:gdLst>
                  <a:gd name="T0" fmla="*/ 0 w 21600"/>
                  <a:gd name="T1" fmla="*/ 0 h 21600"/>
                  <a:gd name="T2" fmla="*/ 10042 w 21600"/>
                  <a:gd name="T3" fmla="*/ 5005 h 21600"/>
                  <a:gd name="T4" fmla="*/ 0 w 21600"/>
                  <a:gd name="T5" fmla="*/ 5005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26688" name="Rectangle 132"/>
            <p:cNvSpPr>
              <a:spLocks noChangeArrowheads="1"/>
            </p:cNvSpPr>
            <p:nvPr/>
          </p:nvSpPr>
          <p:spPr bwMode="auto">
            <a:xfrm>
              <a:off x="4549" y="3220"/>
              <a:ext cx="858" cy="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en-US" sz="1000" b="1" noProof="1">
                  <a:solidFill>
                    <a:srgbClr val="000000"/>
                  </a:solidFill>
                </a:rPr>
                <a:t>Interpreter reads bytecodes and translates them into a language that the computer can understand, possibly storing data values as the program executes.</a:t>
              </a:r>
            </a:p>
          </p:txBody>
        </p:sp>
        <p:sp>
          <p:nvSpPr>
            <p:cNvPr id="26689" name="Rectangle 133"/>
            <p:cNvSpPr>
              <a:spLocks noChangeArrowheads="1"/>
            </p:cNvSpPr>
            <p:nvPr/>
          </p:nvSpPr>
          <p:spPr bwMode="auto">
            <a:xfrm>
              <a:off x="1453" y="3313"/>
              <a:ext cx="739" cy="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en-US" sz="1400" noProof="1">
                  <a:solidFill>
                    <a:srgbClr val="000000"/>
                  </a:solidFill>
                </a:rPr>
                <a:t>Phase 5</a:t>
              </a:r>
            </a:p>
          </p:txBody>
        </p:sp>
      </p:grpSp>
      <p:sp>
        <p:nvSpPr>
          <p:cNvPr id="26627" name="Slide Number Placeholder 13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09FDEB9-845F-43FD-8A59-706E6EE15CF7}" type="slidenum">
              <a:rPr lang="en-US" altLang="en-US"/>
              <a:pPr eaLnBrk="1" hangingPunct="1"/>
              <a:t>17</a:t>
            </a:fld>
            <a:endParaRPr lang="en-US" alt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6D1E994-1ADC-4E2C-A688-F069E48FA554}" type="datetime1">
              <a:rPr lang="en-US" smtClean="0"/>
              <a:t>8/23/25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66800"/>
            <a:ext cx="8229600" cy="4525962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1. Java 1.0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2. Java 1.1 (Add new library, redefine applet handling and reconfigured many features.)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3. Java 2 (Second generation). Version no:1.2 (Internal version number of java library). Also known as J2SE [ Java 2 Platform Standard Edition].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- Add swing, the collection framework, enhanced JVM etc.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4. J2SE 1.3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5. J2SE 1.4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6. J2SE 1.5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7. J2SE 1.6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8. J2SE 5.0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9. Java SE 6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10. Java SE 7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11. Java SE 8 (latest Java)</a:t>
            </a:r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The Evolution of Java</a:t>
            </a:r>
          </a:p>
        </p:txBody>
      </p:sp>
      <p:sp>
        <p:nvSpPr>
          <p:cNvPr id="2970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28552A7-8B9B-4B7F-8061-D07113456D82}" type="slidenum">
              <a:rPr lang="en-US" altLang="en-US"/>
              <a:pPr eaLnBrk="1" hangingPunct="1"/>
              <a:t>18</a:t>
            </a:fld>
            <a:endParaRPr lang="en-US" alt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2CE1A84-82BF-401E-89B5-10FF0C34E7D0}" type="datetime1">
              <a:rPr lang="en-US" smtClean="0"/>
              <a:t>8/23/25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buSzTx/>
              <a:buFont typeface="Wingdings" panose="05000000000000000000" pitchFamily="2" charset="2"/>
              <a:buBlip>
                <a:blip r:embed="rId2"/>
              </a:buBlip>
            </a:pPr>
            <a:r>
              <a:rPr lang="en-GB" altLang="en-US" sz="1800" dirty="0">
                <a:latin typeface="Times New Roman" panose="02020603050405020304" pitchFamily="18" charset="0"/>
              </a:rPr>
              <a:t>Three versions of the Java Platform, targeted at different uses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Blip>
                <a:blip r:embed="rId2"/>
              </a:buBlip>
            </a:pPr>
            <a:r>
              <a:rPr lang="en-GB" altLang="en-US" sz="1800" dirty="0">
                <a:latin typeface="Times New Roman" panose="02020603050405020304" pitchFamily="18" charset="0"/>
              </a:rPr>
              <a:t>Java Micro Edition (Java ME)</a:t>
            </a:r>
          </a:p>
          <a:p>
            <a:pPr lvl="2">
              <a:lnSpc>
                <a:spcPct val="90000"/>
              </a:lnSpc>
              <a:buSzTx/>
              <a:buFont typeface="Wingdings" panose="05000000000000000000" pitchFamily="2" charset="2"/>
              <a:buBlip>
                <a:blip r:embed="rId2"/>
              </a:buBlip>
            </a:pPr>
            <a:r>
              <a:rPr lang="en-GB" altLang="en-US" sz="1800" dirty="0">
                <a:latin typeface="Times New Roman" panose="02020603050405020304" pitchFamily="18" charset="0"/>
              </a:rPr>
              <a:t>Very small Java environment for smart cards, pages, phones, and set-top boxes</a:t>
            </a:r>
          </a:p>
          <a:p>
            <a:pPr lvl="2">
              <a:lnSpc>
                <a:spcPct val="90000"/>
              </a:lnSpc>
              <a:buSzTx/>
              <a:buFont typeface="Wingdings" panose="05000000000000000000" pitchFamily="2" charset="2"/>
              <a:buBlip>
                <a:blip r:embed="rId2"/>
              </a:buBlip>
            </a:pPr>
            <a:r>
              <a:rPr lang="en-GB" altLang="en-US" sz="1800" dirty="0">
                <a:latin typeface="Times New Roman" panose="02020603050405020304" pitchFamily="18" charset="0"/>
              </a:rPr>
              <a:t>Subset of the standard Java libraries aimed at limited size and processing power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Blip>
                <a:blip r:embed="rId2"/>
              </a:buBlip>
            </a:pPr>
            <a:r>
              <a:rPr lang="en-GB" altLang="en-US" sz="1800" dirty="0">
                <a:latin typeface="Times New Roman" panose="02020603050405020304" pitchFamily="18" charset="0"/>
              </a:rPr>
              <a:t>Java Standard Edition (Java SE)</a:t>
            </a:r>
          </a:p>
          <a:p>
            <a:pPr lvl="2">
              <a:lnSpc>
                <a:spcPct val="90000"/>
              </a:lnSpc>
              <a:buSzTx/>
              <a:buFont typeface="Wingdings" panose="05000000000000000000" pitchFamily="2" charset="2"/>
              <a:buBlip>
                <a:blip r:embed="rId2"/>
              </a:buBlip>
            </a:pPr>
            <a:r>
              <a:rPr lang="en-GB" altLang="en-US" sz="1800" dirty="0">
                <a:latin typeface="Times New Roman" panose="02020603050405020304" pitchFamily="18" charset="0"/>
              </a:rPr>
              <a:t>The basic platform</a:t>
            </a:r>
          </a:p>
          <a:p>
            <a:pPr lvl="2">
              <a:lnSpc>
                <a:spcPct val="90000"/>
              </a:lnSpc>
              <a:buSzTx/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SE can be used to develop client-side standalone applications or applets.</a:t>
            </a:r>
            <a:endParaRPr lang="en-GB" altLang="en-US" sz="1800" dirty="0">
              <a:latin typeface="Times New Roman" panose="02020603050405020304" pitchFamily="18" charset="0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Blip>
                <a:blip r:embed="rId2"/>
              </a:buBlip>
            </a:pPr>
            <a:r>
              <a:rPr lang="en-GB" altLang="en-US" sz="1800" dirty="0">
                <a:latin typeface="Times New Roman" panose="02020603050405020304" pitchFamily="18" charset="0"/>
              </a:rPr>
              <a:t>Java Enterprise Edition (Java EE)</a:t>
            </a:r>
          </a:p>
          <a:p>
            <a:pPr lvl="2">
              <a:lnSpc>
                <a:spcPct val="90000"/>
              </a:lnSpc>
              <a:buSzTx/>
              <a:buFont typeface="Wingdings" panose="05000000000000000000" pitchFamily="2" charset="2"/>
              <a:buBlip>
                <a:blip r:embed="rId2"/>
              </a:buBlip>
            </a:pPr>
            <a:r>
              <a:rPr lang="en-GB" altLang="en-US" sz="1800" dirty="0">
                <a:latin typeface="Times New Roman" panose="02020603050405020304" pitchFamily="18" charset="0"/>
              </a:rPr>
              <a:t>For business applications, web services, mission-critical systems</a:t>
            </a:r>
          </a:p>
          <a:p>
            <a:pPr lvl="2">
              <a:lnSpc>
                <a:spcPct val="90000"/>
              </a:lnSpc>
              <a:buSzTx/>
              <a:buFont typeface="Wingdings" panose="05000000000000000000" pitchFamily="2" charset="2"/>
              <a:buBlip>
                <a:blip r:embed="rId2"/>
              </a:buBlip>
            </a:pPr>
            <a:r>
              <a:rPr lang="en-GB" altLang="en-US" sz="1800" dirty="0">
                <a:latin typeface="Times New Roman" panose="02020603050405020304" pitchFamily="18" charset="0"/>
              </a:rPr>
              <a:t>Transaction processing, databases, distribution, replication</a:t>
            </a:r>
          </a:p>
          <a:p>
            <a:pPr>
              <a:lnSpc>
                <a:spcPct val="90000"/>
              </a:lnSpc>
              <a:buSzTx/>
              <a:buFont typeface="Wingdings" panose="05000000000000000000" pitchFamily="2" charset="2"/>
              <a:buBlip>
                <a:blip r:embed="rId2"/>
              </a:buBlip>
            </a:pPr>
            <a:endParaRPr lang="en-US" altLang="en-US" sz="1800" dirty="0">
              <a:latin typeface="Times New Roman" panose="02020603050405020304" pitchFamily="18" charset="0"/>
            </a:endParaRPr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Editions of Java</a:t>
            </a:r>
          </a:p>
        </p:txBody>
      </p:sp>
      <p:sp>
        <p:nvSpPr>
          <p:cNvPr id="3072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96FA3F4-413D-405F-A241-C49DD91B413E}" type="slidenum">
              <a:rPr lang="en-US" altLang="en-US"/>
              <a:pPr eaLnBrk="1" hangingPunct="1"/>
              <a:t>19</a:t>
            </a:fld>
            <a:endParaRPr lang="en-US" alt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76D2622-61BF-4961-B81D-4EA63136EF25}" type="datetime1">
              <a:rPr lang="en-US" smtClean="0"/>
              <a:t>8/23/25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5760" indent="-256032" fontAlgn="auto">
              <a:spcAft>
                <a:spcPts val="0"/>
              </a:spcAft>
              <a:buFont typeface="Wingdings 3"/>
              <a:buNone/>
              <a:defRPr/>
            </a:pPr>
            <a:r>
              <a:rPr lang="en-US" dirty="0"/>
              <a:t>Chapter One of the text book.</a:t>
            </a:r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CC34F51-C27B-4D52-B6B6-F636A4C27624}" type="slidenum">
              <a:rPr lang="en-US" altLang="en-US"/>
              <a:pPr eaLnBrk="1" hangingPunct="1"/>
              <a:t>20</a:t>
            </a:fld>
            <a:endParaRPr lang="en-US" alt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	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3493B7-CFE8-4E74-85A4-E2A319812125}" type="datetime1">
              <a:rPr lang="en-US" smtClean="0"/>
              <a:t>8/23/25</a:t>
            </a:fld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868</TotalTime>
  <Words>1131</Words>
  <Application>Microsoft Macintosh PowerPoint</Application>
  <PresentationFormat>On-screen Show (4:3)</PresentationFormat>
  <Paragraphs>226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Arial</vt:lpstr>
      <vt:lpstr>Calibri</vt:lpstr>
      <vt:lpstr>Lucida Console</vt:lpstr>
      <vt:lpstr>Lucida Sans Unicode</vt:lpstr>
      <vt:lpstr>Times New Roman</vt:lpstr>
      <vt:lpstr>Verdana</vt:lpstr>
      <vt:lpstr>Wingdings</vt:lpstr>
      <vt:lpstr>Wingdings 2</vt:lpstr>
      <vt:lpstr>Wingdings 3</vt:lpstr>
      <vt:lpstr>Concourse</vt:lpstr>
      <vt:lpstr>Object Oriented Programming (OOP)</vt:lpstr>
      <vt:lpstr>Book’s Name</vt:lpstr>
      <vt:lpstr>History of Java</vt:lpstr>
      <vt:lpstr>Features of Java</vt:lpstr>
      <vt:lpstr>Simple, Small and Familiar</vt:lpstr>
      <vt:lpstr>Compiled and Interpreted</vt:lpstr>
      <vt:lpstr>Java Virtual Machine</vt:lpstr>
      <vt:lpstr>Object Oriented</vt:lpstr>
      <vt:lpstr>Platform Independent and Portable</vt:lpstr>
      <vt:lpstr>Robust and Secure</vt:lpstr>
      <vt:lpstr>Distributed and Network Oriented</vt:lpstr>
      <vt:lpstr>Multithreaded and Interactive</vt:lpstr>
      <vt:lpstr>High Performance</vt:lpstr>
      <vt:lpstr>Dynamic</vt:lpstr>
      <vt:lpstr>Why portable and Secure?</vt:lpstr>
      <vt:lpstr>Basics of Java Environments</vt:lpstr>
      <vt:lpstr>PowerPoint Presentation</vt:lpstr>
      <vt:lpstr>The Evolution of Java</vt:lpstr>
      <vt:lpstr>Editions of Java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Md. Shiplu Hawlader</dc:creator>
  <cp:lastModifiedBy>Fahim Arefin</cp:lastModifiedBy>
  <cp:revision>133</cp:revision>
  <cp:lastPrinted>1601-01-01T00:00:00Z</cp:lastPrinted>
  <dcterms:created xsi:type="dcterms:W3CDTF">1601-01-01T00:00:00Z</dcterms:created>
  <dcterms:modified xsi:type="dcterms:W3CDTF">2025-08-24T00:40:35Z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