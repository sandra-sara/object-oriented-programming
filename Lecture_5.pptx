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2"/>
  </p:notesMasterIdLst>
  <p:sldIdLst>
    <p:sldId id="256" r:id="rId2"/>
    <p:sldId id="257" r:id="rId3"/>
    <p:sldId id="258" r:id="rId4"/>
    <p:sldId id="265" r:id="rId5"/>
    <p:sldId id="264" r:id="rId6"/>
    <p:sldId id="310" r:id="rId7"/>
    <p:sldId id="311" r:id="rId8"/>
    <p:sldId id="312" r:id="rId9"/>
    <p:sldId id="313" r:id="rId10"/>
    <p:sldId id="282" r:id="rId11"/>
    <p:sldId id="259" r:id="rId12"/>
    <p:sldId id="266" r:id="rId13"/>
    <p:sldId id="260" r:id="rId14"/>
    <p:sldId id="314" r:id="rId15"/>
    <p:sldId id="315" r:id="rId16"/>
    <p:sldId id="316" r:id="rId17"/>
    <p:sldId id="317" r:id="rId18"/>
    <p:sldId id="318" r:id="rId19"/>
    <p:sldId id="319" r:id="rId20"/>
    <p:sldId id="320" r:id="rId21"/>
    <p:sldId id="321" r:id="rId22"/>
    <p:sldId id="322" r:id="rId23"/>
    <p:sldId id="323" r:id="rId24"/>
    <p:sldId id="324" r:id="rId25"/>
    <p:sldId id="325" r:id="rId26"/>
    <p:sldId id="326" r:id="rId27"/>
    <p:sldId id="327" r:id="rId28"/>
    <p:sldId id="328" r:id="rId29"/>
    <p:sldId id="329" r:id="rId30"/>
    <p:sldId id="330" r:id="rId31"/>
    <p:sldId id="261" r:id="rId32"/>
    <p:sldId id="262" r:id="rId33"/>
    <p:sldId id="263" r:id="rId34"/>
    <p:sldId id="268" r:id="rId35"/>
    <p:sldId id="269" r:id="rId36"/>
    <p:sldId id="270" r:id="rId37"/>
    <p:sldId id="271" r:id="rId38"/>
    <p:sldId id="272" r:id="rId39"/>
    <p:sldId id="273" r:id="rId40"/>
    <p:sldId id="274" r:id="rId41"/>
    <p:sldId id="275" r:id="rId42"/>
    <p:sldId id="276" r:id="rId43"/>
    <p:sldId id="277" r:id="rId44"/>
    <p:sldId id="278" r:id="rId45"/>
    <p:sldId id="279" r:id="rId46"/>
    <p:sldId id="331" r:id="rId47"/>
    <p:sldId id="332" r:id="rId48"/>
    <p:sldId id="333" r:id="rId49"/>
    <p:sldId id="334" r:id="rId50"/>
    <p:sldId id="335" r:id="rId51"/>
    <p:sldId id="336" r:id="rId52"/>
    <p:sldId id="337" r:id="rId53"/>
    <p:sldId id="338" r:id="rId54"/>
    <p:sldId id="339" r:id="rId55"/>
    <p:sldId id="340" r:id="rId56"/>
    <p:sldId id="267" r:id="rId57"/>
    <p:sldId id="341" r:id="rId58"/>
    <p:sldId id="342" r:id="rId59"/>
    <p:sldId id="343" r:id="rId60"/>
    <p:sldId id="281" r:id="rId61"/>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61"/>
  </p:normalViewPr>
  <p:slideViewPr>
    <p:cSldViewPr>
      <p:cViewPr varScale="1">
        <p:scale>
          <a:sx n="114" d="100"/>
          <a:sy n="114" d="100"/>
        </p:scale>
        <p:origin x="1752"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362"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200"/>
            </a:lvl1pPr>
          </a:lstStyle>
          <a:p>
            <a:endParaRPr lang="en-US" altLang="en-US"/>
          </a:p>
        </p:txBody>
      </p:sp>
      <p:sp>
        <p:nvSpPr>
          <p:cNvPr id="15363" name="Rectangle 3"/>
          <p:cNvSpPr>
            <a:spLocks noGrp="1" noChangeArrowheads="1"/>
          </p:cNvSpPr>
          <p:nvPr>
            <p:ph type="dt" idx="1"/>
          </p:nvPr>
        </p:nvSpPr>
        <p:spPr bwMode="auto">
          <a:xfrm>
            <a:off x="3884613" y="0"/>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200"/>
            </a:lvl1pPr>
          </a:lstStyle>
          <a:p>
            <a:endParaRPr lang="en-US" altLang="en-US"/>
          </a:p>
        </p:txBody>
      </p:sp>
      <p:sp>
        <p:nvSpPr>
          <p:cNvPr id="1536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15365" name="Rectangle 5"/>
          <p:cNvSpPr>
            <a:spLocks noGrp="1" noChangeArrowheads="1"/>
          </p:cNvSpPr>
          <p:nvPr>
            <p:ph type="body" sz="quarter" idx="3"/>
          </p:nvPr>
        </p:nvSpPr>
        <p:spPr bwMode="auto">
          <a:xfrm>
            <a:off x="685800" y="4343400"/>
            <a:ext cx="5486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5366" name="Rectangle 6"/>
          <p:cNvSpPr>
            <a:spLocks noGrp="1" noChangeArrowheads="1"/>
          </p:cNvSpPr>
          <p:nvPr>
            <p:ph type="ftr" sz="quarter" idx="4"/>
          </p:nvPr>
        </p:nvSpPr>
        <p:spPr bwMode="auto">
          <a:xfrm>
            <a:off x="0"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eaLnBrk="1" hangingPunct="1">
              <a:defRPr sz="1200"/>
            </a:lvl1pPr>
          </a:lstStyle>
          <a:p>
            <a:endParaRPr lang="en-US" altLang="en-US"/>
          </a:p>
        </p:txBody>
      </p:sp>
      <p:sp>
        <p:nvSpPr>
          <p:cNvPr id="15367" name="Rectangle 7"/>
          <p:cNvSpPr>
            <a:spLocks noGrp="1" noChangeArrowheads="1"/>
          </p:cNvSpPr>
          <p:nvPr>
            <p:ph type="sldNum" sz="quarter" idx="5"/>
          </p:nvPr>
        </p:nvSpPr>
        <p:spPr bwMode="auto">
          <a:xfrm>
            <a:off x="3884613" y="8685213"/>
            <a:ext cx="29718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eaLnBrk="1" hangingPunct="1">
              <a:defRPr sz="1200"/>
            </a:lvl1pPr>
          </a:lstStyle>
          <a:p>
            <a:fld id="{1F7FC552-E5EC-4994-9CA0-E41EBA66A690}" type="slidenum">
              <a:rPr lang="en-US" altLang="en-US"/>
              <a:pPr/>
              <a:t>‹#›</a:t>
            </a:fld>
            <a:endParaRPr lang="en-US" altLang="en-US"/>
          </a:p>
        </p:txBody>
      </p:sp>
    </p:spTree>
    <p:extLst>
      <p:ext uri="{BB962C8B-B14F-4D97-AF65-F5344CB8AC3E}">
        <p14:creationId xmlns:p14="http://schemas.microsoft.com/office/powerpoint/2010/main" val="804790015"/>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F7FC552-E5EC-4994-9CA0-E41EBA66A690}" type="slidenum">
              <a:rPr lang="en-US" altLang="en-US" smtClean="0"/>
              <a:pPr/>
              <a:t>1</a:t>
            </a:fld>
            <a:endParaRPr lang="en-US" altLang="en-US"/>
          </a:p>
        </p:txBody>
      </p:sp>
    </p:spTree>
    <p:extLst>
      <p:ext uri="{BB962C8B-B14F-4D97-AF65-F5344CB8AC3E}">
        <p14:creationId xmlns:p14="http://schemas.microsoft.com/office/powerpoint/2010/main" val="12526661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1E49F8-0684-4C93-B3EB-91F606D87427}" type="slidenum">
              <a:rPr lang="en-US" altLang="en-US"/>
              <a:pPr/>
              <a:t>8</a:t>
            </a:fld>
            <a:endParaRPr lang="en-US" altLang="en-US"/>
          </a:p>
        </p:txBody>
      </p:sp>
      <p:sp>
        <p:nvSpPr>
          <p:cNvPr id="9218" name="Rectangle 2"/>
          <p:cNvSpPr>
            <a:spLocks noGrp="1" noRot="1" noChangeAspect="1" noChangeArrowheads="1" noTextEdit="1"/>
          </p:cNvSpPr>
          <p:nvPr>
            <p:ph type="sldImg"/>
          </p:nvPr>
        </p:nvSpPr>
        <p:spPr>
          <a:xfrm>
            <a:off x="1143000" y="687388"/>
            <a:ext cx="4572000" cy="3429000"/>
          </a:xfrm>
          <a:ln/>
        </p:spPr>
      </p:sp>
      <p:sp>
        <p:nvSpPr>
          <p:cNvPr id="9219" name="Rectangle 3"/>
          <p:cNvSpPr>
            <a:spLocks noGrp="1" noChangeArrowheads="1"/>
          </p:cNvSpPr>
          <p:nvPr>
            <p:ph type="body" idx="1"/>
          </p:nvPr>
        </p:nvSpPr>
        <p:spPr>
          <a:xfrm>
            <a:off x="685800" y="4343400"/>
            <a:ext cx="5486400" cy="4113213"/>
          </a:xfrm>
        </p:spPr>
        <p:txBody>
          <a:bodyPr/>
          <a:lstStyle/>
          <a:p>
            <a:r>
              <a:rPr lang="en-US" altLang="en-US"/>
              <a:t>Each instance variable is defined without specifying an initial value. Therefore, whenever a new ColoredRectangle object is to be constructed, Java first initializes the new instance variables to default values. By default, numeric instance variables are initialized to 0, </a:t>
            </a:r>
            <a:r>
              <a:rPr lang="en-US" altLang="en-US" b="1"/>
              <a:t>boolean</a:t>
            </a:r>
            <a:r>
              <a:rPr lang="en-US" altLang="en-US"/>
              <a:t> instance variables are initialized to </a:t>
            </a:r>
            <a:r>
              <a:rPr lang="en-US" altLang="en-US" b="1"/>
              <a:t>false</a:t>
            </a:r>
            <a:r>
              <a:rPr lang="en-US" altLang="en-US"/>
              <a:t>, and reference-type instance variables are initialized to </a:t>
            </a:r>
            <a:r>
              <a:rPr lang="en-US" altLang="en-US" b="1"/>
              <a:t>null</a:t>
            </a:r>
            <a:r>
              <a:rPr lang="en-US" altLang="en-US"/>
              <a:t>. </a:t>
            </a:r>
          </a:p>
          <a:p>
            <a:r>
              <a:rPr lang="en-US" altLang="en-US"/>
              <a:t>Thus, </a:t>
            </a:r>
            <a:r>
              <a:rPr lang="en-US" altLang="en-US" i="1"/>
              <a:t>every</a:t>
            </a:r>
            <a:r>
              <a:rPr lang="en-US" altLang="en-US"/>
              <a:t> time a new ColoredRectangle object is to undergo construction, </a:t>
            </a:r>
            <a:r>
              <a:rPr lang="en-US" altLang="en-US" i="1"/>
              <a:t>new</a:t>
            </a:r>
            <a:r>
              <a:rPr lang="en-US" altLang="en-US"/>
              <a:t> width, height, x, y, window, and color instance variables are created and default initialized for the new object. The numeric attributes width, height, x, and y are initialized to zero and the class-type attributes window and color are initialized to </a:t>
            </a:r>
            <a:r>
              <a:rPr lang="en-US" altLang="en-US" b="1"/>
              <a:t>null</a:t>
            </a:r>
            <a:r>
              <a:rPr lang="en-US" altLang="en-US"/>
              <a:t>.</a:t>
            </a:r>
          </a:p>
          <a:p>
            <a:r>
              <a:rPr lang="en-US" altLang="en-US"/>
              <a:t>The instance variable definitions specify each of the variable to be </a:t>
            </a:r>
            <a:r>
              <a:rPr lang="en-US" altLang="en-US" b="1"/>
              <a:t>private</a:t>
            </a:r>
            <a:r>
              <a:rPr lang="en-US" altLang="en-US"/>
              <a:t>. This modifier indicates that direct access to the instance variables is limited to the class itself. Thus, class ColoredRectangle practices </a:t>
            </a:r>
            <a:r>
              <a:rPr lang="en-US" altLang="en-US" i="1"/>
              <a:t>information hiding</a:t>
            </a:r>
            <a:r>
              <a:rPr lang="en-US" altLang="en-US"/>
              <a:t> by </a:t>
            </a:r>
            <a:r>
              <a:rPr lang="en-US" altLang="en-US" i="1"/>
              <a:t>encapsulating</a:t>
            </a:r>
            <a:r>
              <a:rPr lang="en-US" altLang="en-US"/>
              <a:t> its attributes.</a:t>
            </a:r>
          </a:p>
          <a:p>
            <a:endParaRPr lang="en-US" altLang="en-US"/>
          </a:p>
          <a:p>
            <a:pPr algn="just"/>
            <a:r>
              <a:rPr lang="en-US" altLang="en-US"/>
              <a:t>Defining instance variables to be </a:t>
            </a:r>
            <a:r>
              <a:rPr lang="en-US" altLang="en-US" b="1"/>
              <a:t>private</a:t>
            </a:r>
            <a:r>
              <a:rPr lang="en-US" altLang="en-US"/>
              <a:t> is a standard practice. When attributes are </a:t>
            </a:r>
            <a:r>
              <a:rPr lang="en-US" altLang="en-US" b="1"/>
              <a:t>private</a:t>
            </a:r>
            <a:r>
              <a:rPr lang="en-US" altLang="en-US"/>
              <a:t>, other classes are forced to use the class’s interface methods to manipulate its attributes. Those interface methods normally are programmed to ensure that the requested manipulations are valid. Because the initial definition of class ColoredRectangle does not provide any methods to give access to the attributes, once a ColoredRectangle is constructed it is immutable. In Section , we introduce several ColoredRectangle methods for accessing and modifying the attributes of a ColoredRectangle object. </a:t>
            </a:r>
          </a:p>
          <a:p>
            <a:endParaRPr lang="en-US" altLang="en-US"/>
          </a:p>
          <a:p>
            <a:endParaRPr lang="en-US" altLang="en-US"/>
          </a:p>
        </p:txBody>
      </p:sp>
    </p:spTree>
    <p:extLst>
      <p:ext uri="{BB962C8B-B14F-4D97-AF65-F5344CB8AC3E}">
        <p14:creationId xmlns:p14="http://schemas.microsoft.com/office/powerpoint/2010/main" val="919621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7729ECB8-9144-4018-A6AA-2FB2855712A0}" type="slidenum">
              <a:rPr lang="en-GB" altLang="en-US"/>
              <a:pPr/>
              <a:t>46</a:t>
            </a:fld>
            <a:endParaRPr lang="en-GB" altLang="en-US"/>
          </a:p>
        </p:txBody>
      </p:sp>
      <p:sp>
        <p:nvSpPr>
          <p:cNvPr id="20481"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0482" name="Rectangle 2"/>
          <p:cNvSpPr txBox="1">
            <a:spLocks noGrp="1" noChangeArrowheads="1"/>
          </p:cNvSpPr>
          <p:nvPr>
            <p:ph type="body" idx="1"/>
          </p:nvPr>
        </p:nvSpPr>
        <p:spPr bwMode="auto">
          <a:xfrm>
            <a:off x="685800" y="4343400"/>
            <a:ext cx="5486400" cy="41163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7103033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2E43468F-CC52-4918-B024-2B5F29F0BCE8}" type="slidenum">
              <a:rPr lang="en-GB" altLang="en-US"/>
              <a:pPr/>
              <a:t>47</a:t>
            </a:fld>
            <a:endParaRPr lang="en-GB" altLang="en-US"/>
          </a:p>
        </p:txBody>
      </p:sp>
      <p:sp>
        <p:nvSpPr>
          <p:cNvPr id="21505"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1506" name="Rectangle 2"/>
          <p:cNvSpPr txBox="1">
            <a:spLocks noGrp="1" noChangeArrowheads="1"/>
          </p:cNvSpPr>
          <p:nvPr>
            <p:ph type="body" idx="1"/>
          </p:nvPr>
        </p:nvSpPr>
        <p:spPr bwMode="auto">
          <a:xfrm>
            <a:off x="685800" y="4343400"/>
            <a:ext cx="5486400" cy="41163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41602886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B308D596-2503-488A-A74D-3E099B5D9FED}" type="slidenum">
              <a:rPr lang="en-GB" altLang="en-US"/>
              <a:pPr/>
              <a:t>48</a:t>
            </a:fld>
            <a:endParaRPr lang="en-GB" altLang="en-US"/>
          </a:p>
        </p:txBody>
      </p:sp>
      <p:sp>
        <p:nvSpPr>
          <p:cNvPr id="22529"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2530" name="Rectangle 2"/>
          <p:cNvSpPr txBox="1">
            <a:spLocks noGrp="1" noChangeArrowheads="1"/>
          </p:cNvSpPr>
          <p:nvPr>
            <p:ph type="body" idx="1"/>
          </p:nvPr>
        </p:nvSpPr>
        <p:spPr bwMode="auto">
          <a:xfrm>
            <a:off x="685800" y="4343400"/>
            <a:ext cx="5486400" cy="41163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43373746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191EDCB0-FFD9-4441-A278-48B9B81CA998}" type="slidenum">
              <a:rPr lang="en-GB" altLang="en-US"/>
              <a:pPr/>
              <a:t>49</a:t>
            </a:fld>
            <a:endParaRPr lang="en-GB" altLang="en-US"/>
          </a:p>
        </p:txBody>
      </p:sp>
      <p:sp>
        <p:nvSpPr>
          <p:cNvPr id="23553"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3554" name="Rectangle 2"/>
          <p:cNvSpPr txBox="1">
            <a:spLocks noGrp="1" noChangeArrowheads="1"/>
          </p:cNvSpPr>
          <p:nvPr>
            <p:ph type="body" idx="1"/>
          </p:nvPr>
        </p:nvSpPr>
        <p:spPr bwMode="auto">
          <a:xfrm>
            <a:off x="685800" y="4343400"/>
            <a:ext cx="5486400" cy="41163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6425304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BB55EAC1-27BB-43AC-BE98-3FC0F58300A1}" type="slidenum">
              <a:rPr lang="en-GB" altLang="en-US"/>
              <a:pPr/>
              <a:t>50</a:t>
            </a:fld>
            <a:endParaRPr lang="en-GB" altLang="en-US"/>
          </a:p>
        </p:txBody>
      </p:sp>
      <p:sp>
        <p:nvSpPr>
          <p:cNvPr id="24577"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4578" name="Rectangle 2"/>
          <p:cNvSpPr txBox="1">
            <a:spLocks noGrp="1" noChangeArrowheads="1"/>
          </p:cNvSpPr>
          <p:nvPr>
            <p:ph type="body" idx="1"/>
          </p:nvPr>
        </p:nvSpPr>
        <p:spPr bwMode="auto">
          <a:xfrm>
            <a:off x="685800" y="4343400"/>
            <a:ext cx="5486400" cy="41163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8131980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A74AB0D4-5F1E-4306-9922-5AB0E229A045}" type="slidenum">
              <a:rPr lang="en-GB" altLang="en-US"/>
              <a:pPr/>
              <a:t>51</a:t>
            </a:fld>
            <a:endParaRPr lang="en-GB" altLang="en-US"/>
          </a:p>
        </p:txBody>
      </p:sp>
      <p:sp>
        <p:nvSpPr>
          <p:cNvPr id="25601"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5602" name="Rectangle 2"/>
          <p:cNvSpPr txBox="1">
            <a:spLocks noGrp="1" noChangeArrowheads="1"/>
          </p:cNvSpPr>
          <p:nvPr>
            <p:ph type="body" idx="1"/>
          </p:nvPr>
        </p:nvSpPr>
        <p:spPr bwMode="auto">
          <a:xfrm>
            <a:off x="685800" y="4343400"/>
            <a:ext cx="5486400" cy="41163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043945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2EE29AB8-8CFB-4C75-9830-9267D0FB62C0}" type="slidenum">
              <a:rPr lang="en-GB" altLang="en-US"/>
              <a:pPr/>
              <a:t>52</a:t>
            </a:fld>
            <a:endParaRPr lang="en-GB" altLang="en-US"/>
          </a:p>
        </p:txBody>
      </p:sp>
      <p:sp>
        <p:nvSpPr>
          <p:cNvPr id="26625"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6626" name="Rectangle 2"/>
          <p:cNvSpPr txBox="1">
            <a:spLocks noGrp="1" noChangeArrowheads="1"/>
          </p:cNvSpPr>
          <p:nvPr>
            <p:ph type="body" idx="1"/>
          </p:nvPr>
        </p:nvSpPr>
        <p:spPr bwMode="auto">
          <a:xfrm>
            <a:off x="685800" y="4343400"/>
            <a:ext cx="5486400" cy="41163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3112572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B4A6D1EB-5945-4FCE-9509-05F5DEEA0257}" type="slidenum">
              <a:rPr lang="en-GB" altLang="en-US"/>
              <a:pPr/>
              <a:t>53</a:t>
            </a:fld>
            <a:endParaRPr lang="en-GB" altLang="en-US"/>
          </a:p>
        </p:txBody>
      </p:sp>
      <p:sp>
        <p:nvSpPr>
          <p:cNvPr id="27649"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7650" name="Rectangle 2"/>
          <p:cNvSpPr txBox="1">
            <a:spLocks noGrp="1" noChangeArrowheads="1"/>
          </p:cNvSpPr>
          <p:nvPr>
            <p:ph type="body" idx="1"/>
          </p:nvPr>
        </p:nvSpPr>
        <p:spPr bwMode="auto">
          <a:xfrm>
            <a:off x="685800" y="4343400"/>
            <a:ext cx="5486400" cy="41163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5656241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6EF3513D-E948-44E6-8DD3-FDB016EAE4E9}" type="slidenum">
              <a:rPr lang="en-GB" altLang="en-US"/>
              <a:pPr/>
              <a:t>54</a:t>
            </a:fld>
            <a:endParaRPr lang="en-GB" altLang="en-US"/>
          </a:p>
        </p:txBody>
      </p:sp>
      <p:sp>
        <p:nvSpPr>
          <p:cNvPr id="28673"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8674" name="Rectangle 2"/>
          <p:cNvSpPr txBox="1">
            <a:spLocks noGrp="1" noChangeArrowheads="1"/>
          </p:cNvSpPr>
          <p:nvPr>
            <p:ph type="body" idx="1"/>
          </p:nvPr>
        </p:nvSpPr>
        <p:spPr bwMode="auto">
          <a:xfrm>
            <a:off x="685800" y="4343400"/>
            <a:ext cx="5486400" cy="41163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5504695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263D2F2A-8577-4B98-8DCB-9601B363B865}" type="slidenum">
              <a:rPr lang="en-GB" altLang="en-US"/>
              <a:pPr/>
              <a:t>55</a:t>
            </a:fld>
            <a:endParaRPr lang="en-GB" altLang="en-US"/>
          </a:p>
        </p:txBody>
      </p:sp>
      <p:sp>
        <p:nvSpPr>
          <p:cNvPr id="29697"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29698" name="Rectangle 2"/>
          <p:cNvSpPr txBox="1">
            <a:spLocks noGrp="1" noChangeArrowheads="1"/>
          </p:cNvSpPr>
          <p:nvPr>
            <p:ph type="body" idx="1"/>
          </p:nvPr>
        </p:nvSpPr>
        <p:spPr bwMode="auto">
          <a:xfrm>
            <a:off x="685800" y="4343400"/>
            <a:ext cx="5486400" cy="41163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296311268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65CA0C28-5AAC-413A-81EE-22A4A083636A}" type="slidenum">
              <a:rPr lang="en-GB" altLang="en-US"/>
              <a:pPr/>
              <a:t>56</a:t>
            </a:fld>
            <a:endParaRPr lang="en-GB" altLang="en-US"/>
          </a:p>
        </p:txBody>
      </p:sp>
      <p:sp>
        <p:nvSpPr>
          <p:cNvPr id="30721"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0722" name="Rectangle 2"/>
          <p:cNvSpPr txBox="1">
            <a:spLocks noGrp="1" noChangeArrowheads="1"/>
          </p:cNvSpPr>
          <p:nvPr>
            <p:ph type="body" idx="1"/>
          </p:nvPr>
        </p:nvSpPr>
        <p:spPr bwMode="auto">
          <a:xfrm>
            <a:off x="685800" y="4343400"/>
            <a:ext cx="5486400" cy="41163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0592835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90CA9887-EFF3-4752-A23B-6CC43C9AC972}" type="slidenum">
              <a:rPr lang="en-GB" altLang="en-US"/>
              <a:pPr/>
              <a:t>57</a:t>
            </a:fld>
            <a:endParaRPr lang="en-GB" altLang="en-US"/>
          </a:p>
        </p:txBody>
      </p:sp>
      <p:sp>
        <p:nvSpPr>
          <p:cNvPr id="31745"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1746" name="Rectangle 2"/>
          <p:cNvSpPr txBox="1">
            <a:spLocks noGrp="1" noChangeArrowheads="1"/>
          </p:cNvSpPr>
          <p:nvPr>
            <p:ph type="body" idx="1"/>
          </p:nvPr>
        </p:nvSpPr>
        <p:spPr bwMode="auto">
          <a:xfrm>
            <a:off x="685800" y="4343400"/>
            <a:ext cx="5486400" cy="41163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7414129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B8E3F1D8-3396-46A0-A741-90BB6ADFB419}" type="slidenum">
              <a:rPr lang="en-GB" altLang="en-US"/>
              <a:pPr/>
              <a:t>58</a:t>
            </a:fld>
            <a:endParaRPr lang="en-GB" altLang="en-US"/>
          </a:p>
        </p:txBody>
      </p:sp>
      <p:sp>
        <p:nvSpPr>
          <p:cNvPr id="32769"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2770" name="Rectangle 2"/>
          <p:cNvSpPr txBox="1">
            <a:spLocks noGrp="1" noChangeArrowheads="1"/>
          </p:cNvSpPr>
          <p:nvPr>
            <p:ph type="body" idx="1"/>
          </p:nvPr>
        </p:nvSpPr>
        <p:spPr bwMode="auto">
          <a:xfrm>
            <a:off x="685800" y="4343400"/>
            <a:ext cx="5486400" cy="41163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3775798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7"/>
          <p:cNvSpPr>
            <a:spLocks noGrp="1" noChangeArrowheads="1"/>
          </p:cNvSpPr>
          <p:nvPr>
            <p:ph type="sldNum"/>
          </p:nvPr>
        </p:nvSpPr>
        <p:spPr>
          <a:ln/>
        </p:spPr>
        <p:txBody>
          <a:bodyPr/>
          <a:lstStyle/>
          <a:p>
            <a:fld id="{ABAD26AF-BD00-4AA6-9E01-A17D26C24D7E}" type="slidenum">
              <a:rPr lang="en-GB" altLang="en-US"/>
              <a:pPr/>
              <a:t>59</a:t>
            </a:fld>
            <a:endParaRPr lang="en-GB" altLang="en-US"/>
          </a:p>
        </p:txBody>
      </p:sp>
      <p:sp>
        <p:nvSpPr>
          <p:cNvPr id="33793" name="Rectangle 1"/>
          <p:cNvSpPr txBox="1">
            <a:spLocks noGrp="1" noRot="1" noChangeAspect="1" noChangeArrowheads="1"/>
          </p:cNvSpPr>
          <p:nvPr>
            <p:ph type="sldImg"/>
          </p:nvPr>
        </p:nvSpPr>
        <p:spPr bwMode="auto">
          <a:xfrm>
            <a:off x="1143000" y="685800"/>
            <a:ext cx="4572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33794" name="Rectangle 2"/>
          <p:cNvSpPr txBox="1">
            <a:spLocks noGrp="1" noChangeArrowheads="1"/>
          </p:cNvSpPr>
          <p:nvPr>
            <p:ph type="body" idx="1"/>
          </p:nvPr>
        </p:nvSpPr>
        <p:spPr bwMode="auto">
          <a:xfrm>
            <a:off x="685800" y="4343400"/>
            <a:ext cx="5486400" cy="4116388"/>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ltLang="en-US"/>
          </a:p>
        </p:txBody>
      </p:sp>
    </p:spTree>
    <p:extLst>
      <p:ext uri="{BB962C8B-B14F-4D97-AF65-F5344CB8AC3E}">
        <p14:creationId xmlns:p14="http://schemas.microsoft.com/office/powerpoint/2010/main" val="185578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fld id="{82081472-14F8-4396-BCA4-337954857B4B}" type="datetime1">
              <a:rPr lang="en-US" altLang="en-US" smtClean="0"/>
              <a:t>9/17/25</a:t>
            </a:fld>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B3813B4C-6642-4746-A12C-2727B9354E0A}" type="slidenum">
              <a:rPr lang="en-US" altLang="en-US"/>
              <a:pPr/>
              <a:t>‹#›</a:t>
            </a:fld>
            <a:endParaRPr lang="en-US" altLang="en-US"/>
          </a:p>
        </p:txBody>
      </p:sp>
    </p:spTree>
    <p:extLst>
      <p:ext uri="{BB962C8B-B14F-4D97-AF65-F5344CB8AC3E}">
        <p14:creationId xmlns:p14="http://schemas.microsoft.com/office/powerpoint/2010/main" val="22004384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7BFB1532-27D7-45A8-9552-4CBF7C6C2F61}" type="datetime1">
              <a:rPr lang="en-US" altLang="en-US" smtClean="0"/>
              <a:t>9/17/25</a:t>
            </a:fld>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A2797038-AD64-4C97-BB0B-56363D18F42C}" type="slidenum">
              <a:rPr lang="en-US" altLang="en-US"/>
              <a:pPr/>
              <a:t>‹#›</a:t>
            </a:fld>
            <a:endParaRPr lang="en-US" altLang="en-US"/>
          </a:p>
        </p:txBody>
      </p:sp>
    </p:spTree>
    <p:extLst>
      <p:ext uri="{BB962C8B-B14F-4D97-AF65-F5344CB8AC3E}">
        <p14:creationId xmlns:p14="http://schemas.microsoft.com/office/powerpoint/2010/main" val="16673478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8"/>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9BFA3A4D-7FD8-4A18-93BF-86CAC1558FBC}" type="datetime1">
              <a:rPr lang="en-US" altLang="en-US" smtClean="0"/>
              <a:t>9/17/25</a:t>
            </a:fld>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06F64841-A9A4-4726-BFAB-D347969535B7}" type="slidenum">
              <a:rPr lang="en-US" altLang="en-US"/>
              <a:pPr/>
              <a:t>‹#›</a:t>
            </a:fld>
            <a:endParaRPr lang="en-US" altLang="en-US"/>
          </a:p>
        </p:txBody>
      </p:sp>
    </p:spTree>
    <p:extLst>
      <p:ext uri="{BB962C8B-B14F-4D97-AF65-F5344CB8AC3E}">
        <p14:creationId xmlns:p14="http://schemas.microsoft.com/office/powerpoint/2010/main" val="175431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fld id="{C0B55615-3073-46A2-B9E3-6A39410BCD43}" type="datetime1">
              <a:rPr lang="en-US" altLang="en-US" smtClean="0"/>
              <a:t>9/17/25</a:t>
            </a:fld>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537DE4E2-1CA0-4C5B-A02F-FEFF3DD9C080}" type="slidenum">
              <a:rPr lang="en-US" altLang="en-US"/>
              <a:pPr/>
              <a:t>‹#›</a:t>
            </a:fld>
            <a:endParaRPr lang="en-US" altLang="en-US"/>
          </a:p>
        </p:txBody>
      </p:sp>
    </p:spTree>
    <p:extLst>
      <p:ext uri="{BB962C8B-B14F-4D97-AF65-F5344CB8AC3E}">
        <p14:creationId xmlns:p14="http://schemas.microsoft.com/office/powerpoint/2010/main" val="8346656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30238" y="365125"/>
            <a:ext cx="7886700" cy="1325563"/>
          </a:xfrm>
        </p:spPr>
        <p:txBody>
          <a:bodyPr/>
          <a:lstStyle/>
          <a:p>
            <a:r>
              <a:rPr lang="en-US"/>
              <a:t>Click to edit Master title style</a:t>
            </a:r>
          </a:p>
        </p:txBody>
      </p:sp>
      <p:sp>
        <p:nvSpPr>
          <p:cNvPr id="3" name="Text Placeholder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fld id="{BD1ACCC0-2803-4A43-9623-9B19CA898BF0}" type="datetime1">
              <a:rPr lang="en-US" altLang="en-US" smtClean="0"/>
              <a:t>9/17/25</a:t>
            </a:fld>
            <a:endParaRPr lang="en-US" altLang="en-US"/>
          </a:p>
        </p:txBody>
      </p:sp>
      <p:sp>
        <p:nvSpPr>
          <p:cNvPr id="8" name="Footer Placeholder 7"/>
          <p:cNvSpPr>
            <a:spLocks noGrp="1"/>
          </p:cNvSpPr>
          <p:nvPr>
            <p:ph type="ftr" sz="quarter" idx="11"/>
          </p:nvPr>
        </p:nvSpPr>
        <p:spPr/>
        <p:txBody>
          <a:bodyPr/>
          <a:lstStyle>
            <a:lvl1pPr>
              <a:defRPr/>
            </a:lvl1pPr>
          </a:lstStyle>
          <a:p>
            <a:endParaRPr lang="en-US" altLang="en-US"/>
          </a:p>
        </p:txBody>
      </p:sp>
      <p:sp>
        <p:nvSpPr>
          <p:cNvPr id="9" name="Slide Number Placeholder 8"/>
          <p:cNvSpPr>
            <a:spLocks noGrp="1"/>
          </p:cNvSpPr>
          <p:nvPr>
            <p:ph type="sldNum" sz="quarter" idx="12"/>
          </p:nvPr>
        </p:nvSpPr>
        <p:spPr/>
        <p:txBody>
          <a:bodyPr/>
          <a:lstStyle>
            <a:lvl1pPr>
              <a:defRPr/>
            </a:lvl1pPr>
          </a:lstStyle>
          <a:p>
            <a:fld id="{871E7E4E-9E89-4AB9-BEA8-0B4F5FBFABC3}" type="slidenum">
              <a:rPr lang="en-US" altLang="en-US"/>
              <a:pPr/>
              <a:t>‹#›</a:t>
            </a:fld>
            <a:endParaRPr lang="en-US" altLang="en-US"/>
          </a:p>
        </p:txBody>
      </p:sp>
    </p:spTree>
    <p:extLst>
      <p:ext uri="{BB962C8B-B14F-4D97-AF65-F5344CB8AC3E}">
        <p14:creationId xmlns:p14="http://schemas.microsoft.com/office/powerpoint/2010/main" val="3920742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fld id="{3A9508FB-DD05-42CA-8559-79A813478F6C}" type="datetime1">
              <a:rPr lang="en-US" altLang="en-US" smtClean="0"/>
              <a:t>9/17/25</a:t>
            </a:fld>
            <a:endParaRPr lang="en-US" altLang="en-US"/>
          </a:p>
        </p:txBody>
      </p:sp>
      <p:sp>
        <p:nvSpPr>
          <p:cNvPr id="4" name="Footer Placeholder 3"/>
          <p:cNvSpPr>
            <a:spLocks noGrp="1"/>
          </p:cNvSpPr>
          <p:nvPr>
            <p:ph type="ftr" sz="quarter" idx="11"/>
          </p:nvPr>
        </p:nvSpPr>
        <p:spPr/>
        <p:txBody>
          <a:bodyPr/>
          <a:lstStyle>
            <a:lvl1pPr>
              <a:defRPr/>
            </a:lvl1pPr>
          </a:lstStyle>
          <a:p>
            <a:endParaRPr lang="en-US" altLang="en-US"/>
          </a:p>
        </p:txBody>
      </p:sp>
      <p:sp>
        <p:nvSpPr>
          <p:cNvPr id="5" name="Slide Number Placeholder 4"/>
          <p:cNvSpPr>
            <a:spLocks noGrp="1"/>
          </p:cNvSpPr>
          <p:nvPr>
            <p:ph type="sldNum" sz="quarter" idx="12"/>
          </p:nvPr>
        </p:nvSpPr>
        <p:spPr/>
        <p:txBody>
          <a:bodyPr/>
          <a:lstStyle>
            <a:lvl1pPr>
              <a:defRPr/>
            </a:lvl1pPr>
          </a:lstStyle>
          <a:p>
            <a:fld id="{9B7EA56A-6B4A-44C8-8E39-0BDCED57F935}" type="slidenum">
              <a:rPr lang="en-US" altLang="en-US"/>
              <a:pPr/>
              <a:t>‹#›</a:t>
            </a:fld>
            <a:endParaRPr lang="en-US" altLang="en-US"/>
          </a:p>
        </p:txBody>
      </p:sp>
    </p:spTree>
    <p:extLst>
      <p:ext uri="{BB962C8B-B14F-4D97-AF65-F5344CB8AC3E}">
        <p14:creationId xmlns:p14="http://schemas.microsoft.com/office/powerpoint/2010/main" val="12720930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922AEB94-A11D-4F9A-BCEB-16F974ADD8EC}" type="datetime1">
              <a:rPr lang="en-US" altLang="en-US" smtClean="0"/>
              <a:t>9/17/25</a:t>
            </a:fld>
            <a:endParaRPr lang="en-US" altLang="en-US"/>
          </a:p>
        </p:txBody>
      </p:sp>
      <p:sp>
        <p:nvSpPr>
          <p:cNvPr id="3" name="Footer Placeholder 2"/>
          <p:cNvSpPr>
            <a:spLocks noGrp="1"/>
          </p:cNvSpPr>
          <p:nvPr>
            <p:ph type="ftr" sz="quarter" idx="11"/>
          </p:nvPr>
        </p:nvSpPr>
        <p:spPr/>
        <p:txBody>
          <a:bodyPr/>
          <a:lstStyle>
            <a:lvl1pPr>
              <a:defRPr/>
            </a:lvl1pPr>
          </a:lstStyle>
          <a:p>
            <a:endParaRPr lang="en-US" altLang="en-US"/>
          </a:p>
        </p:txBody>
      </p:sp>
      <p:sp>
        <p:nvSpPr>
          <p:cNvPr id="4" name="Slide Number Placeholder 3"/>
          <p:cNvSpPr>
            <a:spLocks noGrp="1"/>
          </p:cNvSpPr>
          <p:nvPr>
            <p:ph type="sldNum" sz="quarter" idx="12"/>
          </p:nvPr>
        </p:nvSpPr>
        <p:spPr/>
        <p:txBody>
          <a:bodyPr/>
          <a:lstStyle>
            <a:lvl1pPr>
              <a:defRPr/>
            </a:lvl1pPr>
          </a:lstStyle>
          <a:p>
            <a:fld id="{AC743DB0-98B6-40C0-8116-E3A832B4AEBD}" type="slidenum">
              <a:rPr lang="en-US" altLang="en-US"/>
              <a:pPr/>
              <a:t>‹#›</a:t>
            </a:fld>
            <a:endParaRPr lang="en-US" altLang="en-US"/>
          </a:p>
        </p:txBody>
      </p:sp>
    </p:spTree>
    <p:extLst>
      <p:ext uri="{BB962C8B-B14F-4D97-AF65-F5344CB8AC3E}">
        <p14:creationId xmlns:p14="http://schemas.microsoft.com/office/powerpoint/2010/main" val="3014001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63EB9CEA-B21B-4ADF-9F6B-ECBE15EEF4D8}" type="datetime1">
              <a:rPr lang="en-US" altLang="en-US" smtClean="0"/>
              <a:t>9/17/25</a:t>
            </a:fld>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E734E010-BBF3-41E7-BBAB-989E346F7DC0}" type="slidenum">
              <a:rPr lang="en-US" altLang="en-US"/>
              <a:pPr/>
              <a:t>‹#›</a:t>
            </a:fld>
            <a:endParaRPr lang="en-US" altLang="en-US"/>
          </a:p>
        </p:txBody>
      </p:sp>
    </p:spTree>
    <p:extLst>
      <p:ext uri="{BB962C8B-B14F-4D97-AF65-F5344CB8AC3E}">
        <p14:creationId xmlns:p14="http://schemas.microsoft.com/office/powerpoint/2010/main" val="1829663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30238" y="457200"/>
            <a:ext cx="2949575"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7770A4A2-0D99-4803-B149-68B911EA5494}" type="datetime1">
              <a:rPr lang="en-US" altLang="en-US" smtClean="0"/>
              <a:t>9/17/25</a:t>
            </a:fld>
            <a:endParaRPr lang="en-US" altLang="en-US"/>
          </a:p>
        </p:txBody>
      </p:sp>
      <p:sp>
        <p:nvSpPr>
          <p:cNvPr id="6" name="Footer Placeholder 5"/>
          <p:cNvSpPr>
            <a:spLocks noGrp="1"/>
          </p:cNvSpPr>
          <p:nvPr>
            <p:ph type="ftr" sz="quarter" idx="11"/>
          </p:nvPr>
        </p:nvSpPr>
        <p:spPr/>
        <p:txBody>
          <a:bodyPr/>
          <a:lstStyle>
            <a:lvl1pPr>
              <a:defRPr/>
            </a:lvl1pPr>
          </a:lstStyle>
          <a:p>
            <a:endParaRPr lang="en-US" altLang="en-US"/>
          </a:p>
        </p:txBody>
      </p:sp>
      <p:sp>
        <p:nvSpPr>
          <p:cNvPr id="7" name="Slide Number Placeholder 6"/>
          <p:cNvSpPr>
            <a:spLocks noGrp="1"/>
          </p:cNvSpPr>
          <p:nvPr>
            <p:ph type="sldNum" sz="quarter" idx="12"/>
          </p:nvPr>
        </p:nvSpPr>
        <p:spPr/>
        <p:txBody>
          <a:bodyPr/>
          <a:lstStyle>
            <a:lvl1pPr>
              <a:defRPr/>
            </a:lvl1pPr>
          </a:lstStyle>
          <a:p>
            <a:fld id="{674AB721-ED11-45F8-8928-87F2B72FAB79}" type="slidenum">
              <a:rPr lang="en-US" altLang="en-US"/>
              <a:pPr/>
              <a:t>‹#›</a:t>
            </a:fld>
            <a:endParaRPr lang="en-US" altLang="en-US"/>
          </a:p>
        </p:txBody>
      </p:sp>
    </p:spTree>
    <p:extLst>
      <p:ext uri="{BB962C8B-B14F-4D97-AF65-F5344CB8AC3E}">
        <p14:creationId xmlns:p14="http://schemas.microsoft.com/office/powerpoint/2010/main" val="1777452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47AD6852-8363-45EE-B1FA-4F5D63F26335}" type="datetime1">
              <a:rPr lang="en-US" altLang="en-US" smtClean="0"/>
              <a:t>9/17/25</a:t>
            </a:fld>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244BD5F1-C164-4451-8787-07627D2DF999}" type="slidenum">
              <a:rPr lang="en-US" altLang="en-US"/>
              <a:pPr/>
              <a:t>‹#›</a:t>
            </a:fld>
            <a:endParaRPr lang="en-US" altLang="en-US"/>
          </a:p>
        </p:txBody>
      </p:sp>
    </p:spTree>
    <p:extLst>
      <p:ext uri="{BB962C8B-B14F-4D97-AF65-F5344CB8AC3E}">
        <p14:creationId xmlns:p14="http://schemas.microsoft.com/office/powerpoint/2010/main" val="23884083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44AEF318-E676-4C33-90C7-771B0A0A7BC8}" type="datetime1">
              <a:rPr lang="en-US" altLang="en-US" smtClean="0"/>
              <a:t>9/17/25</a:t>
            </a:fld>
            <a:endParaRPr lang="en-US" altLang="en-US"/>
          </a:p>
        </p:txBody>
      </p:sp>
      <p:sp>
        <p:nvSpPr>
          <p:cNvPr id="5" name="Footer Placeholder 4"/>
          <p:cNvSpPr>
            <a:spLocks noGrp="1"/>
          </p:cNvSpPr>
          <p:nvPr>
            <p:ph type="ftr" sz="quarter" idx="11"/>
          </p:nvPr>
        </p:nvSpPr>
        <p:spPr/>
        <p:txBody>
          <a:bodyPr/>
          <a:lstStyle>
            <a:lvl1pPr>
              <a:defRPr/>
            </a:lvl1pPr>
          </a:lstStyle>
          <a:p>
            <a:endParaRPr lang="en-US" altLang="en-US"/>
          </a:p>
        </p:txBody>
      </p:sp>
      <p:sp>
        <p:nvSpPr>
          <p:cNvPr id="6" name="Slide Number Placeholder 5"/>
          <p:cNvSpPr>
            <a:spLocks noGrp="1"/>
          </p:cNvSpPr>
          <p:nvPr>
            <p:ph type="sldNum" sz="quarter" idx="12"/>
          </p:nvPr>
        </p:nvSpPr>
        <p:spPr/>
        <p:txBody>
          <a:bodyPr/>
          <a:lstStyle>
            <a:lvl1pPr>
              <a:defRPr/>
            </a:lvl1pPr>
          </a:lstStyle>
          <a:p>
            <a:fld id="{860D676D-9492-4C99-9D23-EC9ABDEF50FA}" type="slidenum">
              <a:rPr lang="en-US" altLang="en-US"/>
              <a:pPr/>
              <a:t>‹#›</a:t>
            </a:fld>
            <a:endParaRPr lang="en-US" altLang="en-US"/>
          </a:p>
        </p:txBody>
      </p:sp>
    </p:spTree>
    <p:extLst>
      <p:ext uri="{BB962C8B-B14F-4D97-AF65-F5344CB8AC3E}">
        <p14:creationId xmlns:p14="http://schemas.microsoft.com/office/powerpoint/2010/main" val="158796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fld id="{1273077A-4A3D-4C1D-9899-9FC7E505D332}" type="datetime1">
              <a:rPr lang="en-US" altLang="en-US" smtClean="0"/>
              <a:t>9/17/25</a:t>
            </a:fld>
            <a:endParaRPr lang="en-US"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endParaRPr lang="en-US"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fld id="{6535DC00-6279-4CF2-91EF-575CF2BD17D4}" type="slidenum">
              <a:rPr lang="en-US" altLang="en-US"/>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rtl="0" fontAlgn="base">
        <a:spcBef>
          <a:spcPct val="0"/>
        </a:spcBef>
        <a:spcAft>
          <a:spcPct val="0"/>
        </a:spcAft>
        <a:defRPr sz="4400" kern="1200">
          <a:solidFill>
            <a:schemeClr val="tx2"/>
          </a:solidFill>
          <a:latin typeface="+mj-lt"/>
          <a:ea typeface="+mj-ea"/>
          <a:cs typeface="+mj-cs"/>
        </a:defRPr>
      </a:lvl1pPr>
      <a:lvl2pPr algn="ctr" rtl="0" fontAlgn="base">
        <a:spcBef>
          <a:spcPct val="0"/>
        </a:spcBef>
        <a:spcAft>
          <a:spcPct val="0"/>
        </a:spcAft>
        <a:defRPr sz="4400">
          <a:solidFill>
            <a:schemeClr val="tx2"/>
          </a:solidFill>
          <a:latin typeface="Arial" panose="020B0604020202020204" pitchFamily="34" charset="0"/>
        </a:defRPr>
      </a:lvl2pPr>
      <a:lvl3pPr algn="ctr" rtl="0" fontAlgn="base">
        <a:spcBef>
          <a:spcPct val="0"/>
        </a:spcBef>
        <a:spcAft>
          <a:spcPct val="0"/>
        </a:spcAft>
        <a:defRPr sz="4400">
          <a:solidFill>
            <a:schemeClr val="tx2"/>
          </a:solidFill>
          <a:latin typeface="Arial" panose="020B0604020202020204" pitchFamily="34" charset="0"/>
        </a:defRPr>
      </a:lvl3pPr>
      <a:lvl4pPr algn="ctr" rtl="0" fontAlgn="base">
        <a:spcBef>
          <a:spcPct val="0"/>
        </a:spcBef>
        <a:spcAft>
          <a:spcPct val="0"/>
        </a:spcAft>
        <a:defRPr sz="4400">
          <a:solidFill>
            <a:schemeClr val="tx2"/>
          </a:solidFill>
          <a:latin typeface="Arial" panose="020B0604020202020204" pitchFamily="34" charset="0"/>
        </a:defRPr>
      </a:lvl4pPr>
      <a:lvl5pPr algn="ctr" rtl="0" fontAlgn="base">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ctrTitle"/>
          </p:nvPr>
        </p:nvSpPr>
        <p:spPr>
          <a:xfrm>
            <a:off x="685800" y="2130425"/>
            <a:ext cx="7772400" cy="1470025"/>
          </a:xfrm>
        </p:spPr>
        <p:txBody>
          <a:bodyPr anchor="ctr"/>
          <a:lstStyle/>
          <a:p>
            <a:r>
              <a:rPr lang="en-US" altLang="en-US" sz="6600" b="1" dirty="0">
                <a:latin typeface="Times New Roman" panose="02020603050405020304" pitchFamily="18" charset="0"/>
              </a:rPr>
              <a:t>Lecture 5</a:t>
            </a:r>
          </a:p>
        </p:txBody>
      </p:sp>
      <p:sp>
        <p:nvSpPr>
          <p:cNvPr id="4099" name="Rectangle 3"/>
          <p:cNvSpPr>
            <a:spLocks noGrp="1" noChangeArrowheads="1"/>
          </p:cNvSpPr>
          <p:nvPr>
            <p:ph type="subTitle" idx="1"/>
          </p:nvPr>
        </p:nvSpPr>
        <p:spPr>
          <a:xfrm>
            <a:off x="1371600" y="3886200"/>
            <a:ext cx="6400800" cy="1752600"/>
          </a:xfrm>
        </p:spPr>
        <p:txBody>
          <a:bodyPr/>
          <a:lstStyle/>
          <a:p>
            <a:r>
              <a:rPr lang="en-US" altLang="en-US" sz="3600" b="1" dirty="0">
                <a:latin typeface="Times New Roman" panose="02020603050405020304" pitchFamily="18" charset="0"/>
              </a:rPr>
              <a:t>Methods in a Class</a:t>
            </a:r>
          </a:p>
          <a:p>
            <a:r>
              <a:rPr lang="en-GB" altLang="en-US" sz="3600" b="1" dirty="0">
                <a:latin typeface="Times New Roman" panose="02020603050405020304" pitchFamily="18" charset="0"/>
              </a:rPr>
              <a:t>Static Instance Variable </a:t>
            </a:r>
          </a:p>
          <a:p>
            <a:r>
              <a:rPr lang="en-GB" altLang="en-US" sz="3600" b="1" dirty="0">
                <a:latin typeface="Times New Roman" panose="02020603050405020304" pitchFamily="18" charset="0"/>
              </a:rPr>
              <a:t>Static methods</a:t>
            </a:r>
          </a:p>
          <a:p>
            <a:r>
              <a:rPr lang="en-GB" altLang="en-US" sz="3600" b="1" dirty="0">
                <a:latin typeface="Times New Roman" panose="02020603050405020304" pitchFamily="18" charset="0"/>
              </a:rPr>
              <a:t>Nested Class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152400"/>
            <a:ext cx="8229600" cy="1143000"/>
          </a:xfrm>
        </p:spPr>
        <p:txBody>
          <a:bodyPr/>
          <a:lstStyle/>
          <a:p>
            <a:r>
              <a:rPr lang="en-US" altLang="en-US" sz="4000" b="1">
                <a:latin typeface="Times New Roman" panose="02020603050405020304" pitchFamily="18" charset="0"/>
              </a:rPr>
              <a:t>Introducing Methods</a:t>
            </a:r>
          </a:p>
        </p:txBody>
      </p:sp>
      <p:sp>
        <p:nvSpPr>
          <p:cNvPr id="5123" name="Rectangle 3"/>
          <p:cNvSpPr>
            <a:spLocks noGrp="1" noChangeArrowheads="1"/>
          </p:cNvSpPr>
          <p:nvPr>
            <p:ph type="body" idx="1"/>
          </p:nvPr>
        </p:nvSpPr>
        <p:spPr>
          <a:xfrm>
            <a:off x="304800" y="990600"/>
            <a:ext cx="8534400" cy="5562600"/>
          </a:xfrm>
        </p:spPr>
        <p:txBody>
          <a:bodyPr/>
          <a:lstStyle/>
          <a:p>
            <a:pPr>
              <a:lnSpc>
                <a:spcPct val="90000"/>
              </a:lnSpc>
              <a:buFont typeface="Wingdings" panose="05000000000000000000" pitchFamily="2" charset="2"/>
              <a:buChar char="ü"/>
            </a:pPr>
            <a:r>
              <a:rPr lang="en-US" altLang="en-US" sz="2400" dirty="0">
                <a:latin typeface="Times New Roman" panose="02020603050405020304" pitchFamily="18" charset="0"/>
              </a:rPr>
              <a:t>The general form of a method:</a:t>
            </a:r>
          </a:p>
          <a:p>
            <a:pPr>
              <a:lnSpc>
                <a:spcPct val="90000"/>
              </a:lnSpc>
              <a:buFont typeface="Wingdings" panose="05000000000000000000" pitchFamily="2" charset="2"/>
              <a:buNone/>
            </a:pPr>
            <a:r>
              <a:rPr lang="en-US" altLang="en-US" sz="2400" dirty="0">
                <a:latin typeface="Times New Roman" panose="02020603050405020304" pitchFamily="18" charset="0"/>
              </a:rPr>
              <a:t>	type name (parameter list)</a:t>
            </a:r>
          </a:p>
          <a:p>
            <a:pPr>
              <a:lnSpc>
                <a:spcPct val="90000"/>
              </a:lnSpc>
              <a:buFont typeface="Wingdings" panose="05000000000000000000" pitchFamily="2" charset="2"/>
              <a:buNone/>
            </a:pPr>
            <a:r>
              <a:rPr lang="en-US" altLang="en-US" sz="2400" dirty="0">
                <a:latin typeface="Times New Roman" panose="02020603050405020304" pitchFamily="18" charset="0"/>
              </a:rPr>
              <a:t>	{</a:t>
            </a:r>
          </a:p>
          <a:p>
            <a:pPr>
              <a:lnSpc>
                <a:spcPct val="90000"/>
              </a:lnSpc>
              <a:buFont typeface="Wingdings" panose="05000000000000000000" pitchFamily="2" charset="2"/>
              <a:buNone/>
            </a:pPr>
            <a:r>
              <a:rPr lang="en-US" altLang="en-US" sz="2400" dirty="0">
                <a:latin typeface="Times New Roman" panose="02020603050405020304" pitchFamily="18" charset="0"/>
              </a:rPr>
              <a:t>	// body of the method</a:t>
            </a:r>
          </a:p>
          <a:p>
            <a:pPr>
              <a:lnSpc>
                <a:spcPct val="90000"/>
              </a:lnSpc>
              <a:buFont typeface="Wingdings" panose="05000000000000000000" pitchFamily="2" charset="2"/>
              <a:buNone/>
            </a:pPr>
            <a:r>
              <a:rPr lang="en-US" altLang="en-US" sz="2400" dirty="0">
                <a:latin typeface="Times New Roman" panose="02020603050405020304" pitchFamily="18" charset="0"/>
              </a:rPr>
              <a:t>	}</a:t>
            </a:r>
          </a:p>
          <a:p>
            <a:pPr>
              <a:lnSpc>
                <a:spcPct val="90000"/>
              </a:lnSpc>
              <a:buFont typeface="Wingdings" panose="05000000000000000000" pitchFamily="2" charset="2"/>
              <a:buChar char="ü"/>
            </a:pPr>
            <a:r>
              <a:rPr lang="en-US" altLang="en-US" sz="2400" i="1" dirty="0">
                <a:latin typeface="Times New Roman" panose="02020603050405020304" pitchFamily="18" charset="0"/>
              </a:rPr>
              <a:t>Type </a:t>
            </a:r>
            <a:r>
              <a:rPr lang="en-US" altLang="en-US" sz="2400" dirty="0">
                <a:latin typeface="Times New Roman" panose="02020603050405020304" pitchFamily="18" charset="0"/>
              </a:rPr>
              <a:t>can be any valid type including class types that you create.</a:t>
            </a:r>
          </a:p>
          <a:p>
            <a:pPr>
              <a:lnSpc>
                <a:spcPct val="90000"/>
              </a:lnSpc>
              <a:buFont typeface="Wingdings" panose="05000000000000000000" pitchFamily="2" charset="2"/>
              <a:buNone/>
            </a:pPr>
            <a:endParaRPr lang="en-US" altLang="en-US" sz="2400" dirty="0">
              <a:latin typeface="Times New Roman" panose="02020603050405020304" pitchFamily="18" charset="0"/>
            </a:endParaRPr>
          </a:p>
          <a:p>
            <a:pPr>
              <a:lnSpc>
                <a:spcPct val="90000"/>
              </a:lnSpc>
              <a:buFont typeface="Wingdings" panose="05000000000000000000" pitchFamily="2" charset="2"/>
              <a:buChar char="ü"/>
            </a:pPr>
            <a:r>
              <a:rPr lang="en-US" altLang="en-US" sz="2400" dirty="0">
                <a:latin typeface="Times New Roman" panose="02020603050405020304" pitchFamily="18" charset="0"/>
              </a:rPr>
              <a:t>A method is always invoked with respect to an object. So, inside a method the object is known and there is no need to specify the object when the instance variables are used.</a:t>
            </a:r>
          </a:p>
        </p:txBody>
      </p:sp>
      <p:sp>
        <p:nvSpPr>
          <p:cNvPr id="2" name="Date Placeholder 1"/>
          <p:cNvSpPr>
            <a:spLocks noGrp="1"/>
          </p:cNvSpPr>
          <p:nvPr>
            <p:ph type="dt" sz="half" idx="10"/>
          </p:nvPr>
        </p:nvSpPr>
        <p:spPr/>
        <p:txBody>
          <a:bodyPr/>
          <a:lstStyle/>
          <a:p>
            <a:fld id="{767298A4-494E-4F41-853D-F059812CE63F}"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A2797038-AD64-4C97-BB0B-56363D18F42C}" type="slidenum">
              <a:rPr lang="en-US" altLang="en-US" smtClean="0"/>
              <a:pPr/>
              <a:t>2</a:t>
            </a:fld>
            <a:endParaRPr lang="en-US"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sz="4000" b="1">
                <a:latin typeface="Times New Roman" panose="02020603050405020304" pitchFamily="18" charset="0"/>
              </a:rPr>
              <a:t>A Simple Example 1-Introducing Methods</a:t>
            </a:r>
          </a:p>
        </p:txBody>
      </p:sp>
      <p:sp>
        <p:nvSpPr>
          <p:cNvPr id="6147" name="Rectangle 3"/>
          <p:cNvSpPr>
            <a:spLocks noGrp="1" noChangeArrowheads="1"/>
          </p:cNvSpPr>
          <p:nvPr>
            <p:ph type="body" sz="half" idx="1"/>
          </p:nvPr>
        </p:nvSpPr>
        <p:spPr>
          <a:xfrm>
            <a:off x="457200" y="1600200"/>
            <a:ext cx="4598988" cy="4525963"/>
          </a:xfrm>
        </p:spPr>
        <p:txBody>
          <a:bodyPr/>
          <a:lstStyle/>
          <a:p>
            <a:pPr>
              <a:lnSpc>
                <a:spcPct val="80000"/>
              </a:lnSpc>
              <a:buFontTx/>
              <a:buNone/>
            </a:pPr>
            <a:r>
              <a:rPr lang="en-US" altLang="en-US" sz="1800">
                <a:latin typeface="Times New Roman" panose="02020603050405020304" pitchFamily="18" charset="0"/>
              </a:rPr>
              <a:t>class Box</a:t>
            </a:r>
          </a:p>
          <a:p>
            <a:pPr>
              <a:lnSpc>
                <a:spcPct val="80000"/>
              </a:lnSpc>
              <a:buFontTx/>
              <a:buNone/>
            </a:pPr>
            <a:r>
              <a:rPr lang="en-US" altLang="en-US" sz="1800">
                <a:latin typeface="Times New Roman" panose="02020603050405020304" pitchFamily="18" charset="0"/>
              </a:rPr>
              <a:t>{</a:t>
            </a:r>
          </a:p>
          <a:p>
            <a:pPr>
              <a:lnSpc>
                <a:spcPct val="80000"/>
              </a:lnSpc>
              <a:buFontTx/>
              <a:buNone/>
            </a:pPr>
            <a:r>
              <a:rPr lang="en-US" altLang="en-US" sz="1800">
                <a:latin typeface="Times New Roman" panose="02020603050405020304" pitchFamily="18" charset="0"/>
              </a:rPr>
              <a:t>	double width;</a:t>
            </a:r>
          </a:p>
          <a:p>
            <a:pPr>
              <a:lnSpc>
                <a:spcPct val="80000"/>
              </a:lnSpc>
              <a:buFontTx/>
              <a:buNone/>
            </a:pPr>
            <a:r>
              <a:rPr lang="en-US" altLang="en-US" sz="1800">
                <a:latin typeface="Times New Roman" panose="02020603050405020304" pitchFamily="18" charset="0"/>
              </a:rPr>
              <a:t>	double height;</a:t>
            </a:r>
          </a:p>
          <a:p>
            <a:pPr>
              <a:lnSpc>
                <a:spcPct val="80000"/>
              </a:lnSpc>
              <a:buFontTx/>
              <a:buNone/>
            </a:pPr>
            <a:r>
              <a:rPr lang="en-US" altLang="en-US" sz="1800">
                <a:latin typeface="Times New Roman" panose="02020603050405020304" pitchFamily="18" charset="0"/>
              </a:rPr>
              <a:t>	double depth;</a:t>
            </a:r>
          </a:p>
          <a:p>
            <a:pPr>
              <a:lnSpc>
                <a:spcPct val="80000"/>
              </a:lnSpc>
              <a:buFontTx/>
              <a:buNone/>
            </a:pPr>
            <a:endParaRPr lang="en-US" altLang="en-US" sz="1800">
              <a:latin typeface="Times New Roman" panose="02020603050405020304" pitchFamily="18" charset="0"/>
            </a:endParaRPr>
          </a:p>
          <a:p>
            <a:pPr>
              <a:lnSpc>
                <a:spcPct val="80000"/>
              </a:lnSpc>
              <a:buFontTx/>
              <a:buNone/>
            </a:pPr>
            <a:r>
              <a:rPr lang="en-US" altLang="en-US" sz="1800">
                <a:latin typeface="Times New Roman" panose="02020603050405020304" pitchFamily="18" charset="0"/>
              </a:rPr>
              <a:t>	void setDim ( double w, double h, double d)</a:t>
            </a:r>
          </a:p>
          <a:p>
            <a:pPr>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1800">
                <a:latin typeface="Times New Roman" panose="02020603050405020304" pitchFamily="18" charset="0"/>
              </a:rPr>
              <a:t>		width = w;</a:t>
            </a:r>
          </a:p>
          <a:p>
            <a:pPr>
              <a:lnSpc>
                <a:spcPct val="80000"/>
              </a:lnSpc>
              <a:buFontTx/>
              <a:buNone/>
            </a:pPr>
            <a:r>
              <a:rPr lang="en-US" altLang="en-US" sz="1800">
                <a:latin typeface="Times New Roman" panose="02020603050405020304" pitchFamily="18" charset="0"/>
              </a:rPr>
              <a:t>		height = h;</a:t>
            </a:r>
          </a:p>
          <a:p>
            <a:pPr>
              <a:lnSpc>
                <a:spcPct val="80000"/>
              </a:lnSpc>
              <a:buFontTx/>
              <a:buNone/>
            </a:pPr>
            <a:r>
              <a:rPr lang="en-US" altLang="en-US" sz="1800">
                <a:latin typeface="Times New Roman" panose="02020603050405020304" pitchFamily="18" charset="0"/>
              </a:rPr>
              <a:t>		depth = d;</a:t>
            </a:r>
          </a:p>
          <a:p>
            <a:pPr>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1800">
                <a:latin typeface="Times New Roman" panose="02020603050405020304" pitchFamily="18" charset="0"/>
              </a:rPr>
              <a:t>	double volume()</a:t>
            </a:r>
          </a:p>
          <a:p>
            <a:pPr>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1800">
                <a:latin typeface="Times New Roman" panose="02020603050405020304" pitchFamily="18" charset="0"/>
              </a:rPr>
              <a:t>		return width*height*depth; </a:t>
            </a:r>
          </a:p>
          <a:p>
            <a:pPr>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1800">
                <a:latin typeface="Times New Roman" panose="02020603050405020304" pitchFamily="18" charset="0"/>
              </a:rPr>
              <a:t>}</a:t>
            </a:r>
          </a:p>
        </p:txBody>
      </p:sp>
      <p:sp>
        <p:nvSpPr>
          <p:cNvPr id="6148" name="Rectangle 4"/>
          <p:cNvSpPr>
            <a:spLocks noGrp="1" noChangeArrowheads="1"/>
          </p:cNvSpPr>
          <p:nvPr>
            <p:ph type="body" sz="half" idx="2"/>
          </p:nvPr>
        </p:nvSpPr>
        <p:spPr>
          <a:xfrm>
            <a:off x="5029200" y="1600200"/>
            <a:ext cx="4114800" cy="4953000"/>
          </a:xfrm>
        </p:spPr>
        <p:txBody>
          <a:bodyPr/>
          <a:lstStyle/>
          <a:p>
            <a:pPr>
              <a:lnSpc>
                <a:spcPct val="80000"/>
              </a:lnSpc>
              <a:buFontTx/>
              <a:buNone/>
            </a:pPr>
            <a:r>
              <a:rPr lang="en-US" altLang="en-US" sz="1800" dirty="0">
                <a:latin typeface="Times New Roman" panose="02020603050405020304" pitchFamily="18" charset="0"/>
              </a:rPr>
              <a:t>class </a:t>
            </a:r>
            <a:r>
              <a:rPr lang="en-US" altLang="en-US" sz="1800" dirty="0" err="1">
                <a:latin typeface="Times New Roman" panose="02020603050405020304" pitchFamily="18" charset="0"/>
              </a:rPr>
              <a:t>BoxDemo</a:t>
            </a:r>
            <a:endParaRPr lang="en-US" altLang="en-US" sz="1800" dirty="0">
              <a:latin typeface="Times New Roman" panose="02020603050405020304" pitchFamily="18" charset="0"/>
            </a:endParaRPr>
          </a:p>
          <a:p>
            <a:pPr>
              <a:lnSpc>
                <a:spcPct val="80000"/>
              </a:lnSpc>
              <a:buFontTx/>
              <a:buNone/>
            </a:pPr>
            <a:r>
              <a:rPr lang="en-US" altLang="en-US" sz="1800" dirty="0">
                <a:latin typeface="Times New Roman" panose="02020603050405020304" pitchFamily="18" charset="0"/>
              </a:rPr>
              <a:t>{</a:t>
            </a:r>
          </a:p>
          <a:p>
            <a:pPr>
              <a:lnSpc>
                <a:spcPct val="80000"/>
              </a:lnSpc>
              <a:buFontTx/>
              <a:buNone/>
            </a:pPr>
            <a:r>
              <a:rPr lang="en-US" altLang="en-US" sz="1800" dirty="0">
                <a:latin typeface="Times New Roman" panose="02020603050405020304" pitchFamily="18" charset="0"/>
              </a:rPr>
              <a:t>	public static void main( String </a:t>
            </a:r>
            <a:r>
              <a:rPr lang="en-US" altLang="en-US" sz="1800" dirty="0" err="1">
                <a:latin typeface="Times New Roman" panose="02020603050405020304" pitchFamily="18" charset="0"/>
              </a:rPr>
              <a:t>args</a:t>
            </a:r>
            <a:r>
              <a:rPr lang="en-US" altLang="en-US" sz="1800" dirty="0">
                <a:latin typeface="Times New Roman" panose="02020603050405020304" pitchFamily="18" charset="0"/>
              </a:rPr>
              <a:t>[])</a:t>
            </a:r>
          </a:p>
          <a:p>
            <a:pPr>
              <a:lnSpc>
                <a:spcPct val="80000"/>
              </a:lnSpc>
              <a:buFontTx/>
              <a:buNone/>
            </a:pPr>
            <a:r>
              <a:rPr lang="en-US" altLang="en-US" sz="1800" dirty="0">
                <a:latin typeface="Times New Roman" panose="02020603050405020304" pitchFamily="18" charset="0"/>
              </a:rPr>
              <a:t>	{</a:t>
            </a:r>
          </a:p>
          <a:p>
            <a:pPr>
              <a:lnSpc>
                <a:spcPct val="80000"/>
              </a:lnSpc>
              <a:buFontTx/>
              <a:buNone/>
            </a:pPr>
            <a:r>
              <a:rPr lang="en-US" altLang="en-US" sz="1800" dirty="0">
                <a:latin typeface="Times New Roman" panose="02020603050405020304" pitchFamily="18" charset="0"/>
              </a:rPr>
              <a:t>		Box </a:t>
            </a:r>
            <a:r>
              <a:rPr lang="en-US" altLang="en-US" sz="1800" dirty="0" err="1">
                <a:latin typeface="Times New Roman" panose="02020603050405020304" pitchFamily="18" charset="0"/>
              </a:rPr>
              <a:t>mybox</a:t>
            </a:r>
            <a:r>
              <a:rPr lang="en-US" altLang="en-US" sz="1800" dirty="0">
                <a:latin typeface="Times New Roman" panose="02020603050405020304" pitchFamily="18" charset="0"/>
              </a:rPr>
              <a:t>, mybox1;</a:t>
            </a:r>
          </a:p>
          <a:p>
            <a:pPr>
              <a:lnSpc>
                <a:spcPct val="80000"/>
              </a:lnSpc>
              <a:buFontTx/>
              <a:buNone/>
            </a:pPr>
            <a:r>
              <a:rPr lang="en-US" altLang="en-US" sz="1800" dirty="0">
                <a:latin typeface="Times New Roman" panose="02020603050405020304" pitchFamily="18" charset="0"/>
              </a:rPr>
              <a:t>		double vol;</a:t>
            </a:r>
          </a:p>
          <a:p>
            <a:pPr>
              <a:lnSpc>
                <a:spcPct val="8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mybox</a:t>
            </a:r>
            <a:r>
              <a:rPr lang="en-US" altLang="en-US" sz="1800" dirty="0">
                <a:latin typeface="Times New Roman" panose="02020603050405020304" pitchFamily="18" charset="0"/>
              </a:rPr>
              <a:t> = new Box();</a:t>
            </a:r>
          </a:p>
          <a:p>
            <a:pPr>
              <a:lnSpc>
                <a:spcPct val="80000"/>
              </a:lnSpc>
              <a:buFontTx/>
              <a:buNone/>
            </a:pPr>
            <a:r>
              <a:rPr lang="en-US" altLang="en-US" sz="1800" dirty="0">
                <a:latin typeface="Times New Roman" panose="02020603050405020304" pitchFamily="18" charset="0"/>
              </a:rPr>
              <a:t>		mybox1 = new Box();</a:t>
            </a:r>
          </a:p>
          <a:p>
            <a:pPr>
              <a:lnSpc>
                <a:spcPct val="8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mybox.width</a:t>
            </a:r>
            <a:r>
              <a:rPr lang="en-US" altLang="en-US" sz="1800" dirty="0">
                <a:latin typeface="Times New Roman" panose="02020603050405020304" pitchFamily="18" charset="0"/>
              </a:rPr>
              <a:t> =120;</a:t>
            </a:r>
          </a:p>
          <a:p>
            <a:pPr>
              <a:lnSpc>
                <a:spcPct val="8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mybox.setDim</a:t>
            </a:r>
            <a:r>
              <a:rPr lang="en-US" altLang="en-US" sz="1800" dirty="0">
                <a:latin typeface="Times New Roman" panose="02020603050405020304" pitchFamily="18" charset="0"/>
              </a:rPr>
              <a:t>(10, 20, 15);</a:t>
            </a:r>
          </a:p>
          <a:p>
            <a:pPr>
              <a:lnSpc>
                <a:spcPct val="80000"/>
              </a:lnSpc>
              <a:buFontTx/>
              <a:buNone/>
            </a:pPr>
            <a:r>
              <a:rPr lang="en-US" altLang="en-US" sz="1800" dirty="0">
                <a:latin typeface="Times New Roman" panose="02020603050405020304" pitchFamily="18" charset="0"/>
              </a:rPr>
              <a:t>		vol=</a:t>
            </a:r>
            <a:r>
              <a:rPr lang="en-US" altLang="en-US" sz="1800" dirty="0" err="1">
                <a:latin typeface="Times New Roman" panose="02020603050405020304" pitchFamily="18" charset="0"/>
              </a:rPr>
              <a:t>mybox.volume</a:t>
            </a:r>
            <a:r>
              <a:rPr lang="en-US" altLang="en-US" sz="1800" dirty="0">
                <a:latin typeface="Times New Roman" panose="02020603050405020304" pitchFamily="18" charset="0"/>
              </a:rPr>
              <a:t>();</a:t>
            </a:r>
          </a:p>
          <a:p>
            <a:pPr>
              <a:lnSpc>
                <a:spcPct val="8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System.out.println</a:t>
            </a:r>
            <a:r>
              <a:rPr lang="en-US" altLang="en-US" sz="1800" dirty="0">
                <a:latin typeface="Times New Roman" panose="02020603050405020304" pitchFamily="18" charset="0"/>
              </a:rPr>
              <a:t>(vol);</a:t>
            </a:r>
          </a:p>
          <a:p>
            <a:pPr>
              <a:lnSpc>
                <a:spcPct val="80000"/>
              </a:lnSpc>
              <a:buFontTx/>
              <a:buNone/>
            </a:pPr>
            <a:r>
              <a:rPr lang="en-US" altLang="en-US" sz="1800" dirty="0">
                <a:latin typeface="Times New Roman" panose="02020603050405020304" pitchFamily="18" charset="0"/>
              </a:rPr>
              <a:t>		</a:t>
            </a:r>
          </a:p>
          <a:p>
            <a:pPr>
              <a:lnSpc>
                <a:spcPct val="80000"/>
              </a:lnSpc>
              <a:buFontTx/>
              <a:buNone/>
            </a:pPr>
            <a:r>
              <a:rPr lang="en-US" altLang="en-US" sz="1800" dirty="0">
                <a:latin typeface="Times New Roman" panose="02020603050405020304" pitchFamily="18" charset="0"/>
              </a:rPr>
              <a:t>		mybox1.setDim(3,6,9);</a:t>
            </a:r>
          </a:p>
          <a:p>
            <a:pPr>
              <a:lnSpc>
                <a:spcPct val="80000"/>
              </a:lnSpc>
              <a:buFontTx/>
              <a:buNone/>
            </a:pPr>
            <a:r>
              <a:rPr lang="en-US" altLang="en-US" sz="1800" dirty="0">
                <a:latin typeface="Times New Roman" panose="02020603050405020304" pitchFamily="18" charset="0"/>
              </a:rPr>
              <a:t>		vol=mybox1.volume();</a:t>
            </a:r>
          </a:p>
          <a:p>
            <a:pPr>
              <a:lnSpc>
                <a:spcPct val="8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System.out.println</a:t>
            </a:r>
            <a:r>
              <a:rPr lang="en-US" altLang="en-US" sz="1800" dirty="0">
                <a:latin typeface="Times New Roman" panose="02020603050405020304" pitchFamily="18" charset="0"/>
              </a:rPr>
              <a:t>(vol);</a:t>
            </a:r>
          </a:p>
          <a:p>
            <a:pPr>
              <a:lnSpc>
                <a:spcPct val="80000"/>
              </a:lnSpc>
              <a:buFontTx/>
              <a:buNone/>
            </a:pPr>
            <a:r>
              <a:rPr lang="en-US" altLang="en-US" sz="1800" dirty="0">
                <a:latin typeface="Times New Roman" panose="02020603050405020304" pitchFamily="18" charset="0"/>
              </a:rPr>
              <a:t>	</a:t>
            </a:r>
          </a:p>
          <a:p>
            <a:pPr>
              <a:lnSpc>
                <a:spcPct val="80000"/>
              </a:lnSpc>
              <a:buFontTx/>
              <a:buNone/>
            </a:pPr>
            <a:r>
              <a:rPr lang="en-US" altLang="en-US" sz="1800" dirty="0">
                <a:latin typeface="Times New Roman" panose="02020603050405020304" pitchFamily="18" charset="0"/>
              </a:rPr>
              <a:t>	}</a:t>
            </a:r>
          </a:p>
          <a:p>
            <a:pPr>
              <a:lnSpc>
                <a:spcPct val="80000"/>
              </a:lnSpc>
              <a:buFontTx/>
              <a:buNone/>
            </a:pPr>
            <a:r>
              <a:rPr lang="en-US" altLang="en-US" sz="1800" dirty="0">
                <a:latin typeface="Times New Roman" panose="02020603050405020304" pitchFamily="18" charset="0"/>
              </a:rPr>
              <a:t>}</a:t>
            </a:r>
          </a:p>
          <a:p>
            <a:pPr>
              <a:lnSpc>
                <a:spcPct val="80000"/>
              </a:lnSpc>
              <a:buFontTx/>
              <a:buNone/>
            </a:pPr>
            <a:endParaRPr lang="en-US" altLang="en-US" sz="2400" dirty="0"/>
          </a:p>
        </p:txBody>
      </p:sp>
      <p:sp>
        <p:nvSpPr>
          <p:cNvPr id="6149" name="Line 5"/>
          <p:cNvSpPr>
            <a:spLocks noChangeShapeType="1"/>
          </p:cNvSpPr>
          <p:nvPr/>
        </p:nvSpPr>
        <p:spPr bwMode="auto">
          <a:xfrm>
            <a:off x="6019800" y="4114800"/>
            <a:ext cx="1981200" cy="0"/>
          </a:xfrm>
          <a:prstGeom prst="line">
            <a:avLst/>
          </a:prstGeom>
          <a:noFill/>
          <a:ln w="158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6150" name="Line 6"/>
          <p:cNvSpPr>
            <a:spLocks noChangeShapeType="1"/>
          </p:cNvSpPr>
          <p:nvPr/>
        </p:nvSpPr>
        <p:spPr bwMode="auto">
          <a:xfrm>
            <a:off x="1371600" y="4038600"/>
            <a:ext cx="1143000" cy="0"/>
          </a:xfrm>
          <a:prstGeom prst="line">
            <a:avLst/>
          </a:prstGeom>
          <a:noFill/>
          <a:ln w="158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Date Placeholder 1"/>
          <p:cNvSpPr>
            <a:spLocks noGrp="1"/>
          </p:cNvSpPr>
          <p:nvPr>
            <p:ph type="dt" sz="half" idx="10"/>
          </p:nvPr>
        </p:nvSpPr>
        <p:spPr/>
        <p:txBody>
          <a:bodyPr/>
          <a:lstStyle/>
          <a:p>
            <a:fld id="{081BFCA5-0F2C-41AF-8970-7F8B36B4C828}"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537DE4E2-1CA0-4C5B-A02F-FEFF3DD9C080}" type="slidenum">
              <a:rPr lang="en-US" altLang="en-US" smtClean="0"/>
              <a:pPr/>
              <a:t>3</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50"/>
                                        </p:tgtEl>
                                        <p:attrNameLst>
                                          <p:attrName>style.visibility</p:attrName>
                                        </p:attrNameLst>
                                      </p:cBhvr>
                                      <p:to>
                                        <p:strVal val="visible"/>
                                      </p:to>
                                    </p:set>
                                    <p:animEffect transition="in" filter="blinds(horizontal)">
                                      <p:cBhvr>
                                        <p:cTn id="7" dur="500"/>
                                        <p:tgtEl>
                                          <p:spTgt spid="615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149"/>
                                        </p:tgtEl>
                                        <p:attrNameLst>
                                          <p:attrName>style.visibility</p:attrName>
                                        </p:attrNameLst>
                                      </p:cBhvr>
                                      <p:to>
                                        <p:strVal val="visible"/>
                                      </p:to>
                                    </p:set>
                                    <p:animEffect transition="in" filter="blinds(horizontal)">
                                      <p:cBhvr>
                                        <p:cTn id="12" dur="500"/>
                                        <p:tgtEl>
                                          <p:spTgt spid="6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animBg="1"/>
      <p:bldP spid="615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altLang="en-US" b="1">
                <a:latin typeface="Times New Roman" panose="02020603050405020304" pitchFamily="18" charset="0"/>
              </a:rPr>
              <a:t>Methods</a:t>
            </a:r>
          </a:p>
        </p:txBody>
      </p:sp>
      <p:sp>
        <p:nvSpPr>
          <p:cNvPr id="14339" name="Rectangle 3"/>
          <p:cNvSpPr>
            <a:spLocks noGrp="1" noChangeArrowheads="1"/>
          </p:cNvSpPr>
          <p:nvPr>
            <p:ph type="body" idx="1"/>
          </p:nvPr>
        </p:nvSpPr>
        <p:spPr/>
        <p:txBody>
          <a:bodyPr/>
          <a:lstStyle/>
          <a:p>
            <a:pPr>
              <a:buFont typeface="Wingdings" panose="05000000000000000000" pitchFamily="2" charset="2"/>
              <a:buChar char="ü"/>
            </a:pPr>
            <a:r>
              <a:rPr lang="en-US" altLang="en-US" sz="2800">
                <a:latin typeface="Times New Roman" panose="02020603050405020304" pitchFamily="18" charset="0"/>
              </a:rPr>
              <a:t>When a method is accessed by the code that is not part of the class in which the method is defined, it must be done through an object using dot operator.</a:t>
            </a:r>
          </a:p>
          <a:p>
            <a:pPr>
              <a:buFont typeface="Wingdings" panose="05000000000000000000" pitchFamily="2" charset="2"/>
              <a:buChar char="ü"/>
            </a:pPr>
            <a:endParaRPr lang="en-US" altLang="en-US" sz="2800">
              <a:latin typeface="Times New Roman" panose="02020603050405020304" pitchFamily="18" charset="0"/>
            </a:endParaRPr>
          </a:p>
          <a:p>
            <a:pPr>
              <a:buFont typeface="Wingdings" panose="05000000000000000000" pitchFamily="2" charset="2"/>
              <a:buChar char="ü"/>
            </a:pPr>
            <a:r>
              <a:rPr lang="en-US" altLang="en-US" sz="2800">
                <a:latin typeface="Times New Roman" panose="02020603050405020304" pitchFamily="18" charset="0"/>
              </a:rPr>
              <a:t>A method can directly call the method defined in the same class without any object.</a:t>
            </a:r>
          </a:p>
          <a:p>
            <a:pPr>
              <a:buFontTx/>
              <a:buNone/>
            </a:pPr>
            <a:endParaRPr lang="en-US" altLang="en-US" sz="2800"/>
          </a:p>
        </p:txBody>
      </p:sp>
      <p:sp>
        <p:nvSpPr>
          <p:cNvPr id="2" name="Date Placeholder 1"/>
          <p:cNvSpPr>
            <a:spLocks noGrp="1"/>
          </p:cNvSpPr>
          <p:nvPr>
            <p:ph type="dt" sz="half" idx="10"/>
          </p:nvPr>
        </p:nvSpPr>
        <p:spPr/>
        <p:txBody>
          <a:bodyPr/>
          <a:lstStyle/>
          <a:p>
            <a:fld id="{D166B507-E44A-451B-8C11-AEF81F34CB6C}"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A2797038-AD64-4C97-BB0B-56363D18F42C}" type="slidenum">
              <a:rPr lang="en-US" altLang="en-US" smtClean="0"/>
              <a:pPr/>
              <a:t>4</a:t>
            </a:fld>
            <a:endParaRPr lang="en-US"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sz="4000" b="1">
                <a:latin typeface="Times New Roman" panose="02020603050405020304" pitchFamily="18" charset="0"/>
              </a:rPr>
              <a:t>A Simple Example 2-Introducing Methods</a:t>
            </a:r>
          </a:p>
        </p:txBody>
      </p:sp>
      <p:sp>
        <p:nvSpPr>
          <p:cNvPr id="12291" name="Rectangle 3"/>
          <p:cNvSpPr>
            <a:spLocks noGrp="1" noChangeArrowheads="1"/>
          </p:cNvSpPr>
          <p:nvPr>
            <p:ph type="body" sz="half" idx="1"/>
          </p:nvPr>
        </p:nvSpPr>
        <p:spPr>
          <a:xfrm>
            <a:off x="457200" y="1600200"/>
            <a:ext cx="4598988" cy="4525963"/>
          </a:xfrm>
        </p:spPr>
        <p:txBody>
          <a:bodyPr/>
          <a:lstStyle/>
          <a:p>
            <a:pPr>
              <a:lnSpc>
                <a:spcPct val="80000"/>
              </a:lnSpc>
              <a:buFontTx/>
              <a:buNone/>
            </a:pPr>
            <a:r>
              <a:rPr lang="en-US" altLang="en-US" sz="1800">
                <a:latin typeface="Times New Roman" panose="02020603050405020304" pitchFamily="18" charset="0"/>
              </a:rPr>
              <a:t>class Box</a:t>
            </a:r>
          </a:p>
          <a:p>
            <a:pPr>
              <a:lnSpc>
                <a:spcPct val="80000"/>
              </a:lnSpc>
              <a:buFontTx/>
              <a:buNone/>
            </a:pPr>
            <a:r>
              <a:rPr lang="en-US" altLang="en-US" sz="1800">
                <a:latin typeface="Times New Roman" panose="02020603050405020304" pitchFamily="18" charset="0"/>
              </a:rPr>
              <a:t>{</a:t>
            </a:r>
          </a:p>
          <a:p>
            <a:pPr>
              <a:lnSpc>
                <a:spcPct val="80000"/>
              </a:lnSpc>
              <a:buFontTx/>
              <a:buNone/>
            </a:pPr>
            <a:r>
              <a:rPr lang="en-US" altLang="en-US" sz="1800">
                <a:latin typeface="Times New Roman" panose="02020603050405020304" pitchFamily="18" charset="0"/>
              </a:rPr>
              <a:t>	double width;</a:t>
            </a:r>
          </a:p>
          <a:p>
            <a:pPr>
              <a:lnSpc>
                <a:spcPct val="80000"/>
              </a:lnSpc>
              <a:buFontTx/>
              <a:buNone/>
            </a:pPr>
            <a:r>
              <a:rPr lang="en-US" altLang="en-US" sz="1800">
                <a:latin typeface="Times New Roman" panose="02020603050405020304" pitchFamily="18" charset="0"/>
              </a:rPr>
              <a:t>	double height;</a:t>
            </a:r>
          </a:p>
          <a:p>
            <a:pPr>
              <a:lnSpc>
                <a:spcPct val="80000"/>
              </a:lnSpc>
              <a:buFontTx/>
              <a:buNone/>
            </a:pPr>
            <a:r>
              <a:rPr lang="en-US" altLang="en-US" sz="1800">
                <a:latin typeface="Times New Roman" panose="02020603050405020304" pitchFamily="18" charset="0"/>
              </a:rPr>
              <a:t>	double depth;</a:t>
            </a:r>
          </a:p>
          <a:p>
            <a:pPr>
              <a:lnSpc>
                <a:spcPct val="80000"/>
              </a:lnSpc>
              <a:buFontTx/>
              <a:buNone/>
            </a:pPr>
            <a:endParaRPr lang="en-US" altLang="en-US" sz="1800">
              <a:latin typeface="Times New Roman" panose="02020603050405020304" pitchFamily="18" charset="0"/>
            </a:endParaRPr>
          </a:p>
          <a:p>
            <a:pPr>
              <a:lnSpc>
                <a:spcPct val="80000"/>
              </a:lnSpc>
              <a:buFontTx/>
              <a:buNone/>
            </a:pPr>
            <a:r>
              <a:rPr lang="en-US" altLang="en-US" sz="1800">
                <a:latin typeface="Times New Roman" panose="02020603050405020304" pitchFamily="18" charset="0"/>
              </a:rPr>
              <a:t>	void setDim ( double w, double h, double d)</a:t>
            </a:r>
          </a:p>
          <a:p>
            <a:pPr>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1800">
                <a:latin typeface="Times New Roman" panose="02020603050405020304" pitchFamily="18" charset="0"/>
              </a:rPr>
              <a:t>		double p;</a:t>
            </a:r>
          </a:p>
          <a:p>
            <a:pPr>
              <a:lnSpc>
                <a:spcPct val="80000"/>
              </a:lnSpc>
              <a:buFontTx/>
              <a:buNone/>
            </a:pPr>
            <a:r>
              <a:rPr lang="en-US" altLang="en-US" sz="1800">
                <a:latin typeface="Times New Roman" panose="02020603050405020304" pitchFamily="18" charset="0"/>
              </a:rPr>
              <a:t>		width = w;</a:t>
            </a:r>
          </a:p>
          <a:p>
            <a:pPr>
              <a:lnSpc>
                <a:spcPct val="80000"/>
              </a:lnSpc>
              <a:buFontTx/>
              <a:buNone/>
            </a:pPr>
            <a:r>
              <a:rPr lang="en-US" altLang="en-US" sz="1800">
                <a:latin typeface="Times New Roman" panose="02020603050405020304" pitchFamily="18" charset="0"/>
              </a:rPr>
              <a:t>		height = h;</a:t>
            </a:r>
          </a:p>
          <a:p>
            <a:pPr>
              <a:lnSpc>
                <a:spcPct val="80000"/>
              </a:lnSpc>
              <a:buFontTx/>
              <a:buNone/>
            </a:pPr>
            <a:r>
              <a:rPr lang="en-US" altLang="en-US" sz="1800">
                <a:latin typeface="Times New Roman" panose="02020603050405020304" pitchFamily="18" charset="0"/>
              </a:rPr>
              <a:t>		depth = d;</a:t>
            </a:r>
          </a:p>
          <a:p>
            <a:pPr>
              <a:lnSpc>
                <a:spcPct val="80000"/>
              </a:lnSpc>
              <a:buFontTx/>
              <a:buNone/>
            </a:pPr>
            <a:r>
              <a:rPr lang="en-US" altLang="en-US" sz="1800">
                <a:latin typeface="Times New Roman" panose="02020603050405020304" pitchFamily="18" charset="0"/>
              </a:rPr>
              <a:t>		p=volume();</a:t>
            </a:r>
          </a:p>
          <a:p>
            <a:pPr>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1800">
                <a:latin typeface="Times New Roman" panose="02020603050405020304" pitchFamily="18" charset="0"/>
              </a:rPr>
              <a:t>	double volume()</a:t>
            </a:r>
          </a:p>
          <a:p>
            <a:pPr>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1800">
                <a:latin typeface="Times New Roman" panose="02020603050405020304" pitchFamily="18" charset="0"/>
              </a:rPr>
              <a:t>		return width*height*depth; </a:t>
            </a:r>
          </a:p>
          <a:p>
            <a:pPr>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1800">
                <a:latin typeface="Times New Roman" panose="02020603050405020304" pitchFamily="18" charset="0"/>
              </a:rPr>
              <a:t>}</a:t>
            </a:r>
          </a:p>
        </p:txBody>
      </p:sp>
      <p:sp>
        <p:nvSpPr>
          <p:cNvPr id="12292" name="Rectangle 4"/>
          <p:cNvSpPr>
            <a:spLocks noGrp="1" noChangeArrowheads="1"/>
          </p:cNvSpPr>
          <p:nvPr>
            <p:ph type="body" sz="half" idx="2"/>
          </p:nvPr>
        </p:nvSpPr>
        <p:spPr>
          <a:xfrm>
            <a:off x="5029200" y="1600200"/>
            <a:ext cx="4114800" cy="4953000"/>
          </a:xfrm>
        </p:spPr>
        <p:txBody>
          <a:bodyPr/>
          <a:lstStyle/>
          <a:p>
            <a:pPr>
              <a:lnSpc>
                <a:spcPct val="80000"/>
              </a:lnSpc>
              <a:buFontTx/>
              <a:buNone/>
            </a:pPr>
            <a:r>
              <a:rPr lang="en-US" altLang="en-US" sz="1800" dirty="0">
                <a:latin typeface="Times New Roman" panose="02020603050405020304" pitchFamily="18" charset="0"/>
              </a:rPr>
              <a:t>class </a:t>
            </a:r>
            <a:r>
              <a:rPr lang="en-US" altLang="en-US" sz="1800" dirty="0" err="1">
                <a:latin typeface="Times New Roman" panose="02020603050405020304" pitchFamily="18" charset="0"/>
              </a:rPr>
              <a:t>BoxDemo</a:t>
            </a:r>
            <a:endParaRPr lang="en-US" altLang="en-US" sz="1800" dirty="0">
              <a:latin typeface="Times New Roman" panose="02020603050405020304" pitchFamily="18" charset="0"/>
            </a:endParaRPr>
          </a:p>
          <a:p>
            <a:pPr>
              <a:lnSpc>
                <a:spcPct val="80000"/>
              </a:lnSpc>
              <a:buFontTx/>
              <a:buNone/>
            </a:pPr>
            <a:r>
              <a:rPr lang="en-US" altLang="en-US" sz="1800" dirty="0">
                <a:latin typeface="Times New Roman" panose="02020603050405020304" pitchFamily="18" charset="0"/>
              </a:rPr>
              <a:t>{</a:t>
            </a:r>
          </a:p>
          <a:p>
            <a:pPr>
              <a:lnSpc>
                <a:spcPct val="80000"/>
              </a:lnSpc>
              <a:buFontTx/>
              <a:buNone/>
            </a:pPr>
            <a:r>
              <a:rPr lang="en-US" altLang="en-US" sz="1800" dirty="0">
                <a:latin typeface="Times New Roman" panose="02020603050405020304" pitchFamily="18" charset="0"/>
              </a:rPr>
              <a:t>	public static void main( String </a:t>
            </a:r>
            <a:r>
              <a:rPr lang="en-US" altLang="en-US" sz="1800" dirty="0" err="1">
                <a:latin typeface="Times New Roman" panose="02020603050405020304" pitchFamily="18" charset="0"/>
              </a:rPr>
              <a:t>args</a:t>
            </a:r>
            <a:r>
              <a:rPr lang="en-US" altLang="en-US" sz="1800" dirty="0">
                <a:latin typeface="Times New Roman" panose="02020603050405020304" pitchFamily="18" charset="0"/>
              </a:rPr>
              <a:t>[])</a:t>
            </a:r>
          </a:p>
          <a:p>
            <a:pPr>
              <a:lnSpc>
                <a:spcPct val="80000"/>
              </a:lnSpc>
              <a:buFontTx/>
              <a:buNone/>
            </a:pPr>
            <a:r>
              <a:rPr lang="en-US" altLang="en-US" sz="1800" dirty="0">
                <a:latin typeface="Times New Roman" panose="02020603050405020304" pitchFamily="18" charset="0"/>
              </a:rPr>
              <a:t>	{</a:t>
            </a:r>
          </a:p>
          <a:p>
            <a:pPr>
              <a:lnSpc>
                <a:spcPct val="80000"/>
              </a:lnSpc>
              <a:buFontTx/>
              <a:buNone/>
            </a:pPr>
            <a:r>
              <a:rPr lang="en-US" altLang="en-US" sz="1800" dirty="0">
                <a:latin typeface="Times New Roman" panose="02020603050405020304" pitchFamily="18" charset="0"/>
              </a:rPr>
              <a:t>		Box </a:t>
            </a:r>
            <a:r>
              <a:rPr lang="en-US" altLang="en-US" sz="1800" dirty="0" err="1">
                <a:latin typeface="Times New Roman" panose="02020603050405020304" pitchFamily="18" charset="0"/>
              </a:rPr>
              <a:t>mybox</a:t>
            </a:r>
            <a:r>
              <a:rPr lang="en-US" altLang="en-US" sz="1800" dirty="0">
                <a:latin typeface="Times New Roman" panose="02020603050405020304" pitchFamily="18" charset="0"/>
              </a:rPr>
              <a:t>, mybox1;</a:t>
            </a:r>
          </a:p>
          <a:p>
            <a:pPr>
              <a:lnSpc>
                <a:spcPct val="80000"/>
              </a:lnSpc>
              <a:buFontTx/>
              <a:buNone/>
            </a:pPr>
            <a:r>
              <a:rPr lang="en-US" altLang="en-US" sz="1800" dirty="0">
                <a:latin typeface="Times New Roman" panose="02020603050405020304" pitchFamily="18" charset="0"/>
              </a:rPr>
              <a:t>		double vol;</a:t>
            </a:r>
          </a:p>
          <a:p>
            <a:pPr>
              <a:lnSpc>
                <a:spcPct val="8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mybox</a:t>
            </a:r>
            <a:r>
              <a:rPr lang="en-US" altLang="en-US" sz="1800" dirty="0">
                <a:latin typeface="Times New Roman" panose="02020603050405020304" pitchFamily="18" charset="0"/>
              </a:rPr>
              <a:t> = new Box();</a:t>
            </a:r>
          </a:p>
          <a:p>
            <a:pPr>
              <a:lnSpc>
                <a:spcPct val="80000"/>
              </a:lnSpc>
              <a:buFontTx/>
              <a:buNone/>
            </a:pPr>
            <a:r>
              <a:rPr lang="en-US" altLang="en-US" sz="1800" dirty="0">
                <a:latin typeface="Times New Roman" panose="02020603050405020304" pitchFamily="18" charset="0"/>
              </a:rPr>
              <a:t>		mybox1 = new Box();</a:t>
            </a:r>
          </a:p>
          <a:p>
            <a:pPr>
              <a:lnSpc>
                <a:spcPct val="8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mybox.width</a:t>
            </a:r>
            <a:r>
              <a:rPr lang="en-US" altLang="en-US" sz="1800" dirty="0">
                <a:latin typeface="Times New Roman" panose="02020603050405020304" pitchFamily="18" charset="0"/>
              </a:rPr>
              <a:t> =120;</a:t>
            </a:r>
          </a:p>
          <a:p>
            <a:pPr>
              <a:lnSpc>
                <a:spcPct val="8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mybox.setDim</a:t>
            </a:r>
            <a:r>
              <a:rPr lang="en-US" altLang="en-US" sz="1800" dirty="0">
                <a:latin typeface="Times New Roman" panose="02020603050405020304" pitchFamily="18" charset="0"/>
              </a:rPr>
              <a:t>(10, 20, 15);</a:t>
            </a:r>
          </a:p>
          <a:p>
            <a:pPr>
              <a:lnSpc>
                <a:spcPct val="80000"/>
              </a:lnSpc>
              <a:buFontTx/>
              <a:buNone/>
            </a:pPr>
            <a:r>
              <a:rPr lang="en-US" altLang="en-US" sz="1800" dirty="0">
                <a:latin typeface="Times New Roman" panose="02020603050405020304" pitchFamily="18" charset="0"/>
              </a:rPr>
              <a:t>		vol=</a:t>
            </a:r>
            <a:r>
              <a:rPr lang="en-US" altLang="en-US" sz="1800" dirty="0" err="1">
                <a:latin typeface="Times New Roman" panose="02020603050405020304" pitchFamily="18" charset="0"/>
              </a:rPr>
              <a:t>mybox.volume</a:t>
            </a:r>
            <a:r>
              <a:rPr lang="en-US" altLang="en-US" sz="1800" dirty="0">
                <a:latin typeface="Times New Roman" panose="02020603050405020304" pitchFamily="18" charset="0"/>
              </a:rPr>
              <a:t>();</a:t>
            </a:r>
          </a:p>
          <a:p>
            <a:pPr>
              <a:lnSpc>
                <a:spcPct val="8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System.out.println</a:t>
            </a:r>
            <a:r>
              <a:rPr lang="en-US" altLang="en-US" sz="1800" dirty="0">
                <a:latin typeface="Times New Roman" panose="02020603050405020304" pitchFamily="18" charset="0"/>
              </a:rPr>
              <a:t>(vol);</a:t>
            </a:r>
          </a:p>
          <a:p>
            <a:pPr>
              <a:lnSpc>
                <a:spcPct val="80000"/>
              </a:lnSpc>
              <a:buFontTx/>
              <a:buNone/>
            </a:pPr>
            <a:r>
              <a:rPr lang="en-US" altLang="en-US" sz="1800" dirty="0">
                <a:latin typeface="Times New Roman" panose="02020603050405020304" pitchFamily="18" charset="0"/>
              </a:rPr>
              <a:t>		</a:t>
            </a:r>
          </a:p>
          <a:p>
            <a:pPr>
              <a:lnSpc>
                <a:spcPct val="80000"/>
              </a:lnSpc>
              <a:buFontTx/>
              <a:buNone/>
            </a:pPr>
            <a:r>
              <a:rPr lang="en-US" altLang="en-US" sz="1800" dirty="0">
                <a:latin typeface="Times New Roman" panose="02020603050405020304" pitchFamily="18" charset="0"/>
              </a:rPr>
              <a:t>		mybox1.setDim(3,6,9);</a:t>
            </a:r>
          </a:p>
          <a:p>
            <a:pPr>
              <a:lnSpc>
                <a:spcPct val="80000"/>
              </a:lnSpc>
              <a:buFontTx/>
              <a:buNone/>
            </a:pPr>
            <a:r>
              <a:rPr lang="en-US" altLang="en-US" sz="1800" dirty="0">
                <a:latin typeface="Times New Roman" panose="02020603050405020304" pitchFamily="18" charset="0"/>
              </a:rPr>
              <a:t>		vol=mybox1.volume();</a:t>
            </a:r>
          </a:p>
          <a:p>
            <a:pPr>
              <a:lnSpc>
                <a:spcPct val="8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System.out.println</a:t>
            </a:r>
            <a:r>
              <a:rPr lang="en-US" altLang="en-US" sz="1800" dirty="0">
                <a:latin typeface="Times New Roman" panose="02020603050405020304" pitchFamily="18" charset="0"/>
              </a:rPr>
              <a:t>(vol);</a:t>
            </a:r>
          </a:p>
          <a:p>
            <a:pPr>
              <a:lnSpc>
                <a:spcPct val="80000"/>
              </a:lnSpc>
              <a:buFontTx/>
              <a:buNone/>
            </a:pPr>
            <a:r>
              <a:rPr lang="en-US" altLang="en-US" sz="1800" dirty="0">
                <a:latin typeface="Times New Roman" panose="02020603050405020304" pitchFamily="18" charset="0"/>
              </a:rPr>
              <a:t>	</a:t>
            </a:r>
          </a:p>
          <a:p>
            <a:pPr>
              <a:lnSpc>
                <a:spcPct val="80000"/>
              </a:lnSpc>
              <a:buFontTx/>
              <a:buNone/>
            </a:pPr>
            <a:r>
              <a:rPr lang="en-US" altLang="en-US" sz="1800" dirty="0">
                <a:latin typeface="Times New Roman" panose="02020603050405020304" pitchFamily="18" charset="0"/>
              </a:rPr>
              <a:t>	}</a:t>
            </a:r>
          </a:p>
          <a:p>
            <a:pPr>
              <a:lnSpc>
                <a:spcPct val="80000"/>
              </a:lnSpc>
              <a:buFontTx/>
              <a:buNone/>
            </a:pPr>
            <a:r>
              <a:rPr lang="en-US" altLang="en-US" sz="1800" dirty="0">
                <a:latin typeface="Times New Roman" panose="02020603050405020304" pitchFamily="18" charset="0"/>
              </a:rPr>
              <a:t>}</a:t>
            </a:r>
          </a:p>
          <a:p>
            <a:pPr>
              <a:lnSpc>
                <a:spcPct val="80000"/>
              </a:lnSpc>
              <a:buFontTx/>
              <a:buNone/>
            </a:pPr>
            <a:endParaRPr lang="en-US" altLang="en-US" sz="2400" dirty="0"/>
          </a:p>
        </p:txBody>
      </p:sp>
      <p:sp>
        <p:nvSpPr>
          <p:cNvPr id="12293" name="Line 5"/>
          <p:cNvSpPr>
            <a:spLocks noChangeShapeType="1"/>
          </p:cNvSpPr>
          <p:nvPr/>
        </p:nvSpPr>
        <p:spPr bwMode="auto">
          <a:xfrm>
            <a:off x="6019800" y="4343400"/>
            <a:ext cx="1981200" cy="0"/>
          </a:xfrm>
          <a:prstGeom prst="line">
            <a:avLst/>
          </a:prstGeom>
          <a:noFill/>
          <a:ln w="158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4" name="Line 6"/>
          <p:cNvSpPr>
            <a:spLocks noChangeShapeType="1"/>
          </p:cNvSpPr>
          <p:nvPr/>
        </p:nvSpPr>
        <p:spPr bwMode="auto">
          <a:xfrm>
            <a:off x="1371600" y="5181600"/>
            <a:ext cx="1143000" cy="0"/>
          </a:xfrm>
          <a:prstGeom prst="line">
            <a:avLst/>
          </a:prstGeom>
          <a:noFill/>
          <a:ln w="158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 name="Date Placeholder 1"/>
          <p:cNvSpPr>
            <a:spLocks noGrp="1"/>
          </p:cNvSpPr>
          <p:nvPr>
            <p:ph type="dt" sz="half" idx="10"/>
          </p:nvPr>
        </p:nvSpPr>
        <p:spPr/>
        <p:txBody>
          <a:bodyPr/>
          <a:lstStyle/>
          <a:p>
            <a:fld id="{42013A43-AE29-4568-A38F-0B96203FCE51}"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537DE4E2-1CA0-4C5B-A02F-FEFF3DD9C080}" type="slidenum">
              <a:rPr lang="en-US" altLang="en-US" smtClean="0"/>
              <a:pPr/>
              <a:t>5</a:t>
            </a:fld>
            <a:endParaRPr lang="en-US"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294"/>
                                        </p:tgtEl>
                                        <p:attrNameLst>
                                          <p:attrName>style.visibility</p:attrName>
                                        </p:attrNameLst>
                                      </p:cBhvr>
                                      <p:to>
                                        <p:strVal val="visible"/>
                                      </p:to>
                                    </p:set>
                                    <p:animEffect transition="in" filter="blinds(horizontal)">
                                      <p:cBhvr>
                                        <p:cTn id="7" dur="500"/>
                                        <p:tgtEl>
                                          <p:spTgt spid="122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293"/>
                                        </p:tgtEl>
                                        <p:attrNameLst>
                                          <p:attrName>style.visibility</p:attrName>
                                        </p:attrNameLst>
                                      </p:cBhvr>
                                      <p:to>
                                        <p:strVal val="visible"/>
                                      </p:to>
                                    </p:set>
                                    <p:animEffect transition="in" filter="blinds(horizontal)">
                                      <p:cBhvr>
                                        <p:cTn id="12" dur="500"/>
                                        <p:tgtEl>
                                          <p:spTgt spid="122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3" grpId="0" animBg="1"/>
      <p:bldP spid="1229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457200" y="274638"/>
            <a:ext cx="8686800" cy="868362"/>
          </a:xfrm>
        </p:spPr>
        <p:txBody>
          <a:bodyPr/>
          <a:lstStyle/>
          <a:p>
            <a:r>
              <a:rPr lang="en-US" altLang="en-US" b="1">
                <a:latin typeface="Times New Roman" panose="02020603050405020304" pitchFamily="18" charset="0"/>
              </a:rPr>
              <a:t>Creating a Car class</a:t>
            </a:r>
          </a:p>
        </p:txBody>
      </p:sp>
      <p:sp>
        <p:nvSpPr>
          <p:cNvPr id="5123" name="Rectangle 3"/>
          <p:cNvSpPr>
            <a:spLocks noGrp="1" noChangeArrowheads="1"/>
          </p:cNvSpPr>
          <p:nvPr>
            <p:ph type="body" idx="1"/>
          </p:nvPr>
        </p:nvSpPr>
        <p:spPr>
          <a:xfrm>
            <a:off x="457200" y="1189038"/>
            <a:ext cx="8229600" cy="4525962"/>
          </a:xfrm>
        </p:spPr>
        <p:txBody>
          <a:bodyPr>
            <a:normAutofit fontScale="92500" lnSpcReduction="10000"/>
          </a:bodyPr>
          <a:lstStyle/>
          <a:p>
            <a:pPr>
              <a:lnSpc>
                <a:spcPct val="90000"/>
              </a:lnSpc>
            </a:pPr>
            <a:r>
              <a:rPr lang="en-US" altLang="en-US" sz="2000">
                <a:latin typeface="Times New Roman" panose="02020603050405020304" pitchFamily="18" charset="0"/>
              </a:rPr>
              <a:t>What properties does a car have in the real world?</a:t>
            </a:r>
          </a:p>
          <a:p>
            <a:pPr lvl="1">
              <a:lnSpc>
                <a:spcPct val="90000"/>
              </a:lnSpc>
            </a:pPr>
            <a:r>
              <a:rPr lang="en-US" altLang="en-US" sz="2000">
                <a:latin typeface="Times New Roman" panose="02020603050405020304" pitchFamily="18" charset="0"/>
              </a:rPr>
              <a:t>Color</a:t>
            </a:r>
          </a:p>
          <a:p>
            <a:pPr lvl="1">
              <a:lnSpc>
                <a:spcPct val="90000"/>
              </a:lnSpc>
            </a:pPr>
            <a:r>
              <a:rPr lang="en-US" altLang="en-US" sz="2000">
                <a:latin typeface="Times New Roman" panose="02020603050405020304" pitchFamily="18" charset="0"/>
              </a:rPr>
              <a:t>Position (x,y)</a:t>
            </a:r>
          </a:p>
          <a:p>
            <a:pPr lvl="1">
              <a:lnSpc>
                <a:spcPct val="90000"/>
              </a:lnSpc>
            </a:pPr>
            <a:r>
              <a:rPr lang="en-US" altLang="en-US" sz="2000">
                <a:latin typeface="Times New Roman" panose="02020603050405020304" pitchFamily="18" charset="0"/>
              </a:rPr>
              <a:t>Fuel in tank</a:t>
            </a:r>
          </a:p>
          <a:p>
            <a:pPr>
              <a:lnSpc>
                <a:spcPct val="90000"/>
              </a:lnSpc>
            </a:pPr>
            <a:endParaRPr lang="en-US" altLang="en-US" sz="2000">
              <a:latin typeface="Times New Roman" panose="02020603050405020304" pitchFamily="18" charset="0"/>
            </a:endParaRPr>
          </a:p>
          <a:p>
            <a:pPr>
              <a:lnSpc>
                <a:spcPct val="90000"/>
              </a:lnSpc>
            </a:pPr>
            <a:r>
              <a:rPr lang="en-US" altLang="en-US" sz="2000">
                <a:latin typeface="Times New Roman" panose="02020603050405020304" pitchFamily="18" charset="0"/>
              </a:rPr>
              <a:t>We will implement these properties in our Car class</a:t>
            </a:r>
          </a:p>
          <a:p>
            <a:pPr>
              <a:lnSpc>
                <a:spcPct val="90000"/>
              </a:lnSpc>
            </a:pPr>
            <a:endParaRPr lang="en-US" altLang="en-US" sz="2000">
              <a:latin typeface="Times New Roman" panose="02020603050405020304" pitchFamily="18" charset="0"/>
            </a:endParaRPr>
          </a:p>
          <a:p>
            <a:pPr lvl="1">
              <a:lnSpc>
                <a:spcPct val="90000"/>
              </a:lnSpc>
              <a:buFontTx/>
              <a:buNone/>
            </a:pPr>
            <a:r>
              <a:rPr lang="en-US" altLang="en-US" sz="2000">
                <a:latin typeface="Times New Roman" panose="02020603050405020304" pitchFamily="18" charset="0"/>
              </a:rPr>
              <a:t>class Car {</a:t>
            </a:r>
          </a:p>
          <a:p>
            <a:pPr lvl="1">
              <a:lnSpc>
                <a:spcPct val="90000"/>
              </a:lnSpc>
              <a:buFontTx/>
              <a:buNone/>
            </a:pPr>
            <a:r>
              <a:rPr lang="en-US" altLang="en-US" sz="2000">
                <a:latin typeface="Times New Roman" panose="02020603050405020304" pitchFamily="18" charset="0"/>
              </a:rPr>
              <a:t>    private Color color;</a:t>
            </a:r>
          </a:p>
          <a:p>
            <a:pPr lvl="1">
              <a:lnSpc>
                <a:spcPct val="90000"/>
              </a:lnSpc>
              <a:buFontTx/>
              <a:buNone/>
            </a:pPr>
            <a:r>
              <a:rPr lang="en-US" altLang="en-US" sz="2000">
                <a:latin typeface="Times New Roman" panose="02020603050405020304" pitchFamily="18" charset="0"/>
              </a:rPr>
              <a:t>    private int xpos;</a:t>
            </a:r>
          </a:p>
          <a:p>
            <a:pPr lvl="1">
              <a:lnSpc>
                <a:spcPct val="90000"/>
              </a:lnSpc>
              <a:buFontTx/>
              <a:buNone/>
            </a:pPr>
            <a:r>
              <a:rPr lang="en-US" altLang="en-US" sz="2000">
                <a:latin typeface="Times New Roman" panose="02020603050405020304" pitchFamily="18" charset="0"/>
              </a:rPr>
              <a:t>    private int ypos;</a:t>
            </a:r>
          </a:p>
          <a:p>
            <a:pPr lvl="1">
              <a:lnSpc>
                <a:spcPct val="90000"/>
              </a:lnSpc>
              <a:buFontTx/>
              <a:buNone/>
            </a:pPr>
            <a:r>
              <a:rPr lang="en-US" altLang="en-US" sz="2000">
                <a:latin typeface="Times New Roman" panose="02020603050405020304" pitchFamily="18" charset="0"/>
              </a:rPr>
              <a:t>    private int fuel;</a:t>
            </a:r>
          </a:p>
          <a:p>
            <a:pPr lvl="1">
              <a:lnSpc>
                <a:spcPct val="90000"/>
              </a:lnSpc>
              <a:buFontTx/>
              <a:buNone/>
            </a:pPr>
            <a:endParaRPr lang="en-US" altLang="en-US" sz="2000">
              <a:latin typeface="Times New Roman" panose="02020603050405020304" pitchFamily="18" charset="0"/>
            </a:endParaRPr>
          </a:p>
          <a:p>
            <a:pPr lvl="1">
              <a:lnSpc>
                <a:spcPct val="90000"/>
              </a:lnSpc>
              <a:buFontTx/>
              <a:buNone/>
            </a:pPr>
            <a:r>
              <a:rPr lang="en-US" altLang="en-US" sz="2000">
                <a:latin typeface="Times New Roman" panose="02020603050405020304" pitchFamily="18" charset="0"/>
              </a:rPr>
              <a:t>    //...</a:t>
            </a:r>
          </a:p>
          <a:p>
            <a:pPr lvl="1">
              <a:lnSpc>
                <a:spcPct val="90000"/>
              </a:lnSpc>
              <a:buFontTx/>
              <a:buNone/>
            </a:pPr>
            <a:r>
              <a:rPr lang="en-US" altLang="en-US" sz="2000">
                <a:latin typeface="Times New Roman" panose="02020603050405020304" pitchFamily="18" charset="0"/>
              </a:rPr>
              <a:t>}</a:t>
            </a:r>
          </a:p>
        </p:txBody>
      </p:sp>
      <p:sp>
        <p:nvSpPr>
          <p:cNvPr id="2" name="Date Placeholder 1"/>
          <p:cNvSpPr>
            <a:spLocks noGrp="1"/>
          </p:cNvSpPr>
          <p:nvPr>
            <p:ph type="dt" sz="half" idx="10"/>
          </p:nvPr>
        </p:nvSpPr>
        <p:spPr/>
        <p:txBody>
          <a:bodyPr/>
          <a:lstStyle/>
          <a:p>
            <a:fld id="{0F04F37B-C773-431D-BC36-3BEFCBA9D854}"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6</a:t>
            </a:fld>
            <a:endParaRPr lang="en-US" altLang="en-US"/>
          </a:p>
        </p:txBody>
      </p:sp>
    </p:spTree>
    <p:extLst>
      <p:ext uri="{BB962C8B-B14F-4D97-AF65-F5344CB8AC3E}">
        <p14:creationId xmlns:p14="http://schemas.microsoft.com/office/powerpoint/2010/main" val="33165669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12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12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12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5123">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123">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123">
                                            <p:txEl>
                                              <p:pRg st="8" end="8"/>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123">
                                            <p:txEl>
                                              <p:pRg st="9" end="9"/>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123">
                                            <p:txEl>
                                              <p:pRg st="10" end="10"/>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123">
                                            <p:txEl>
                                              <p:pRg st="11" end="11"/>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5123">
                                            <p:txEl>
                                              <p:pRg st="13" end="13"/>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5123">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sz="4000" b="1">
                <a:latin typeface="Times New Roman" panose="02020603050405020304" pitchFamily="18" charset="0"/>
              </a:rPr>
              <a:t>Car’s instance variables</a:t>
            </a:r>
          </a:p>
        </p:txBody>
      </p:sp>
      <p:sp>
        <p:nvSpPr>
          <p:cNvPr id="6147" name="Rectangle 3"/>
          <p:cNvSpPr>
            <a:spLocks noGrp="1" noChangeArrowheads="1"/>
          </p:cNvSpPr>
          <p:nvPr>
            <p:ph type="body" idx="1"/>
          </p:nvPr>
        </p:nvSpPr>
        <p:spPr/>
        <p:txBody>
          <a:bodyPr/>
          <a:lstStyle/>
          <a:p>
            <a:pPr lvl="1">
              <a:buFontTx/>
              <a:buNone/>
            </a:pPr>
            <a:r>
              <a:rPr lang="en-US" altLang="en-US" b="1">
                <a:latin typeface="Times New Roman" panose="02020603050405020304" pitchFamily="18" charset="0"/>
              </a:rPr>
              <a:t>class Car {</a:t>
            </a:r>
          </a:p>
          <a:p>
            <a:pPr lvl="1">
              <a:buFontTx/>
              <a:buNone/>
            </a:pPr>
            <a:r>
              <a:rPr lang="en-US" altLang="en-US" b="1">
                <a:latin typeface="Times New Roman" panose="02020603050405020304" pitchFamily="18" charset="0"/>
              </a:rPr>
              <a:t>    private Color color;</a:t>
            </a:r>
          </a:p>
          <a:p>
            <a:pPr lvl="1">
              <a:buFontTx/>
              <a:buNone/>
            </a:pPr>
            <a:r>
              <a:rPr lang="en-US" altLang="en-US" b="1">
                <a:latin typeface="Times New Roman" panose="02020603050405020304" pitchFamily="18" charset="0"/>
              </a:rPr>
              <a:t>    private int xpos;</a:t>
            </a:r>
          </a:p>
          <a:p>
            <a:pPr lvl="1">
              <a:buFontTx/>
              <a:buNone/>
            </a:pPr>
            <a:r>
              <a:rPr lang="en-US" altLang="en-US" b="1">
                <a:latin typeface="Times New Roman" panose="02020603050405020304" pitchFamily="18" charset="0"/>
              </a:rPr>
              <a:t>    private int ypos;</a:t>
            </a:r>
          </a:p>
          <a:p>
            <a:pPr lvl="1">
              <a:buFontTx/>
              <a:buNone/>
            </a:pPr>
            <a:r>
              <a:rPr lang="en-US" altLang="en-US" b="1">
                <a:latin typeface="Times New Roman" panose="02020603050405020304" pitchFamily="18" charset="0"/>
              </a:rPr>
              <a:t>    private int fuel;</a:t>
            </a:r>
          </a:p>
          <a:p>
            <a:pPr lvl="1">
              <a:buFontTx/>
              <a:buNone/>
            </a:pPr>
            <a:endParaRPr lang="en-US" altLang="en-US" b="1">
              <a:latin typeface="Times New Roman" panose="02020603050405020304" pitchFamily="18" charset="0"/>
            </a:endParaRPr>
          </a:p>
          <a:p>
            <a:pPr lvl="1">
              <a:buFontTx/>
              <a:buNone/>
            </a:pPr>
            <a:r>
              <a:rPr lang="en-US" altLang="en-US" b="1">
                <a:latin typeface="Times New Roman" panose="02020603050405020304" pitchFamily="18" charset="0"/>
              </a:rPr>
              <a:t>    //...</a:t>
            </a:r>
          </a:p>
          <a:p>
            <a:pPr lvl="1">
              <a:buFontTx/>
              <a:buNone/>
            </a:pPr>
            <a:r>
              <a:rPr lang="en-US" altLang="en-US" b="1">
                <a:latin typeface="Times New Roman" panose="02020603050405020304" pitchFamily="18" charset="0"/>
              </a:rPr>
              <a:t>}</a:t>
            </a:r>
          </a:p>
          <a:p>
            <a:pPr lvl="1">
              <a:buFontTx/>
              <a:buNone/>
            </a:pPr>
            <a:endParaRPr lang="en-US" altLang="en-US" b="1">
              <a:latin typeface="Times New Roman" panose="02020603050405020304" pitchFamily="18" charset="0"/>
            </a:endParaRPr>
          </a:p>
        </p:txBody>
      </p:sp>
      <p:grpSp>
        <p:nvGrpSpPr>
          <p:cNvPr id="6148" name="Group 4"/>
          <p:cNvGrpSpPr>
            <a:grpSpLocks/>
          </p:cNvGrpSpPr>
          <p:nvPr/>
        </p:nvGrpSpPr>
        <p:grpSpPr bwMode="auto">
          <a:xfrm>
            <a:off x="5029200" y="1981200"/>
            <a:ext cx="3657600" cy="2686050"/>
            <a:chOff x="2160" y="2592"/>
            <a:chExt cx="2304" cy="1692"/>
          </a:xfrm>
        </p:grpSpPr>
        <p:sp>
          <p:nvSpPr>
            <p:cNvPr id="6149" name="Freeform 5"/>
            <p:cNvSpPr>
              <a:spLocks/>
            </p:cNvSpPr>
            <p:nvPr/>
          </p:nvSpPr>
          <p:spPr bwMode="auto">
            <a:xfrm>
              <a:off x="2203" y="2592"/>
              <a:ext cx="2261" cy="1692"/>
            </a:xfrm>
            <a:custGeom>
              <a:avLst/>
              <a:gdLst>
                <a:gd name="T0" fmla="*/ 2642 w 2766"/>
                <a:gd name="T1" fmla="*/ 1432 h 1432"/>
                <a:gd name="T2" fmla="*/ 2679 w 2766"/>
                <a:gd name="T3" fmla="*/ 1429 h 1432"/>
                <a:gd name="T4" fmla="*/ 2716 w 2766"/>
                <a:gd name="T5" fmla="*/ 1409 h 1432"/>
                <a:gd name="T6" fmla="*/ 2743 w 2766"/>
                <a:gd name="T7" fmla="*/ 1382 h 1432"/>
                <a:gd name="T8" fmla="*/ 2760 w 2766"/>
                <a:gd name="T9" fmla="*/ 1348 h 1432"/>
                <a:gd name="T10" fmla="*/ 2766 w 2766"/>
                <a:gd name="T11" fmla="*/ 1308 h 1432"/>
                <a:gd name="T12" fmla="*/ 2766 w 2766"/>
                <a:gd name="T13" fmla="*/ 127 h 1432"/>
                <a:gd name="T14" fmla="*/ 2760 w 2766"/>
                <a:gd name="T15" fmla="*/ 87 h 1432"/>
                <a:gd name="T16" fmla="*/ 2743 w 2766"/>
                <a:gd name="T17" fmla="*/ 53 h 1432"/>
                <a:gd name="T18" fmla="*/ 2716 w 2766"/>
                <a:gd name="T19" fmla="*/ 27 h 1432"/>
                <a:gd name="T20" fmla="*/ 2679 w 2766"/>
                <a:gd name="T21" fmla="*/ 6 h 1432"/>
                <a:gd name="T22" fmla="*/ 2642 w 2766"/>
                <a:gd name="T23" fmla="*/ 0 h 1432"/>
                <a:gd name="T24" fmla="*/ 128 w 2766"/>
                <a:gd name="T25" fmla="*/ 0 h 1432"/>
                <a:gd name="T26" fmla="*/ 87 w 2766"/>
                <a:gd name="T27" fmla="*/ 6 h 1432"/>
                <a:gd name="T28" fmla="*/ 54 w 2766"/>
                <a:gd name="T29" fmla="*/ 27 h 1432"/>
                <a:gd name="T30" fmla="*/ 24 w 2766"/>
                <a:gd name="T31" fmla="*/ 53 h 1432"/>
                <a:gd name="T32" fmla="*/ 7 w 2766"/>
                <a:gd name="T33" fmla="*/ 87 h 1432"/>
                <a:gd name="T34" fmla="*/ 0 w 2766"/>
                <a:gd name="T35" fmla="*/ 127 h 1432"/>
                <a:gd name="T36" fmla="*/ 0 w 2766"/>
                <a:gd name="T37" fmla="*/ 1308 h 1432"/>
                <a:gd name="T38" fmla="*/ 7 w 2766"/>
                <a:gd name="T39" fmla="*/ 1348 h 1432"/>
                <a:gd name="T40" fmla="*/ 24 w 2766"/>
                <a:gd name="T41" fmla="*/ 1382 h 1432"/>
                <a:gd name="T42" fmla="*/ 54 w 2766"/>
                <a:gd name="T43" fmla="*/ 1409 h 1432"/>
                <a:gd name="T44" fmla="*/ 87 w 2766"/>
                <a:gd name="T45" fmla="*/ 1429 h 1432"/>
                <a:gd name="T46" fmla="*/ 128 w 2766"/>
                <a:gd name="T47" fmla="*/ 1432 h 1432"/>
                <a:gd name="T48" fmla="*/ 2642 w 2766"/>
                <a:gd name="T49" fmla="*/ 1432 h 1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66" h="1432">
                  <a:moveTo>
                    <a:pt x="2642" y="1432"/>
                  </a:moveTo>
                  <a:lnTo>
                    <a:pt x="2679" y="1429"/>
                  </a:lnTo>
                  <a:lnTo>
                    <a:pt x="2716" y="1409"/>
                  </a:lnTo>
                  <a:lnTo>
                    <a:pt x="2743" y="1382"/>
                  </a:lnTo>
                  <a:lnTo>
                    <a:pt x="2760" y="1348"/>
                  </a:lnTo>
                  <a:lnTo>
                    <a:pt x="2766" y="1308"/>
                  </a:lnTo>
                  <a:lnTo>
                    <a:pt x="2766" y="127"/>
                  </a:lnTo>
                  <a:lnTo>
                    <a:pt x="2760" y="87"/>
                  </a:lnTo>
                  <a:lnTo>
                    <a:pt x="2743" y="53"/>
                  </a:lnTo>
                  <a:lnTo>
                    <a:pt x="2716" y="27"/>
                  </a:lnTo>
                  <a:lnTo>
                    <a:pt x="2679" y="6"/>
                  </a:lnTo>
                  <a:lnTo>
                    <a:pt x="2642" y="0"/>
                  </a:lnTo>
                  <a:lnTo>
                    <a:pt x="128" y="0"/>
                  </a:lnTo>
                  <a:lnTo>
                    <a:pt x="87" y="6"/>
                  </a:lnTo>
                  <a:lnTo>
                    <a:pt x="54" y="27"/>
                  </a:lnTo>
                  <a:lnTo>
                    <a:pt x="24" y="53"/>
                  </a:lnTo>
                  <a:lnTo>
                    <a:pt x="7" y="87"/>
                  </a:lnTo>
                  <a:lnTo>
                    <a:pt x="0" y="127"/>
                  </a:lnTo>
                  <a:lnTo>
                    <a:pt x="0" y="1308"/>
                  </a:lnTo>
                  <a:lnTo>
                    <a:pt x="7" y="1348"/>
                  </a:lnTo>
                  <a:lnTo>
                    <a:pt x="24" y="1382"/>
                  </a:lnTo>
                  <a:lnTo>
                    <a:pt x="54" y="1409"/>
                  </a:lnTo>
                  <a:lnTo>
                    <a:pt x="87" y="1429"/>
                  </a:lnTo>
                  <a:lnTo>
                    <a:pt x="128" y="1432"/>
                  </a:lnTo>
                  <a:lnTo>
                    <a:pt x="2642" y="1432"/>
                  </a:lnTo>
                  <a:close/>
                </a:path>
              </a:pathLst>
            </a:custGeom>
            <a:solidFill>
              <a:srgbClr val="C6C6FF"/>
            </a:solidFill>
            <a:ln w="4763">
              <a:solidFill>
                <a:srgbClr val="000000"/>
              </a:solidFill>
              <a:prstDash val="solid"/>
              <a:round/>
              <a:headEnd/>
              <a:tailEnd/>
            </a:ln>
          </p:spPr>
          <p:txBody>
            <a:bodyPr/>
            <a:lstStyle/>
            <a:p>
              <a:endParaRPr lang="en-US"/>
            </a:p>
          </p:txBody>
        </p:sp>
        <p:sp>
          <p:nvSpPr>
            <p:cNvPr id="6150" name="Line 6"/>
            <p:cNvSpPr>
              <a:spLocks noChangeShapeType="1"/>
            </p:cNvSpPr>
            <p:nvPr/>
          </p:nvSpPr>
          <p:spPr bwMode="auto">
            <a:xfrm>
              <a:off x="2160" y="2880"/>
              <a:ext cx="2304" cy="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1" name="Line 7"/>
            <p:cNvSpPr>
              <a:spLocks noChangeShapeType="1"/>
            </p:cNvSpPr>
            <p:nvPr/>
          </p:nvSpPr>
          <p:spPr bwMode="auto">
            <a:xfrm flipV="1">
              <a:off x="2208" y="3312"/>
              <a:ext cx="2256" cy="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6152" name="Rectangle 8"/>
            <p:cNvSpPr>
              <a:spLocks noChangeArrowheads="1"/>
            </p:cNvSpPr>
            <p:nvPr/>
          </p:nvSpPr>
          <p:spPr bwMode="auto">
            <a:xfrm>
              <a:off x="2256" y="3360"/>
              <a:ext cx="23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a:t>
              </a:r>
              <a:endParaRPr lang="en-US" altLang="en-US" b="1">
                <a:latin typeface="Verdana" panose="020B0604030504040204" pitchFamily="34" charset="0"/>
              </a:endParaRPr>
            </a:p>
          </p:txBody>
        </p:sp>
        <p:sp>
          <p:nvSpPr>
            <p:cNvPr id="6153" name="Rectangle 9"/>
            <p:cNvSpPr>
              <a:spLocks noChangeArrowheads="1"/>
            </p:cNvSpPr>
            <p:nvPr/>
          </p:nvSpPr>
          <p:spPr bwMode="auto">
            <a:xfrm>
              <a:off x="3216" y="2640"/>
              <a:ext cx="2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Car</a:t>
              </a:r>
              <a:endParaRPr lang="en-US" altLang="en-US" b="1">
                <a:latin typeface="Verdana" panose="020B0604030504040204" pitchFamily="34" charset="0"/>
              </a:endParaRPr>
            </a:p>
          </p:txBody>
        </p:sp>
        <p:sp>
          <p:nvSpPr>
            <p:cNvPr id="6154" name="Rectangle 10"/>
            <p:cNvSpPr>
              <a:spLocks noChangeArrowheads="1"/>
            </p:cNvSpPr>
            <p:nvPr/>
          </p:nvSpPr>
          <p:spPr bwMode="auto">
            <a:xfrm>
              <a:off x="2250" y="2975"/>
              <a:ext cx="3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color</a:t>
              </a:r>
              <a:endParaRPr lang="en-US" altLang="en-US" b="1">
                <a:latin typeface="Verdana" panose="020B0604030504040204" pitchFamily="34" charset="0"/>
              </a:endParaRPr>
            </a:p>
          </p:txBody>
        </p:sp>
        <p:sp>
          <p:nvSpPr>
            <p:cNvPr id="6155" name="Rectangle 11"/>
            <p:cNvSpPr>
              <a:spLocks noChangeArrowheads="1"/>
            </p:cNvSpPr>
            <p:nvPr/>
          </p:nvSpPr>
          <p:spPr bwMode="auto">
            <a:xfrm>
              <a:off x="2250" y="3126"/>
              <a:ext cx="28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fuel</a:t>
              </a:r>
              <a:endParaRPr lang="en-US" altLang="en-US" b="1">
                <a:latin typeface="Verdana" panose="020B0604030504040204" pitchFamily="34" charset="0"/>
              </a:endParaRPr>
            </a:p>
          </p:txBody>
        </p:sp>
        <p:sp>
          <p:nvSpPr>
            <p:cNvPr id="6156" name="Rectangle 12"/>
            <p:cNvSpPr>
              <a:spLocks noChangeArrowheads="1"/>
            </p:cNvSpPr>
            <p:nvPr/>
          </p:nvSpPr>
          <p:spPr bwMode="auto">
            <a:xfrm>
              <a:off x="3360" y="2976"/>
              <a:ext cx="3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xpos</a:t>
              </a:r>
              <a:endParaRPr lang="en-US" altLang="en-US" b="1">
                <a:latin typeface="Verdana" panose="020B0604030504040204" pitchFamily="34" charset="0"/>
              </a:endParaRPr>
            </a:p>
          </p:txBody>
        </p:sp>
        <p:sp>
          <p:nvSpPr>
            <p:cNvPr id="6157" name="Rectangle 13"/>
            <p:cNvSpPr>
              <a:spLocks noChangeArrowheads="1"/>
            </p:cNvSpPr>
            <p:nvPr/>
          </p:nvSpPr>
          <p:spPr bwMode="auto">
            <a:xfrm>
              <a:off x="3360" y="3127"/>
              <a:ext cx="3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ypos</a:t>
              </a:r>
              <a:endParaRPr lang="en-US" altLang="en-US" b="1">
                <a:latin typeface="Verdana" panose="020B0604030504040204" pitchFamily="34" charset="0"/>
              </a:endParaRPr>
            </a:p>
          </p:txBody>
        </p:sp>
      </p:grpSp>
      <p:sp>
        <p:nvSpPr>
          <p:cNvPr id="2" name="Date Placeholder 1"/>
          <p:cNvSpPr>
            <a:spLocks noGrp="1"/>
          </p:cNvSpPr>
          <p:nvPr>
            <p:ph type="dt" sz="half" idx="10"/>
          </p:nvPr>
        </p:nvSpPr>
        <p:spPr/>
        <p:txBody>
          <a:bodyPr/>
          <a:lstStyle/>
          <a:p>
            <a:fld id="{AB5BFED3-490F-4FA9-80B1-6D0A2B29DBF8}"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7</a:t>
            </a:fld>
            <a:endParaRPr lang="en-US" altLang="en-US"/>
          </a:p>
        </p:txBody>
      </p:sp>
    </p:spTree>
    <p:extLst>
      <p:ext uri="{BB962C8B-B14F-4D97-AF65-F5344CB8AC3E}">
        <p14:creationId xmlns:p14="http://schemas.microsoft.com/office/powerpoint/2010/main" val="40192016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14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14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14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14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147">
                                            <p:txEl>
                                              <p:pRg st="7" end="7"/>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76200"/>
            <a:ext cx="8229600" cy="1143000"/>
          </a:xfrm>
        </p:spPr>
        <p:txBody>
          <a:bodyPr/>
          <a:lstStyle/>
          <a:p>
            <a:r>
              <a:rPr lang="en-US" altLang="en-US" b="1">
                <a:latin typeface="Times New Roman" panose="02020603050405020304" pitchFamily="18" charset="0"/>
              </a:rPr>
              <a:t>Instance variables</a:t>
            </a:r>
            <a:r>
              <a:rPr lang="en-US" altLang="en-US">
                <a:latin typeface="Times New Roman" panose="02020603050405020304" pitchFamily="18" charset="0"/>
              </a:rPr>
              <a:t> </a:t>
            </a:r>
          </a:p>
        </p:txBody>
      </p:sp>
      <p:sp>
        <p:nvSpPr>
          <p:cNvPr id="7171" name="Rectangle 3"/>
          <p:cNvSpPr>
            <a:spLocks noGrp="1" noChangeArrowheads="1"/>
          </p:cNvSpPr>
          <p:nvPr>
            <p:ph type="body" idx="1"/>
          </p:nvPr>
        </p:nvSpPr>
        <p:spPr>
          <a:xfrm>
            <a:off x="457200" y="1036638"/>
            <a:ext cx="8229600" cy="4525962"/>
          </a:xfrm>
        </p:spPr>
        <p:txBody>
          <a:bodyPr/>
          <a:lstStyle/>
          <a:p>
            <a:pPr>
              <a:lnSpc>
                <a:spcPct val="90000"/>
              </a:lnSpc>
            </a:pPr>
            <a:r>
              <a:rPr lang="en-US" altLang="en-US" sz="2000">
                <a:latin typeface="Times New Roman" panose="02020603050405020304" pitchFamily="18" charset="0"/>
              </a:rPr>
              <a:t>Default initialization</a:t>
            </a:r>
          </a:p>
          <a:p>
            <a:pPr>
              <a:lnSpc>
                <a:spcPct val="90000"/>
              </a:lnSpc>
            </a:pPr>
            <a:endParaRPr lang="en-US" altLang="en-US" sz="2000">
              <a:latin typeface="Times New Roman" panose="02020603050405020304" pitchFamily="18" charset="0"/>
            </a:endParaRPr>
          </a:p>
          <a:p>
            <a:pPr lvl="1">
              <a:lnSpc>
                <a:spcPct val="90000"/>
              </a:lnSpc>
            </a:pPr>
            <a:r>
              <a:rPr lang="en-US" altLang="en-US" sz="2000">
                <a:latin typeface="Times New Roman" panose="02020603050405020304" pitchFamily="18" charset="0"/>
              </a:rPr>
              <a:t>If the variable is within a method, Java does NOT initialize it</a:t>
            </a:r>
          </a:p>
          <a:p>
            <a:pPr lvl="1">
              <a:lnSpc>
                <a:spcPct val="90000"/>
              </a:lnSpc>
            </a:pPr>
            <a:endParaRPr lang="en-US" altLang="en-US" sz="2000">
              <a:latin typeface="Times New Roman" panose="02020603050405020304" pitchFamily="18" charset="0"/>
            </a:endParaRPr>
          </a:p>
          <a:p>
            <a:pPr lvl="1">
              <a:lnSpc>
                <a:spcPct val="90000"/>
              </a:lnSpc>
            </a:pPr>
            <a:r>
              <a:rPr lang="en-US" altLang="en-US" sz="2000">
                <a:latin typeface="Times New Roman" panose="02020603050405020304" pitchFamily="18" charset="0"/>
              </a:rPr>
              <a:t>If the variable is within a class, Java initializes it as follows:</a:t>
            </a:r>
          </a:p>
          <a:p>
            <a:pPr lvl="2">
              <a:lnSpc>
                <a:spcPct val="90000"/>
              </a:lnSpc>
            </a:pPr>
            <a:r>
              <a:rPr lang="en-US" altLang="en-US" sz="2000">
                <a:latin typeface="Times New Roman" panose="02020603050405020304" pitchFamily="18" charset="0"/>
              </a:rPr>
              <a:t>Numeric instance </a:t>
            </a:r>
            <a:br>
              <a:rPr lang="en-US" altLang="en-US" sz="2000">
                <a:latin typeface="Times New Roman" panose="02020603050405020304" pitchFamily="18" charset="0"/>
              </a:rPr>
            </a:br>
            <a:r>
              <a:rPr lang="en-US" altLang="en-US" sz="2000">
                <a:latin typeface="Times New Roman" panose="02020603050405020304" pitchFamily="18" charset="0"/>
              </a:rPr>
              <a:t>variables initialized to 0</a:t>
            </a:r>
          </a:p>
          <a:p>
            <a:pPr lvl="2">
              <a:lnSpc>
                <a:spcPct val="90000"/>
              </a:lnSpc>
            </a:pPr>
            <a:r>
              <a:rPr lang="en-US" altLang="en-US" sz="2000">
                <a:latin typeface="Times New Roman" panose="02020603050405020304" pitchFamily="18" charset="0"/>
              </a:rPr>
              <a:t>Logical instance </a:t>
            </a:r>
            <a:br>
              <a:rPr lang="en-US" altLang="en-US" sz="2000">
                <a:latin typeface="Times New Roman" panose="02020603050405020304" pitchFamily="18" charset="0"/>
              </a:rPr>
            </a:br>
            <a:r>
              <a:rPr lang="en-US" altLang="en-US" sz="2000">
                <a:latin typeface="Times New Roman" panose="02020603050405020304" pitchFamily="18" charset="0"/>
              </a:rPr>
              <a:t>variables initialized to </a:t>
            </a:r>
            <a:br>
              <a:rPr lang="en-US" altLang="en-US" sz="2000">
                <a:latin typeface="Times New Roman" panose="02020603050405020304" pitchFamily="18" charset="0"/>
              </a:rPr>
            </a:br>
            <a:r>
              <a:rPr lang="en-US" altLang="en-US" sz="2000">
                <a:latin typeface="Times New Roman" panose="02020603050405020304" pitchFamily="18" charset="0"/>
              </a:rPr>
              <a:t>false</a:t>
            </a:r>
          </a:p>
          <a:p>
            <a:pPr lvl="2">
              <a:lnSpc>
                <a:spcPct val="90000"/>
              </a:lnSpc>
            </a:pPr>
            <a:r>
              <a:rPr lang="en-US" altLang="en-US" sz="2000">
                <a:latin typeface="Times New Roman" panose="02020603050405020304" pitchFamily="18" charset="0"/>
              </a:rPr>
              <a:t>Object instance </a:t>
            </a:r>
            <a:br>
              <a:rPr lang="en-US" altLang="en-US" sz="2000">
                <a:latin typeface="Times New Roman" panose="02020603050405020304" pitchFamily="18" charset="0"/>
              </a:rPr>
            </a:br>
            <a:r>
              <a:rPr lang="en-US" altLang="en-US" sz="2000">
                <a:latin typeface="Times New Roman" panose="02020603050405020304" pitchFamily="18" charset="0"/>
              </a:rPr>
              <a:t>variables initialized to </a:t>
            </a:r>
            <a:br>
              <a:rPr lang="en-US" altLang="en-US" sz="2000">
                <a:latin typeface="Times New Roman" panose="02020603050405020304" pitchFamily="18" charset="0"/>
              </a:rPr>
            </a:br>
            <a:r>
              <a:rPr lang="en-US" altLang="en-US" sz="2000">
                <a:latin typeface="Times New Roman" panose="02020603050405020304" pitchFamily="18" charset="0"/>
              </a:rPr>
              <a:t>null</a:t>
            </a:r>
          </a:p>
        </p:txBody>
      </p:sp>
      <p:grpSp>
        <p:nvGrpSpPr>
          <p:cNvPr id="7172" name="Group 4"/>
          <p:cNvGrpSpPr>
            <a:grpSpLocks/>
          </p:cNvGrpSpPr>
          <p:nvPr/>
        </p:nvGrpSpPr>
        <p:grpSpPr bwMode="auto">
          <a:xfrm>
            <a:off x="5181600" y="3581400"/>
            <a:ext cx="3657600" cy="2686050"/>
            <a:chOff x="2160" y="2592"/>
            <a:chExt cx="2304" cy="1692"/>
          </a:xfrm>
        </p:grpSpPr>
        <p:sp>
          <p:nvSpPr>
            <p:cNvPr id="7173" name="Freeform 5"/>
            <p:cNvSpPr>
              <a:spLocks/>
            </p:cNvSpPr>
            <p:nvPr/>
          </p:nvSpPr>
          <p:spPr bwMode="auto">
            <a:xfrm>
              <a:off x="2203" y="2592"/>
              <a:ext cx="2261" cy="1692"/>
            </a:xfrm>
            <a:custGeom>
              <a:avLst/>
              <a:gdLst>
                <a:gd name="T0" fmla="*/ 2642 w 2766"/>
                <a:gd name="T1" fmla="*/ 1432 h 1432"/>
                <a:gd name="T2" fmla="*/ 2679 w 2766"/>
                <a:gd name="T3" fmla="*/ 1429 h 1432"/>
                <a:gd name="T4" fmla="*/ 2716 w 2766"/>
                <a:gd name="T5" fmla="*/ 1409 h 1432"/>
                <a:gd name="T6" fmla="*/ 2743 w 2766"/>
                <a:gd name="T7" fmla="*/ 1382 h 1432"/>
                <a:gd name="T8" fmla="*/ 2760 w 2766"/>
                <a:gd name="T9" fmla="*/ 1348 h 1432"/>
                <a:gd name="T10" fmla="*/ 2766 w 2766"/>
                <a:gd name="T11" fmla="*/ 1308 h 1432"/>
                <a:gd name="T12" fmla="*/ 2766 w 2766"/>
                <a:gd name="T13" fmla="*/ 127 h 1432"/>
                <a:gd name="T14" fmla="*/ 2760 w 2766"/>
                <a:gd name="T15" fmla="*/ 87 h 1432"/>
                <a:gd name="T16" fmla="*/ 2743 w 2766"/>
                <a:gd name="T17" fmla="*/ 53 h 1432"/>
                <a:gd name="T18" fmla="*/ 2716 w 2766"/>
                <a:gd name="T19" fmla="*/ 27 h 1432"/>
                <a:gd name="T20" fmla="*/ 2679 w 2766"/>
                <a:gd name="T21" fmla="*/ 6 h 1432"/>
                <a:gd name="T22" fmla="*/ 2642 w 2766"/>
                <a:gd name="T23" fmla="*/ 0 h 1432"/>
                <a:gd name="T24" fmla="*/ 128 w 2766"/>
                <a:gd name="T25" fmla="*/ 0 h 1432"/>
                <a:gd name="T26" fmla="*/ 87 w 2766"/>
                <a:gd name="T27" fmla="*/ 6 h 1432"/>
                <a:gd name="T28" fmla="*/ 54 w 2766"/>
                <a:gd name="T29" fmla="*/ 27 h 1432"/>
                <a:gd name="T30" fmla="*/ 24 w 2766"/>
                <a:gd name="T31" fmla="*/ 53 h 1432"/>
                <a:gd name="T32" fmla="*/ 7 w 2766"/>
                <a:gd name="T33" fmla="*/ 87 h 1432"/>
                <a:gd name="T34" fmla="*/ 0 w 2766"/>
                <a:gd name="T35" fmla="*/ 127 h 1432"/>
                <a:gd name="T36" fmla="*/ 0 w 2766"/>
                <a:gd name="T37" fmla="*/ 1308 h 1432"/>
                <a:gd name="T38" fmla="*/ 7 w 2766"/>
                <a:gd name="T39" fmla="*/ 1348 h 1432"/>
                <a:gd name="T40" fmla="*/ 24 w 2766"/>
                <a:gd name="T41" fmla="*/ 1382 h 1432"/>
                <a:gd name="T42" fmla="*/ 54 w 2766"/>
                <a:gd name="T43" fmla="*/ 1409 h 1432"/>
                <a:gd name="T44" fmla="*/ 87 w 2766"/>
                <a:gd name="T45" fmla="*/ 1429 h 1432"/>
                <a:gd name="T46" fmla="*/ 128 w 2766"/>
                <a:gd name="T47" fmla="*/ 1432 h 1432"/>
                <a:gd name="T48" fmla="*/ 2642 w 2766"/>
                <a:gd name="T49" fmla="*/ 1432 h 1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66" h="1432">
                  <a:moveTo>
                    <a:pt x="2642" y="1432"/>
                  </a:moveTo>
                  <a:lnTo>
                    <a:pt x="2679" y="1429"/>
                  </a:lnTo>
                  <a:lnTo>
                    <a:pt x="2716" y="1409"/>
                  </a:lnTo>
                  <a:lnTo>
                    <a:pt x="2743" y="1382"/>
                  </a:lnTo>
                  <a:lnTo>
                    <a:pt x="2760" y="1348"/>
                  </a:lnTo>
                  <a:lnTo>
                    <a:pt x="2766" y="1308"/>
                  </a:lnTo>
                  <a:lnTo>
                    <a:pt x="2766" y="127"/>
                  </a:lnTo>
                  <a:lnTo>
                    <a:pt x="2760" y="87"/>
                  </a:lnTo>
                  <a:lnTo>
                    <a:pt x="2743" y="53"/>
                  </a:lnTo>
                  <a:lnTo>
                    <a:pt x="2716" y="27"/>
                  </a:lnTo>
                  <a:lnTo>
                    <a:pt x="2679" y="6"/>
                  </a:lnTo>
                  <a:lnTo>
                    <a:pt x="2642" y="0"/>
                  </a:lnTo>
                  <a:lnTo>
                    <a:pt x="128" y="0"/>
                  </a:lnTo>
                  <a:lnTo>
                    <a:pt x="87" y="6"/>
                  </a:lnTo>
                  <a:lnTo>
                    <a:pt x="54" y="27"/>
                  </a:lnTo>
                  <a:lnTo>
                    <a:pt x="24" y="53"/>
                  </a:lnTo>
                  <a:lnTo>
                    <a:pt x="7" y="87"/>
                  </a:lnTo>
                  <a:lnTo>
                    <a:pt x="0" y="127"/>
                  </a:lnTo>
                  <a:lnTo>
                    <a:pt x="0" y="1308"/>
                  </a:lnTo>
                  <a:lnTo>
                    <a:pt x="7" y="1348"/>
                  </a:lnTo>
                  <a:lnTo>
                    <a:pt x="24" y="1382"/>
                  </a:lnTo>
                  <a:lnTo>
                    <a:pt x="54" y="1409"/>
                  </a:lnTo>
                  <a:lnTo>
                    <a:pt x="87" y="1429"/>
                  </a:lnTo>
                  <a:lnTo>
                    <a:pt x="128" y="1432"/>
                  </a:lnTo>
                  <a:lnTo>
                    <a:pt x="2642" y="1432"/>
                  </a:lnTo>
                  <a:close/>
                </a:path>
              </a:pathLst>
            </a:custGeom>
            <a:solidFill>
              <a:srgbClr val="C6C6FF"/>
            </a:solidFill>
            <a:ln w="4763">
              <a:solidFill>
                <a:srgbClr val="000000"/>
              </a:solidFill>
              <a:prstDash val="solid"/>
              <a:round/>
              <a:headEnd/>
              <a:tailEnd/>
            </a:ln>
          </p:spPr>
          <p:txBody>
            <a:bodyPr/>
            <a:lstStyle/>
            <a:p>
              <a:endParaRPr lang="en-US"/>
            </a:p>
          </p:txBody>
        </p:sp>
        <p:sp>
          <p:nvSpPr>
            <p:cNvPr id="7174" name="Line 6"/>
            <p:cNvSpPr>
              <a:spLocks noChangeShapeType="1"/>
            </p:cNvSpPr>
            <p:nvPr/>
          </p:nvSpPr>
          <p:spPr bwMode="auto">
            <a:xfrm>
              <a:off x="2160" y="2880"/>
              <a:ext cx="2304" cy="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5" name="Line 7"/>
            <p:cNvSpPr>
              <a:spLocks noChangeShapeType="1"/>
            </p:cNvSpPr>
            <p:nvPr/>
          </p:nvSpPr>
          <p:spPr bwMode="auto">
            <a:xfrm flipV="1">
              <a:off x="2208" y="3312"/>
              <a:ext cx="2256" cy="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7176" name="Rectangle 8"/>
            <p:cNvSpPr>
              <a:spLocks noChangeArrowheads="1"/>
            </p:cNvSpPr>
            <p:nvPr/>
          </p:nvSpPr>
          <p:spPr bwMode="auto">
            <a:xfrm>
              <a:off x="2256" y="3360"/>
              <a:ext cx="23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a:t>
              </a:r>
              <a:endParaRPr lang="en-US" altLang="en-US" b="1">
                <a:latin typeface="Verdana" panose="020B0604030504040204" pitchFamily="34" charset="0"/>
              </a:endParaRPr>
            </a:p>
          </p:txBody>
        </p:sp>
        <p:sp>
          <p:nvSpPr>
            <p:cNvPr id="7177" name="Rectangle 9"/>
            <p:cNvSpPr>
              <a:spLocks noChangeArrowheads="1"/>
            </p:cNvSpPr>
            <p:nvPr/>
          </p:nvSpPr>
          <p:spPr bwMode="auto">
            <a:xfrm>
              <a:off x="3216" y="2640"/>
              <a:ext cx="2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Car</a:t>
              </a:r>
              <a:endParaRPr lang="en-US" altLang="en-US" b="1">
                <a:latin typeface="Verdana" panose="020B0604030504040204" pitchFamily="34" charset="0"/>
              </a:endParaRPr>
            </a:p>
          </p:txBody>
        </p:sp>
        <p:sp>
          <p:nvSpPr>
            <p:cNvPr id="7178" name="Rectangle 10"/>
            <p:cNvSpPr>
              <a:spLocks noChangeArrowheads="1"/>
            </p:cNvSpPr>
            <p:nvPr/>
          </p:nvSpPr>
          <p:spPr bwMode="auto">
            <a:xfrm>
              <a:off x="2250" y="2975"/>
              <a:ext cx="701"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color = null</a:t>
              </a:r>
              <a:endParaRPr lang="en-US" altLang="en-US" b="1">
                <a:latin typeface="Verdana" panose="020B0604030504040204" pitchFamily="34" charset="0"/>
              </a:endParaRPr>
            </a:p>
          </p:txBody>
        </p:sp>
        <p:sp>
          <p:nvSpPr>
            <p:cNvPr id="7179" name="Rectangle 11"/>
            <p:cNvSpPr>
              <a:spLocks noChangeArrowheads="1"/>
            </p:cNvSpPr>
            <p:nvPr/>
          </p:nvSpPr>
          <p:spPr bwMode="auto">
            <a:xfrm>
              <a:off x="2250" y="3126"/>
              <a:ext cx="503"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fuel = 0</a:t>
              </a:r>
              <a:endParaRPr lang="en-US" altLang="en-US" b="1">
                <a:latin typeface="Verdana" panose="020B0604030504040204" pitchFamily="34" charset="0"/>
              </a:endParaRPr>
            </a:p>
          </p:txBody>
        </p:sp>
        <p:sp>
          <p:nvSpPr>
            <p:cNvPr id="7180" name="Rectangle 12"/>
            <p:cNvSpPr>
              <a:spLocks noChangeArrowheads="1"/>
            </p:cNvSpPr>
            <p:nvPr/>
          </p:nvSpPr>
          <p:spPr bwMode="auto">
            <a:xfrm>
              <a:off x="3360" y="2976"/>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xpos = 0</a:t>
              </a:r>
              <a:endParaRPr lang="en-US" altLang="en-US" b="1">
                <a:latin typeface="Verdana" panose="020B0604030504040204" pitchFamily="34" charset="0"/>
              </a:endParaRPr>
            </a:p>
          </p:txBody>
        </p:sp>
        <p:sp>
          <p:nvSpPr>
            <p:cNvPr id="7181" name="Rectangle 13"/>
            <p:cNvSpPr>
              <a:spLocks noChangeArrowheads="1"/>
            </p:cNvSpPr>
            <p:nvPr/>
          </p:nvSpPr>
          <p:spPr bwMode="auto">
            <a:xfrm>
              <a:off x="3360" y="3127"/>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ypos = 0</a:t>
              </a:r>
              <a:endParaRPr lang="en-US" altLang="en-US" b="1">
                <a:latin typeface="Verdana" panose="020B0604030504040204" pitchFamily="34" charset="0"/>
              </a:endParaRPr>
            </a:p>
          </p:txBody>
        </p:sp>
      </p:grpSp>
      <p:sp>
        <p:nvSpPr>
          <p:cNvPr id="2" name="Date Placeholder 1"/>
          <p:cNvSpPr>
            <a:spLocks noGrp="1"/>
          </p:cNvSpPr>
          <p:nvPr>
            <p:ph type="dt" sz="half" idx="10"/>
          </p:nvPr>
        </p:nvSpPr>
        <p:spPr/>
        <p:txBody>
          <a:bodyPr/>
          <a:lstStyle/>
          <a:p>
            <a:fld id="{A10EC0E4-E46C-482C-8C8A-E3F82ECA0984}"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8</a:t>
            </a:fld>
            <a:endParaRPr lang="en-US" altLang="en-US"/>
          </a:p>
        </p:txBody>
      </p:sp>
    </p:spTree>
    <p:extLst>
      <p:ext uri="{BB962C8B-B14F-4D97-AF65-F5344CB8AC3E}">
        <p14:creationId xmlns:p14="http://schemas.microsoft.com/office/powerpoint/2010/main" val="8115221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17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17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171">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171">
                                            <p:txEl>
                                              <p:pRg st="5" end="5"/>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7171">
                                            <p:txEl>
                                              <p:pRg st="6" end="6"/>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7171">
                                            <p:txEl>
                                              <p:pRg st="7" end="7"/>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717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152400"/>
            <a:ext cx="8229600" cy="1143000"/>
          </a:xfrm>
        </p:spPr>
        <p:txBody>
          <a:bodyPr/>
          <a:lstStyle/>
          <a:p>
            <a:r>
              <a:rPr lang="en-US" altLang="en-US" b="1">
                <a:latin typeface="Times New Roman" panose="02020603050405020304" pitchFamily="18" charset="0"/>
              </a:rPr>
              <a:t>Car behaviors or methods</a:t>
            </a:r>
          </a:p>
        </p:txBody>
      </p:sp>
      <p:sp>
        <p:nvSpPr>
          <p:cNvPr id="10243" name="Rectangle 3"/>
          <p:cNvSpPr>
            <a:spLocks noGrp="1" noChangeArrowheads="1"/>
          </p:cNvSpPr>
          <p:nvPr>
            <p:ph type="body" idx="1"/>
          </p:nvPr>
        </p:nvSpPr>
        <p:spPr>
          <a:xfrm>
            <a:off x="457200" y="990600"/>
            <a:ext cx="8229600" cy="4525963"/>
          </a:xfrm>
        </p:spPr>
        <p:txBody>
          <a:bodyPr>
            <a:normAutofit lnSpcReduction="10000"/>
          </a:bodyPr>
          <a:lstStyle/>
          <a:p>
            <a:r>
              <a:rPr lang="en-US" altLang="en-US" sz="2400">
                <a:latin typeface="Times New Roman" panose="02020603050405020304" pitchFamily="18" charset="0"/>
              </a:rPr>
              <a:t>What can a car do?  And what can you do to a car?</a:t>
            </a:r>
          </a:p>
          <a:p>
            <a:pPr lvl="1"/>
            <a:r>
              <a:rPr lang="en-US" altLang="en-US" sz="2400">
                <a:latin typeface="Times New Roman" panose="02020603050405020304" pitchFamily="18" charset="0"/>
              </a:rPr>
              <a:t>Move it</a:t>
            </a:r>
          </a:p>
          <a:p>
            <a:pPr lvl="2"/>
            <a:r>
              <a:rPr lang="en-US" altLang="en-US">
                <a:latin typeface="Times New Roman" panose="02020603050405020304" pitchFamily="18" charset="0"/>
              </a:rPr>
              <a:t>Change it’s x and y positions</a:t>
            </a:r>
          </a:p>
          <a:p>
            <a:pPr lvl="1"/>
            <a:r>
              <a:rPr lang="en-US" altLang="en-US" sz="2400">
                <a:latin typeface="Times New Roman" panose="02020603050405020304" pitchFamily="18" charset="0"/>
              </a:rPr>
              <a:t>Change it’s color</a:t>
            </a:r>
          </a:p>
          <a:p>
            <a:pPr lvl="1"/>
            <a:r>
              <a:rPr lang="en-US" altLang="en-US" sz="2400">
                <a:latin typeface="Times New Roman" panose="02020603050405020304" pitchFamily="18" charset="0"/>
              </a:rPr>
              <a:t>Fill it up with fuel</a:t>
            </a:r>
          </a:p>
          <a:p>
            <a:endParaRPr lang="en-US" altLang="en-US" sz="2400">
              <a:latin typeface="Times New Roman" panose="02020603050405020304" pitchFamily="18" charset="0"/>
            </a:endParaRPr>
          </a:p>
          <a:p>
            <a:r>
              <a:rPr lang="en-US" altLang="en-US" sz="2400">
                <a:latin typeface="Times New Roman" panose="02020603050405020304" pitchFamily="18" charset="0"/>
              </a:rPr>
              <a:t>For our computer simulation, what else do we want the Car class to do?</a:t>
            </a:r>
          </a:p>
          <a:p>
            <a:pPr lvl="1"/>
            <a:r>
              <a:rPr lang="en-US" altLang="en-US" sz="2400">
                <a:latin typeface="Times New Roman" panose="02020603050405020304" pitchFamily="18" charset="0"/>
              </a:rPr>
              <a:t>Create a new Car</a:t>
            </a:r>
          </a:p>
          <a:p>
            <a:pPr lvl="1"/>
            <a:r>
              <a:rPr lang="en-US" altLang="en-US" sz="2400">
                <a:latin typeface="Times New Roman" panose="02020603050405020304" pitchFamily="18" charset="0"/>
              </a:rPr>
              <a:t>Change Car’s condition</a:t>
            </a:r>
          </a:p>
          <a:p>
            <a:r>
              <a:rPr lang="en-US" altLang="en-US" sz="2400">
                <a:latin typeface="Times New Roman" panose="02020603050405020304" pitchFamily="18" charset="0"/>
              </a:rPr>
              <a:t>Each of these behaviors will be written as a method</a:t>
            </a:r>
          </a:p>
          <a:p>
            <a:pPr lvl="1"/>
            <a:endParaRPr lang="en-US" altLang="en-US" sz="2400">
              <a:latin typeface="Times New Roman" panose="02020603050405020304" pitchFamily="18" charset="0"/>
            </a:endParaRPr>
          </a:p>
        </p:txBody>
      </p:sp>
      <p:sp>
        <p:nvSpPr>
          <p:cNvPr id="2" name="Date Placeholder 1"/>
          <p:cNvSpPr>
            <a:spLocks noGrp="1"/>
          </p:cNvSpPr>
          <p:nvPr>
            <p:ph type="dt" sz="half" idx="10"/>
          </p:nvPr>
        </p:nvSpPr>
        <p:spPr/>
        <p:txBody>
          <a:bodyPr/>
          <a:lstStyle/>
          <a:p>
            <a:fld id="{9AD845AD-A930-440B-BDB9-DBDADE38049D}"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9</a:t>
            </a:fld>
            <a:endParaRPr lang="en-US" altLang="en-US"/>
          </a:p>
        </p:txBody>
      </p:sp>
    </p:spTree>
    <p:extLst>
      <p:ext uri="{BB962C8B-B14F-4D97-AF65-F5344CB8AC3E}">
        <p14:creationId xmlns:p14="http://schemas.microsoft.com/office/powerpoint/2010/main" val="36321925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02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024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0243">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0243">
                                            <p:txEl>
                                              <p:pRg st="4" end="4"/>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0243">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0243">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0243">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024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457200" y="-152400"/>
            <a:ext cx="8229600" cy="1143000"/>
          </a:xfrm>
        </p:spPr>
        <p:txBody>
          <a:bodyPr/>
          <a:lstStyle/>
          <a:p>
            <a:r>
              <a:rPr lang="en-US" altLang="en-US" b="1">
                <a:latin typeface="Times New Roman" panose="02020603050405020304" pitchFamily="18" charset="0"/>
              </a:rPr>
              <a:t>Creating a new car</a:t>
            </a:r>
          </a:p>
        </p:txBody>
      </p:sp>
      <p:sp>
        <p:nvSpPr>
          <p:cNvPr id="11267" name="Rectangle 3"/>
          <p:cNvSpPr>
            <a:spLocks noGrp="1" noChangeArrowheads="1"/>
          </p:cNvSpPr>
          <p:nvPr>
            <p:ph type="body" idx="1"/>
          </p:nvPr>
        </p:nvSpPr>
        <p:spPr>
          <a:xfrm>
            <a:off x="381000" y="1066800"/>
            <a:ext cx="8229600" cy="4525963"/>
          </a:xfrm>
        </p:spPr>
        <p:txBody>
          <a:bodyPr>
            <a:normAutofit lnSpcReduction="10000"/>
          </a:bodyPr>
          <a:lstStyle/>
          <a:p>
            <a:pPr>
              <a:lnSpc>
                <a:spcPct val="90000"/>
              </a:lnSpc>
            </a:pPr>
            <a:r>
              <a:rPr lang="en-US" altLang="en-US" sz="2000">
                <a:latin typeface="Times New Roman" panose="02020603050405020304" pitchFamily="18" charset="0"/>
              </a:rPr>
              <a:t>To create a new Car, we call:</a:t>
            </a:r>
          </a:p>
          <a:p>
            <a:pPr>
              <a:lnSpc>
                <a:spcPct val="90000"/>
              </a:lnSpc>
            </a:pPr>
            <a:endParaRPr lang="en-US" altLang="en-US" sz="2000">
              <a:latin typeface="Times New Roman" panose="02020603050405020304" pitchFamily="18" charset="0"/>
            </a:endParaRPr>
          </a:p>
          <a:p>
            <a:pPr lvl="1">
              <a:lnSpc>
                <a:spcPct val="90000"/>
              </a:lnSpc>
            </a:pPr>
            <a:r>
              <a:rPr lang="en-US" altLang="en-US" sz="2000">
                <a:latin typeface="Times New Roman" panose="02020603050405020304" pitchFamily="18" charset="0"/>
              </a:rPr>
              <a:t>Car car = new Car();</a:t>
            </a:r>
          </a:p>
          <a:p>
            <a:pPr>
              <a:lnSpc>
                <a:spcPct val="90000"/>
              </a:lnSpc>
            </a:pPr>
            <a:endParaRPr lang="en-US" altLang="en-US" sz="2000">
              <a:latin typeface="Times New Roman" panose="02020603050405020304" pitchFamily="18" charset="0"/>
            </a:endParaRPr>
          </a:p>
          <a:p>
            <a:pPr>
              <a:lnSpc>
                <a:spcPct val="90000"/>
              </a:lnSpc>
            </a:pPr>
            <a:r>
              <a:rPr lang="en-US" altLang="en-US" sz="2000">
                <a:latin typeface="Times New Roman" panose="02020603050405020304" pitchFamily="18" charset="0"/>
              </a:rPr>
              <a:t>Notice this looks like a method</a:t>
            </a:r>
          </a:p>
          <a:p>
            <a:pPr lvl="1">
              <a:lnSpc>
                <a:spcPct val="90000"/>
              </a:lnSpc>
            </a:pPr>
            <a:r>
              <a:rPr lang="en-US" altLang="en-US" sz="2000">
                <a:latin typeface="Times New Roman" panose="02020603050405020304" pitchFamily="18" charset="0"/>
              </a:rPr>
              <a:t>You are calling a special method called a </a:t>
            </a:r>
            <a:r>
              <a:rPr lang="en-US" altLang="en-US" sz="2000">
                <a:solidFill>
                  <a:srgbClr val="008000"/>
                </a:solidFill>
                <a:latin typeface="Times New Roman" panose="02020603050405020304" pitchFamily="18" charset="0"/>
              </a:rPr>
              <a:t>constructor</a:t>
            </a:r>
          </a:p>
          <a:p>
            <a:pPr lvl="1">
              <a:lnSpc>
                <a:spcPct val="90000"/>
              </a:lnSpc>
            </a:pPr>
            <a:r>
              <a:rPr lang="en-US" altLang="en-US" sz="2000">
                <a:latin typeface="Times New Roman" panose="02020603050405020304" pitchFamily="18" charset="0"/>
              </a:rPr>
              <a:t>A constructor is used to create (or construct) an object</a:t>
            </a:r>
          </a:p>
          <a:p>
            <a:pPr lvl="2">
              <a:lnSpc>
                <a:spcPct val="90000"/>
              </a:lnSpc>
            </a:pPr>
            <a:r>
              <a:rPr lang="en-US" altLang="en-US" sz="2000">
                <a:latin typeface="Times New Roman" panose="02020603050405020304" pitchFamily="18" charset="0"/>
              </a:rPr>
              <a:t>It sets the instance variables to initial values</a:t>
            </a:r>
          </a:p>
          <a:p>
            <a:pPr>
              <a:lnSpc>
                <a:spcPct val="90000"/>
              </a:lnSpc>
            </a:pPr>
            <a:r>
              <a:rPr lang="en-US" altLang="en-US" sz="2000">
                <a:latin typeface="Times New Roman" panose="02020603050405020304" pitchFamily="18" charset="0"/>
              </a:rPr>
              <a:t>The constructor:</a:t>
            </a:r>
          </a:p>
          <a:p>
            <a:pPr>
              <a:lnSpc>
                <a:spcPct val="90000"/>
              </a:lnSpc>
            </a:pPr>
            <a:endParaRPr lang="en-US" altLang="en-US" sz="2000">
              <a:latin typeface="Times New Roman" panose="02020603050405020304" pitchFamily="18" charset="0"/>
            </a:endParaRPr>
          </a:p>
          <a:p>
            <a:pPr lvl="2">
              <a:lnSpc>
                <a:spcPct val="90000"/>
              </a:lnSpc>
              <a:buFontTx/>
              <a:buNone/>
            </a:pPr>
            <a:r>
              <a:rPr lang="en-US" altLang="en-US" sz="2000">
                <a:latin typeface="Times New Roman" panose="02020603050405020304" pitchFamily="18" charset="0"/>
              </a:rPr>
              <a:t>Car() {</a:t>
            </a:r>
          </a:p>
          <a:p>
            <a:pPr lvl="2">
              <a:lnSpc>
                <a:spcPct val="90000"/>
              </a:lnSpc>
              <a:buFontTx/>
              <a:buNone/>
            </a:pPr>
            <a:r>
              <a:rPr lang="en-US" altLang="en-US" sz="2000">
                <a:latin typeface="Times New Roman" panose="02020603050405020304" pitchFamily="18" charset="0"/>
              </a:rPr>
              <a:t>	fuel = 1000;</a:t>
            </a:r>
          </a:p>
          <a:p>
            <a:pPr lvl="2">
              <a:lnSpc>
                <a:spcPct val="90000"/>
              </a:lnSpc>
              <a:buFontTx/>
              <a:buNone/>
            </a:pPr>
            <a:r>
              <a:rPr lang="en-US" altLang="en-US" sz="2000">
                <a:latin typeface="Times New Roman" panose="02020603050405020304" pitchFamily="18" charset="0"/>
              </a:rPr>
              <a:t>	color = Color.BLUE;</a:t>
            </a:r>
          </a:p>
          <a:p>
            <a:pPr lvl="2">
              <a:lnSpc>
                <a:spcPct val="90000"/>
              </a:lnSpc>
              <a:buFontTx/>
              <a:buNone/>
            </a:pPr>
            <a:r>
              <a:rPr lang="en-US" altLang="en-US" sz="2000">
                <a:latin typeface="Times New Roman" panose="02020603050405020304" pitchFamily="18" charset="0"/>
              </a:rPr>
              <a:t>}</a:t>
            </a:r>
          </a:p>
        </p:txBody>
      </p:sp>
      <p:sp>
        <p:nvSpPr>
          <p:cNvPr id="11268" name="Rectangle 4"/>
          <p:cNvSpPr>
            <a:spLocks noChangeArrowheads="1"/>
          </p:cNvSpPr>
          <p:nvPr/>
        </p:nvSpPr>
        <p:spPr bwMode="auto">
          <a:xfrm>
            <a:off x="2209800" y="1600200"/>
            <a:ext cx="1219200" cy="381000"/>
          </a:xfrm>
          <a:prstGeom prst="rect">
            <a:avLst/>
          </a:prstGeom>
          <a:noFill/>
          <a:ln w="25400">
            <a:solidFill>
              <a:srgbClr val="008000"/>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Date Placeholder 1"/>
          <p:cNvSpPr>
            <a:spLocks noGrp="1"/>
          </p:cNvSpPr>
          <p:nvPr>
            <p:ph type="dt" sz="half" idx="10"/>
          </p:nvPr>
        </p:nvSpPr>
        <p:spPr/>
        <p:txBody>
          <a:bodyPr/>
          <a:lstStyle/>
          <a:p>
            <a:fld id="{0B1C3561-749B-464A-9A55-37A7EF165C57}"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10</a:t>
            </a:fld>
            <a:endParaRPr lang="en-US" altLang="en-US"/>
          </a:p>
        </p:txBody>
      </p:sp>
    </p:spTree>
    <p:extLst>
      <p:ext uri="{BB962C8B-B14F-4D97-AF65-F5344CB8AC3E}">
        <p14:creationId xmlns:p14="http://schemas.microsoft.com/office/powerpoint/2010/main" val="147493337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126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268"/>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1267">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11267">
                                            <p:txEl>
                                              <p:pRg st="5" end="5"/>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1267">
                                            <p:txEl>
                                              <p:pRg st="6" end="6"/>
                                            </p:txEl>
                                          </p:spTgt>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1267">
                                            <p:txEl>
                                              <p:pRg st="7" end="7"/>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1267">
                                            <p:txEl>
                                              <p:pRg st="8" end="8"/>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1267">
                                            <p:txEl>
                                              <p:pRg st="10" end="10"/>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1267">
                                            <p:txEl>
                                              <p:pRg st="11" end="11"/>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1267">
                                            <p:txEl>
                                              <p:pRg st="12" end="12"/>
                                            </p:txEl>
                                          </p:spTgt>
                                        </p:tgtEl>
                                        <p:attrNameLst>
                                          <p:attrName>style.visibility</p:attrName>
                                        </p:attrNameLst>
                                      </p:cBhvr>
                                      <p:to>
                                        <p:strVal val="visible"/>
                                      </p:to>
                                    </p:set>
                                  </p:childTnLst>
                                </p:cTn>
                              </p:par>
                            </p:childTnLst>
                          </p:cTn>
                        </p:par>
                      </p:childTnLst>
                    </p:cTn>
                  </p:par>
                  <p:par>
                    <p:cTn id="47" fill="hold" nodeType="clickPar">
                      <p:stCondLst>
                        <p:cond delay="indefinite"/>
                      </p:stCondLst>
                      <p:childTnLst>
                        <p:par>
                          <p:cTn id="48" fill="hold" nodeType="withGroup">
                            <p:stCondLst>
                              <p:cond delay="0"/>
                            </p:stCondLst>
                            <p:childTnLst>
                              <p:par>
                                <p:cTn id="49" presetID="1" presetClass="entr" presetSubtype="0" fill="hold" nodeType="clickEffect">
                                  <p:stCondLst>
                                    <p:cond delay="0"/>
                                  </p:stCondLst>
                                  <p:childTnLst>
                                    <p:set>
                                      <p:cBhvr>
                                        <p:cTn id="50" dur="1" fill="hold">
                                          <p:stCondLst>
                                            <p:cond delay="0"/>
                                          </p:stCondLst>
                                        </p:cTn>
                                        <p:tgtEl>
                                          <p:spTgt spid="11267">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0"/>
            <a:ext cx="8229600" cy="1143000"/>
          </a:xfrm>
        </p:spPr>
        <p:txBody>
          <a:bodyPr/>
          <a:lstStyle/>
          <a:p>
            <a:r>
              <a:rPr lang="en-US" altLang="en-US" sz="4000" b="1">
                <a:latin typeface="Times New Roman" panose="02020603050405020304" pitchFamily="18" charset="0"/>
              </a:rPr>
              <a:t>Constructors</a:t>
            </a:r>
          </a:p>
        </p:txBody>
      </p:sp>
      <p:sp>
        <p:nvSpPr>
          <p:cNvPr id="7171" name="Rectangle 3"/>
          <p:cNvSpPr>
            <a:spLocks noGrp="1" noChangeArrowheads="1"/>
          </p:cNvSpPr>
          <p:nvPr>
            <p:ph type="body" idx="1"/>
          </p:nvPr>
        </p:nvSpPr>
        <p:spPr>
          <a:xfrm>
            <a:off x="304800" y="1066800"/>
            <a:ext cx="8382000" cy="4953000"/>
          </a:xfrm>
        </p:spPr>
        <p:txBody>
          <a:bodyPr/>
          <a:lstStyle/>
          <a:p>
            <a:pPr>
              <a:buFont typeface="Wingdings" panose="05000000000000000000" pitchFamily="2" charset="2"/>
              <a:buChar char="ü"/>
            </a:pPr>
            <a:r>
              <a:rPr lang="en-US" altLang="en-US" sz="2400">
                <a:latin typeface="Times New Roman" panose="02020603050405020304" pitchFamily="18" charset="0"/>
              </a:rPr>
              <a:t>A constructor initializes an object immediately upon creation.</a:t>
            </a:r>
          </a:p>
          <a:p>
            <a:pPr>
              <a:buFont typeface="Wingdings" panose="05000000000000000000" pitchFamily="2" charset="2"/>
              <a:buChar char="ü"/>
            </a:pPr>
            <a:r>
              <a:rPr lang="en-US" altLang="en-US" sz="2400">
                <a:latin typeface="Times New Roman" panose="02020603050405020304" pitchFamily="18" charset="0"/>
              </a:rPr>
              <a:t>It is similar to a method and has same name as the class in which it resides.</a:t>
            </a:r>
          </a:p>
          <a:p>
            <a:pPr>
              <a:buFont typeface="Wingdings" panose="05000000000000000000" pitchFamily="2" charset="2"/>
              <a:buChar char="ü"/>
            </a:pPr>
            <a:r>
              <a:rPr lang="en-US" altLang="en-US" sz="2400">
                <a:latin typeface="Times New Roman" panose="02020603050405020304" pitchFamily="18" charset="0"/>
              </a:rPr>
              <a:t>It has no return type not even void.</a:t>
            </a:r>
          </a:p>
          <a:p>
            <a:pPr>
              <a:buFont typeface="Wingdings" panose="05000000000000000000" pitchFamily="2" charset="2"/>
              <a:buChar char="ü"/>
            </a:pPr>
            <a:r>
              <a:rPr lang="en-US" altLang="en-US" sz="2400">
                <a:latin typeface="Times New Roman" panose="02020603050405020304" pitchFamily="18" charset="0"/>
              </a:rPr>
              <a:t>Once defined it is automatically called immediately after the object is created.</a:t>
            </a:r>
          </a:p>
          <a:p>
            <a:pPr>
              <a:buFont typeface="Wingdings" panose="05000000000000000000" pitchFamily="2" charset="2"/>
              <a:buChar char="ü"/>
            </a:pPr>
            <a:r>
              <a:rPr lang="en-US" altLang="en-US" sz="2400">
                <a:latin typeface="Times New Roman" panose="02020603050405020304" pitchFamily="18" charset="0"/>
              </a:rPr>
              <a:t>When there is no explicit constructor for a class, then java creates a default constructor for that class.</a:t>
            </a:r>
          </a:p>
          <a:p>
            <a:pPr>
              <a:buFont typeface="Wingdings" panose="05000000000000000000" pitchFamily="2" charset="2"/>
              <a:buChar char="ü"/>
            </a:pPr>
            <a:r>
              <a:rPr lang="en-US" altLang="en-US" sz="2400">
                <a:latin typeface="Times New Roman" panose="02020603050405020304" pitchFamily="18" charset="0"/>
              </a:rPr>
              <a:t>The default constructor automatically initializes all instance variables to 0.</a:t>
            </a:r>
          </a:p>
          <a:p>
            <a:pPr>
              <a:buFont typeface="Wingdings" panose="05000000000000000000" pitchFamily="2" charset="2"/>
              <a:buChar char="ü"/>
            </a:pPr>
            <a:endParaRPr lang="en-US" altLang="en-US" sz="2400">
              <a:latin typeface="Times New Roman" panose="02020603050405020304" pitchFamily="18" charset="0"/>
            </a:endParaRPr>
          </a:p>
          <a:p>
            <a:pPr>
              <a:buFont typeface="Wingdings" panose="05000000000000000000" pitchFamily="2" charset="2"/>
              <a:buChar char="ü"/>
            </a:pPr>
            <a:endParaRPr lang="en-US" altLang="en-US" sz="2800">
              <a:latin typeface="Times New Roman" panose="02020603050405020304" pitchFamily="18" charset="0"/>
            </a:endParaRPr>
          </a:p>
        </p:txBody>
      </p:sp>
      <p:sp>
        <p:nvSpPr>
          <p:cNvPr id="2" name="Date Placeholder 1"/>
          <p:cNvSpPr>
            <a:spLocks noGrp="1"/>
          </p:cNvSpPr>
          <p:nvPr>
            <p:ph type="dt" sz="half" idx="10"/>
          </p:nvPr>
        </p:nvSpPr>
        <p:spPr/>
        <p:txBody>
          <a:bodyPr/>
          <a:lstStyle/>
          <a:p>
            <a:fld id="{28999C36-9B56-477B-BB74-1FD4EA3D17C4}"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A2797038-AD64-4C97-BB0B-56363D18F42C}" type="slidenum">
              <a:rPr lang="en-US" altLang="en-US" smtClean="0"/>
              <a:pPr/>
              <a:t>11</a:t>
            </a:fld>
            <a:endParaRPr lang="en-US" altLang="en-US"/>
          </a:p>
        </p:txBody>
      </p:sp>
    </p:spTree>
    <p:extLst>
      <p:ext uri="{BB962C8B-B14F-4D97-AF65-F5344CB8AC3E}">
        <p14:creationId xmlns:p14="http://schemas.microsoft.com/office/powerpoint/2010/main" val="1830099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152400"/>
            <a:ext cx="8229600" cy="1143000"/>
          </a:xfrm>
        </p:spPr>
        <p:txBody>
          <a:bodyPr/>
          <a:lstStyle/>
          <a:p>
            <a:r>
              <a:rPr lang="en-US" altLang="en-US" b="1">
                <a:latin typeface="Times New Roman" panose="02020603050405020304" pitchFamily="18" charset="0"/>
              </a:rPr>
              <a:t>Parameterized Constructor</a:t>
            </a:r>
          </a:p>
        </p:txBody>
      </p:sp>
      <p:sp>
        <p:nvSpPr>
          <p:cNvPr id="16387" name="Rectangle 3"/>
          <p:cNvSpPr>
            <a:spLocks noGrp="1" noChangeArrowheads="1"/>
          </p:cNvSpPr>
          <p:nvPr>
            <p:ph type="body" idx="1"/>
          </p:nvPr>
        </p:nvSpPr>
        <p:spPr>
          <a:xfrm>
            <a:off x="457200" y="990600"/>
            <a:ext cx="8305800" cy="5181600"/>
          </a:xfrm>
        </p:spPr>
        <p:txBody>
          <a:bodyPr/>
          <a:lstStyle/>
          <a:p>
            <a:pPr>
              <a:buFont typeface="Wingdings" panose="05000000000000000000" pitchFamily="2" charset="2"/>
              <a:buChar char="ü"/>
            </a:pPr>
            <a:r>
              <a:rPr lang="en-US" altLang="en-US" sz="2400" b="1">
                <a:latin typeface="Times New Roman" panose="02020603050405020304" pitchFamily="18" charset="0"/>
              </a:rPr>
              <a:t>Constructors containing parameters are known as parameterized constructors.</a:t>
            </a:r>
          </a:p>
        </p:txBody>
      </p:sp>
      <p:sp>
        <p:nvSpPr>
          <p:cNvPr id="2" name="Date Placeholder 1"/>
          <p:cNvSpPr>
            <a:spLocks noGrp="1"/>
          </p:cNvSpPr>
          <p:nvPr>
            <p:ph type="dt" sz="half" idx="10"/>
          </p:nvPr>
        </p:nvSpPr>
        <p:spPr/>
        <p:txBody>
          <a:bodyPr/>
          <a:lstStyle/>
          <a:p>
            <a:fld id="{C30479E7-8CA7-429D-AE24-6BB62D8EB7A8}"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A2797038-AD64-4C97-BB0B-56363D18F42C}" type="slidenum">
              <a:rPr lang="en-US" altLang="en-US" smtClean="0"/>
              <a:pPr/>
              <a:t>12</a:t>
            </a:fld>
            <a:endParaRPr lang="en-US" altLang="en-US"/>
          </a:p>
        </p:txBody>
      </p:sp>
    </p:spTree>
    <p:extLst>
      <p:ext uri="{BB962C8B-B14F-4D97-AF65-F5344CB8AC3E}">
        <p14:creationId xmlns:p14="http://schemas.microsoft.com/office/powerpoint/2010/main" val="20852787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457200" y="-76200"/>
            <a:ext cx="8229600" cy="990600"/>
          </a:xfrm>
        </p:spPr>
        <p:txBody>
          <a:bodyPr/>
          <a:lstStyle/>
          <a:p>
            <a:r>
              <a:rPr lang="en-US" altLang="en-US" b="1">
                <a:latin typeface="Times New Roman" panose="02020603050405020304" pitchFamily="18" charset="0"/>
              </a:rPr>
              <a:t>Example</a:t>
            </a:r>
          </a:p>
        </p:txBody>
      </p:sp>
      <p:sp>
        <p:nvSpPr>
          <p:cNvPr id="8195" name="Rectangle 3"/>
          <p:cNvSpPr>
            <a:spLocks noGrp="1" noChangeArrowheads="1"/>
          </p:cNvSpPr>
          <p:nvPr>
            <p:ph type="body" sz="half" idx="1"/>
          </p:nvPr>
        </p:nvSpPr>
        <p:spPr>
          <a:xfrm>
            <a:off x="457200" y="1219200"/>
            <a:ext cx="4033838" cy="4525963"/>
          </a:xfrm>
        </p:spPr>
        <p:txBody>
          <a:bodyPr/>
          <a:lstStyle/>
          <a:p>
            <a:pPr>
              <a:lnSpc>
                <a:spcPct val="90000"/>
              </a:lnSpc>
              <a:buFontTx/>
              <a:buNone/>
            </a:pPr>
            <a:r>
              <a:rPr lang="en-US" altLang="en-US" sz="1800">
                <a:latin typeface="Times New Roman" panose="02020603050405020304" pitchFamily="18" charset="0"/>
              </a:rPr>
              <a:t>class Box</a:t>
            </a:r>
          </a:p>
          <a:p>
            <a:pPr>
              <a:lnSpc>
                <a:spcPct val="90000"/>
              </a:lnSpc>
              <a:buFontTx/>
              <a:buNone/>
            </a:pPr>
            <a:r>
              <a:rPr lang="en-US" altLang="en-US" sz="1800">
                <a:latin typeface="Times New Roman" panose="02020603050405020304" pitchFamily="18" charset="0"/>
              </a:rPr>
              <a:t>{</a:t>
            </a:r>
          </a:p>
          <a:p>
            <a:pPr>
              <a:lnSpc>
                <a:spcPct val="90000"/>
              </a:lnSpc>
              <a:buFontTx/>
              <a:buNone/>
            </a:pPr>
            <a:r>
              <a:rPr lang="en-US" altLang="en-US" sz="1800">
                <a:latin typeface="Times New Roman" panose="02020603050405020304" pitchFamily="18" charset="0"/>
              </a:rPr>
              <a:t>	double width;</a:t>
            </a:r>
          </a:p>
          <a:p>
            <a:pPr>
              <a:lnSpc>
                <a:spcPct val="90000"/>
              </a:lnSpc>
              <a:buFontTx/>
              <a:buNone/>
            </a:pPr>
            <a:r>
              <a:rPr lang="en-US" altLang="en-US" sz="1800">
                <a:latin typeface="Times New Roman" panose="02020603050405020304" pitchFamily="18" charset="0"/>
              </a:rPr>
              <a:t>	double height;</a:t>
            </a:r>
          </a:p>
          <a:p>
            <a:pPr>
              <a:lnSpc>
                <a:spcPct val="90000"/>
              </a:lnSpc>
              <a:buFontTx/>
              <a:buNone/>
            </a:pPr>
            <a:r>
              <a:rPr lang="en-US" altLang="en-US" sz="1800">
                <a:latin typeface="Times New Roman" panose="02020603050405020304" pitchFamily="18" charset="0"/>
              </a:rPr>
              <a:t>	double depth;</a:t>
            </a:r>
          </a:p>
          <a:p>
            <a:pPr>
              <a:lnSpc>
                <a:spcPct val="90000"/>
              </a:lnSpc>
              <a:buFontTx/>
              <a:buNone/>
            </a:pPr>
            <a:r>
              <a:rPr lang="en-US" altLang="en-US" sz="1800">
                <a:latin typeface="Times New Roman" panose="02020603050405020304" pitchFamily="18" charset="0"/>
              </a:rPr>
              <a:t>	Box (double w, double h, double d)</a:t>
            </a:r>
          </a:p>
          <a:p>
            <a:pPr>
              <a:lnSpc>
                <a:spcPct val="90000"/>
              </a:lnSpc>
              <a:buFontTx/>
              <a:buNone/>
            </a:pPr>
            <a:r>
              <a:rPr lang="en-US" altLang="en-US" sz="1800">
                <a:latin typeface="Times New Roman" panose="02020603050405020304" pitchFamily="18" charset="0"/>
              </a:rPr>
              <a:t>	{</a:t>
            </a:r>
          </a:p>
          <a:p>
            <a:pPr>
              <a:lnSpc>
                <a:spcPct val="90000"/>
              </a:lnSpc>
              <a:buFontTx/>
              <a:buNone/>
            </a:pPr>
            <a:r>
              <a:rPr lang="en-US" altLang="en-US" sz="1800">
                <a:latin typeface="Times New Roman" panose="02020603050405020304" pitchFamily="18" charset="0"/>
              </a:rPr>
              <a:t>		width=w;</a:t>
            </a:r>
          </a:p>
          <a:p>
            <a:pPr>
              <a:lnSpc>
                <a:spcPct val="90000"/>
              </a:lnSpc>
              <a:buFontTx/>
              <a:buNone/>
            </a:pPr>
            <a:r>
              <a:rPr lang="en-US" altLang="en-US" sz="1800">
                <a:latin typeface="Times New Roman" panose="02020603050405020304" pitchFamily="18" charset="0"/>
              </a:rPr>
              <a:t>		height=h;</a:t>
            </a:r>
          </a:p>
          <a:p>
            <a:pPr>
              <a:lnSpc>
                <a:spcPct val="90000"/>
              </a:lnSpc>
              <a:buFontTx/>
              <a:buNone/>
            </a:pPr>
            <a:r>
              <a:rPr lang="en-US" altLang="en-US" sz="1800">
                <a:latin typeface="Times New Roman" panose="02020603050405020304" pitchFamily="18" charset="0"/>
              </a:rPr>
              <a:t>		depth=d;	</a:t>
            </a:r>
          </a:p>
          <a:p>
            <a:pPr>
              <a:lnSpc>
                <a:spcPct val="90000"/>
              </a:lnSpc>
              <a:buFontTx/>
              <a:buNone/>
            </a:pPr>
            <a:r>
              <a:rPr lang="en-US" altLang="en-US" sz="1800">
                <a:latin typeface="Times New Roman" panose="02020603050405020304" pitchFamily="18" charset="0"/>
              </a:rPr>
              <a:t>	}</a:t>
            </a:r>
          </a:p>
          <a:p>
            <a:pPr>
              <a:lnSpc>
                <a:spcPct val="90000"/>
              </a:lnSpc>
              <a:buFontTx/>
              <a:buNone/>
            </a:pPr>
            <a:r>
              <a:rPr lang="en-US" altLang="en-US" sz="1800">
                <a:latin typeface="Times New Roman" panose="02020603050405020304" pitchFamily="18" charset="0"/>
              </a:rPr>
              <a:t>	double volume()</a:t>
            </a:r>
          </a:p>
          <a:p>
            <a:pPr>
              <a:lnSpc>
                <a:spcPct val="90000"/>
              </a:lnSpc>
              <a:buFontTx/>
              <a:buNone/>
            </a:pPr>
            <a:r>
              <a:rPr lang="en-US" altLang="en-US" sz="1800">
                <a:latin typeface="Times New Roman" panose="02020603050405020304" pitchFamily="18" charset="0"/>
              </a:rPr>
              <a:t>	{</a:t>
            </a:r>
          </a:p>
          <a:p>
            <a:pPr>
              <a:lnSpc>
                <a:spcPct val="90000"/>
              </a:lnSpc>
              <a:buFontTx/>
              <a:buNone/>
            </a:pPr>
            <a:r>
              <a:rPr lang="en-US" altLang="en-US" sz="1800">
                <a:latin typeface="Times New Roman" panose="02020603050405020304" pitchFamily="18" charset="0"/>
              </a:rPr>
              <a:t>		return width * height * depth;</a:t>
            </a:r>
          </a:p>
          <a:p>
            <a:pPr>
              <a:lnSpc>
                <a:spcPct val="90000"/>
              </a:lnSpc>
              <a:buFontTx/>
              <a:buNone/>
            </a:pPr>
            <a:r>
              <a:rPr lang="en-US" altLang="en-US" sz="1800">
                <a:latin typeface="Times New Roman" panose="02020603050405020304" pitchFamily="18" charset="0"/>
              </a:rPr>
              <a:t>	}</a:t>
            </a:r>
          </a:p>
          <a:p>
            <a:pPr>
              <a:lnSpc>
                <a:spcPct val="90000"/>
              </a:lnSpc>
              <a:buFontTx/>
              <a:buNone/>
            </a:pPr>
            <a:r>
              <a:rPr lang="en-US" altLang="en-US" sz="1800">
                <a:latin typeface="Times New Roman" panose="02020603050405020304" pitchFamily="18" charset="0"/>
              </a:rPr>
              <a:t>}</a:t>
            </a:r>
          </a:p>
        </p:txBody>
      </p:sp>
      <p:sp>
        <p:nvSpPr>
          <p:cNvPr id="8196" name="Rectangle 4"/>
          <p:cNvSpPr>
            <a:spLocks noGrp="1" noChangeArrowheads="1"/>
          </p:cNvSpPr>
          <p:nvPr>
            <p:ph type="body" sz="half" idx="2"/>
          </p:nvPr>
        </p:nvSpPr>
        <p:spPr>
          <a:xfrm>
            <a:off x="4343400" y="1371600"/>
            <a:ext cx="4800600" cy="4876800"/>
          </a:xfrm>
        </p:spPr>
        <p:txBody>
          <a:bodyPr/>
          <a:lstStyle/>
          <a:p>
            <a:pPr>
              <a:lnSpc>
                <a:spcPct val="90000"/>
              </a:lnSpc>
              <a:buFontTx/>
              <a:buNone/>
            </a:pPr>
            <a:r>
              <a:rPr lang="en-US" altLang="en-US" sz="1800" dirty="0">
                <a:latin typeface="Times New Roman" panose="02020603050405020304" pitchFamily="18" charset="0"/>
              </a:rPr>
              <a:t>class </a:t>
            </a:r>
            <a:r>
              <a:rPr lang="en-US" altLang="en-US" sz="1800" dirty="0" err="1">
                <a:latin typeface="Times New Roman" panose="02020603050405020304" pitchFamily="18" charset="0"/>
              </a:rPr>
              <a:t>BoxDemo</a:t>
            </a:r>
            <a:endParaRPr lang="en-US" altLang="en-US" sz="1800" dirty="0">
              <a:latin typeface="Times New Roman" panose="02020603050405020304" pitchFamily="18" charset="0"/>
            </a:endParaRPr>
          </a:p>
          <a:p>
            <a:pPr>
              <a:lnSpc>
                <a:spcPct val="90000"/>
              </a:lnSpc>
              <a:buFontTx/>
              <a:buNone/>
            </a:pPr>
            <a:r>
              <a:rPr lang="en-US" altLang="en-US" sz="1800" dirty="0">
                <a:latin typeface="Times New Roman" panose="02020603050405020304" pitchFamily="18" charset="0"/>
              </a:rPr>
              <a:t>{</a:t>
            </a:r>
          </a:p>
          <a:p>
            <a:pPr>
              <a:lnSpc>
                <a:spcPct val="90000"/>
              </a:lnSpc>
              <a:buFontTx/>
              <a:buNone/>
            </a:pPr>
            <a:r>
              <a:rPr lang="en-US" altLang="en-US" sz="1800" dirty="0">
                <a:latin typeface="Times New Roman" panose="02020603050405020304" pitchFamily="18" charset="0"/>
              </a:rPr>
              <a:t>	public static void main( String </a:t>
            </a:r>
            <a:r>
              <a:rPr lang="en-US" altLang="en-US" sz="1800" dirty="0" err="1">
                <a:latin typeface="Times New Roman" panose="02020603050405020304" pitchFamily="18" charset="0"/>
              </a:rPr>
              <a:t>args</a:t>
            </a:r>
            <a:r>
              <a:rPr lang="en-US" altLang="en-US" sz="1800" dirty="0">
                <a:latin typeface="Times New Roman" panose="02020603050405020304" pitchFamily="18" charset="0"/>
              </a:rPr>
              <a:t>[])</a:t>
            </a:r>
          </a:p>
          <a:p>
            <a:pPr>
              <a:lnSpc>
                <a:spcPct val="90000"/>
              </a:lnSpc>
              <a:buFontTx/>
              <a:buNone/>
            </a:pPr>
            <a:r>
              <a:rPr lang="en-US" altLang="en-US" sz="1800" dirty="0">
                <a:latin typeface="Times New Roman" panose="02020603050405020304" pitchFamily="18" charset="0"/>
              </a:rPr>
              <a:t>	{</a:t>
            </a:r>
          </a:p>
          <a:p>
            <a:pPr>
              <a:lnSpc>
                <a:spcPct val="90000"/>
              </a:lnSpc>
              <a:buFontTx/>
              <a:buNone/>
            </a:pPr>
            <a:r>
              <a:rPr lang="en-US" altLang="en-US" sz="1800" dirty="0">
                <a:latin typeface="Times New Roman" panose="02020603050405020304" pitchFamily="18" charset="0"/>
              </a:rPr>
              <a:t>		Box mybox1 = new Box (10,20,15);</a:t>
            </a:r>
          </a:p>
          <a:p>
            <a:pPr>
              <a:lnSpc>
                <a:spcPct val="90000"/>
              </a:lnSpc>
              <a:buFontTx/>
              <a:buNone/>
            </a:pPr>
            <a:r>
              <a:rPr lang="en-US" altLang="en-US" sz="1800" dirty="0">
                <a:latin typeface="Times New Roman" panose="02020603050405020304" pitchFamily="18" charset="0"/>
              </a:rPr>
              <a:t>		Box mybox2 = new Box (3,6,9);</a:t>
            </a:r>
          </a:p>
          <a:p>
            <a:pPr>
              <a:lnSpc>
                <a:spcPct val="90000"/>
              </a:lnSpc>
              <a:buFontTx/>
              <a:buNone/>
            </a:pPr>
            <a:endParaRPr lang="en-US" altLang="en-US" sz="1800" dirty="0">
              <a:latin typeface="Times New Roman" panose="02020603050405020304" pitchFamily="18" charset="0"/>
            </a:endParaRPr>
          </a:p>
          <a:p>
            <a:pPr>
              <a:lnSpc>
                <a:spcPct val="90000"/>
              </a:lnSpc>
              <a:buFontTx/>
              <a:buNone/>
            </a:pPr>
            <a:r>
              <a:rPr lang="en-US" altLang="en-US" sz="1800" dirty="0">
                <a:latin typeface="Times New Roman" panose="02020603050405020304" pitchFamily="18" charset="0"/>
              </a:rPr>
              <a:t>		double vol;</a:t>
            </a:r>
          </a:p>
          <a:p>
            <a:pPr>
              <a:lnSpc>
                <a:spcPct val="90000"/>
              </a:lnSpc>
              <a:buFontTx/>
              <a:buNone/>
            </a:pPr>
            <a:r>
              <a:rPr lang="en-US" altLang="en-US" sz="1800" dirty="0">
                <a:latin typeface="Times New Roman" panose="02020603050405020304" pitchFamily="18" charset="0"/>
              </a:rPr>
              <a:t>		vol = mybox1.volume();</a:t>
            </a:r>
          </a:p>
          <a:p>
            <a:pPr>
              <a:lnSpc>
                <a:spcPct val="9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System.out.println</a:t>
            </a:r>
            <a:r>
              <a:rPr lang="en-US" altLang="en-US" sz="1800" dirty="0">
                <a:latin typeface="Times New Roman" panose="02020603050405020304" pitchFamily="18" charset="0"/>
              </a:rPr>
              <a:t>(vol);</a:t>
            </a:r>
          </a:p>
          <a:p>
            <a:pPr>
              <a:lnSpc>
                <a:spcPct val="90000"/>
              </a:lnSpc>
              <a:buFontTx/>
              <a:buNone/>
            </a:pPr>
            <a:endParaRPr lang="en-US" altLang="en-US" sz="1800" dirty="0">
              <a:latin typeface="Times New Roman" panose="02020603050405020304" pitchFamily="18" charset="0"/>
            </a:endParaRPr>
          </a:p>
          <a:p>
            <a:pPr>
              <a:lnSpc>
                <a:spcPct val="90000"/>
              </a:lnSpc>
              <a:buFontTx/>
              <a:buNone/>
            </a:pPr>
            <a:r>
              <a:rPr lang="en-US" altLang="en-US" sz="1800" dirty="0">
                <a:latin typeface="Times New Roman" panose="02020603050405020304" pitchFamily="18" charset="0"/>
              </a:rPr>
              <a:t>		vol = mybox2.volume();</a:t>
            </a:r>
          </a:p>
          <a:p>
            <a:pPr>
              <a:lnSpc>
                <a:spcPct val="9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System.out.println</a:t>
            </a:r>
            <a:r>
              <a:rPr lang="en-US" altLang="en-US" sz="1800" dirty="0">
                <a:latin typeface="Times New Roman" panose="02020603050405020304" pitchFamily="18" charset="0"/>
              </a:rPr>
              <a:t>(vol);</a:t>
            </a:r>
          </a:p>
          <a:p>
            <a:pPr>
              <a:lnSpc>
                <a:spcPct val="90000"/>
              </a:lnSpc>
              <a:buFontTx/>
              <a:buNone/>
            </a:pPr>
            <a:r>
              <a:rPr lang="en-US" altLang="en-US" sz="1800" dirty="0">
                <a:latin typeface="Times New Roman" panose="02020603050405020304" pitchFamily="18" charset="0"/>
              </a:rPr>
              <a:t>	}</a:t>
            </a:r>
          </a:p>
          <a:p>
            <a:pPr>
              <a:lnSpc>
                <a:spcPct val="90000"/>
              </a:lnSpc>
              <a:buFontTx/>
              <a:buNone/>
            </a:pPr>
            <a:r>
              <a:rPr lang="en-US" altLang="en-US" sz="1800" dirty="0">
                <a:latin typeface="Times New Roman" panose="02020603050405020304" pitchFamily="18" charset="0"/>
              </a:rPr>
              <a:t>}</a:t>
            </a:r>
          </a:p>
        </p:txBody>
      </p:sp>
      <p:sp>
        <p:nvSpPr>
          <p:cNvPr id="2" name="Date Placeholder 1"/>
          <p:cNvSpPr>
            <a:spLocks noGrp="1"/>
          </p:cNvSpPr>
          <p:nvPr>
            <p:ph type="dt" sz="half" idx="10"/>
          </p:nvPr>
        </p:nvSpPr>
        <p:spPr/>
        <p:txBody>
          <a:bodyPr/>
          <a:lstStyle/>
          <a:p>
            <a:fld id="{F8E553F8-6012-4962-AEA9-730A5734B210}"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537DE4E2-1CA0-4C5B-A02F-FEFF3DD9C080}" type="slidenum">
              <a:rPr lang="en-US" altLang="en-US" smtClean="0"/>
              <a:pPr/>
              <a:t>13</a:t>
            </a:fld>
            <a:endParaRPr lang="en-US" altLang="en-US"/>
          </a:p>
        </p:txBody>
      </p:sp>
    </p:spTree>
    <p:extLst>
      <p:ext uri="{BB962C8B-B14F-4D97-AF65-F5344CB8AC3E}">
        <p14:creationId xmlns:p14="http://schemas.microsoft.com/office/powerpoint/2010/main" val="39233548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p:txBody>
          <a:bodyPr/>
          <a:lstStyle/>
          <a:p>
            <a:r>
              <a:rPr lang="en-US" altLang="en-US" b="1">
                <a:latin typeface="Times New Roman" panose="02020603050405020304" pitchFamily="18" charset="0"/>
              </a:rPr>
              <a:t>Constructors</a:t>
            </a:r>
          </a:p>
        </p:txBody>
      </p:sp>
      <p:sp>
        <p:nvSpPr>
          <p:cNvPr id="12291" name="Rectangle 3"/>
          <p:cNvSpPr>
            <a:spLocks noGrp="1" noChangeArrowheads="1"/>
          </p:cNvSpPr>
          <p:nvPr>
            <p:ph type="body" idx="1"/>
          </p:nvPr>
        </p:nvSpPr>
        <p:spPr/>
        <p:txBody>
          <a:bodyPr/>
          <a:lstStyle/>
          <a:p>
            <a:endParaRPr lang="en-US" altLang="en-US"/>
          </a:p>
          <a:p>
            <a:endParaRPr lang="en-US" altLang="en-US"/>
          </a:p>
          <a:p>
            <a:endParaRPr lang="en-US" altLang="en-US"/>
          </a:p>
          <a:p>
            <a:endParaRPr lang="en-US" altLang="en-US"/>
          </a:p>
          <a:p>
            <a:pPr lvl="4">
              <a:buFontTx/>
              <a:buNone/>
            </a:pPr>
            <a:r>
              <a:rPr lang="en-US" altLang="en-US">
                <a:latin typeface="Lucida Console" panose="020B0609040504020204" pitchFamily="49" charset="0"/>
              </a:rPr>
              <a:t>		Car() {</a:t>
            </a:r>
          </a:p>
          <a:p>
            <a:pPr lvl="4">
              <a:buFontTx/>
              <a:buNone/>
            </a:pPr>
            <a:r>
              <a:rPr lang="en-US" altLang="en-US">
                <a:latin typeface="Lucida Console" panose="020B0609040504020204" pitchFamily="49" charset="0"/>
              </a:rPr>
              <a:t>			fuel = 1000;</a:t>
            </a:r>
          </a:p>
          <a:p>
            <a:pPr lvl="4">
              <a:buFontTx/>
              <a:buNone/>
            </a:pPr>
            <a:r>
              <a:rPr lang="en-US" altLang="en-US">
                <a:latin typeface="Lucida Console" panose="020B0609040504020204" pitchFamily="49" charset="0"/>
              </a:rPr>
              <a:t>			color = Color.BLUE;</a:t>
            </a:r>
          </a:p>
          <a:p>
            <a:pPr lvl="4">
              <a:buFontTx/>
              <a:buNone/>
            </a:pPr>
            <a:r>
              <a:rPr lang="en-US" altLang="en-US">
                <a:latin typeface="Lucida Console" panose="020B0609040504020204" pitchFamily="49" charset="0"/>
              </a:rPr>
              <a:t>		}</a:t>
            </a:r>
          </a:p>
          <a:p>
            <a:endParaRPr lang="en-US" altLang="en-US">
              <a:latin typeface="Lucida Console" panose="020B0609040504020204" pitchFamily="49" charset="0"/>
            </a:endParaRPr>
          </a:p>
        </p:txBody>
      </p:sp>
      <p:sp>
        <p:nvSpPr>
          <p:cNvPr id="12292" name="Line 4"/>
          <p:cNvSpPr>
            <a:spLocks noChangeShapeType="1"/>
          </p:cNvSpPr>
          <p:nvPr/>
        </p:nvSpPr>
        <p:spPr bwMode="auto">
          <a:xfrm>
            <a:off x="3200400" y="2895600"/>
            <a:ext cx="0" cy="1066800"/>
          </a:xfrm>
          <a:prstGeom prst="line">
            <a:avLst/>
          </a:prstGeom>
          <a:noFill/>
          <a:ln w="25400">
            <a:solidFill>
              <a:srgbClr val="0066CC"/>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3" name="Line 5"/>
          <p:cNvSpPr>
            <a:spLocks noChangeShapeType="1"/>
          </p:cNvSpPr>
          <p:nvPr/>
        </p:nvSpPr>
        <p:spPr bwMode="auto">
          <a:xfrm flipH="1">
            <a:off x="3733800" y="3200400"/>
            <a:ext cx="914400" cy="685800"/>
          </a:xfrm>
          <a:prstGeom prst="line">
            <a:avLst/>
          </a:prstGeom>
          <a:noFill/>
          <a:ln w="25400">
            <a:solidFill>
              <a:srgbClr val="0066CC"/>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4" name="Text Box 6"/>
          <p:cNvSpPr txBox="1">
            <a:spLocks noChangeArrowheads="1"/>
          </p:cNvSpPr>
          <p:nvPr/>
        </p:nvSpPr>
        <p:spPr bwMode="auto">
          <a:xfrm>
            <a:off x="2133600" y="2514600"/>
            <a:ext cx="2162175" cy="366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FFFF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8000"/>
                </a:solidFill>
                <a:latin typeface="Verdana" panose="020B0604030504040204" pitchFamily="34" charset="0"/>
              </a:rPr>
              <a:t>No return type!</a:t>
            </a:r>
          </a:p>
        </p:txBody>
      </p:sp>
      <p:sp>
        <p:nvSpPr>
          <p:cNvPr id="12295" name="Text Box 7"/>
          <p:cNvSpPr txBox="1">
            <a:spLocks noChangeArrowheads="1"/>
          </p:cNvSpPr>
          <p:nvPr/>
        </p:nvSpPr>
        <p:spPr bwMode="auto">
          <a:xfrm>
            <a:off x="4572000" y="2971800"/>
            <a:ext cx="1971675"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FFFF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8000"/>
                </a:solidFill>
                <a:latin typeface="Verdana" panose="020B0604030504040204" pitchFamily="34" charset="0"/>
              </a:rPr>
              <a:t>EXACT same </a:t>
            </a:r>
            <a:br>
              <a:rPr lang="en-US" altLang="en-US" b="1">
                <a:solidFill>
                  <a:srgbClr val="008000"/>
                </a:solidFill>
                <a:latin typeface="Verdana" panose="020B0604030504040204" pitchFamily="34" charset="0"/>
              </a:rPr>
            </a:br>
            <a:r>
              <a:rPr lang="en-US" altLang="en-US" b="1">
                <a:solidFill>
                  <a:srgbClr val="008000"/>
                </a:solidFill>
                <a:latin typeface="Verdana" panose="020B0604030504040204" pitchFamily="34" charset="0"/>
              </a:rPr>
              <a:t>name as class</a:t>
            </a:r>
          </a:p>
        </p:txBody>
      </p:sp>
      <p:sp>
        <p:nvSpPr>
          <p:cNvPr id="2" name="Date Placeholder 1"/>
          <p:cNvSpPr>
            <a:spLocks noGrp="1"/>
          </p:cNvSpPr>
          <p:nvPr>
            <p:ph type="dt" sz="half" idx="10"/>
          </p:nvPr>
        </p:nvSpPr>
        <p:spPr/>
        <p:txBody>
          <a:bodyPr/>
          <a:lstStyle/>
          <a:p>
            <a:fld id="{B9B427B7-77E2-47BD-9AE6-87E8D5EC1480}"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14</a:t>
            </a:fld>
            <a:endParaRPr lang="en-US" altLang="en-US"/>
          </a:p>
        </p:txBody>
      </p:sp>
    </p:spTree>
    <p:extLst>
      <p:ext uri="{BB962C8B-B14F-4D97-AF65-F5344CB8AC3E}">
        <p14:creationId xmlns:p14="http://schemas.microsoft.com/office/powerpoint/2010/main" val="89943201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29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292"/>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29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2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2" grpId="0" animBg="1"/>
      <p:bldP spid="12293" grpId="0" animBg="1"/>
      <p:bldP spid="12294" grpId="0"/>
      <p:bldP spid="1229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152400"/>
            <a:ext cx="8229600" cy="1143000"/>
          </a:xfrm>
        </p:spPr>
        <p:txBody>
          <a:bodyPr/>
          <a:lstStyle/>
          <a:p>
            <a:r>
              <a:rPr lang="en-US" altLang="en-US" sz="4000" b="1">
                <a:latin typeface="Times New Roman" panose="02020603050405020304" pitchFamily="18" charset="0"/>
              </a:rPr>
              <a:t>Our Car class so far</a:t>
            </a:r>
          </a:p>
        </p:txBody>
      </p:sp>
      <p:sp>
        <p:nvSpPr>
          <p:cNvPr id="13315" name="Rectangle 3"/>
          <p:cNvSpPr>
            <a:spLocks noGrp="1" noChangeArrowheads="1"/>
          </p:cNvSpPr>
          <p:nvPr>
            <p:ph type="body" idx="1"/>
          </p:nvPr>
        </p:nvSpPr>
        <p:spPr>
          <a:xfrm>
            <a:off x="304800" y="1600200"/>
            <a:ext cx="4191000" cy="5105400"/>
          </a:xfrm>
        </p:spPr>
        <p:txBody>
          <a:bodyPr/>
          <a:lstStyle/>
          <a:p>
            <a:pPr>
              <a:buFontTx/>
              <a:buNone/>
            </a:pPr>
            <a:r>
              <a:rPr lang="en-US" altLang="en-US" sz="2000">
                <a:latin typeface="Times New Roman" panose="02020603050405020304" pitchFamily="18" charset="0"/>
              </a:rPr>
              <a:t>class Car {</a:t>
            </a:r>
          </a:p>
          <a:p>
            <a:pPr>
              <a:buFontTx/>
              <a:buNone/>
            </a:pPr>
            <a:r>
              <a:rPr lang="en-US" altLang="en-US" sz="2000">
                <a:latin typeface="Times New Roman" panose="02020603050405020304" pitchFamily="18" charset="0"/>
              </a:rPr>
              <a:t>    private Color color;</a:t>
            </a:r>
          </a:p>
          <a:p>
            <a:pPr>
              <a:buFontTx/>
              <a:buNone/>
            </a:pPr>
            <a:r>
              <a:rPr lang="en-US" altLang="en-US" sz="2000">
                <a:latin typeface="Times New Roman" panose="02020603050405020304" pitchFamily="18" charset="0"/>
              </a:rPr>
              <a:t>    private int xpos;</a:t>
            </a:r>
          </a:p>
          <a:p>
            <a:pPr>
              <a:buFontTx/>
              <a:buNone/>
            </a:pPr>
            <a:r>
              <a:rPr lang="en-US" altLang="en-US" sz="2000">
                <a:latin typeface="Times New Roman" panose="02020603050405020304" pitchFamily="18" charset="0"/>
              </a:rPr>
              <a:t>    private int ypos;</a:t>
            </a:r>
          </a:p>
          <a:p>
            <a:pPr>
              <a:buFontTx/>
              <a:buNone/>
            </a:pPr>
            <a:r>
              <a:rPr lang="en-US" altLang="en-US" sz="2000">
                <a:latin typeface="Times New Roman" panose="02020603050405020304" pitchFamily="18" charset="0"/>
              </a:rPr>
              <a:t>    private int fuel;</a:t>
            </a:r>
          </a:p>
          <a:p>
            <a:pPr>
              <a:buFontTx/>
              <a:buNone/>
            </a:pPr>
            <a:endParaRPr lang="en-US" altLang="en-US" sz="2000">
              <a:latin typeface="Times New Roman" panose="02020603050405020304" pitchFamily="18" charset="0"/>
            </a:endParaRPr>
          </a:p>
          <a:p>
            <a:pPr lvl="1">
              <a:buFontTx/>
              <a:buNone/>
            </a:pPr>
            <a:r>
              <a:rPr lang="en-US" altLang="en-US" sz="2000">
                <a:latin typeface="Times New Roman" panose="02020603050405020304" pitchFamily="18" charset="0"/>
              </a:rPr>
              <a:t>Car() {</a:t>
            </a:r>
          </a:p>
          <a:p>
            <a:pPr lvl="1">
              <a:buFontTx/>
              <a:buNone/>
            </a:pPr>
            <a:r>
              <a:rPr lang="en-US" altLang="en-US" sz="2000">
                <a:latin typeface="Times New Roman" panose="02020603050405020304" pitchFamily="18" charset="0"/>
              </a:rPr>
              <a:t> 	 fuel = 1000;</a:t>
            </a:r>
          </a:p>
          <a:p>
            <a:pPr lvl="1">
              <a:buFontTx/>
              <a:buNone/>
            </a:pPr>
            <a:r>
              <a:rPr lang="en-US" altLang="en-US" sz="2000">
                <a:latin typeface="Times New Roman" panose="02020603050405020304" pitchFamily="18" charset="0"/>
              </a:rPr>
              <a:t>	 color = Color.BLUE;</a:t>
            </a:r>
          </a:p>
          <a:p>
            <a:pPr lvl="1">
              <a:buFontTx/>
              <a:buNone/>
            </a:pPr>
            <a:r>
              <a:rPr lang="en-US" altLang="en-US" sz="2000">
                <a:latin typeface="Times New Roman" panose="02020603050405020304" pitchFamily="18" charset="0"/>
              </a:rPr>
              <a:t> }</a:t>
            </a:r>
          </a:p>
          <a:p>
            <a:pPr>
              <a:buFontTx/>
              <a:buNone/>
            </a:pPr>
            <a:r>
              <a:rPr lang="en-US" altLang="en-US" sz="2000">
                <a:latin typeface="Times New Roman" panose="02020603050405020304" pitchFamily="18" charset="0"/>
              </a:rPr>
              <a:t>}</a:t>
            </a:r>
          </a:p>
          <a:p>
            <a:endParaRPr lang="en-US" altLang="en-US" sz="2000">
              <a:latin typeface="Times New Roman" panose="02020603050405020304" pitchFamily="18" charset="0"/>
            </a:endParaRPr>
          </a:p>
        </p:txBody>
      </p:sp>
      <p:sp>
        <p:nvSpPr>
          <p:cNvPr id="13316" name="Rectangle 4"/>
          <p:cNvSpPr>
            <a:spLocks noChangeArrowheads="1"/>
          </p:cNvSpPr>
          <p:nvPr/>
        </p:nvSpPr>
        <p:spPr bwMode="auto">
          <a:xfrm>
            <a:off x="4495800" y="1600200"/>
            <a:ext cx="44958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latin typeface="Times New Roman" panose="02020603050405020304" pitchFamily="18" charset="0"/>
              </a:rPr>
              <a:t>class Car {</a:t>
            </a:r>
          </a:p>
          <a:p>
            <a:pPr eaLnBrk="1" hangingPunct="1">
              <a:buFontTx/>
              <a:buNone/>
            </a:pPr>
            <a:r>
              <a:rPr lang="en-US" altLang="en-US" sz="2400">
                <a:latin typeface="Times New Roman" panose="02020603050405020304" pitchFamily="18" charset="0"/>
              </a:rPr>
              <a:t>    private Color color</a:t>
            </a:r>
            <a:r>
              <a:rPr lang="en-US" altLang="en-US" sz="2400">
                <a:solidFill>
                  <a:srgbClr val="FFFF00"/>
                </a:solidFill>
                <a:latin typeface="Times New Roman" panose="02020603050405020304" pitchFamily="18" charset="0"/>
              </a:rPr>
              <a:t> </a:t>
            </a:r>
            <a:r>
              <a:rPr lang="en-US" altLang="en-US" sz="2400">
                <a:solidFill>
                  <a:srgbClr val="008000"/>
                </a:solidFill>
                <a:latin typeface="Times New Roman" panose="02020603050405020304" pitchFamily="18" charset="0"/>
              </a:rPr>
              <a:t>= </a:t>
            </a:r>
          </a:p>
          <a:p>
            <a:pPr eaLnBrk="1" hangingPunct="1">
              <a:buFontTx/>
              <a:buNone/>
            </a:pPr>
            <a:r>
              <a:rPr lang="en-US" altLang="en-US" sz="2400">
                <a:solidFill>
                  <a:srgbClr val="008000"/>
                </a:solidFill>
                <a:latin typeface="Times New Roman" panose="02020603050405020304" pitchFamily="18" charset="0"/>
              </a:rPr>
              <a:t>			Color.BLUE</a:t>
            </a:r>
            <a:r>
              <a:rPr lang="en-US" altLang="en-US" sz="2400">
                <a:latin typeface="Times New Roman" panose="02020603050405020304" pitchFamily="18" charset="0"/>
              </a:rPr>
              <a:t>;</a:t>
            </a:r>
          </a:p>
          <a:p>
            <a:pPr eaLnBrk="1" hangingPunct="1">
              <a:buFontTx/>
              <a:buNone/>
            </a:pPr>
            <a:r>
              <a:rPr lang="en-US" altLang="en-US" sz="2400">
                <a:latin typeface="Times New Roman" panose="02020603050405020304" pitchFamily="18" charset="0"/>
              </a:rPr>
              <a:t>    private int xpos;</a:t>
            </a:r>
          </a:p>
          <a:p>
            <a:pPr eaLnBrk="1" hangingPunct="1">
              <a:buFontTx/>
              <a:buNone/>
            </a:pPr>
            <a:r>
              <a:rPr lang="en-US" altLang="en-US" sz="2400">
                <a:latin typeface="Times New Roman" panose="02020603050405020304" pitchFamily="18" charset="0"/>
              </a:rPr>
              <a:t>    private int ypos;</a:t>
            </a:r>
          </a:p>
          <a:p>
            <a:pPr eaLnBrk="1" hangingPunct="1">
              <a:buFontTx/>
              <a:buNone/>
            </a:pPr>
            <a:r>
              <a:rPr lang="en-US" altLang="en-US" sz="2400">
                <a:latin typeface="Times New Roman" panose="02020603050405020304" pitchFamily="18" charset="0"/>
              </a:rPr>
              <a:t>    private int fuel</a:t>
            </a:r>
            <a:r>
              <a:rPr lang="en-US" altLang="en-US" sz="2400">
                <a:solidFill>
                  <a:srgbClr val="FFFF00"/>
                </a:solidFill>
                <a:latin typeface="Times New Roman" panose="02020603050405020304" pitchFamily="18" charset="0"/>
              </a:rPr>
              <a:t> </a:t>
            </a:r>
            <a:r>
              <a:rPr lang="en-US" altLang="en-US" sz="2400">
                <a:solidFill>
                  <a:srgbClr val="008000"/>
                </a:solidFill>
                <a:latin typeface="Times New Roman" panose="02020603050405020304" pitchFamily="18" charset="0"/>
              </a:rPr>
              <a:t>= 1000</a:t>
            </a:r>
            <a:r>
              <a:rPr lang="en-US" altLang="en-US" sz="2400">
                <a:latin typeface="Times New Roman" panose="02020603050405020304" pitchFamily="18" charset="0"/>
              </a:rPr>
              <a:t>;</a:t>
            </a:r>
          </a:p>
          <a:p>
            <a:pPr eaLnBrk="1" hangingPunct="1">
              <a:buFontTx/>
              <a:buNone/>
            </a:pPr>
            <a:endParaRPr lang="en-US" altLang="en-US" sz="2400">
              <a:latin typeface="Times New Roman" panose="02020603050405020304" pitchFamily="18" charset="0"/>
            </a:endParaRPr>
          </a:p>
          <a:p>
            <a:pPr lvl="1" eaLnBrk="1" hangingPunct="1">
              <a:buFontTx/>
              <a:buNone/>
            </a:pPr>
            <a:r>
              <a:rPr lang="en-US" altLang="en-US" sz="2400">
                <a:solidFill>
                  <a:srgbClr val="008000"/>
                </a:solidFill>
                <a:latin typeface="Times New Roman" panose="02020603050405020304" pitchFamily="18" charset="0"/>
              </a:rPr>
              <a:t> Car() {</a:t>
            </a:r>
          </a:p>
          <a:p>
            <a:pPr lvl="1" eaLnBrk="1" hangingPunct="1">
              <a:buFontTx/>
              <a:buNone/>
            </a:pPr>
            <a:r>
              <a:rPr lang="en-US" altLang="en-US" sz="2400">
                <a:solidFill>
                  <a:srgbClr val="008000"/>
                </a:solidFill>
                <a:latin typeface="Times New Roman" panose="02020603050405020304" pitchFamily="18" charset="0"/>
              </a:rPr>
              <a:t> }</a:t>
            </a:r>
          </a:p>
          <a:p>
            <a:pPr eaLnBrk="1" hangingPunct="1">
              <a:buFontTx/>
              <a:buNone/>
            </a:pPr>
            <a:r>
              <a:rPr lang="en-US" altLang="en-US" sz="2400">
                <a:latin typeface="Times New Roman" panose="02020603050405020304" pitchFamily="18" charset="0"/>
              </a:rPr>
              <a:t>}</a:t>
            </a:r>
          </a:p>
          <a:p>
            <a:pPr eaLnBrk="1" hangingPunct="1"/>
            <a:endParaRPr lang="en-US" altLang="en-US" sz="2400">
              <a:latin typeface="Times New Roman" panose="02020603050405020304" pitchFamily="18" charset="0"/>
            </a:endParaRPr>
          </a:p>
        </p:txBody>
      </p:sp>
      <p:sp>
        <p:nvSpPr>
          <p:cNvPr id="13317" name="Line 5"/>
          <p:cNvSpPr>
            <a:spLocks noChangeShapeType="1"/>
          </p:cNvSpPr>
          <p:nvPr/>
        </p:nvSpPr>
        <p:spPr bwMode="auto">
          <a:xfrm>
            <a:off x="4419600" y="1447800"/>
            <a:ext cx="0" cy="5410200"/>
          </a:xfrm>
          <a:prstGeom prst="line">
            <a:avLst/>
          </a:prstGeom>
          <a:noFill/>
          <a:ln w="50800">
            <a:solidFill>
              <a:schemeClr val="accent2"/>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Date Placeholder 1"/>
          <p:cNvSpPr>
            <a:spLocks noGrp="1"/>
          </p:cNvSpPr>
          <p:nvPr>
            <p:ph type="dt" sz="half" idx="10"/>
          </p:nvPr>
        </p:nvSpPr>
        <p:spPr/>
        <p:txBody>
          <a:bodyPr/>
          <a:lstStyle/>
          <a:p>
            <a:fld id="{C6B3EB63-C5C7-4E87-BD77-6CE6E4DE80AE}"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15</a:t>
            </a:fld>
            <a:endParaRPr lang="en-US" altLang="en-US"/>
          </a:p>
        </p:txBody>
      </p:sp>
    </p:spTree>
    <p:extLst>
      <p:ext uri="{BB962C8B-B14F-4D97-AF65-F5344CB8AC3E}">
        <p14:creationId xmlns:p14="http://schemas.microsoft.com/office/powerpoint/2010/main" val="25978296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31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315">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315">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315">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315">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315">
                                            <p:txEl>
                                              <p:pRg st="6" end="6"/>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3315">
                                            <p:txEl>
                                              <p:pRg st="7" end="7"/>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315">
                                            <p:txEl>
                                              <p:pRg st="8" end="8"/>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315">
                                            <p:txEl>
                                              <p:pRg st="9" end="9"/>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315">
                                            <p:txEl>
                                              <p:pRg st="10" end="10"/>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3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5" grpId="0" build="p"/>
      <p:bldP spid="13316"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152400"/>
            <a:ext cx="8229600" cy="1143000"/>
          </a:xfrm>
        </p:spPr>
        <p:txBody>
          <a:bodyPr/>
          <a:lstStyle/>
          <a:p>
            <a:r>
              <a:rPr lang="en-US" altLang="en-US" sz="4000" b="1">
                <a:latin typeface="Times New Roman" panose="02020603050405020304" pitchFamily="18" charset="0"/>
              </a:rPr>
              <a:t>Our Car class so far</a:t>
            </a:r>
          </a:p>
        </p:txBody>
      </p:sp>
      <p:sp>
        <p:nvSpPr>
          <p:cNvPr id="14339" name="Rectangle 3"/>
          <p:cNvSpPr>
            <a:spLocks noGrp="1" noChangeArrowheads="1"/>
          </p:cNvSpPr>
          <p:nvPr>
            <p:ph type="body" idx="1"/>
          </p:nvPr>
        </p:nvSpPr>
        <p:spPr>
          <a:xfrm>
            <a:off x="304800" y="1066800"/>
            <a:ext cx="8534400" cy="5638800"/>
          </a:xfrm>
        </p:spPr>
        <p:txBody>
          <a:bodyPr/>
          <a:lstStyle/>
          <a:p>
            <a:pPr>
              <a:lnSpc>
                <a:spcPct val="90000"/>
              </a:lnSpc>
              <a:buFontTx/>
              <a:buNone/>
            </a:pPr>
            <a:r>
              <a:rPr lang="en-US" altLang="en-US" sz="1800">
                <a:latin typeface="Times New Roman" panose="02020603050405020304" pitchFamily="18" charset="0"/>
              </a:rPr>
              <a:t>class Car {</a:t>
            </a:r>
          </a:p>
          <a:p>
            <a:pPr>
              <a:lnSpc>
                <a:spcPct val="90000"/>
              </a:lnSpc>
              <a:buFontTx/>
              <a:buNone/>
            </a:pPr>
            <a:r>
              <a:rPr lang="en-US" altLang="en-US" sz="1800">
                <a:latin typeface="Times New Roman" panose="02020603050405020304" pitchFamily="18" charset="0"/>
              </a:rPr>
              <a:t>    private Color color = </a:t>
            </a:r>
          </a:p>
          <a:p>
            <a:pPr>
              <a:lnSpc>
                <a:spcPct val="90000"/>
              </a:lnSpc>
              <a:buFontTx/>
              <a:buNone/>
            </a:pPr>
            <a:r>
              <a:rPr lang="en-US" altLang="en-US" sz="1800">
                <a:latin typeface="Times New Roman" panose="02020603050405020304" pitchFamily="18" charset="0"/>
              </a:rPr>
              <a:t>			Color.BLUE;</a:t>
            </a:r>
          </a:p>
          <a:p>
            <a:pPr>
              <a:lnSpc>
                <a:spcPct val="90000"/>
              </a:lnSpc>
              <a:buFontTx/>
              <a:buNone/>
            </a:pPr>
            <a:r>
              <a:rPr lang="en-US" altLang="en-US" sz="1800">
                <a:latin typeface="Times New Roman" panose="02020603050405020304" pitchFamily="18" charset="0"/>
              </a:rPr>
              <a:t>    private int xpos</a:t>
            </a:r>
            <a:r>
              <a:rPr lang="en-US" altLang="en-US" sz="1800">
                <a:solidFill>
                  <a:srgbClr val="FFFF00"/>
                </a:solidFill>
                <a:latin typeface="Times New Roman" panose="02020603050405020304" pitchFamily="18" charset="0"/>
              </a:rPr>
              <a:t> </a:t>
            </a:r>
            <a:r>
              <a:rPr lang="en-US" altLang="en-US" sz="1800">
                <a:solidFill>
                  <a:srgbClr val="008000"/>
                </a:solidFill>
                <a:latin typeface="Times New Roman" panose="02020603050405020304" pitchFamily="18" charset="0"/>
              </a:rPr>
              <a:t>= 0</a:t>
            </a:r>
            <a:r>
              <a:rPr lang="en-US" altLang="en-US" sz="1800">
                <a:latin typeface="Times New Roman" panose="02020603050405020304" pitchFamily="18" charset="0"/>
              </a:rPr>
              <a:t>;</a:t>
            </a:r>
          </a:p>
          <a:p>
            <a:pPr>
              <a:lnSpc>
                <a:spcPct val="90000"/>
              </a:lnSpc>
              <a:buFontTx/>
              <a:buNone/>
            </a:pPr>
            <a:r>
              <a:rPr lang="en-US" altLang="en-US" sz="1800">
                <a:latin typeface="Times New Roman" panose="02020603050405020304" pitchFamily="18" charset="0"/>
              </a:rPr>
              <a:t>    private int ypos</a:t>
            </a:r>
            <a:r>
              <a:rPr lang="en-US" altLang="en-US" sz="1800">
                <a:solidFill>
                  <a:srgbClr val="FFFF00"/>
                </a:solidFill>
                <a:latin typeface="Times New Roman" panose="02020603050405020304" pitchFamily="18" charset="0"/>
              </a:rPr>
              <a:t> </a:t>
            </a:r>
            <a:r>
              <a:rPr lang="en-US" altLang="en-US" sz="1800">
                <a:solidFill>
                  <a:srgbClr val="008000"/>
                </a:solidFill>
                <a:latin typeface="Times New Roman" panose="02020603050405020304" pitchFamily="18" charset="0"/>
              </a:rPr>
              <a:t>= 0</a:t>
            </a:r>
            <a:r>
              <a:rPr lang="en-US" altLang="en-US" sz="1800">
                <a:latin typeface="Times New Roman" panose="02020603050405020304" pitchFamily="18" charset="0"/>
              </a:rPr>
              <a:t>;</a:t>
            </a:r>
          </a:p>
          <a:p>
            <a:pPr>
              <a:lnSpc>
                <a:spcPct val="90000"/>
              </a:lnSpc>
              <a:buFontTx/>
              <a:buNone/>
            </a:pPr>
            <a:r>
              <a:rPr lang="en-US" altLang="en-US" sz="1800">
                <a:latin typeface="Times New Roman" panose="02020603050405020304" pitchFamily="18" charset="0"/>
              </a:rPr>
              <a:t>    private int fuel = 1000;</a:t>
            </a:r>
          </a:p>
          <a:p>
            <a:pPr>
              <a:lnSpc>
                <a:spcPct val="90000"/>
              </a:lnSpc>
              <a:buFontTx/>
              <a:buNone/>
            </a:pPr>
            <a:endParaRPr lang="en-US" altLang="en-US" sz="1800">
              <a:latin typeface="Times New Roman" panose="02020603050405020304" pitchFamily="18" charset="0"/>
            </a:endParaRPr>
          </a:p>
          <a:p>
            <a:pPr lvl="1">
              <a:lnSpc>
                <a:spcPct val="90000"/>
              </a:lnSpc>
              <a:buFontTx/>
              <a:buNone/>
            </a:pPr>
            <a:r>
              <a:rPr lang="en-US" altLang="en-US" sz="1800">
                <a:latin typeface="Times New Roman" panose="02020603050405020304" pitchFamily="18" charset="0"/>
              </a:rPr>
              <a:t> Car() {</a:t>
            </a:r>
          </a:p>
          <a:p>
            <a:pPr lvl="1">
              <a:lnSpc>
                <a:spcPct val="90000"/>
              </a:lnSpc>
              <a:buFontTx/>
              <a:buNone/>
            </a:pPr>
            <a:r>
              <a:rPr lang="en-US" altLang="en-US" sz="1800">
                <a:latin typeface="Times New Roman" panose="02020603050405020304" pitchFamily="18" charset="0"/>
              </a:rPr>
              <a:t> }</a:t>
            </a:r>
          </a:p>
          <a:p>
            <a:pPr>
              <a:lnSpc>
                <a:spcPct val="90000"/>
              </a:lnSpc>
              <a:buFontTx/>
              <a:buNone/>
            </a:pPr>
            <a:r>
              <a:rPr lang="en-US" altLang="en-US" sz="1800">
                <a:latin typeface="Times New Roman" panose="02020603050405020304" pitchFamily="18" charset="0"/>
              </a:rPr>
              <a:t>}</a:t>
            </a:r>
          </a:p>
          <a:p>
            <a:pPr>
              <a:lnSpc>
                <a:spcPct val="90000"/>
              </a:lnSpc>
            </a:pPr>
            <a:endParaRPr lang="en-US" altLang="en-US" sz="1800">
              <a:latin typeface="Times New Roman" panose="02020603050405020304" pitchFamily="18" charset="0"/>
            </a:endParaRPr>
          </a:p>
          <a:p>
            <a:pPr>
              <a:lnSpc>
                <a:spcPct val="90000"/>
              </a:lnSpc>
            </a:pPr>
            <a:r>
              <a:rPr lang="en-US" altLang="en-US" sz="1800">
                <a:latin typeface="Times New Roman" panose="02020603050405020304" pitchFamily="18" charset="0"/>
              </a:rPr>
              <a:t>Called the default constructor</a:t>
            </a:r>
          </a:p>
          <a:p>
            <a:pPr lvl="1">
              <a:lnSpc>
                <a:spcPct val="90000"/>
              </a:lnSpc>
            </a:pPr>
            <a:r>
              <a:rPr lang="en-US" altLang="en-US" sz="1800">
                <a:latin typeface="Times New Roman" panose="02020603050405020304" pitchFamily="18" charset="0"/>
              </a:rPr>
              <a:t>The default constructor has no parameters</a:t>
            </a:r>
          </a:p>
          <a:p>
            <a:pPr lvl="1">
              <a:lnSpc>
                <a:spcPct val="90000"/>
              </a:lnSpc>
            </a:pPr>
            <a:r>
              <a:rPr lang="en-US" altLang="en-US" sz="1800">
                <a:latin typeface="Times New Roman" panose="02020603050405020304" pitchFamily="18" charset="0"/>
              </a:rPr>
              <a:t>If you don’t include one, Java will SOMETIMES put one there automatically</a:t>
            </a:r>
          </a:p>
        </p:txBody>
      </p:sp>
      <p:grpSp>
        <p:nvGrpSpPr>
          <p:cNvPr id="14340" name="Group 4"/>
          <p:cNvGrpSpPr>
            <a:grpSpLocks/>
          </p:cNvGrpSpPr>
          <p:nvPr/>
        </p:nvGrpSpPr>
        <p:grpSpPr bwMode="auto">
          <a:xfrm>
            <a:off x="5105400" y="2057400"/>
            <a:ext cx="3657600" cy="2686050"/>
            <a:chOff x="3216" y="1296"/>
            <a:chExt cx="2304" cy="1692"/>
          </a:xfrm>
        </p:grpSpPr>
        <p:sp>
          <p:nvSpPr>
            <p:cNvPr id="14341" name="Freeform 5"/>
            <p:cNvSpPr>
              <a:spLocks/>
            </p:cNvSpPr>
            <p:nvPr/>
          </p:nvSpPr>
          <p:spPr bwMode="auto">
            <a:xfrm>
              <a:off x="3259" y="1296"/>
              <a:ext cx="2261" cy="1692"/>
            </a:xfrm>
            <a:custGeom>
              <a:avLst/>
              <a:gdLst>
                <a:gd name="T0" fmla="*/ 2642 w 2766"/>
                <a:gd name="T1" fmla="*/ 1432 h 1432"/>
                <a:gd name="T2" fmla="*/ 2679 w 2766"/>
                <a:gd name="T3" fmla="*/ 1429 h 1432"/>
                <a:gd name="T4" fmla="*/ 2716 w 2766"/>
                <a:gd name="T5" fmla="*/ 1409 h 1432"/>
                <a:gd name="T6" fmla="*/ 2743 w 2766"/>
                <a:gd name="T7" fmla="*/ 1382 h 1432"/>
                <a:gd name="T8" fmla="*/ 2760 w 2766"/>
                <a:gd name="T9" fmla="*/ 1348 h 1432"/>
                <a:gd name="T10" fmla="*/ 2766 w 2766"/>
                <a:gd name="T11" fmla="*/ 1308 h 1432"/>
                <a:gd name="T12" fmla="*/ 2766 w 2766"/>
                <a:gd name="T13" fmla="*/ 127 h 1432"/>
                <a:gd name="T14" fmla="*/ 2760 w 2766"/>
                <a:gd name="T15" fmla="*/ 87 h 1432"/>
                <a:gd name="T16" fmla="*/ 2743 w 2766"/>
                <a:gd name="T17" fmla="*/ 53 h 1432"/>
                <a:gd name="T18" fmla="*/ 2716 w 2766"/>
                <a:gd name="T19" fmla="*/ 27 h 1432"/>
                <a:gd name="T20" fmla="*/ 2679 w 2766"/>
                <a:gd name="T21" fmla="*/ 6 h 1432"/>
                <a:gd name="T22" fmla="*/ 2642 w 2766"/>
                <a:gd name="T23" fmla="*/ 0 h 1432"/>
                <a:gd name="T24" fmla="*/ 128 w 2766"/>
                <a:gd name="T25" fmla="*/ 0 h 1432"/>
                <a:gd name="T26" fmla="*/ 87 w 2766"/>
                <a:gd name="T27" fmla="*/ 6 h 1432"/>
                <a:gd name="T28" fmla="*/ 54 w 2766"/>
                <a:gd name="T29" fmla="*/ 27 h 1432"/>
                <a:gd name="T30" fmla="*/ 24 w 2766"/>
                <a:gd name="T31" fmla="*/ 53 h 1432"/>
                <a:gd name="T32" fmla="*/ 7 w 2766"/>
                <a:gd name="T33" fmla="*/ 87 h 1432"/>
                <a:gd name="T34" fmla="*/ 0 w 2766"/>
                <a:gd name="T35" fmla="*/ 127 h 1432"/>
                <a:gd name="T36" fmla="*/ 0 w 2766"/>
                <a:gd name="T37" fmla="*/ 1308 h 1432"/>
                <a:gd name="T38" fmla="*/ 7 w 2766"/>
                <a:gd name="T39" fmla="*/ 1348 h 1432"/>
                <a:gd name="T40" fmla="*/ 24 w 2766"/>
                <a:gd name="T41" fmla="*/ 1382 h 1432"/>
                <a:gd name="T42" fmla="*/ 54 w 2766"/>
                <a:gd name="T43" fmla="*/ 1409 h 1432"/>
                <a:gd name="T44" fmla="*/ 87 w 2766"/>
                <a:gd name="T45" fmla="*/ 1429 h 1432"/>
                <a:gd name="T46" fmla="*/ 128 w 2766"/>
                <a:gd name="T47" fmla="*/ 1432 h 1432"/>
                <a:gd name="T48" fmla="*/ 2642 w 2766"/>
                <a:gd name="T49" fmla="*/ 1432 h 1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66" h="1432">
                  <a:moveTo>
                    <a:pt x="2642" y="1432"/>
                  </a:moveTo>
                  <a:lnTo>
                    <a:pt x="2679" y="1429"/>
                  </a:lnTo>
                  <a:lnTo>
                    <a:pt x="2716" y="1409"/>
                  </a:lnTo>
                  <a:lnTo>
                    <a:pt x="2743" y="1382"/>
                  </a:lnTo>
                  <a:lnTo>
                    <a:pt x="2760" y="1348"/>
                  </a:lnTo>
                  <a:lnTo>
                    <a:pt x="2766" y="1308"/>
                  </a:lnTo>
                  <a:lnTo>
                    <a:pt x="2766" y="127"/>
                  </a:lnTo>
                  <a:lnTo>
                    <a:pt x="2760" y="87"/>
                  </a:lnTo>
                  <a:lnTo>
                    <a:pt x="2743" y="53"/>
                  </a:lnTo>
                  <a:lnTo>
                    <a:pt x="2716" y="27"/>
                  </a:lnTo>
                  <a:lnTo>
                    <a:pt x="2679" y="6"/>
                  </a:lnTo>
                  <a:lnTo>
                    <a:pt x="2642" y="0"/>
                  </a:lnTo>
                  <a:lnTo>
                    <a:pt x="128" y="0"/>
                  </a:lnTo>
                  <a:lnTo>
                    <a:pt x="87" y="6"/>
                  </a:lnTo>
                  <a:lnTo>
                    <a:pt x="54" y="27"/>
                  </a:lnTo>
                  <a:lnTo>
                    <a:pt x="24" y="53"/>
                  </a:lnTo>
                  <a:lnTo>
                    <a:pt x="7" y="87"/>
                  </a:lnTo>
                  <a:lnTo>
                    <a:pt x="0" y="127"/>
                  </a:lnTo>
                  <a:lnTo>
                    <a:pt x="0" y="1308"/>
                  </a:lnTo>
                  <a:lnTo>
                    <a:pt x="7" y="1348"/>
                  </a:lnTo>
                  <a:lnTo>
                    <a:pt x="24" y="1382"/>
                  </a:lnTo>
                  <a:lnTo>
                    <a:pt x="54" y="1409"/>
                  </a:lnTo>
                  <a:lnTo>
                    <a:pt x="87" y="1429"/>
                  </a:lnTo>
                  <a:lnTo>
                    <a:pt x="128" y="1432"/>
                  </a:lnTo>
                  <a:lnTo>
                    <a:pt x="2642" y="1432"/>
                  </a:lnTo>
                  <a:close/>
                </a:path>
              </a:pathLst>
            </a:custGeom>
            <a:solidFill>
              <a:srgbClr val="C6C6FF"/>
            </a:solidFill>
            <a:ln w="4763">
              <a:solidFill>
                <a:srgbClr val="000000"/>
              </a:solidFill>
              <a:prstDash val="solid"/>
              <a:round/>
              <a:headEnd/>
              <a:tailEnd/>
            </a:ln>
          </p:spPr>
          <p:txBody>
            <a:bodyPr/>
            <a:lstStyle/>
            <a:p>
              <a:endParaRPr lang="en-US"/>
            </a:p>
          </p:txBody>
        </p:sp>
        <p:sp>
          <p:nvSpPr>
            <p:cNvPr id="14342" name="Line 6"/>
            <p:cNvSpPr>
              <a:spLocks noChangeShapeType="1"/>
            </p:cNvSpPr>
            <p:nvPr/>
          </p:nvSpPr>
          <p:spPr bwMode="auto">
            <a:xfrm>
              <a:off x="3216" y="1584"/>
              <a:ext cx="2304" cy="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3" name="Line 7"/>
            <p:cNvSpPr>
              <a:spLocks noChangeShapeType="1"/>
            </p:cNvSpPr>
            <p:nvPr/>
          </p:nvSpPr>
          <p:spPr bwMode="auto">
            <a:xfrm flipV="1">
              <a:off x="3264" y="2016"/>
              <a:ext cx="2256" cy="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4344" name="Rectangle 8"/>
            <p:cNvSpPr>
              <a:spLocks noChangeArrowheads="1"/>
            </p:cNvSpPr>
            <p:nvPr/>
          </p:nvSpPr>
          <p:spPr bwMode="auto">
            <a:xfrm>
              <a:off x="3312" y="2064"/>
              <a:ext cx="410" cy="3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b="1">
                  <a:solidFill>
                    <a:srgbClr val="000000"/>
                  </a:solidFill>
                  <a:latin typeface="LucidaSansTypewriter" charset="0"/>
                </a:rPr>
                <a:t>+ Car()</a:t>
              </a:r>
            </a:p>
            <a:p>
              <a:r>
                <a:rPr lang="en-US" altLang="en-US" sz="1600">
                  <a:solidFill>
                    <a:srgbClr val="000000"/>
                  </a:solidFill>
                  <a:latin typeface="LucidaSansTypewriter" charset="0"/>
                </a:rPr>
                <a:t>+ …</a:t>
              </a:r>
              <a:endParaRPr lang="en-US" altLang="en-US" b="1">
                <a:latin typeface="Verdana" panose="020B0604030504040204" pitchFamily="34" charset="0"/>
              </a:endParaRPr>
            </a:p>
          </p:txBody>
        </p:sp>
        <p:sp>
          <p:nvSpPr>
            <p:cNvPr id="14345" name="Rectangle 9"/>
            <p:cNvSpPr>
              <a:spLocks noChangeArrowheads="1"/>
            </p:cNvSpPr>
            <p:nvPr/>
          </p:nvSpPr>
          <p:spPr bwMode="auto">
            <a:xfrm>
              <a:off x="4272" y="1344"/>
              <a:ext cx="2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Car</a:t>
              </a:r>
              <a:endParaRPr lang="en-US" altLang="en-US" b="1">
                <a:latin typeface="Verdana" panose="020B0604030504040204" pitchFamily="34" charset="0"/>
              </a:endParaRPr>
            </a:p>
          </p:txBody>
        </p:sp>
        <p:sp>
          <p:nvSpPr>
            <p:cNvPr id="14346" name="Rectangle 10"/>
            <p:cNvSpPr>
              <a:spLocks noChangeArrowheads="1"/>
            </p:cNvSpPr>
            <p:nvPr/>
          </p:nvSpPr>
          <p:spPr bwMode="auto">
            <a:xfrm>
              <a:off x="3306" y="1679"/>
              <a:ext cx="117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color = Color.BLUE</a:t>
              </a:r>
              <a:endParaRPr lang="en-US" altLang="en-US" b="1">
                <a:latin typeface="Verdana" panose="020B0604030504040204" pitchFamily="34" charset="0"/>
              </a:endParaRPr>
            </a:p>
          </p:txBody>
        </p:sp>
        <p:sp>
          <p:nvSpPr>
            <p:cNvPr id="14347" name="Rectangle 11"/>
            <p:cNvSpPr>
              <a:spLocks noChangeArrowheads="1"/>
            </p:cNvSpPr>
            <p:nvPr/>
          </p:nvSpPr>
          <p:spPr bwMode="auto">
            <a:xfrm>
              <a:off x="3306" y="1830"/>
              <a:ext cx="7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fuel = 1000</a:t>
              </a:r>
              <a:endParaRPr lang="en-US" altLang="en-US" b="1">
                <a:latin typeface="Verdana" panose="020B0604030504040204" pitchFamily="34" charset="0"/>
              </a:endParaRPr>
            </a:p>
          </p:txBody>
        </p:sp>
        <p:sp>
          <p:nvSpPr>
            <p:cNvPr id="14348" name="Rectangle 12"/>
            <p:cNvSpPr>
              <a:spLocks noChangeArrowheads="1"/>
            </p:cNvSpPr>
            <p:nvPr/>
          </p:nvSpPr>
          <p:spPr bwMode="auto">
            <a:xfrm>
              <a:off x="4656" y="1680"/>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xpos = 0</a:t>
              </a:r>
              <a:endParaRPr lang="en-US" altLang="en-US" b="1">
                <a:latin typeface="Verdana" panose="020B0604030504040204" pitchFamily="34" charset="0"/>
              </a:endParaRPr>
            </a:p>
          </p:txBody>
        </p:sp>
        <p:sp>
          <p:nvSpPr>
            <p:cNvPr id="14349" name="Rectangle 13"/>
            <p:cNvSpPr>
              <a:spLocks noChangeArrowheads="1"/>
            </p:cNvSpPr>
            <p:nvPr/>
          </p:nvSpPr>
          <p:spPr bwMode="auto">
            <a:xfrm>
              <a:off x="4656" y="1831"/>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ypos = 0</a:t>
              </a:r>
              <a:endParaRPr lang="en-US" altLang="en-US" b="1">
                <a:latin typeface="Verdana" panose="020B0604030504040204" pitchFamily="34" charset="0"/>
              </a:endParaRPr>
            </a:p>
          </p:txBody>
        </p:sp>
      </p:grpSp>
      <p:sp>
        <p:nvSpPr>
          <p:cNvPr id="14350" name="Rectangle 14"/>
          <p:cNvSpPr>
            <a:spLocks noChangeArrowheads="1"/>
          </p:cNvSpPr>
          <p:nvPr/>
        </p:nvSpPr>
        <p:spPr bwMode="auto">
          <a:xfrm>
            <a:off x="609600" y="3124200"/>
            <a:ext cx="2286000" cy="762000"/>
          </a:xfrm>
          <a:prstGeom prst="rect">
            <a:avLst/>
          </a:prstGeom>
          <a:noFill/>
          <a:ln w="25400">
            <a:solidFill>
              <a:srgbClr val="0066CC"/>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Date Placeholder 1"/>
          <p:cNvSpPr>
            <a:spLocks noGrp="1"/>
          </p:cNvSpPr>
          <p:nvPr>
            <p:ph type="dt" sz="half" idx="10"/>
          </p:nvPr>
        </p:nvSpPr>
        <p:spPr/>
        <p:txBody>
          <a:bodyPr/>
          <a:lstStyle/>
          <a:p>
            <a:fld id="{7C919293-F6D1-4E46-9ECC-EAE0B1CF951D}"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16</a:t>
            </a:fld>
            <a:endParaRPr lang="en-US" altLang="en-US"/>
          </a:p>
        </p:txBody>
      </p:sp>
    </p:spTree>
    <p:extLst>
      <p:ext uri="{BB962C8B-B14F-4D97-AF65-F5344CB8AC3E}">
        <p14:creationId xmlns:p14="http://schemas.microsoft.com/office/powerpoint/2010/main" val="251586020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433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339">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33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33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339">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339">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339">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339">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339">
                                            <p:txEl>
                                              <p:pRg st="9" end="9"/>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35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4339">
                                            <p:txEl>
                                              <p:pRg st="11" end="11"/>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4339">
                                            <p:txEl>
                                              <p:pRg st="12" end="12"/>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4339">
                                            <p:txEl>
                                              <p:pRg st="13" end="13"/>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43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76200"/>
            <a:ext cx="8305800" cy="792163"/>
          </a:xfrm>
        </p:spPr>
        <p:txBody>
          <a:bodyPr/>
          <a:lstStyle/>
          <a:p>
            <a:r>
              <a:rPr lang="en-US" altLang="en-US" sz="4000" b="1">
                <a:latin typeface="Times New Roman" panose="02020603050405020304" pitchFamily="18" charset="0"/>
              </a:rPr>
              <a:t>Another constructor</a:t>
            </a:r>
          </a:p>
        </p:txBody>
      </p:sp>
      <p:sp>
        <p:nvSpPr>
          <p:cNvPr id="15363" name="Rectangle 3"/>
          <p:cNvSpPr>
            <a:spLocks noGrp="1" noChangeArrowheads="1"/>
          </p:cNvSpPr>
          <p:nvPr>
            <p:ph type="body" idx="1"/>
          </p:nvPr>
        </p:nvSpPr>
        <p:spPr>
          <a:xfrm>
            <a:off x="457200" y="960438"/>
            <a:ext cx="8305800" cy="4983162"/>
          </a:xfrm>
        </p:spPr>
        <p:txBody>
          <a:bodyPr/>
          <a:lstStyle/>
          <a:p>
            <a:pPr>
              <a:lnSpc>
                <a:spcPct val="90000"/>
              </a:lnSpc>
            </a:pPr>
            <a:r>
              <a:rPr lang="en-US" altLang="en-US" sz="2000">
                <a:latin typeface="Times New Roman" panose="02020603050405020304" pitchFamily="18" charset="0"/>
              </a:rPr>
              <a:t>Another constructor:</a:t>
            </a:r>
          </a:p>
          <a:p>
            <a:pPr>
              <a:lnSpc>
                <a:spcPct val="90000"/>
              </a:lnSpc>
            </a:pPr>
            <a:endParaRPr lang="en-US" altLang="en-US" sz="2000">
              <a:latin typeface="Times New Roman" panose="02020603050405020304" pitchFamily="18" charset="0"/>
            </a:endParaRPr>
          </a:p>
          <a:p>
            <a:pPr lvl="1">
              <a:lnSpc>
                <a:spcPct val="90000"/>
              </a:lnSpc>
              <a:buFontTx/>
              <a:buNone/>
            </a:pPr>
            <a:r>
              <a:rPr lang="en-US" altLang="en-US" sz="2000">
                <a:latin typeface="Times New Roman" panose="02020603050405020304" pitchFamily="18" charset="0"/>
              </a:rPr>
              <a:t>Car (Color c, int x, int y, int f) {</a:t>
            </a:r>
          </a:p>
          <a:p>
            <a:pPr lvl="1">
              <a:lnSpc>
                <a:spcPct val="90000"/>
              </a:lnSpc>
              <a:buFontTx/>
              <a:buNone/>
            </a:pPr>
            <a:r>
              <a:rPr lang="en-US" altLang="en-US" sz="2000">
                <a:latin typeface="Times New Roman" panose="02020603050405020304" pitchFamily="18" charset="0"/>
              </a:rPr>
              <a:t>	color = c;</a:t>
            </a:r>
          </a:p>
          <a:p>
            <a:pPr lvl="1">
              <a:lnSpc>
                <a:spcPct val="90000"/>
              </a:lnSpc>
              <a:buFontTx/>
              <a:buNone/>
            </a:pPr>
            <a:r>
              <a:rPr lang="en-US" altLang="en-US" sz="2000">
                <a:latin typeface="Times New Roman" panose="02020603050405020304" pitchFamily="18" charset="0"/>
              </a:rPr>
              <a:t>	xpos = x;</a:t>
            </a:r>
          </a:p>
          <a:p>
            <a:pPr lvl="1">
              <a:lnSpc>
                <a:spcPct val="90000"/>
              </a:lnSpc>
              <a:buFontTx/>
              <a:buNone/>
            </a:pPr>
            <a:r>
              <a:rPr lang="en-US" altLang="en-US" sz="2000">
                <a:latin typeface="Times New Roman" panose="02020603050405020304" pitchFamily="18" charset="0"/>
              </a:rPr>
              <a:t>	ypos = y;</a:t>
            </a:r>
          </a:p>
          <a:p>
            <a:pPr lvl="1">
              <a:lnSpc>
                <a:spcPct val="90000"/>
              </a:lnSpc>
              <a:buFontTx/>
              <a:buNone/>
            </a:pPr>
            <a:r>
              <a:rPr lang="en-US" altLang="en-US" sz="2000">
                <a:latin typeface="Times New Roman" panose="02020603050405020304" pitchFamily="18" charset="0"/>
              </a:rPr>
              <a:t>	fuel = f;</a:t>
            </a:r>
          </a:p>
          <a:p>
            <a:pPr lvl="1">
              <a:lnSpc>
                <a:spcPct val="90000"/>
              </a:lnSpc>
              <a:buFontTx/>
              <a:buNone/>
            </a:pPr>
            <a:r>
              <a:rPr lang="en-US" altLang="en-US" sz="2000">
                <a:latin typeface="Times New Roman" panose="02020603050405020304" pitchFamily="18" charset="0"/>
              </a:rPr>
              <a:t> }</a:t>
            </a:r>
          </a:p>
          <a:p>
            <a:pPr>
              <a:lnSpc>
                <a:spcPct val="90000"/>
              </a:lnSpc>
            </a:pPr>
            <a:endParaRPr lang="en-US" altLang="en-US" sz="2000">
              <a:latin typeface="Times New Roman" panose="02020603050405020304" pitchFamily="18" charset="0"/>
            </a:endParaRPr>
          </a:p>
          <a:p>
            <a:pPr>
              <a:lnSpc>
                <a:spcPct val="90000"/>
              </a:lnSpc>
            </a:pPr>
            <a:r>
              <a:rPr lang="en-US" altLang="en-US" sz="2000">
                <a:latin typeface="Times New Roman" panose="02020603050405020304" pitchFamily="18" charset="0"/>
              </a:rPr>
              <a:t>This constructor takes in four parameters</a:t>
            </a:r>
          </a:p>
          <a:p>
            <a:pPr>
              <a:lnSpc>
                <a:spcPct val="90000"/>
              </a:lnSpc>
            </a:pPr>
            <a:r>
              <a:rPr lang="en-US" altLang="en-US" sz="2000">
                <a:latin typeface="Times New Roman" panose="02020603050405020304" pitchFamily="18" charset="0"/>
              </a:rPr>
              <a:t>The instance variables in the object are set to those parameters</a:t>
            </a:r>
          </a:p>
          <a:p>
            <a:pPr>
              <a:lnSpc>
                <a:spcPct val="90000"/>
              </a:lnSpc>
            </a:pPr>
            <a:r>
              <a:rPr lang="en-US" altLang="en-US" sz="2000">
                <a:latin typeface="Times New Roman" panose="02020603050405020304" pitchFamily="18" charset="0"/>
              </a:rPr>
              <a:t>This is called a specific constructor</a:t>
            </a:r>
          </a:p>
          <a:p>
            <a:pPr lvl="1">
              <a:lnSpc>
                <a:spcPct val="90000"/>
              </a:lnSpc>
            </a:pPr>
            <a:r>
              <a:rPr lang="en-US" altLang="en-US" sz="2000">
                <a:latin typeface="Times New Roman" panose="02020603050405020304" pitchFamily="18" charset="0"/>
              </a:rPr>
              <a:t>An constructor you provide that takes in parameters is called a specific constructor</a:t>
            </a:r>
          </a:p>
        </p:txBody>
      </p:sp>
      <p:sp>
        <p:nvSpPr>
          <p:cNvPr id="2" name="Date Placeholder 1"/>
          <p:cNvSpPr>
            <a:spLocks noGrp="1"/>
          </p:cNvSpPr>
          <p:nvPr>
            <p:ph type="dt" sz="half" idx="10"/>
          </p:nvPr>
        </p:nvSpPr>
        <p:spPr/>
        <p:txBody>
          <a:bodyPr/>
          <a:lstStyle/>
          <a:p>
            <a:fld id="{88FCF0FF-F928-4B05-BFB1-88197E0917BA}"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17</a:t>
            </a:fld>
            <a:endParaRPr lang="en-US" altLang="en-US"/>
          </a:p>
        </p:txBody>
      </p:sp>
    </p:spTree>
    <p:extLst>
      <p:ext uri="{BB962C8B-B14F-4D97-AF65-F5344CB8AC3E}">
        <p14:creationId xmlns:p14="http://schemas.microsoft.com/office/powerpoint/2010/main" val="2565057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53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536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36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536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36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536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5363">
                                            <p:txEl>
                                              <p:pRg st="7" end="7"/>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5363">
                                            <p:txEl>
                                              <p:pRg st="9" end="9"/>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5363">
                                            <p:txEl>
                                              <p:pRg st="10" end="10"/>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15363">
                                            <p:txEl>
                                              <p:pRg st="11" end="11"/>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536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57200" y="0"/>
            <a:ext cx="8229600" cy="715963"/>
          </a:xfrm>
        </p:spPr>
        <p:txBody>
          <a:bodyPr/>
          <a:lstStyle/>
          <a:p>
            <a:r>
              <a:rPr lang="en-US" altLang="en-US" sz="4000" b="1">
                <a:latin typeface="Times New Roman" panose="02020603050405020304" pitchFamily="18" charset="0"/>
              </a:rPr>
              <a:t>Our Car class so far</a:t>
            </a:r>
          </a:p>
        </p:txBody>
      </p:sp>
      <p:sp>
        <p:nvSpPr>
          <p:cNvPr id="16387" name="Rectangle 3"/>
          <p:cNvSpPr>
            <a:spLocks noGrp="1" noChangeArrowheads="1"/>
          </p:cNvSpPr>
          <p:nvPr>
            <p:ph type="body" idx="1"/>
          </p:nvPr>
        </p:nvSpPr>
        <p:spPr>
          <a:xfrm>
            <a:off x="304800" y="838200"/>
            <a:ext cx="8534400" cy="5105400"/>
          </a:xfrm>
        </p:spPr>
        <p:txBody>
          <a:bodyPr>
            <a:normAutofit lnSpcReduction="10000"/>
          </a:bodyPr>
          <a:lstStyle/>
          <a:p>
            <a:pPr>
              <a:lnSpc>
                <a:spcPct val="80000"/>
              </a:lnSpc>
              <a:buFontTx/>
              <a:buNone/>
            </a:pPr>
            <a:r>
              <a:rPr lang="en-US" altLang="en-US" sz="2000">
                <a:latin typeface="Times New Roman" panose="02020603050405020304" pitchFamily="18" charset="0"/>
              </a:rPr>
              <a:t>class Car {</a:t>
            </a:r>
          </a:p>
          <a:p>
            <a:pPr>
              <a:lnSpc>
                <a:spcPct val="80000"/>
              </a:lnSpc>
              <a:buFontTx/>
              <a:buNone/>
            </a:pPr>
            <a:r>
              <a:rPr lang="en-US" altLang="en-US" sz="2000">
                <a:latin typeface="Times New Roman" panose="02020603050405020304" pitchFamily="18" charset="0"/>
              </a:rPr>
              <a:t>    private Color color = Color.BLUE;</a:t>
            </a:r>
          </a:p>
          <a:p>
            <a:pPr>
              <a:lnSpc>
                <a:spcPct val="80000"/>
              </a:lnSpc>
              <a:buFontTx/>
              <a:buNone/>
            </a:pPr>
            <a:r>
              <a:rPr lang="en-US" altLang="en-US" sz="2000">
                <a:latin typeface="Times New Roman" panose="02020603050405020304" pitchFamily="18" charset="0"/>
              </a:rPr>
              <a:t>    private int xpos = 0;</a:t>
            </a:r>
          </a:p>
          <a:p>
            <a:pPr>
              <a:lnSpc>
                <a:spcPct val="80000"/>
              </a:lnSpc>
              <a:buFontTx/>
              <a:buNone/>
            </a:pPr>
            <a:r>
              <a:rPr lang="en-US" altLang="en-US" sz="2000">
                <a:latin typeface="Times New Roman" panose="02020603050405020304" pitchFamily="18" charset="0"/>
              </a:rPr>
              <a:t>    private int ypos = 0;</a:t>
            </a:r>
          </a:p>
          <a:p>
            <a:pPr>
              <a:lnSpc>
                <a:spcPct val="80000"/>
              </a:lnSpc>
              <a:buFontTx/>
              <a:buNone/>
            </a:pPr>
            <a:r>
              <a:rPr lang="en-US" altLang="en-US" sz="2000">
                <a:latin typeface="Times New Roman" panose="02020603050405020304" pitchFamily="18" charset="0"/>
              </a:rPr>
              <a:t>    private int fuel = 1000;</a:t>
            </a:r>
          </a:p>
          <a:p>
            <a:pPr>
              <a:lnSpc>
                <a:spcPct val="80000"/>
              </a:lnSpc>
              <a:buFontTx/>
              <a:buNone/>
            </a:pPr>
            <a:endParaRPr lang="en-US" altLang="en-US" sz="2000">
              <a:latin typeface="Times New Roman" panose="02020603050405020304" pitchFamily="18" charset="0"/>
            </a:endParaRPr>
          </a:p>
          <a:p>
            <a:pPr lvl="1">
              <a:lnSpc>
                <a:spcPct val="80000"/>
              </a:lnSpc>
              <a:buFontTx/>
              <a:buNone/>
            </a:pPr>
            <a:r>
              <a:rPr lang="en-US" altLang="en-US" sz="2000">
                <a:latin typeface="Times New Roman" panose="02020603050405020304" pitchFamily="18" charset="0"/>
              </a:rPr>
              <a:t> Car() {</a:t>
            </a:r>
          </a:p>
          <a:p>
            <a:pPr lvl="1">
              <a:lnSpc>
                <a:spcPct val="80000"/>
              </a:lnSpc>
              <a:buFontTx/>
              <a:buNone/>
            </a:pPr>
            <a:r>
              <a:rPr lang="en-US" altLang="en-US" sz="2000">
                <a:latin typeface="Times New Roman" panose="02020603050405020304" pitchFamily="18" charset="0"/>
              </a:rPr>
              <a:t> }</a:t>
            </a:r>
          </a:p>
          <a:p>
            <a:pPr lvl="1">
              <a:lnSpc>
                <a:spcPct val="80000"/>
              </a:lnSpc>
              <a:buFontTx/>
              <a:buNone/>
            </a:pPr>
            <a:endParaRPr lang="en-US" altLang="en-US" sz="2000">
              <a:latin typeface="Times New Roman" panose="02020603050405020304" pitchFamily="18" charset="0"/>
            </a:endParaRPr>
          </a:p>
          <a:p>
            <a:pPr lvl="1">
              <a:lnSpc>
                <a:spcPct val="80000"/>
              </a:lnSpc>
              <a:buFontTx/>
              <a:buNone/>
            </a:pPr>
            <a:r>
              <a:rPr lang="en-US" altLang="en-US" sz="2000">
                <a:latin typeface="Times New Roman" panose="02020603050405020304" pitchFamily="18" charset="0"/>
              </a:rPr>
              <a:t> Car (Color c, int x, int y, int f) {</a:t>
            </a:r>
          </a:p>
          <a:p>
            <a:pPr lvl="1">
              <a:lnSpc>
                <a:spcPct val="80000"/>
              </a:lnSpc>
              <a:buFontTx/>
              <a:buNone/>
            </a:pPr>
            <a:r>
              <a:rPr lang="en-US" altLang="en-US" sz="2000">
                <a:latin typeface="Times New Roman" panose="02020603050405020304" pitchFamily="18" charset="0"/>
              </a:rPr>
              <a:t>	color = c;</a:t>
            </a:r>
          </a:p>
          <a:p>
            <a:pPr lvl="1">
              <a:lnSpc>
                <a:spcPct val="80000"/>
              </a:lnSpc>
              <a:buFontTx/>
              <a:buNone/>
            </a:pPr>
            <a:r>
              <a:rPr lang="en-US" altLang="en-US" sz="2000">
                <a:latin typeface="Times New Roman" panose="02020603050405020304" pitchFamily="18" charset="0"/>
              </a:rPr>
              <a:t>	xpos = x;</a:t>
            </a:r>
          </a:p>
          <a:p>
            <a:pPr lvl="1">
              <a:lnSpc>
                <a:spcPct val="80000"/>
              </a:lnSpc>
              <a:buFontTx/>
              <a:buNone/>
            </a:pPr>
            <a:r>
              <a:rPr lang="en-US" altLang="en-US" sz="2000">
                <a:latin typeface="Times New Roman" panose="02020603050405020304" pitchFamily="18" charset="0"/>
              </a:rPr>
              <a:t>	ypos = y;</a:t>
            </a:r>
          </a:p>
          <a:p>
            <a:pPr lvl="1">
              <a:lnSpc>
                <a:spcPct val="80000"/>
              </a:lnSpc>
              <a:buFontTx/>
              <a:buNone/>
            </a:pPr>
            <a:r>
              <a:rPr lang="en-US" altLang="en-US" sz="2000">
                <a:latin typeface="Times New Roman" panose="02020603050405020304" pitchFamily="18" charset="0"/>
              </a:rPr>
              <a:t>	fuel = f;</a:t>
            </a:r>
          </a:p>
          <a:p>
            <a:pPr lvl="1">
              <a:lnSpc>
                <a:spcPct val="80000"/>
              </a:lnSpc>
              <a:buFontTx/>
              <a:buNone/>
            </a:pPr>
            <a:r>
              <a:rPr lang="en-US" altLang="en-US" sz="2000">
                <a:latin typeface="Times New Roman" panose="02020603050405020304" pitchFamily="18" charset="0"/>
              </a:rPr>
              <a:t> }</a:t>
            </a:r>
          </a:p>
          <a:p>
            <a:pPr lvl="1">
              <a:lnSpc>
                <a:spcPct val="80000"/>
              </a:lnSpc>
              <a:buFontTx/>
              <a:buNone/>
            </a:pPr>
            <a:endParaRPr lang="en-US" altLang="en-US" sz="2000">
              <a:latin typeface="Times New Roman" panose="02020603050405020304" pitchFamily="18" charset="0"/>
            </a:endParaRPr>
          </a:p>
          <a:p>
            <a:pPr>
              <a:lnSpc>
                <a:spcPct val="80000"/>
              </a:lnSpc>
              <a:buFontTx/>
              <a:buNone/>
            </a:pPr>
            <a:r>
              <a:rPr lang="en-US" altLang="en-US" sz="2000">
                <a:latin typeface="Times New Roman" panose="02020603050405020304" pitchFamily="18" charset="0"/>
              </a:rPr>
              <a:t>}</a:t>
            </a:r>
          </a:p>
        </p:txBody>
      </p:sp>
      <p:grpSp>
        <p:nvGrpSpPr>
          <p:cNvPr id="16388" name="Group 4"/>
          <p:cNvGrpSpPr>
            <a:grpSpLocks/>
          </p:cNvGrpSpPr>
          <p:nvPr/>
        </p:nvGrpSpPr>
        <p:grpSpPr bwMode="auto">
          <a:xfrm>
            <a:off x="5105400" y="1219200"/>
            <a:ext cx="3657600" cy="2686050"/>
            <a:chOff x="3216" y="1296"/>
            <a:chExt cx="2304" cy="1692"/>
          </a:xfrm>
        </p:grpSpPr>
        <p:sp>
          <p:nvSpPr>
            <p:cNvPr id="16389" name="Freeform 5"/>
            <p:cNvSpPr>
              <a:spLocks/>
            </p:cNvSpPr>
            <p:nvPr/>
          </p:nvSpPr>
          <p:spPr bwMode="auto">
            <a:xfrm>
              <a:off x="3259" y="1296"/>
              <a:ext cx="2261" cy="1692"/>
            </a:xfrm>
            <a:custGeom>
              <a:avLst/>
              <a:gdLst>
                <a:gd name="T0" fmla="*/ 2642 w 2766"/>
                <a:gd name="T1" fmla="*/ 1432 h 1432"/>
                <a:gd name="T2" fmla="*/ 2679 w 2766"/>
                <a:gd name="T3" fmla="*/ 1429 h 1432"/>
                <a:gd name="T4" fmla="*/ 2716 w 2766"/>
                <a:gd name="T5" fmla="*/ 1409 h 1432"/>
                <a:gd name="T6" fmla="*/ 2743 w 2766"/>
                <a:gd name="T7" fmla="*/ 1382 h 1432"/>
                <a:gd name="T8" fmla="*/ 2760 w 2766"/>
                <a:gd name="T9" fmla="*/ 1348 h 1432"/>
                <a:gd name="T10" fmla="*/ 2766 w 2766"/>
                <a:gd name="T11" fmla="*/ 1308 h 1432"/>
                <a:gd name="T12" fmla="*/ 2766 w 2766"/>
                <a:gd name="T13" fmla="*/ 127 h 1432"/>
                <a:gd name="T14" fmla="*/ 2760 w 2766"/>
                <a:gd name="T15" fmla="*/ 87 h 1432"/>
                <a:gd name="T16" fmla="*/ 2743 w 2766"/>
                <a:gd name="T17" fmla="*/ 53 h 1432"/>
                <a:gd name="T18" fmla="*/ 2716 w 2766"/>
                <a:gd name="T19" fmla="*/ 27 h 1432"/>
                <a:gd name="T20" fmla="*/ 2679 w 2766"/>
                <a:gd name="T21" fmla="*/ 6 h 1432"/>
                <a:gd name="T22" fmla="*/ 2642 w 2766"/>
                <a:gd name="T23" fmla="*/ 0 h 1432"/>
                <a:gd name="T24" fmla="*/ 128 w 2766"/>
                <a:gd name="T25" fmla="*/ 0 h 1432"/>
                <a:gd name="T26" fmla="*/ 87 w 2766"/>
                <a:gd name="T27" fmla="*/ 6 h 1432"/>
                <a:gd name="T28" fmla="*/ 54 w 2766"/>
                <a:gd name="T29" fmla="*/ 27 h 1432"/>
                <a:gd name="T30" fmla="*/ 24 w 2766"/>
                <a:gd name="T31" fmla="*/ 53 h 1432"/>
                <a:gd name="T32" fmla="*/ 7 w 2766"/>
                <a:gd name="T33" fmla="*/ 87 h 1432"/>
                <a:gd name="T34" fmla="*/ 0 w 2766"/>
                <a:gd name="T35" fmla="*/ 127 h 1432"/>
                <a:gd name="T36" fmla="*/ 0 w 2766"/>
                <a:gd name="T37" fmla="*/ 1308 h 1432"/>
                <a:gd name="T38" fmla="*/ 7 w 2766"/>
                <a:gd name="T39" fmla="*/ 1348 h 1432"/>
                <a:gd name="T40" fmla="*/ 24 w 2766"/>
                <a:gd name="T41" fmla="*/ 1382 h 1432"/>
                <a:gd name="T42" fmla="*/ 54 w 2766"/>
                <a:gd name="T43" fmla="*/ 1409 h 1432"/>
                <a:gd name="T44" fmla="*/ 87 w 2766"/>
                <a:gd name="T45" fmla="*/ 1429 h 1432"/>
                <a:gd name="T46" fmla="*/ 128 w 2766"/>
                <a:gd name="T47" fmla="*/ 1432 h 1432"/>
                <a:gd name="T48" fmla="*/ 2642 w 2766"/>
                <a:gd name="T49" fmla="*/ 1432 h 1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66" h="1432">
                  <a:moveTo>
                    <a:pt x="2642" y="1432"/>
                  </a:moveTo>
                  <a:lnTo>
                    <a:pt x="2679" y="1429"/>
                  </a:lnTo>
                  <a:lnTo>
                    <a:pt x="2716" y="1409"/>
                  </a:lnTo>
                  <a:lnTo>
                    <a:pt x="2743" y="1382"/>
                  </a:lnTo>
                  <a:lnTo>
                    <a:pt x="2760" y="1348"/>
                  </a:lnTo>
                  <a:lnTo>
                    <a:pt x="2766" y="1308"/>
                  </a:lnTo>
                  <a:lnTo>
                    <a:pt x="2766" y="127"/>
                  </a:lnTo>
                  <a:lnTo>
                    <a:pt x="2760" y="87"/>
                  </a:lnTo>
                  <a:lnTo>
                    <a:pt x="2743" y="53"/>
                  </a:lnTo>
                  <a:lnTo>
                    <a:pt x="2716" y="27"/>
                  </a:lnTo>
                  <a:lnTo>
                    <a:pt x="2679" y="6"/>
                  </a:lnTo>
                  <a:lnTo>
                    <a:pt x="2642" y="0"/>
                  </a:lnTo>
                  <a:lnTo>
                    <a:pt x="128" y="0"/>
                  </a:lnTo>
                  <a:lnTo>
                    <a:pt x="87" y="6"/>
                  </a:lnTo>
                  <a:lnTo>
                    <a:pt x="54" y="27"/>
                  </a:lnTo>
                  <a:lnTo>
                    <a:pt x="24" y="53"/>
                  </a:lnTo>
                  <a:lnTo>
                    <a:pt x="7" y="87"/>
                  </a:lnTo>
                  <a:lnTo>
                    <a:pt x="0" y="127"/>
                  </a:lnTo>
                  <a:lnTo>
                    <a:pt x="0" y="1308"/>
                  </a:lnTo>
                  <a:lnTo>
                    <a:pt x="7" y="1348"/>
                  </a:lnTo>
                  <a:lnTo>
                    <a:pt x="24" y="1382"/>
                  </a:lnTo>
                  <a:lnTo>
                    <a:pt x="54" y="1409"/>
                  </a:lnTo>
                  <a:lnTo>
                    <a:pt x="87" y="1429"/>
                  </a:lnTo>
                  <a:lnTo>
                    <a:pt x="128" y="1432"/>
                  </a:lnTo>
                  <a:lnTo>
                    <a:pt x="2642" y="1432"/>
                  </a:lnTo>
                  <a:close/>
                </a:path>
              </a:pathLst>
            </a:custGeom>
            <a:solidFill>
              <a:srgbClr val="C6C6FF"/>
            </a:solidFill>
            <a:ln w="4763">
              <a:solidFill>
                <a:srgbClr val="000000"/>
              </a:solidFill>
              <a:prstDash val="solid"/>
              <a:round/>
              <a:headEnd/>
              <a:tailEnd/>
            </a:ln>
          </p:spPr>
          <p:txBody>
            <a:bodyPr/>
            <a:lstStyle/>
            <a:p>
              <a:endParaRPr lang="en-US"/>
            </a:p>
          </p:txBody>
        </p:sp>
        <p:sp>
          <p:nvSpPr>
            <p:cNvPr id="16390" name="Line 6"/>
            <p:cNvSpPr>
              <a:spLocks noChangeShapeType="1"/>
            </p:cNvSpPr>
            <p:nvPr/>
          </p:nvSpPr>
          <p:spPr bwMode="auto">
            <a:xfrm>
              <a:off x="3216" y="1584"/>
              <a:ext cx="2304" cy="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1" name="Line 7"/>
            <p:cNvSpPr>
              <a:spLocks noChangeShapeType="1"/>
            </p:cNvSpPr>
            <p:nvPr/>
          </p:nvSpPr>
          <p:spPr bwMode="auto">
            <a:xfrm flipV="1">
              <a:off x="3264" y="2016"/>
              <a:ext cx="2256" cy="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6392" name="Rectangle 8"/>
            <p:cNvSpPr>
              <a:spLocks noChangeArrowheads="1"/>
            </p:cNvSpPr>
            <p:nvPr/>
          </p:nvSpPr>
          <p:spPr bwMode="auto">
            <a:xfrm>
              <a:off x="3312" y="2064"/>
              <a:ext cx="1467"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Car()</a:t>
              </a:r>
            </a:p>
            <a:p>
              <a:r>
                <a:rPr lang="en-US" altLang="en-US" sz="1600" b="1">
                  <a:solidFill>
                    <a:srgbClr val="000000"/>
                  </a:solidFill>
                  <a:latin typeface="LucidaSansTypewriter" charset="0"/>
                </a:rPr>
                <a:t>+ Car (Color, int, int, int)</a:t>
              </a:r>
            </a:p>
            <a:p>
              <a:r>
                <a:rPr lang="en-US" altLang="en-US" sz="1600">
                  <a:solidFill>
                    <a:srgbClr val="000000"/>
                  </a:solidFill>
                  <a:latin typeface="LucidaSansTypewriter" charset="0"/>
                </a:rPr>
                <a:t>+ …</a:t>
              </a:r>
              <a:endParaRPr lang="en-US" altLang="en-US">
                <a:latin typeface="Verdana" panose="020B0604030504040204" pitchFamily="34" charset="0"/>
              </a:endParaRPr>
            </a:p>
          </p:txBody>
        </p:sp>
        <p:sp>
          <p:nvSpPr>
            <p:cNvPr id="16393" name="Rectangle 9"/>
            <p:cNvSpPr>
              <a:spLocks noChangeArrowheads="1"/>
            </p:cNvSpPr>
            <p:nvPr/>
          </p:nvSpPr>
          <p:spPr bwMode="auto">
            <a:xfrm>
              <a:off x="4272" y="1344"/>
              <a:ext cx="2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Car</a:t>
              </a:r>
              <a:endParaRPr lang="en-US" altLang="en-US" b="1">
                <a:latin typeface="Verdana" panose="020B0604030504040204" pitchFamily="34" charset="0"/>
              </a:endParaRPr>
            </a:p>
          </p:txBody>
        </p:sp>
        <p:sp>
          <p:nvSpPr>
            <p:cNvPr id="16394" name="Rectangle 10"/>
            <p:cNvSpPr>
              <a:spLocks noChangeArrowheads="1"/>
            </p:cNvSpPr>
            <p:nvPr/>
          </p:nvSpPr>
          <p:spPr bwMode="auto">
            <a:xfrm>
              <a:off x="3306" y="1679"/>
              <a:ext cx="117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color = Color.BLUE</a:t>
              </a:r>
              <a:endParaRPr lang="en-US" altLang="en-US" b="1">
                <a:latin typeface="Verdana" panose="020B0604030504040204" pitchFamily="34" charset="0"/>
              </a:endParaRPr>
            </a:p>
          </p:txBody>
        </p:sp>
        <p:sp>
          <p:nvSpPr>
            <p:cNvPr id="16395" name="Rectangle 11"/>
            <p:cNvSpPr>
              <a:spLocks noChangeArrowheads="1"/>
            </p:cNvSpPr>
            <p:nvPr/>
          </p:nvSpPr>
          <p:spPr bwMode="auto">
            <a:xfrm>
              <a:off x="3306" y="1830"/>
              <a:ext cx="7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fuel = 1000</a:t>
              </a:r>
              <a:endParaRPr lang="en-US" altLang="en-US" b="1">
                <a:latin typeface="Verdana" panose="020B0604030504040204" pitchFamily="34" charset="0"/>
              </a:endParaRPr>
            </a:p>
          </p:txBody>
        </p:sp>
        <p:sp>
          <p:nvSpPr>
            <p:cNvPr id="16396" name="Rectangle 12"/>
            <p:cNvSpPr>
              <a:spLocks noChangeArrowheads="1"/>
            </p:cNvSpPr>
            <p:nvPr/>
          </p:nvSpPr>
          <p:spPr bwMode="auto">
            <a:xfrm>
              <a:off x="4656" y="1680"/>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xpos = 0</a:t>
              </a:r>
              <a:endParaRPr lang="en-US" altLang="en-US" b="1">
                <a:latin typeface="Verdana" panose="020B0604030504040204" pitchFamily="34" charset="0"/>
              </a:endParaRPr>
            </a:p>
          </p:txBody>
        </p:sp>
        <p:sp>
          <p:nvSpPr>
            <p:cNvPr id="16397" name="Rectangle 13"/>
            <p:cNvSpPr>
              <a:spLocks noChangeArrowheads="1"/>
            </p:cNvSpPr>
            <p:nvPr/>
          </p:nvSpPr>
          <p:spPr bwMode="auto">
            <a:xfrm>
              <a:off x="4656" y="1831"/>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ypos = 0</a:t>
              </a:r>
              <a:endParaRPr lang="en-US" altLang="en-US" b="1">
                <a:latin typeface="Verdana" panose="020B0604030504040204" pitchFamily="34" charset="0"/>
              </a:endParaRPr>
            </a:p>
          </p:txBody>
        </p:sp>
      </p:grpSp>
      <p:sp>
        <p:nvSpPr>
          <p:cNvPr id="2" name="Date Placeholder 1"/>
          <p:cNvSpPr>
            <a:spLocks noGrp="1"/>
          </p:cNvSpPr>
          <p:nvPr>
            <p:ph type="dt" sz="half" idx="10"/>
          </p:nvPr>
        </p:nvSpPr>
        <p:spPr/>
        <p:txBody>
          <a:bodyPr/>
          <a:lstStyle/>
          <a:p>
            <a:fld id="{D12A8810-EF72-495C-9539-6531B46681DA}"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18</a:t>
            </a:fld>
            <a:endParaRPr lang="en-US" altLang="en-US"/>
          </a:p>
        </p:txBody>
      </p:sp>
    </p:spTree>
    <p:extLst>
      <p:ext uri="{BB962C8B-B14F-4D97-AF65-F5344CB8AC3E}">
        <p14:creationId xmlns:p14="http://schemas.microsoft.com/office/powerpoint/2010/main" val="42859217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38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8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387">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6387">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387">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638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387">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6387">
                                            <p:txEl>
                                              <p:pRg st="9" end="9"/>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387">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6387">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6387">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6387">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387">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6387">
                                            <p:txEl>
                                              <p:pRg st="16" end="16"/>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1638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457200" y="-152400"/>
            <a:ext cx="8229600" cy="1143000"/>
          </a:xfrm>
        </p:spPr>
        <p:txBody>
          <a:bodyPr/>
          <a:lstStyle/>
          <a:p>
            <a:r>
              <a:rPr lang="en-US" altLang="en-US" sz="4000" b="1">
                <a:latin typeface="Times New Roman" panose="02020603050405020304" pitchFamily="18" charset="0"/>
              </a:rPr>
              <a:t>Using our Car class</a:t>
            </a:r>
          </a:p>
        </p:txBody>
      </p:sp>
      <p:sp>
        <p:nvSpPr>
          <p:cNvPr id="17411" name="Rectangle 3"/>
          <p:cNvSpPr>
            <a:spLocks noGrp="1" noChangeArrowheads="1"/>
          </p:cNvSpPr>
          <p:nvPr>
            <p:ph type="body" idx="1"/>
          </p:nvPr>
        </p:nvSpPr>
        <p:spPr>
          <a:xfrm>
            <a:off x="381000" y="762000"/>
            <a:ext cx="8305800" cy="5364163"/>
          </a:xfrm>
        </p:spPr>
        <p:txBody>
          <a:bodyPr/>
          <a:lstStyle/>
          <a:p>
            <a:r>
              <a:rPr lang="en-US" altLang="en-US" sz="2400">
                <a:latin typeface="Times New Roman" panose="02020603050405020304" pitchFamily="18" charset="0"/>
              </a:rPr>
              <a:t>Now we can use both our constructors:</a:t>
            </a:r>
          </a:p>
          <a:p>
            <a:endParaRPr lang="en-US" altLang="en-US" sz="1800">
              <a:latin typeface="Times New Roman" panose="02020603050405020304" pitchFamily="18" charset="0"/>
            </a:endParaRPr>
          </a:p>
          <a:p>
            <a:pPr lvl="1">
              <a:buFontTx/>
              <a:buNone/>
            </a:pPr>
            <a:r>
              <a:rPr lang="en-US" altLang="en-US" sz="2000">
                <a:latin typeface="Times New Roman" panose="02020603050405020304" pitchFamily="18" charset="0"/>
              </a:rPr>
              <a:t>Car c1 = new Car();</a:t>
            </a:r>
          </a:p>
          <a:p>
            <a:pPr lvl="1">
              <a:buFontTx/>
              <a:buNone/>
            </a:pPr>
            <a:r>
              <a:rPr lang="en-US" altLang="en-US" sz="2000">
                <a:latin typeface="Times New Roman" panose="02020603050405020304" pitchFamily="18" charset="0"/>
              </a:rPr>
              <a:t>Car c2 = new Car (Color.BLACK, 1, 2, 500);</a:t>
            </a:r>
          </a:p>
          <a:p>
            <a:endParaRPr lang="en-US" altLang="en-US" sz="2400">
              <a:latin typeface="Times New Roman" panose="02020603050405020304" pitchFamily="18" charset="0"/>
            </a:endParaRPr>
          </a:p>
        </p:txBody>
      </p:sp>
      <p:grpSp>
        <p:nvGrpSpPr>
          <p:cNvPr id="17412" name="Group 4"/>
          <p:cNvGrpSpPr>
            <a:grpSpLocks/>
          </p:cNvGrpSpPr>
          <p:nvPr/>
        </p:nvGrpSpPr>
        <p:grpSpPr bwMode="auto">
          <a:xfrm>
            <a:off x="533400" y="3276600"/>
            <a:ext cx="3657600" cy="2686050"/>
            <a:chOff x="3216" y="1296"/>
            <a:chExt cx="2304" cy="1692"/>
          </a:xfrm>
        </p:grpSpPr>
        <p:sp>
          <p:nvSpPr>
            <p:cNvPr id="17413" name="Freeform 5"/>
            <p:cNvSpPr>
              <a:spLocks/>
            </p:cNvSpPr>
            <p:nvPr/>
          </p:nvSpPr>
          <p:spPr bwMode="auto">
            <a:xfrm>
              <a:off x="3259" y="1296"/>
              <a:ext cx="2261" cy="1692"/>
            </a:xfrm>
            <a:custGeom>
              <a:avLst/>
              <a:gdLst>
                <a:gd name="T0" fmla="*/ 2642 w 2766"/>
                <a:gd name="T1" fmla="*/ 1432 h 1432"/>
                <a:gd name="T2" fmla="*/ 2679 w 2766"/>
                <a:gd name="T3" fmla="*/ 1429 h 1432"/>
                <a:gd name="T4" fmla="*/ 2716 w 2766"/>
                <a:gd name="T5" fmla="*/ 1409 h 1432"/>
                <a:gd name="T6" fmla="*/ 2743 w 2766"/>
                <a:gd name="T7" fmla="*/ 1382 h 1432"/>
                <a:gd name="T8" fmla="*/ 2760 w 2766"/>
                <a:gd name="T9" fmla="*/ 1348 h 1432"/>
                <a:gd name="T10" fmla="*/ 2766 w 2766"/>
                <a:gd name="T11" fmla="*/ 1308 h 1432"/>
                <a:gd name="T12" fmla="*/ 2766 w 2766"/>
                <a:gd name="T13" fmla="*/ 127 h 1432"/>
                <a:gd name="T14" fmla="*/ 2760 w 2766"/>
                <a:gd name="T15" fmla="*/ 87 h 1432"/>
                <a:gd name="T16" fmla="*/ 2743 w 2766"/>
                <a:gd name="T17" fmla="*/ 53 h 1432"/>
                <a:gd name="T18" fmla="*/ 2716 w 2766"/>
                <a:gd name="T19" fmla="*/ 27 h 1432"/>
                <a:gd name="T20" fmla="*/ 2679 w 2766"/>
                <a:gd name="T21" fmla="*/ 6 h 1432"/>
                <a:gd name="T22" fmla="*/ 2642 w 2766"/>
                <a:gd name="T23" fmla="*/ 0 h 1432"/>
                <a:gd name="T24" fmla="*/ 128 w 2766"/>
                <a:gd name="T25" fmla="*/ 0 h 1432"/>
                <a:gd name="T26" fmla="*/ 87 w 2766"/>
                <a:gd name="T27" fmla="*/ 6 h 1432"/>
                <a:gd name="T28" fmla="*/ 54 w 2766"/>
                <a:gd name="T29" fmla="*/ 27 h 1432"/>
                <a:gd name="T30" fmla="*/ 24 w 2766"/>
                <a:gd name="T31" fmla="*/ 53 h 1432"/>
                <a:gd name="T32" fmla="*/ 7 w 2766"/>
                <a:gd name="T33" fmla="*/ 87 h 1432"/>
                <a:gd name="T34" fmla="*/ 0 w 2766"/>
                <a:gd name="T35" fmla="*/ 127 h 1432"/>
                <a:gd name="T36" fmla="*/ 0 w 2766"/>
                <a:gd name="T37" fmla="*/ 1308 h 1432"/>
                <a:gd name="T38" fmla="*/ 7 w 2766"/>
                <a:gd name="T39" fmla="*/ 1348 h 1432"/>
                <a:gd name="T40" fmla="*/ 24 w 2766"/>
                <a:gd name="T41" fmla="*/ 1382 h 1432"/>
                <a:gd name="T42" fmla="*/ 54 w 2766"/>
                <a:gd name="T43" fmla="*/ 1409 h 1432"/>
                <a:gd name="T44" fmla="*/ 87 w 2766"/>
                <a:gd name="T45" fmla="*/ 1429 h 1432"/>
                <a:gd name="T46" fmla="*/ 128 w 2766"/>
                <a:gd name="T47" fmla="*/ 1432 h 1432"/>
                <a:gd name="T48" fmla="*/ 2642 w 2766"/>
                <a:gd name="T49" fmla="*/ 1432 h 1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66" h="1432">
                  <a:moveTo>
                    <a:pt x="2642" y="1432"/>
                  </a:moveTo>
                  <a:lnTo>
                    <a:pt x="2679" y="1429"/>
                  </a:lnTo>
                  <a:lnTo>
                    <a:pt x="2716" y="1409"/>
                  </a:lnTo>
                  <a:lnTo>
                    <a:pt x="2743" y="1382"/>
                  </a:lnTo>
                  <a:lnTo>
                    <a:pt x="2760" y="1348"/>
                  </a:lnTo>
                  <a:lnTo>
                    <a:pt x="2766" y="1308"/>
                  </a:lnTo>
                  <a:lnTo>
                    <a:pt x="2766" y="127"/>
                  </a:lnTo>
                  <a:lnTo>
                    <a:pt x="2760" y="87"/>
                  </a:lnTo>
                  <a:lnTo>
                    <a:pt x="2743" y="53"/>
                  </a:lnTo>
                  <a:lnTo>
                    <a:pt x="2716" y="27"/>
                  </a:lnTo>
                  <a:lnTo>
                    <a:pt x="2679" y="6"/>
                  </a:lnTo>
                  <a:lnTo>
                    <a:pt x="2642" y="0"/>
                  </a:lnTo>
                  <a:lnTo>
                    <a:pt x="128" y="0"/>
                  </a:lnTo>
                  <a:lnTo>
                    <a:pt x="87" y="6"/>
                  </a:lnTo>
                  <a:lnTo>
                    <a:pt x="54" y="27"/>
                  </a:lnTo>
                  <a:lnTo>
                    <a:pt x="24" y="53"/>
                  </a:lnTo>
                  <a:lnTo>
                    <a:pt x="7" y="87"/>
                  </a:lnTo>
                  <a:lnTo>
                    <a:pt x="0" y="127"/>
                  </a:lnTo>
                  <a:lnTo>
                    <a:pt x="0" y="1308"/>
                  </a:lnTo>
                  <a:lnTo>
                    <a:pt x="7" y="1348"/>
                  </a:lnTo>
                  <a:lnTo>
                    <a:pt x="24" y="1382"/>
                  </a:lnTo>
                  <a:lnTo>
                    <a:pt x="54" y="1409"/>
                  </a:lnTo>
                  <a:lnTo>
                    <a:pt x="87" y="1429"/>
                  </a:lnTo>
                  <a:lnTo>
                    <a:pt x="128" y="1432"/>
                  </a:lnTo>
                  <a:lnTo>
                    <a:pt x="2642" y="1432"/>
                  </a:lnTo>
                  <a:close/>
                </a:path>
              </a:pathLst>
            </a:custGeom>
            <a:solidFill>
              <a:srgbClr val="C6C6FF"/>
            </a:solidFill>
            <a:ln w="4763">
              <a:solidFill>
                <a:srgbClr val="000000"/>
              </a:solidFill>
              <a:prstDash val="solid"/>
              <a:round/>
              <a:headEnd/>
              <a:tailEnd/>
            </a:ln>
          </p:spPr>
          <p:txBody>
            <a:bodyPr/>
            <a:lstStyle/>
            <a:p>
              <a:endParaRPr lang="en-US"/>
            </a:p>
          </p:txBody>
        </p:sp>
        <p:sp>
          <p:nvSpPr>
            <p:cNvPr id="17414" name="Line 6"/>
            <p:cNvSpPr>
              <a:spLocks noChangeShapeType="1"/>
            </p:cNvSpPr>
            <p:nvPr/>
          </p:nvSpPr>
          <p:spPr bwMode="auto">
            <a:xfrm>
              <a:off x="3216" y="1584"/>
              <a:ext cx="2304" cy="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5" name="Line 7"/>
            <p:cNvSpPr>
              <a:spLocks noChangeShapeType="1"/>
            </p:cNvSpPr>
            <p:nvPr/>
          </p:nvSpPr>
          <p:spPr bwMode="auto">
            <a:xfrm flipV="1">
              <a:off x="3264" y="2016"/>
              <a:ext cx="2256" cy="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16" name="Rectangle 8"/>
            <p:cNvSpPr>
              <a:spLocks noChangeArrowheads="1"/>
            </p:cNvSpPr>
            <p:nvPr/>
          </p:nvSpPr>
          <p:spPr bwMode="auto">
            <a:xfrm>
              <a:off x="3312" y="2064"/>
              <a:ext cx="1365"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Car()</a:t>
              </a:r>
            </a:p>
            <a:p>
              <a:r>
                <a:rPr lang="en-US" altLang="en-US" sz="1600">
                  <a:solidFill>
                    <a:srgbClr val="000000"/>
                  </a:solidFill>
                  <a:latin typeface="LucidaSansTypewriter" charset="0"/>
                </a:rPr>
                <a:t>+ Car (Color, int, int, int)</a:t>
              </a:r>
            </a:p>
            <a:p>
              <a:r>
                <a:rPr lang="en-US" altLang="en-US" sz="1600">
                  <a:solidFill>
                    <a:srgbClr val="000000"/>
                  </a:solidFill>
                  <a:latin typeface="LucidaSansTypewriter" charset="0"/>
                </a:rPr>
                <a:t>+ …</a:t>
              </a:r>
              <a:endParaRPr lang="en-US" altLang="en-US">
                <a:latin typeface="Verdana" panose="020B0604030504040204" pitchFamily="34" charset="0"/>
              </a:endParaRPr>
            </a:p>
          </p:txBody>
        </p:sp>
        <p:sp>
          <p:nvSpPr>
            <p:cNvPr id="17417" name="Rectangle 9"/>
            <p:cNvSpPr>
              <a:spLocks noChangeArrowheads="1"/>
            </p:cNvSpPr>
            <p:nvPr/>
          </p:nvSpPr>
          <p:spPr bwMode="auto">
            <a:xfrm>
              <a:off x="4272" y="1344"/>
              <a:ext cx="2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Car</a:t>
              </a:r>
              <a:endParaRPr lang="en-US" altLang="en-US" b="1">
                <a:latin typeface="Verdana" panose="020B0604030504040204" pitchFamily="34" charset="0"/>
              </a:endParaRPr>
            </a:p>
          </p:txBody>
        </p:sp>
        <p:sp>
          <p:nvSpPr>
            <p:cNvPr id="17418" name="Rectangle 10"/>
            <p:cNvSpPr>
              <a:spLocks noChangeArrowheads="1"/>
            </p:cNvSpPr>
            <p:nvPr/>
          </p:nvSpPr>
          <p:spPr bwMode="auto">
            <a:xfrm>
              <a:off x="3306" y="1679"/>
              <a:ext cx="117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color = Color.BLUE</a:t>
              </a:r>
              <a:endParaRPr lang="en-US" altLang="en-US" b="1">
                <a:latin typeface="Verdana" panose="020B0604030504040204" pitchFamily="34" charset="0"/>
              </a:endParaRPr>
            </a:p>
          </p:txBody>
        </p:sp>
        <p:sp>
          <p:nvSpPr>
            <p:cNvPr id="17419" name="Rectangle 11"/>
            <p:cNvSpPr>
              <a:spLocks noChangeArrowheads="1"/>
            </p:cNvSpPr>
            <p:nvPr/>
          </p:nvSpPr>
          <p:spPr bwMode="auto">
            <a:xfrm>
              <a:off x="3306" y="1830"/>
              <a:ext cx="7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fuel = 1000</a:t>
              </a:r>
              <a:endParaRPr lang="en-US" altLang="en-US" b="1">
                <a:latin typeface="Verdana" panose="020B0604030504040204" pitchFamily="34" charset="0"/>
              </a:endParaRPr>
            </a:p>
          </p:txBody>
        </p:sp>
        <p:sp>
          <p:nvSpPr>
            <p:cNvPr id="17420" name="Rectangle 12"/>
            <p:cNvSpPr>
              <a:spLocks noChangeArrowheads="1"/>
            </p:cNvSpPr>
            <p:nvPr/>
          </p:nvSpPr>
          <p:spPr bwMode="auto">
            <a:xfrm>
              <a:off x="4656" y="1680"/>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xpos = 0</a:t>
              </a:r>
              <a:endParaRPr lang="en-US" altLang="en-US" b="1">
                <a:latin typeface="Verdana" panose="020B0604030504040204" pitchFamily="34" charset="0"/>
              </a:endParaRPr>
            </a:p>
          </p:txBody>
        </p:sp>
        <p:sp>
          <p:nvSpPr>
            <p:cNvPr id="17421" name="Rectangle 13"/>
            <p:cNvSpPr>
              <a:spLocks noChangeArrowheads="1"/>
            </p:cNvSpPr>
            <p:nvPr/>
          </p:nvSpPr>
          <p:spPr bwMode="auto">
            <a:xfrm>
              <a:off x="4656" y="1831"/>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ypos = 0</a:t>
              </a:r>
              <a:endParaRPr lang="en-US" altLang="en-US" b="1">
                <a:latin typeface="Verdana" panose="020B0604030504040204" pitchFamily="34" charset="0"/>
              </a:endParaRPr>
            </a:p>
          </p:txBody>
        </p:sp>
      </p:grpSp>
      <p:grpSp>
        <p:nvGrpSpPr>
          <p:cNvPr id="17422" name="Group 14"/>
          <p:cNvGrpSpPr>
            <a:grpSpLocks/>
          </p:cNvGrpSpPr>
          <p:nvPr/>
        </p:nvGrpSpPr>
        <p:grpSpPr bwMode="auto">
          <a:xfrm>
            <a:off x="4572000" y="3276600"/>
            <a:ext cx="3657600" cy="2686050"/>
            <a:chOff x="3216" y="1296"/>
            <a:chExt cx="2304" cy="1692"/>
          </a:xfrm>
        </p:grpSpPr>
        <p:sp>
          <p:nvSpPr>
            <p:cNvPr id="17423" name="Freeform 15"/>
            <p:cNvSpPr>
              <a:spLocks/>
            </p:cNvSpPr>
            <p:nvPr/>
          </p:nvSpPr>
          <p:spPr bwMode="auto">
            <a:xfrm>
              <a:off x="3259" y="1296"/>
              <a:ext cx="2261" cy="1692"/>
            </a:xfrm>
            <a:custGeom>
              <a:avLst/>
              <a:gdLst>
                <a:gd name="T0" fmla="*/ 2642 w 2766"/>
                <a:gd name="T1" fmla="*/ 1432 h 1432"/>
                <a:gd name="T2" fmla="*/ 2679 w 2766"/>
                <a:gd name="T3" fmla="*/ 1429 h 1432"/>
                <a:gd name="T4" fmla="*/ 2716 w 2766"/>
                <a:gd name="T5" fmla="*/ 1409 h 1432"/>
                <a:gd name="T6" fmla="*/ 2743 w 2766"/>
                <a:gd name="T7" fmla="*/ 1382 h 1432"/>
                <a:gd name="T8" fmla="*/ 2760 w 2766"/>
                <a:gd name="T9" fmla="*/ 1348 h 1432"/>
                <a:gd name="T10" fmla="*/ 2766 w 2766"/>
                <a:gd name="T11" fmla="*/ 1308 h 1432"/>
                <a:gd name="T12" fmla="*/ 2766 w 2766"/>
                <a:gd name="T13" fmla="*/ 127 h 1432"/>
                <a:gd name="T14" fmla="*/ 2760 w 2766"/>
                <a:gd name="T15" fmla="*/ 87 h 1432"/>
                <a:gd name="T16" fmla="*/ 2743 w 2766"/>
                <a:gd name="T17" fmla="*/ 53 h 1432"/>
                <a:gd name="T18" fmla="*/ 2716 w 2766"/>
                <a:gd name="T19" fmla="*/ 27 h 1432"/>
                <a:gd name="T20" fmla="*/ 2679 w 2766"/>
                <a:gd name="T21" fmla="*/ 6 h 1432"/>
                <a:gd name="T22" fmla="*/ 2642 w 2766"/>
                <a:gd name="T23" fmla="*/ 0 h 1432"/>
                <a:gd name="T24" fmla="*/ 128 w 2766"/>
                <a:gd name="T25" fmla="*/ 0 h 1432"/>
                <a:gd name="T26" fmla="*/ 87 w 2766"/>
                <a:gd name="T27" fmla="*/ 6 h 1432"/>
                <a:gd name="T28" fmla="*/ 54 w 2766"/>
                <a:gd name="T29" fmla="*/ 27 h 1432"/>
                <a:gd name="T30" fmla="*/ 24 w 2766"/>
                <a:gd name="T31" fmla="*/ 53 h 1432"/>
                <a:gd name="T32" fmla="*/ 7 w 2766"/>
                <a:gd name="T33" fmla="*/ 87 h 1432"/>
                <a:gd name="T34" fmla="*/ 0 w 2766"/>
                <a:gd name="T35" fmla="*/ 127 h 1432"/>
                <a:gd name="T36" fmla="*/ 0 w 2766"/>
                <a:gd name="T37" fmla="*/ 1308 h 1432"/>
                <a:gd name="T38" fmla="*/ 7 w 2766"/>
                <a:gd name="T39" fmla="*/ 1348 h 1432"/>
                <a:gd name="T40" fmla="*/ 24 w 2766"/>
                <a:gd name="T41" fmla="*/ 1382 h 1432"/>
                <a:gd name="T42" fmla="*/ 54 w 2766"/>
                <a:gd name="T43" fmla="*/ 1409 h 1432"/>
                <a:gd name="T44" fmla="*/ 87 w 2766"/>
                <a:gd name="T45" fmla="*/ 1429 h 1432"/>
                <a:gd name="T46" fmla="*/ 128 w 2766"/>
                <a:gd name="T47" fmla="*/ 1432 h 1432"/>
                <a:gd name="T48" fmla="*/ 2642 w 2766"/>
                <a:gd name="T49" fmla="*/ 1432 h 1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66" h="1432">
                  <a:moveTo>
                    <a:pt x="2642" y="1432"/>
                  </a:moveTo>
                  <a:lnTo>
                    <a:pt x="2679" y="1429"/>
                  </a:lnTo>
                  <a:lnTo>
                    <a:pt x="2716" y="1409"/>
                  </a:lnTo>
                  <a:lnTo>
                    <a:pt x="2743" y="1382"/>
                  </a:lnTo>
                  <a:lnTo>
                    <a:pt x="2760" y="1348"/>
                  </a:lnTo>
                  <a:lnTo>
                    <a:pt x="2766" y="1308"/>
                  </a:lnTo>
                  <a:lnTo>
                    <a:pt x="2766" y="127"/>
                  </a:lnTo>
                  <a:lnTo>
                    <a:pt x="2760" y="87"/>
                  </a:lnTo>
                  <a:lnTo>
                    <a:pt x="2743" y="53"/>
                  </a:lnTo>
                  <a:lnTo>
                    <a:pt x="2716" y="27"/>
                  </a:lnTo>
                  <a:lnTo>
                    <a:pt x="2679" y="6"/>
                  </a:lnTo>
                  <a:lnTo>
                    <a:pt x="2642" y="0"/>
                  </a:lnTo>
                  <a:lnTo>
                    <a:pt x="128" y="0"/>
                  </a:lnTo>
                  <a:lnTo>
                    <a:pt x="87" y="6"/>
                  </a:lnTo>
                  <a:lnTo>
                    <a:pt x="54" y="27"/>
                  </a:lnTo>
                  <a:lnTo>
                    <a:pt x="24" y="53"/>
                  </a:lnTo>
                  <a:lnTo>
                    <a:pt x="7" y="87"/>
                  </a:lnTo>
                  <a:lnTo>
                    <a:pt x="0" y="127"/>
                  </a:lnTo>
                  <a:lnTo>
                    <a:pt x="0" y="1308"/>
                  </a:lnTo>
                  <a:lnTo>
                    <a:pt x="7" y="1348"/>
                  </a:lnTo>
                  <a:lnTo>
                    <a:pt x="24" y="1382"/>
                  </a:lnTo>
                  <a:lnTo>
                    <a:pt x="54" y="1409"/>
                  </a:lnTo>
                  <a:lnTo>
                    <a:pt x="87" y="1429"/>
                  </a:lnTo>
                  <a:lnTo>
                    <a:pt x="128" y="1432"/>
                  </a:lnTo>
                  <a:lnTo>
                    <a:pt x="2642" y="1432"/>
                  </a:lnTo>
                  <a:close/>
                </a:path>
              </a:pathLst>
            </a:custGeom>
            <a:solidFill>
              <a:srgbClr val="C6C6FF"/>
            </a:solidFill>
            <a:ln w="4763">
              <a:solidFill>
                <a:srgbClr val="000000"/>
              </a:solidFill>
              <a:prstDash val="solid"/>
              <a:round/>
              <a:headEnd/>
              <a:tailEnd/>
            </a:ln>
          </p:spPr>
          <p:txBody>
            <a:bodyPr/>
            <a:lstStyle/>
            <a:p>
              <a:endParaRPr lang="en-US"/>
            </a:p>
          </p:txBody>
        </p:sp>
        <p:sp>
          <p:nvSpPr>
            <p:cNvPr id="17424" name="Line 16"/>
            <p:cNvSpPr>
              <a:spLocks noChangeShapeType="1"/>
            </p:cNvSpPr>
            <p:nvPr/>
          </p:nvSpPr>
          <p:spPr bwMode="auto">
            <a:xfrm>
              <a:off x="3216" y="1584"/>
              <a:ext cx="2304" cy="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5" name="Line 17"/>
            <p:cNvSpPr>
              <a:spLocks noChangeShapeType="1"/>
            </p:cNvSpPr>
            <p:nvPr/>
          </p:nvSpPr>
          <p:spPr bwMode="auto">
            <a:xfrm flipV="1">
              <a:off x="3264" y="2016"/>
              <a:ext cx="2256" cy="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7426" name="Rectangle 18"/>
            <p:cNvSpPr>
              <a:spLocks noChangeArrowheads="1"/>
            </p:cNvSpPr>
            <p:nvPr/>
          </p:nvSpPr>
          <p:spPr bwMode="auto">
            <a:xfrm>
              <a:off x="3312" y="2064"/>
              <a:ext cx="1365" cy="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Car()</a:t>
              </a:r>
            </a:p>
            <a:p>
              <a:r>
                <a:rPr lang="en-US" altLang="en-US" sz="1600">
                  <a:solidFill>
                    <a:srgbClr val="000000"/>
                  </a:solidFill>
                  <a:latin typeface="LucidaSansTypewriter" charset="0"/>
                </a:rPr>
                <a:t>+ Car (Color, int, int, int)</a:t>
              </a:r>
            </a:p>
            <a:p>
              <a:r>
                <a:rPr lang="en-US" altLang="en-US" sz="1600">
                  <a:solidFill>
                    <a:srgbClr val="000000"/>
                  </a:solidFill>
                  <a:latin typeface="LucidaSansTypewriter" charset="0"/>
                </a:rPr>
                <a:t>+ …</a:t>
              </a:r>
              <a:endParaRPr lang="en-US" altLang="en-US">
                <a:latin typeface="Verdana" panose="020B0604030504040204" pitchFamily="34" charset="0"/>
              </a:endParaRPr>
            </a:p>
          </p:txBody>
        </p:sp>
        <p:sp>
          <p:nvSpPr>
            <p:cNvPr id="17427" name="Rectangle 19"/>
            <p:cNvSpPr>
              <a:spLocks noChangeArrowheads="1"/>
            </p:cNvSpPr>
            <p:nvPr/>
          </p:nvSpPr>
          <p:spPr bwMode="auto">
            <a:xfrm>
              <a:off x="4272" y="1344"/>
              <a:ext cx="2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Car</a:t>
              </a:r>
              <a:endParaRPr lang="en-US" altLang="en-US" b="1">
                <a:latin typeface="Verdana" panose="020B0604030504040204" pitchFamily="34" charset="0"/>
              </a:endParaRPr>
            </a:p>
          </p:txBody>
        </p:sp>
        <p:sp>
          <p:nvSpPr>
            <p:cNvPr id="17428" name="Rectangle 20"/>
            <p:cNvSpPr>
              <a:spLocks noChangeArrowheads="1"/>
            </p:cNvSpPr>
            <p:nvPr/>
          </p:nvSpPr>
          <p:spPr bwMode="auto">
            <a:xfrm>
              <a:off x="3306" y="1679"/>
              <a:ext cx="1262"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color = Color.BLACK</a:t>
              </a:r>
              <a:endParaRPr lang="en-US" altLang="en-US" b="1">
                <a:latin typeface="Verdana" panose="020B0604030504040204" pitchFamily="34" charset="0"/>
              </a:endParaRPr>
            </a:p>
          </p:txBody>
        </p:sp>
        <p:sp>
          <p:nvSpPr>
            <p:cNvPr id="17429" name="Rectangle 21"/>
            <p:cNvSpPr>
              <a:spLocks noChangeArrowheads="1"/>
            </p:cNvSpPr>
            <p:nvPr/>
          </p:nvSpPr>
          <p:spPr bwMode="auto">
            <a:xfrm>
              <a:off x="3306" y="1830"/>
              <a:ext cx="64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fuel = 500</a:t>
              </a:r>
              <a:endParaRPr lang="en-US" altLang="en-US" b="1">
                <a:latin typeface="Verdana" panose="020B0604030504040204" pitchFamily="34" charset="0"/>
              </a:endParaRPr>
            </a:p>
          </p:txBody>
        </p:sp>
        <p:sp>
          <p:nvSpPr>
            <p:cNvPr id="17430" name="Rectangle 22"/>
            <p:cNvSpPr>
              <a:spLocks noChangeArrowheads="1"/>
            </p:cNvSpPr>
            <p:nvPr/>
          </p:nvSpPr>
          <p:spPr bwMode="auto">
            <a:xfrm>
              <a:off x="4656" y="1680"/>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xpos = 1</a:t>
              </a:r>
              <a:endParaRPr lang="en-US" altLang="en-US" b="1">
                <a:latin typeface="Verdana" panose="020B0604030504040204" pitchFamily="34" charset="0"/>
              </a:endParaRPr>
            </a:p>
          </p:txBody>
        </p:sp>
        <p:sp>
          <p:nvSpPr>
            <p:cNvPr id="17431" name="Rectangle 23"/>
            <p:cNvSpPr>
              <a:spLocks noChangeArrowheads="1"/>
            </p:cNvSpPr>
            <p:nvPr/>
          </p:nvSpPr>
          <p:spPr bwMode="auto">
            <a:xfrm>
              <a:off x="4656" y="1831"/>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ypos = 2</a:t>
              </a:r>
              <a:endParaRPr lang="en-US" altLang="en-US" b="1">
                <a:latin typeface="Verdana" panose="020B0604030504040204" pitchFamily="34" charset="0"/>
              </a:endParaRPr>
            </a:p>
          </p:txBody>
        </p:sp>
      </p:grpSp>
      <p:grpSp>
        <p:nvGrpSpPr>
          <p:cNvPr id="17432" name="Group 24"/>
          <p:cNvGrpSpPr>
            <a:grpSpLocks/>
          </p:cNvGrpSpPr>
          <p:nvPr/>
        </p:nvGrpSpPr>
        <p:grpSpPr bwMode="auto">
          <a:xfrm>
            <a:off x="1011238" y="2514600"/>
            <a:ext cx="817562" cy="457200"/>
            <a:chOff x="3805" y="960"/>
            <a:chExt cx="515" cy="288"/>
          </a:xfrm>
        </p:grpSpPr>
        <p:sp>
          <p:nvSpPr>
            <p:cNvPr id="17433" name="Rectangle 25"/>
            <p:cNvSpPr>
              <a:spLocks noChangeArrowheads="1"/>
            </p:cNvSpPr>
            <p:nvPr/>
          </p:nvSpPr>
          <p:spPr bwMode="auto">
            <a:xfrm>
              <a:off x="3973" y="960"/>
              <a:ext cx="347" cy="288"/>
            </a:xfrm>
            <a:prstGeom prst="rect">
              <a:avLst/>
            </a:prstGeom>
            <a:solidFill>
              <a:srgbClr val="C6C6FF"/>
            </a:solidFill>
            <a:ln w="6350">
              <a:solidFill>
                <a:srgbClr val="000000"/>
              </a:solidFill>
              <a:miter lim="800000"/>
              <a:headEnd/>
              <a:tailEnd/>
            </a:ln>
          </p:spPr>
          <p:txBody>
            <a:bodyPr/>
            <a:lstStyle/>
            <a:p>
              <a:endParaRPr lang="en-US"/>
            </a:p>
          </p:txBody>
        </p:sp>
        <p:sp>
          <p:nvSpPr>
            <p:cNvPr id="17434" name="Rectangle 26"/>
            <p:cNvSpPr>
              <a:spLocks noChangeArrowheads="1"/>
            </p:cNvSpPr>
            <p:nvPr/>
          </p:nvSpPr>
          <p:spPr bwMode="auto">
            <a:xfrm>
              <a:off x="3805" y="1037"/>
              <a:ext cx="1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600">
                  <a:solidFill>
                    <a:srgbClr val="008000"/>
                  </a:solidFill>
                  <a:latin typeface="LucidaSansTypewriter" charset="0"/>
                </a:rPr>
                <a:t>c1</a:t>
              </a:r>
              <a:endParaRPr lang="en-US" altLang="en-US" b="1">
                <a:solidFill>
                  <a:srgbClr val="008000"/>
                </a:solidFill>
                <a:latin typeface="Verdana" panose="020B0604030504040204" pitchFamily="34" charset="0"/>
              </a:endParaRPr>
            </a:p>
          </p:txBody>
        </p:sp>
      </p:grpSp>
      <p:sp>
        <p:nvSpPr>
          <p:cNvPr id="17435" name="Line 27"/>
          <p:cNvSpPr>
            <a:spLocks noChangeShapeType="1"/>
          </p:cNvSpPr>
          <p:nvPr/>
        </p:nvSpPr>
        <p:spPr bwMode="auto">
          <a:xfrm>
            <a:off x="1600200" y="2743200"/>
            <a:ext cx="762000" cy="533400"/>
          </a:xfrm>
          <a:prstGeom prst="line">
            <a:avLst/>
          </a:prstGeom>
          <a:noFill/>
          <a:ln w="254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grpSp>
        <p:nvGrpSpPr>
          <p:cNvPr id="17436" name="Group 28"/>
          <p:cNvGrpSpPr>
            <a:grpSpLocks/>
          </p:cNvGrpSpPr>
          <p:nvPr/>
        </p:nvGrpSpPr>
        <p:grpSpPr bwMode="auto">
          <a:xfrm>
            <a:off x="5049838" y="2514600"/>
            <a:ext cx="817562" cy="457200"/>
            <a:chOff x="3805" y="960"/>
            <a:chExt cx="515" cy="288"/>
          </a:xfrm>
        </p:grpSpPr>
        <p:sp>
          <p:nvSpPr>
            <p:cNvPr id="17437" name="Rectangle 29"/>
            <p:cNvSpPr>
              <a:spLocks noChangeArrowheads="1"/>
            </p:cNvSpPr>
            <p:nvPr/>
          </p:nvSpPr>
          <p:spPr bwMode="auto">
            <a:xfrm>
              <a:off x="3973" y="960"/>
              <a:ext cx="347" cy="288"/>
            </a:xfrm>
            <a:prstGeom prst="rect">
              <a:avLst/>
            </a:prstGeom>
            <a:solidFill>
              <a:srgbClr val="C6C6FF"/>
            </a:solidFill>
            <a:ln w="6350">
              <a:solidFill>
                <a:srgbClr val="000000"/>
              </a:solidFill>
              <a:miter lim="800000"/>
              <a:headEnd/>
              <a:tailEnd/>
            </a:ln>
          </p:spPr>
          <p:txBody>
            <a:bodyPr/>
            <a:lstStyle/>
            <a:p>
              <a:endParaRPr lang="en-US"/>
            </a:p>
          </p:txBody>
        </p:sp>
        <p:sp>
          <p:nvSpPr>
            <p:cNvPr id="17438" name="Rectangle 30"/>
            <p:cNvSpPr>
              <a:spLocks noChangeArrowheads="1"/>
            </p:cNvSpPr>
            <p:nvPr/>
          </p:nvSpPr>
          <p:spPr bwMode="auto">
            <a:xfrm>
              <a:off x="3805" y="1037"/>
              <a:ext cx="1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algn="ctr"/>
              <a:r>
                <a:rPr lang="en-US" altLang="en-US" sz="1600">
                  <a:solidFill>
                    <a:srgbClr val="008000"/>
                  </a:solidFill>
                  <a:latin typeface="LucidaSansTypewriter" charset="0"/>
                </a:rPr>
                <a:t>c2</a:t>
              </a:r>
              <a:endParaRPr lang="en-US" altLang="en-US" b="1">
                <a:solidFill>
                  <a:srgbClr val="008000"/>
                </a:solidFill>
                <a:latin typeface="Verdana" panose="020B0604030504040204" pitchFamily="34" charset="0"/>
              </a:endParaRPr>
            </a:p>
          </p:txBody>
        </p:sp>
      </p:grpSp>
      <p:sp>
        <p:nvSpPr>
          <p:cNvPr id="17439" name="Line 31"/>
          <p:cNvSpPr>
            <a:spLocks noChangeShapeType="1"/>
          </p:cNvSpPr>
          <p:nvPr/>
        </p:nvSpPr>
        <p:spPr bwMode="auto">
          <a:xfrm>
            <a:off x="5638800" y="2743200"/>
            <a:ext cx="762000" cy="533400"/>
          </a:xfrm>
          <a:prstGeom prst="line">
            <a:avLst/>
          </a:prstGeom>
          <a:noFill/>
          <a:ln w="25400">
            <a:solidFill>
              <a:srgbClr val="FF0000"/>
            </a:solidFill>
            <a:round/>
            <a:headEnd/>
            <a:tailEnd type="triangle" w="lg" len="lg"/>
          </a:ln>
          <a:extLst>
            <a:ext uri="{909E8E84-426E-40DD-AFC4-6F175D3DCCD1}">
              <a14:hiddenFill xmlns:a14="http://schemas.microsoft.com/office/drawing/2010/main">
                <a:noFill/>
              </a14:hiddenFill>
            </a:ext>
          </a:extLst>
        </p:spPr>
        <p:txBody>
          <a:bodyPr/>
          <a:lstStyle/>
          <a:p>
            <a:endParaRPr lang="en-US"/>
          </a:p>
        </p:txBody>
      </p:sp>
      <p:sp>
        <p:nvSpPr>
          <p:cNvPr id="2" name="Date Placeholder 1"/>
          <p:cNvSpPr>
            <a:spLocks noGrp="1"/>
          </p:cNvSpPr>
          <p:nvPr>
            <p:ph type="dt" sz="half" idx="10"/>
          </p:nvPr>
        </p:nvSpPr>
        <p:spPr/>
        <p:txBody>
          <a:bodyPr/>
          <a:lstStyle/>
          <a:p>
            <a:fld id="{D415B184-40A2-48D1-B543-13237DCF42ED}"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19</a:t>
            </a:fld>
            <a:endParaRPr lang="en-US" altLang="en-US"/>
          </a:p>
        </p:txBody>
      </p:sp>
    </p:spTree>
    <p:extLst>
      <p:ext uri="{BB962C8B-B14F-4D97-AF65-F5344CB8AC3E}">
        <p14:creationId xmlns:p14="http://schemas.microsoft.com/office/powerpoint/2010/main" val="19234038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7411">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174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7435"/>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17412"/>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17411">
                                            <p:txEl>
                                              <p:pRg st="3" end="3"/>
                                            </p:txEl>
                                          </p:spTgt>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743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7439"/>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74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35" grpId="0" animBg="1"/>
      <p:bldP spid="17439"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152400"/>
            <a:ext cx="8229600" cy="1143000"/>
          </a:xfrm>
        </p:spPr>
        <p:txBody>
          <a:bodyPr/>
          <a:lstStyle/>
          <a:p>
            <a:r>
              <a:rPr lang="en-US" altLang="en-US" sz="4000" b="1">
                <a:latin typeface="Times New Roman" panose="02020603050405020304" pitchFamily="18" charset="0"/>
              </a:rPr>
              <a:t>So what does private mean?</a:t>
            </a:r>
          </a:p>
        </p:txBody>
      </p:sp>
      <p:sp>
        <p:nvSpPr>
          <p:cNvPr id="18435" name="Rectangle 3"/>
          <p:cNvSpPr>
            <a:spLocks noGrp="1" noChangeArrowheads="1"/>
          </p:cNvSpPr>
          <p:nvPr>
            <p:ph type="body" idx="1"/>
          </p:nvPr>
        </p:nvSpPr>
        <p:spPr>
          <a:xfrm>
            <a:off x="457200" y="914400"/>
            <a:ext cx="8229600" cy="5211763"/>
          </a:xfrm>
        </p:spPr>
        <p:txBody>
          <a:bodyPr/>
          <a:lstStyle/>
          <a:p>
            <a:pPr>
              <a:lnSpc>
                <a:spcPct val="90000"/>
              </a:lnSpc>
            </a:pPr>
            <a:r>
              <a:rPr lang="en-US" altLang="en-US" sz="2000">
                <a:latin typeface="Times New Roman" panose="02020603050405020304" pitchFamily="18" charset="0"/>
              </a:rPr>
              <a:t>Consider the following code</a:t>
            </a:r>
          </a:p>
          <a:p>
            <a:pPr>
              <a:lnSpc>
                <a:spcPct val="90000"/>
              </a:lnSpc>
            </a:pPr>
            <a:endParaRPr lang="en-US" altLang="en-US" sz="2000">
              <a:latin typeface="Times New Roman" panose="02020603050405020304" pitchFamily="18" charset="0"/>
            </a:endParaRPr>
          </a:p>
          <a:p>
            <a:pPr lvl="1">
              <a:lnSpc>
                <a:spcPct val="90000"/>
              </a:lnSpc>
              <a:buFontTx/>
              <a:buNone/>
            </a:pPr>
            <a:r>
              <a:rPr lang="en-US" altLang="en-US" sz="2000">
                <a:latin typeface="Times New Roman" panose="02020603050405020304" pitchFamily="18" charset="0"/>
              </a:rPr>
              <a:t>class CarSimulation {</a:t>
            </a:r>
          </a:p>
          <a:p>
            <a:pPr lvl="2">
              <a:lnSpc>
                <a:spcPct val="90000"/>
              </a:lnSpc>
              <a:buFontTx/>
              <a:buNone/>
            </a:pPr>
            <a:r>
              <a:rPr lang="en-US" altLang="en-US" sz="2000">
                <a:latin typeface="Times New Roman" panose="02020603050405020304" pitchFamily="18" charset="0"/>
              </a:rPr>
              <a:t>public static void main (String[] args) {</a:t>
            </a:r>
          </a:p>
          <a:p>
            <a:pPr lvl="1">
              <a:lnSpc>
                <a:spcPct val="90000"/>
              </a:lnSpc>
              <a:buFontTx/>
              <a:buNone/>
            </a:pPr>
            <a:r>
              <a:rPr lang="en-US" altLang="en-US" sz="2000">
                <a:latin typeface="Times New Roman" panose="02020603050405020304" pitchFamily="18" charset="0"/>
              </a:rPr>
              <a:t>		   Car c = new Car();</a:t>
            </a:r>
          </a:p>
          <a:p>
            <a:pPr lvl="1">
              <a:lnSpc>
                <a:spcPct val="90000"/>
              </a:lnSpc>
              <a:buFontTx/>
              <a:buNone/>
            </a:pPr>
            <a:r>
              <a:rPr lang="en-US" altLang="en-US" sz="2000">
                <a:latin typeface="Times New Roman" panose="02020603050405020304" pitchFamily="18" charset="0"/>
              </a:rPr>
              <a:t>		   System.out.println (c.fuel);</a:t>
            </a:r>
          </a:p>
          <a:p>
            <a:pPr lvl="1">
              <a:lnSpc>
                <a:spcPct val="90000"/>
              </a:lnSpc>
              <a:buFontTx/>
              <a:buNone/>
            </a:pPr>
            <a:r>
              <a:rPr lang="en-US" altLang="en-US" sz="2000">
                <a:latin typeface="Times New Roman" panose="02020603050405020304" pitchFamily="18" charset="0"/>
              </a:rPr>
              <a:t>	}</a:t>
            </a:r>
          </a:p>
          <a:p>
            <a:pPr lvl="1">
              <a:lnSpc>
                <a:spcPct val="90000"/>
              </a:lnSpc>
              <a:buFontTx/>
              <a:buNone/>
            </a:pPr>
            <a:r>
              <a:rPr lang="en-US" altLang="en-US" sz="2000">
                <a:latin typeface="Times New Roman" panose="02020603050405020304" pitchFamily="18" charset="0"/>
              </a:rPr>
              <a:t>}</a:t>
            </a:r>
          </a:p>
          <a:p>
            <a:pPr>
              <a:lnSpc>
                <a:spcPct val="90000"/>
              </a:lnSpc>
            </a:pPr>
            <a:endParaRPr lang="en-US" altLang="en-US" sz="2000">
              <a:latin typeface="Times New Roman" panose="02020603050405020304" pitchFamily="18" charset="0"/>
            </a:endParaRPr>
          </a:p>
          <a:p>
            <a:pPr>
              <a:lnSpc>
                <a:spcPct val="90000"/>
              </a:lnSpc>
            </a:pPr>
            <a:r>
              <a:rPr lang="en-US" altLang="en-US" sz="2000">
                <a:latin typeface="Times New Roman" panose="02020603050405020304" pitchFamily="18" charset="0"/>
              </a:rPr>
              <a:t>Recall that fuel is a private instance variable in the Car class</a:t>
            </a:r>
          </a:p>
          <a:p>
            <a:pPr>
              <a:lnSpc>
                <a:spcPct val="90000"/>
              </a:lnSpc>
            </a:pPr>
            <a:r>
              <a:rPr lang="en-US" altLang="en-US" sz="2000">
                <a:latin typeface="Times New Roman" panose="02020603050405020304" pitchFamily="18" charset="0"/>
              </a:rPr>
              <a:t>Private means that code outside the class CANNOT access the variable</a:t>
            </a:r>
          </a:p>
          <a:p>
            <a:pPr lvl="1">
              <a:lnSpc>
                <a:spcPct val="90000"/>
              </a:lnSpc>
            </a:pPr>
            <a:r>
              <a:rPr lang="en-US" altLang="en-US" sz="2000">
                <a:latin typeface="Times New Roman" panose="02020603050405020304" pitchFamily="18" charset="0"/>
              </a:rPr>
              <a:t>For either reading or writing</a:t>
            </a:r>
          </a:p>
          <a:p>
            <a:pPr>
              <a:lnSpc>
                <a:spcPct val="90000"/>
              </a:lnSpc>
            </a:pPr>
            <a:r>
              <a:rPr lang="en-US" altLang="en-US" sz="2000">
                <a:latin typeface="Times New Roman" panose="02020603050405020304" pitchFamily="18" charset="0"/>
              </a:rPr>
              <a:t>Java will not compile the above code</a:t>
            </a:r>
          </a:p>
          <a:p>
            <a:pPr lvl="1">
              <a:lnSpc>
                <a:spcPct val="90000"/>
              </a:lnSpc>
            </a:pPr>
            <a:r>
              <a:rPr lang="en-US" altLang="en-US" sz="2000">
                <a:latin typeface="Times New Roman" panose="02020603050405020304" pitchFamily="18" charset="0"/>
              </a:rPr>
              <a:t>If fuel were public, the above code would work</a:t>
            </a:r>
          </a:p>
        </p:txBody>
      </p:sp>
      <p:sp>
        <p:nvSpPr>
          <p:cNvPr id="18436" name="Line 4"/>
          <p:cNvSpPr>
            <a:spLocks noChangeShapeType="1"/>
          </p:cNvSpPr>
          <p:nvPr/>
        </p:nvSpPr>
        <p:spPr bwMode="auto">
          <a:xfrm flipH="1">
            <a:off x="4724400" y="1676400"/>
            <a:ext cx="1524000" cy="533400"/>
          </a:xfrm>
          <a:prstGeom prst="line">
            <a:avLst/>
          </a:prstGeom>
          <a:noFill/>
          <a:ln w="25400">
            <a:solidFill>
              <a:srgbClr val="008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37" name="Text Box 5"/>
          <p:cNvSpPr txBox="1">
            <a:spLocks noChangeArrowheads="1"/>
          </p:cNvSpPr>
          <p:nvPr/>
        </p:nvSpPr>
        <p:spPr bwMode="auto">
          <a:xfrm>
            <a:off x="6248400" y="1447800"/>
            <a:ext cx="2174875" cy="64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FFFF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b="1">
                <a:solidFill>
                  <a:srgbClr val="0066CC"/>
                </a:solidFill>
                <a:latin typeface="Verdana" panose="020B0604030504040204" pitchFamily="34" charset="0"/>
              </a:rPr>
              <a:t>Note that it’s a </a:t>
            </a:r>
          </a:p>
          <a:p>
            <a:pPr algn="ctr"/>
            <a:r>
              <a:rPr lang="en-US" altLang="en-US" b="1">
                <a:solidFill>
                  <a:srgbClr val="0066CC"/>
                </a:solidFill>
                <a:latin typeface="Verdana" panose="020B0604030504040204" pitchFamily="34" charset="0"/>
              </a:rPr>
              <a:t>different class!</a:t>
            </a:r>
          </a:p>
        </p:txBody>
      </p:sp>
      <p:sp>
        <p:nvSpPr>
          <p:cNvPr id="2" name="Date Placeholder 1"/>
          <p:cNvSpPr>
            <a:spLocks noGrp="1"/>
          </p:cNvSpPr>
          <p:nvPr>
            <p:ph type="dt" sz="half" idx="10"/>
          </p:nvPr>
        </p:nvSpPr>
        <p:spPr/>
        <p:txBody>
          <a:bodyPr/>
          <a:lstStyle/>
          <a:p>
            <a:fld id="{105B9FBE-9EA4-432F-8854-E0A3797FC00B}"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20</a:t>
            </a:fld>
            <a:endParaRPr lang="en-US" altLang="en-US"/>
          </a:p>
        </p:txBody>
      </p:sp>
    </p:spTree>
    <p:extLst>
      <p:ext uri="{BB962C8B-B14F-4D97-AF65-F5344CB8AC3E}">
        <p14:creationId xmlns:p14="http://schemas.microsoft.com/office/powerpoint/2010/main" val="22985359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843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43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43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843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43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435">
                                            <p:txEl>
                                              <p:pRg st="7" end="7"/>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4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8436"/>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8435">
                                            <p:txEl>
                                              <p:pRg st="9" end="9"/>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8435">
                                            <p:txEl>
                                              <p:pRg st="10" end="10"/>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18435">
                                            <p:txEl>
                                              <p:pRg st="11" end="11"/>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8435">
                                            <p:txEl>
                                              <p:pRg st="12" end="12"/>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8435">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6" grpId="0" animBg="1"/>
      <p:bldP spid="1843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r>
              <a:rPr lang="en-US" altLang="en-US" sz="4000" b="1">
                <a:latin typeface="Times New Roman" panose="02020603050405020304" pitchFamily="18" charset="0"/>
              </a:rPr>
              <a:t>So how do we get the fuel of a Car?</a:t>
            </a:r>
          </a:p>
        </p:txBody>
      </p:sp>
      <p:sp>
        <p:nvSpPr>
          <p:cNvPr id="19459" name="Rectangle 3"/>
          <p:cNvSpPr>
            <a:spLocks noGrp="1" noChangeArrowheads="1"/>
          </p:cNvSpPr>
          <p:nvPr>
            <p:ph type="body" idx="1"/>
          </p:nvPr>
        </p:nvSpPr>
        <p:spPr/>
        <p:txBody>
          <a:bodyPr/>
          <a:lstStyle/>
          <a:p>
            <a:r>
              <a:rPr lang="en-US" altLang="en-US" sz="1800">
                <a:latin typeface="Times New Roman" panose="02020603050405020304" pitchFamily="18" charset="0"/>
              </a:rPr>
              <a:t>Via </a:t>
            </a:r>
            <a:r>
              <a:rPr lang="en-US" altLang="en-US" sz="1800">
                <a:solidFill>
                  <a:srgbClr val="008000"/>
                </a:solidFill>
                <a:latin typeface="Times New Roman" panose="02020603050405020304" pitchFamily="18" charset="0"/>
              </a:rPr>
              <a:t>accessor</a:t>
            </a:r>
            <a:r>
              <a:rPr lang="en-US" altLang="en-US" sz="1800">
                <a:latin typeface="Times New Roman" panose="02020603050405020304" pitchFamily="18" charset="0"/>
              </a:rPr>
              <a:t> methods in the Car class:</a:t>
            </a:r>
          </a:p>
          <a:p>
            <a:endParaRPr lang="en-US" altLang="en-US" sz="1800">
              <a:latin typeface="Times New Roman" panose="02020603050405020304" pitchFamily="18" charset="0"/>
            </a:endParaRPr>
          </a:p>
          <a:p>
            <a:pPr lvl="1">
              <a:buFontTx/>
              <a:buNone/>
            </a:pPr>
            <a:r>
              <a:rPr lang="en-US" altLang="en-US" sz="1800">
                <a:latin typeface="Times New Roman" panose="02020603050405020304" pitchFamily="18" charset="0"/>
              </a:rPr>
              <a:t>public int getFuel() {</a:t>
            </a:r>
          </a:p>
          <a:p>
            <a:pPr lvl="1">
              <a:buFontTx/>
              <a:buNone/>
            </a:pPr>
            <a:r>
              <a:rPr lang="en-US" altLang="en-US" sz="1800">
                <a:latin typeface="Times New Roman" panose="02020603050405020304" pitchFamily="18" charset="0"/>
              </a:rPr>
              <a:t>	return fuel;</a:t>
            </a:r>
          </a:p>
          <a:p>
            <a:pPr lvl="1">
              <a:buFontTx/>
              <a:buNone/>
            </a:pPr>
            <a:r>
              <a:rPr lang="en-US" altLang="en-US" sz="1800">
                <a:latin typeface="Times New Roman" panose="02020603050405020304" pitchFamily="18" charset="0"/>
              </a:rPr>
              <a:t>}</a:t>
            </a:r>
          </a:p>
          <a:p>
            <a:pPr lvl="1">
              <a:buFontTx/>
              <a:buNone/>
            </a:pPr>
            <a:endParaRPr lang="en-US" altLang="en-US" sz="1800">
              <a:latin typeface="Times New Roman" panose="02020603050405020304" pitchFamily="18" charset="0"/>
            </a:endParaRPr>
          </a:p>
          <a:p>
            <a:pPr lvl="1">
              <a:buFontTx/>
              <a:buNone/>
            </a:pPr>
            <a:r>
              <a:rPr lang="en-US" altLang="en-US" sz="1800">
                <a:latin typeface="Times New Roman" panose="02020603050405020304" pitchFamily="18" charset="0"/>
              </a:rPr>
              <a:t>public Color getColor() {</a:t>
            </a:r>
          </a:p>
          <a:p>
            <a:pPr lvl="1">
              <a:buFontTx/>
              <a:buNone/>
            </a:pPr>
            <a:r>
              <a:rPr lang="en-US" altLang="en-US" sz="1800">
                <a:latin typeface="Times New Roman" panose="02020603050405020304" pitchFamily="18" charset="0"/>
              </a:rPr>
              <a:t>   return color;</a:t>
            </a:r>
          </a:p>
          <a:p>
            <a:pPr lvl="1">
              <a:buFontTx/>
              <a:buNone/>
            </a:pPr>
            <a:r>
              <a:rPr lang="en-US" altLang="en-US" sz="1800">
                <a:latin typeface="Times New Roman" panose="02020603050405020304" pitchFamily="18" charset="0"/>
              </a:rPr>
              <a:t>}</a:t>
            </a:r>
            <a:endParaRPr lang="en-US" altLang="en-US" sz="1800" b="1">
              <a:latin typeface="Times New Roman" panose="02020603050405020304" pitchFamily="18" charset="0"/>
            </a:endParaRPr>
          </a:p>
          <a:p>
            <a:endParaRPr lang="en-US" altLang="en-US" sz="1800">
              <a:latin typeface="Times New Roman" panose="02020603050405020304" pitchFamily="18" charset="0"/>
            </a:endParaRPr>
          </a:p>
          <a:p>
            <a:r>
              <a:rPr lang="en-US" altLang="en-US" sz="1800">
                <a:latin typeface="Times New Roman" panose="02020603050405020304" pitchFamily="18" charset="0"/>
              </a:rPr>
              <a:t>As these methods are within the Car class, they can read the private instance variables</a:t>
            </a:r>
          </a:p>
          <a:p>
            <a:r>
              <a:rPr lang="en-US" altLang="en-US" sz="1800">
                <a:latin typeface="Times New Roman" panose="02020603050405020304" pitchFamily="18" charset="0"/>
              </a:rPr>
              <a:t>As the methods are public, anybody can call them</a:t>
            </a:r>
          </a:p>
        </p:txBody>
      </p:sp>
      <p:sp>
        <p:nvSpPr>
          <p:cNvPr id="19460" name="Text Box 4"/>
          <p:cNvSpPr txBox="1">
            <a:spLocks noChangeArrowheads="1"/>
          </p:cNvSpPr>
          <p:nvPr/>
        </p:nvSpPr>
        <p:spPr bwMode="auto">
          <a:xfrm>
            <a:off x="5257800" y="2357438"/>
            <a:ext cx="2425700" cy="253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FFFF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000">
                <a:latin typeface="Times New Roman" panose="02020603050405020304" pitchFamily="18" charset="0"/>
              </a:rPr>
              <a:t>public int getYPos() {</a:t>
            </a:r>
          </a:p>
          <a:p>
            <a:r>
              <a:rPr lang="en-US" altLang="en-US" sz="2000">
                <a:latin typeface="Times New Roman" panose="02020603050405020304" pitchFamily="18" charset="0"/>
              </a:rPr>
              <a:t>   return ypos;</a:t>
            </a:r>
          </a:p>
          <a:p>
            <a:r>
              <a:rPr lang="en-US" altLang="en-US" sz="2000">
                <a:latin typeface="Times New Roman" panose="02020603050405020304" pitchFamily="18" charset="0"/>
              </a:rPr>
              <a:t>}</a:t>
            </a:r>
          </a:p>
          <a:p>
            <a:endParaRPr lang="en-US" altLang="en-US" sz="2000">
              <a:latin typeface="Times New Roman" panose="02020603050405020304" pitchFamily="18" charset="0"/>
            </a:endParaRPr>
          </a:p>
          <a:p>
            <a:r>
              <a:rPr lang="en-US" altLang="en-US" sz="2000">
                <a:latin typeface="Times New Roman" panose="02020603050405020304" pitchFamily="18" charset="0"/>
              </a:rPr>
              <a:t>public int getXPos() {</a:t>
            </a:r>
          </a:p>
          <a:p>
            <a:pPr lvl="1"/>
            <a:r>
              <a:rPr lang="en-US" altLang="en-US" sz="2000">
                <a:latin typeface="Times New Roman" panose="02020603050405020304" pitchFamily="18" charset="0"/>
              </a:rPr>
              <a:t>	return xpos;</a:t>
            </a:r>
          </a:p>
          <a:p>
            <a:pPr lvl="1"/>
            <a:r>
              <a:rPr lang="en-US" altLang="en-US" sz="2000">
                <a:latin typeface="Times New Roman" panose="02020603050405020304" pitchFamily="18" charset="0"/>
              </a:rPr>
              <a:t>}</a:t>
            </a:r>
          </a:p>
          <a:p>
            <a:endParaRPr lang="en-US" altLang="en-US" sz="2000">
              <a:latin typeface="Times New Roman" panose="02020603050405020304" pitchFamily="18" charset="0"/>
            </a:endParaRPr>
          </a:p>
        </p:txBody>
      </p:sp>
      <p:sp>
        <p:nvSpPr>
          <p:cNvPr id="19461" name="Line 5"/>
          <p:cNvSpPr>
            <a:spLocks noChangeShapeType="1"/>
          </p:cNvSpPr>
          <p:nvPr/>
        </p:nvSpPr>
        <p:spPr bwMode="auto">
          <a:xfrm>
            <a:off x="4953000" y="2209800"/>
            <a:ext cx="0" cy="2819400"/>
          </a:xfrm>
          <a:prstGeom prst="line">
            <a:avLst/>
          </a:prstGeom>
          <a:noFill/>
          <a:ln w="254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Date Placeholder 1"/>
          <p:cNvSpPr>
            <a:spLocks noGrp="1"/>
          </p:cNvSpPr>
          <p:nvPr>
            <p:ph type="dt" sz="half" idx="10"/>
          </p:nvPr>
        </p:nvSpPr>
        <p:spPr/>
        <p:txBody>
          <a:bodyPr/>
          <a:lstStyle/>
          <a:p>
            <a:fld id="{0B869502-641F-4CC4-9C18-6D897070F3C7}"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21</a:t>
            </a:fld>
            <a:endParaRPr lang="en-US" altLang="en-US"/>
          </a:p>
        </p:txBody>
      </p:sp>
    </p:spTree>
    <p:extLst>
      <p:ext uri="{BB962C8B-B14F-4D97-AF65-F5344CB8AC3E}">
        <p14:creationId xmlns:p14="http://schemas.microsoft.com/office/powerpoint/2010/main" val="23238735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9459">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459">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459">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19459">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459">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9459">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19460">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9460">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9460">
                                            <p:txEl>
                                              <p:pRg st="2" end="2"/>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19460">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460">
                                            <p:txEl>
                                              <p:pRg st="5" end="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19460">
                                            <p:txEl>
                                              <p:pRg st="6" end="6"/>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19459">
                                            <p:txEl>
                                              <p:pRg st="10" end="10"/>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1945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57200" y="-152400"/>
            <a:ext cx="8229600" cy="1143000"/>
          </a:xfrm>
        </p:spPr>
        <p:txBody>
          <a:bodyPr/>
          <a:lstStyle/>
          <a:p>
            <a:r>
              <a:rPr lang="en-US" altLang="en-US" sz="4000" b="1">
                <a:latin typeface="Times New Roman" panose="02020603050405020304" pitchFamily="18" charset="0"/>
              </a:rPr>
              <a:t>So how do we </a:t>
            </a:r>
            <a:r>
              <a:rPr lang="en-US" altLang="en-US" sz="4000" b="1">
                <a:solidFill>
                  <a:srgbClr val="008000"/>
                </a:solidFill>
                <a:latin typeface="Times New Roman" panose="02020603050405020304" pitchFamily="18" charset="0"/>
              </a:rPr>
              <a:t>set</a:t>
            </a:r>
            <a:r>
              <a:rPr lang="en-US" altLang="en-US" sz="4000" b="1">
                <a:solidFill>
                  <a:srgbClr val="FFFF00"/>
                </a:solidFill>
                <a:latin typeface="Times New Roman" panose="02020603050405020304" pitchFamily="18" charset="0"/>
              </a:rPr>
              <a:t> </a:t>
            </a:r>
            <a:r>
              <a:rPr lang="en-US" altLang="en-US" sz="4000" b="1">
                <a:latin typeface="Times New Roman" panose="02020603050405020304" pitchFamily="18" charset="0"/>
              </a:rPr>
              <a:t>the fuel of a Car?</a:t>
            </a:r>
          </a:p>
        </p:txBody>
      </p:sp>
      <p:sp>
        <p:nvSpPr>
          <p:cNvPr id="20483" name="Rectangle 3"/>
          <p:cNvSpPr>
            <a:spLocks noGrp="1" noChangeArrowheads="1"/>
          </p:cNvSpPr>
          <p:nvPr>
            <p:ph type="body" idx="1"/>
          </p:nvPr>
        </p:nvSpPr>
        <p:spPr>
          <a:xfrm>
            <a:off x="457200" y="914400"/>
            <a:ext cx="8229600" cy="5211763"/>
          </a:xfrm>
        </p:spPr>
        <p:txBody>
          <a:bodyPr/>
          <a:lstStyle/>
          <a:p>
            <a:r>
              <a:rPr lang="en-US" altLang="en-US" sz="2400">
                <a:latin typeface="Times New Roman" panose="02020603050405020304" pitchFamily="18" charset="0"/>
              </a:rPr>
              <a:t>Via </a:t>
            </a:r>
            <a:r>
              <a:rPr lang="en-US" altLang="en-US" sz="2400">
                <a:solidFill>
                  <a:srgbClr val="008000"/>
                </a:solidFill>
                <a:latin typeface="Times New Roman" panose="02020603050405020304" pitchFamily="18" charset="0"/>
              </a:rPr>
              <a:t>mutator</a:t>
            </a:r>
            <a:r>
              <a:rPr lang="en-US" altLang="en-US" sz="2400">
                <a:latin typeface="Times New Roman" panose="02020603050405020304" pitchFamily="18" charset="0"/>
              </a:rPr>
              <a:t> methods in the Car class:</a:t>
            </a:r>
          </a:p>
          <a:p>
            <a:endParaRPr lang="en-US" altLang="en-US" sz="2400">
              <a:latin typeface="Times New Roman" panose="02020603050405020304" pitchFamily="18" charset="0"/>
            </a:endParaRPr>
          </a:p>
          <a:p>
            <a:pPr>
              <a:buFontTx/>
              <a:buNone/>
            </a:pPr>
            <a:r>
              <a:rPr lang="en-US" altLang="en-US" sz="2000">
                <a:latin typeface="Times New Roman" panose="02020603050405020304" pitchFamily="18" charset="0"/>
              </a:rPr>
              <a:t> public void setFuel (int f) {</a:t>
            </a:r>
          </a:p>
          <a:p>
            <a:pPr>
              <a:buFontTx/>
              <a:buNone/>
            </a:pPr>
            <a:r>
              <a:rPr lang="en-US" altLang="en-US" sz="2000">
                <a:latin typeface="Times New Roman" panose="02020603050405020304" pitchFamily="18" charset="0"/>
              </a:rPr>
              <a:t>	fuel = f;</a:t>
            </a:r>
          </a:p>
          <a:p>
            <a:pPr>
              <a:buFontTx/>
              <a:buNone/>
            </a:pPr>
            <a:r>
              <a:rPr lang="en-US" altLang="en-US" sz="2000">
                <a:latin typeface="Times New Roman" panose="02020603050405020304" pitchFamily="18" charset="0"/>
              </a:rPr>
              <a:t> }</a:t>
            </a:r>
          </a:p>
          <a:p>
            <a:pPr>
              <a:buFontTx/>
              <a:buNone/>
            </a:pPr>
            <a:endParaRPr lang="en-US" altLang="en-US" sz="2000">
              <a:latin typeface="Times New Roman" panose="02020603050405020304" pitchFamily="18" charset="0"/>
            </a:endParaRPr>
          </a:p>
          <a:p>
            <a:pPr>
              <a:buFontTx/>
              <a:buNone/>
            </a:pPr>
            <a:r>
              <a:rPr lang="en-US" altLang="en-US" sz="2000">
                <a:latin typeface="Times New Roman" panose="02020603050405020304" pitchFamily="18" charset="0"/>
              </a:rPr>
              <a:t> public void setColor (Color c) {</a:t>
            </a:r>
          </a:p>
          <a:p>
            <a:pPr>
              <a:buFontTx/>
              <a:buNone/>
            </a:pPr>
            <a:r>
              <a:rPr lang="en-US" altLang="en-US" sz="2000">
                <a:latin typeface="Times New Roman" panose="02020603050405020304" pitchFamily="18" charset="0"/>
              </a:rPr>
              <a:t>	color = c;</a:t>
            </a:r>
          </a:p>
          <a:p>
            <a:pPr>
              <a:buFontTx/>
              <a:buNone/>
            </a:pPr>
            <a:r>
              <a:rPr lang="en-US" altLang="en-US" sz="2000">
                <a:latin typeface="Times New Roman" panose="02020603050405020304" pitchFamily="18" charset="0"/>
              </a:rPr>
              <a:t> }</a:t>
            </a:r>
          </a:p>
          <a:p>
            <a:pPr lvl="1"/>
            <a:endParaRPr lang="en-US" altLang="en-US" sz="1700">
              <a:latin typeface="Times New Roman" panose="02020603050405020304" pitchFamily="18" charset="0"/>
            </a:endParaRPr>
          </a:p>
          <a:p>
            <a:r>
              <a:rPr lang="en-US" altLang="en-US" sz="2400">
                <a:latin typeface="Times New Roman" panose="02020603050405020304" pitchFamily="18" charset="0"/>
              </a:rPr>
              <a:t>As these methods are within the Car class, they can read the private instance variables</a:t>
            </a:r>
          </a:p>
          <a:p>
            <a:r>
              <a:rPr lang="en-US" altLang="en-US" sz="2400">
                <a:latin typeface="Times New Roman" panose="02020603050405020304" pitchFamily="18" charset="0"/>
              </a:rPr>
              <a:t>As the methods are public, anybody can call them</a:t>
            </a:r>
          </a:p>
        </p:txBody>
      </p:sp>
      <p:sp>
        <p:nvSpPr>
          <p:cNvPr id="20484" name="Text Box 4"/>
          <p:cNvSpPr txBox="1">
            <a:spLocks noChangeArrowheads="1"/>
          </p:cNvSpPr>
          <p:nvPr/>
        </p:nvSpPr>
        <p:spPr bwMode="auto">
          <a:xfrm>
            <a:off x="5029200" y="2276475"/>
            <a:ext cx="3959225" cy="19034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FFFF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1700">
                <a:latin typeface="Lucida Console" panose="020B0609040504020204" pitchFamily="49" charset="0"/>
              </a:rPr>
              <a:t>public void setXPos (int x) {</a:t>
            </a:r>
          </a:p>
          <a:p>
            <a:r>
              <a:rPr lang="en-US" altLang="en-US" sz="1700">
                <a:latin typeface="Lucida Console" panose="020B0609040504020204" pitchFamily="49" charset="0"/>
              </a:rPr>
              <a:t>   xpos = x;</a:t>
            </a:r>
          </a:p>
          <a:p>
            <a:r>
              <a:rPr lang="en-US" altLang="en-US" sz="1700">
                <a:latin typeface="Lucida Console" panose="020B0609040504020204" pitchFamily="49" charset="0"/>
              </a:rPr>
              <a:t>}</a:t>
            </a:r>
          </a:p>
          <a:p>
            <a:endParaRPr lang="en-US" altLang="en-US" sz="1700">
              <a:latin typeface="Lucida Console" panose="020B0609040504020204" pitchFamily="49" charset="0"/>
            </a:endParaRPr>
          </a:p>
          <a:p>
            <a:r>
              <a:rPr lang="en-US" altLang="en-US" sz="1700">
                <a:latin typeface="Lucida Console" panose="020B0609040504020204" pitchFamily="49" charset="0"/>
              </a:rPr>
              <a:t>public void setYPos (int y) {</a:t>
            </a:r>
          </a:p>
          <a:p>
            <a:r>
              <a:rPr lang="en-US" altLang="en-US" sz="1700">
                <a:latin typeface="Lucida Console" panose="020B0609040504020204" pitchFamily="49" charset="0"/>
              </a:rPr>
              <a:t>   ypos = y;</a:t>
            </a:r>
          </a:p>
          <a:p>
            <a:r>
              <a:rPr lang="en-US" altLang="en-US" sz="1700">
                <a:latin typeface="Lucida Console" panose="020B0609040504020204" pitchFamily="49" charset="0"/>
              </a:rPr>
              <a:t>}</a:t>
            </a:r>
          </a:p>
        </p:txBody>
      </p:sp>
      <p:sp>
        <p:nvSpPr>
          <p:cNvPr id="20485" name="Line 5"/>
          <p:cNvSpPr>
            <a:spLocks noChangeShapeType="1"/>
          </p:cNvSpPr>
          <p:nvPr/>
        </p:nvSpPr>
        <p:spPr bwMode="auto">
          <a:xfrm>
            <a:off x="4953000" y="2133600"/>
            <a:ext cx="0" cy="2667000"/>
          </a:xfrm>
          <a:prstGeom prst="line">
            <a:avLst/>
          </a:prstGeom>
          <a:noFill/>
          <a:ln w="25400">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Date Placeholder 1"/>
          <p:cNvSpPr>
            <a:spLocks noGrp="1"/>
          </p:cNvSpPr>
          <p:nvPr>
            <p:ph type="dt" sz="half" idx="10"/>
          </p:nvPr>
        </p:nvSpPr>
        <p:spPr/>
        <p:txBody>
          <a:bodyPr/>
          <a:lstStyle/>
          <a:p>
            <a:fld id="{C193867D-812F-4968-B640-8E1BBFDA1EA7}"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22</a:t>
            </a:fld>
            <a:endParaRPr lang="en-US" altLang="en-US"/>
          </a:p>
        </p:txBody>
      </p:sp>
    </p:spTree>
    <p:extLst>
      <p:ext uri="{BB962C8B-B14F-4D97-AF65-F5344CB8AC3E}">
        <p14:creationId xmlns:p14="http://schemas.microsoft.com/office/powerpoint/2010/main" val="62934633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048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0483">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48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483">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048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48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0483">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0484">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0484">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0484">
                                            <p:txEl>
                                              <p:pRg st="2" end="2"/>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0484">
                                            <p:txEl>
                                              <p:pRg st="4" end="4"/>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0484">
                                            <p:txEl>
                                              <p:pRg st="5" end="5"/>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0484">
                                            <p:txEl>
                                              <p:pRg st="6" end="6"/>
                                            </p:txEl>
                                          </p:spTgt>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20483">
                                            <p:txEl>
                                              <p:pRg st="10" end="10"/>
                                            </p:txEl>
                                          </p:spTgt>
                                        </p:tgtEl>
                                        <p:attrNameLst>
                                          <p:attrName>style.visibility</p:attrName>
                                        </p:attrNameLst>
                                      </p:cBhvr>
                                      <p:to>
                                        <p:strVal val="visible"/>
                                      </p:to>
                                    </p:set>
                                  </p:childTnLst>
                                </p:cTn>
                              </p:par>
                            </p:childTnLst>
                          </p:cTn>
                        </p:par>
                      </p:childTnLst>
                    </p:cTn>
                  </p:par>
                  <p:par>
                    <p:cTn id="43" fill="hold" nodeType="clickPar">
                      <p:stCondLst>
                        <p:cond delay="indefinite"/>
                      </p:stCondLst>
                      <p:childTnLst>
                        <p:par>
                          <p:cTn id="44" fill="hold" nodeType="withGroup">
                            <p:stCondLst>
                              <p:cond delay="0"/>
                            </p:stCondLst>
                            <p:childTnLst>
                              <p:par>
                                <p:cTn id="45" presetID="1" presetClass="entr" presetSubtype="0" fill="hold" nodeType="clickEffect">
                                  <p:stCondLst>
                                    <p:cond delay="0"/>
                                  </p:stCondLst>
                                  <p:childTnLst>
                                    <p:set>
                                      <p:cBhvr>
                                        <p:cTn id="46" dur="1" fill="hold">
                                          <p:stCondLst>
                                            <p:cond delay="0"/>
                                          </p:stCondLst>
                                        </p:cTn>
                                        <p:tgtEl>
                                          <p:spTgt spid="2048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457200" y="274638"/>
            <a:ext cx="8305800" cy="563562"/>
          </a:xfrm>
        </p:spPr>
        <p:txBody>
          <a:bodyPr>
            <a:normAutofit fontScale="90000"/>
          </a:bodyPr>
          <a:lstStyle/>
          <a:p>
            <a:r>
              <a:rPr lang="en-US" altLang="en-US" sz="4000" b="1">
                <a:latin typeface="Times New Roman" panose="02020603050405020304" pitchFamily="18" charset="0"/>
              </a:rPr>
              <a:t>Why use all this?</a:t>
            </a:r>
          </a:p>
        </p:txBody>
      </p:sp>
      <p:sp>
        <p:nvSpPr>
          <p:cNvPr id="21507" name="Rectangle 3"/>
          <p:cNvSpPr>
            <a:spLocks noGrp="1" noChangeArrowheads="1"/>
          </p:cNvSpPr>
          <p:nvPr>
            <p:ph type="body" idx="1"/>
          </p:nvPr>
        </p:nvSpPr>
        <p:spPr/>
        <p:txBody>
          <a:bodyPr/>
          <a:lstStyle/>
          <a:p>
            <a:r>
              <a:rPr lang="en-US" altLang="en-US" sz="2400">
                <a:latin typeface="Times New Roman" panose="02020603050405020304" pitchFamily="18" charset="0"/>
              </a:rPr>
              <a:t>These methods are called a </a:t>
            </a:r>
            <a:br>
              <a:rPr lang="en-US" altLang="en-US" sz="2400">
                <a:latin typeface="Times New Roman" panose="02020603050405020304" pitchFamily="18" charset="0"/>
              </a:rPr>
            </a:br>
            <a:r>
              <a:rPr lang="en-US" altLang="en-US" sz="2400">
                <a:latin typeface="Times New Roman" panose="02020603050405020304" pitchFamily="18" charset="0"/>
              </a:rPr>
              <a:t>get/set pair</a:t>
            </a:r>
          </a:p>
          <a:p>
            <a:pPr lvl="1"/>
            <a:r>
              <a:rPr lang="en-US" altLang="en-US" sz="2400">
                <a:latin typeface="Times New Roman" panose="02020603050405020304" pitchFamily="18" charset="0"/>
              </a:rPr>
              <a:t>Used with private variables</a:t>
            </a:r>
          </a:p>
          <a:p>
            <a:endParaRPr lang="en-US" altLang="en-US" sz="2400">
              <a:latin typeface="Times New Roman" panose="02020603050405020304" pitchFamily="18" charset="0"/>
            </a:endParaRPr>
          </a:p>
          <a:p>
            <a:endParaRPr lang="en-US" altLang="en-US" sz="2400">
              <a:latin typeface="Times New Roman" panose="02020603050405020304" pitchFamily="18" charset="0"/>
            </a:endParaRPr>
          </a:p>
          <a:p>
            <a:r>
              <a:rPr lang="en-US" altLang="en-US" sz="2400">
                <a:latin typeface="Times New Roman" panose="02020603050405020304" pitchFamily="18" charset="0"/>
              </a:rPr>
              <a:t>Our Car so far:</a:t>
            </a:r>
          </a:p>
        </p:txBody>
      </p:sp>
      <p:grpSp>
        <p:nvGrpSpPr>
          <p:cNvPr id="21508" name="Group 4"/>
          <p:cNvGrpSpPr>
            <a:grpSpLocks/>
          </p:cNvGrpSpPr>
          <p:nvPr/>
        </p:nvGrpSpPr>
        <p:grpSpPr bwMode="auto">
          <a:xfrm>
            <a:off x="5257800" y="1447800"/>
            <a:ext cx="3657600" cy="4724400"/>
            <a:chOff x="3168" y="864"/>
            <a:chExt cx="2304" cy="2976"/>
          </a:xfrm>
        </p:grpSpPr>
        <p:sp>
          <p:nvSpPr>
            <p:cNvPr id="21509" name="Freeform 5"/>
            <p:cNvSpPr>
              <a:spLocks/>
            </p:cNvSpPr>
            <p:nvPr/>
          </p:nvSpPr>
          <p:spPr bwMode="auto">
            <a:xfrm>
              <a:off x="3211" y="864"/>
              <a:ext cx="2261" cy="2976"/>
            </a:xfrm>
            <a:custGeom>
              <a:avLst/>
              <a:gdLst>
                <a:gd name="T0" fmla="*/ 2642 w 2766"/>
                <a:gd name="T1" fmla="*/ 1432 h 1432"/>
                <a:gd name="T2" fmla="*/ 2679 w 2766"/>
                <a:gd name="T3" fmla="*/ 1429 h 1432"/>
                <a:gd name="T4" fmla="*/ 2716 w 2766"/>
                <a:gd name="T5" fmla="*/ 1409 h 1432"/>
                <a:gd name="T6" fmla="*/ 2743 w 2766"/>
                <a:gd name="T7" fmla="*/ 1382 h 1432"/>
                <a:gd name="T8" fmla="*/ 2760 w 2766"/>
                <a:gd name="T9" fmla="*/ 1348 h 1432"/>
                <a:gd name="T10" fmla="*/ 2766 w 2766"/>
                <a:gd name="T11" fmla="*/ 1308 h 1432"/>
                <a:gd name="T12" fmla="*/ 2766 w 2766"/>
                <a:gd name="T13" fmla="*/ 127 h 1432"/>
                <a:gd name="T14" fmla="*/ 2760 w 2766"/>
                <a:gd name="T15" fmla="*/ 87 h 1432"/>
                <a:gd name="T16" fmla="*/ 2743 w 2766"/>
                <a:gd name="T17" fmla="*/ 53 h 1432"/>
                <a:gd name="T18" fmla="*/ 2716 w 2766"/>
                <a:gd name="T19" fmla="*/ 27 h 1432"/>
                <a:gd name="T20" fmla="*/ 2679 w 2766"/>
                <a:gd name="T21" fmla="*/ 6 h 1432"/>
                <a:gd name="T22" fmla="*/ 2642 w 2766"/>
                <a:gd name="T23" fmla="*/ 0 h 1432"/>
                <a:gd name="T24" fmla="*/ 128 w 2766"/>
                <a:gd name="T25" fmla="*/ 0 h 1432"/>
                <a:gd name="T26" fmla="*/ 87 w 2766"/>
                <a:gd name="T27" fmla="*/ 6 h 1432"/>
                <a:gd name="T28" fmla="*/ 54 w 2766"/>
                <a:gd name="T29" fmla="*/ 27 h 1432"/>
                <a:gd name="T30" fmla="*/ 24 w 2766"/>
                <a:gd name="T31" fmla="*/ 53 h 1432"/>
                <a:gd name="T32" fmla="*/ 7 w 2766"/>
                <a:gd name="T33" fmla="*/ 87 h 1432"/>
                <a:gd name="T34" fmla="*/ 0 w 2766"/>
                <a:gd name="T35" fmla="*/ 127 h 1432"/>
                <a:gd name="T36" fmla="*/ 0 w 2766"/>
                <a:gd name="T37" fmla="*/ 1308 h 1432"/>
                <a:gd name="T38" fmla="*/ 7 w 2766"/>
                <a:gd name="T39" fmla="*/ 1348 h 1432"/>
                <a:gd name="T40" fmla="*/ 24 w 2766"/>
                <a:gd name="T41" fmla="*/ 1382 h 1432"/>
                <a:gd name="T42" fmla="*/ 54 w 2766"/>
                <a:gd name="T43" fmla="*/ 1409 h 1432"/>
                <a:gd name="T44" fmla="*/ 87 w 2766"/>
                <a:gd name="T45" fmla="*/ 1429 h 1432"/>
                <a:gd name="T46" fmla="*/ 128 w 2766"/>
                <a:gd name="T47" fmla="*/ 1432 h 1432"/>
                <a:gd name="T48" fmla="*/ 2642 w 2766"/>
                <a:gd name="T49" fmla="*/ 1432 h 14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766" h="1432">
                  <a:moveTo>
                    <a:pt x="2642" y="1432"/>
                  </a:moveTo>
                  <a:lnTo>
                    <a:pt x="2679" y="1429"/>
                  </a:lnTo>
                  <a:lnTo>
                    <a:pt x="2716" y="1409"/>
                  </a:lnTo>
                  <a:lnTo>
                    <a:pt x="2743" y="1382"/>
                  </a:lnTo>
                  <a:lnTo>
                    <a:pt x="2760" y="1348"/>
                  </a:lnTo>
                  <a:lnTo>
                    <a:pt x="2766" y="1308"/>
                  </a:lnTo>
                  <a:lnTo>
                    <a:pt x="2766" y="127"/>
                  </a:lnTo>
                  <a:lnTo>
                    <a:pt x="2760" y="87"/>
                  </a:lnTo>
                  <a:lnTo>
                    <a:pt x="2743" y="53"/>
                  </a:lnTo>
                  <a:lnTo>
                    <a:pt x="2716" y="27"/>
                  </a:lnTo>
                  <a:lnTo>
                    <a:pt x="2679" y="6"/>
                  </a:lnTo>
                  <a:lnTo>
                    <a:pt x="2642" y="0"/>
                  </a:lnTo>
                  <a:lnTo>
                    <a:pt x="128" y="0"/>
                  </a:lnTo>
                  <a:lnTo>
                    <a:pt x="87" y="6"/>
                  </a:lnTo>
                  <a:lnTo>
                    <a:pt x="54" y="27"/>
                  </a:lnTo>
                  <a:lnTo>
                    <a:pt x="24" y="53"/>
                  </a:lnTo>
                  <a:lnTo>
                    <a:pt x="7" y="87"/>
                  </a:lnTo>
                  <a:lnTo>
                    <a:pt x="0" y="127"/>
                  </a:lnTo>
                  <a:lnTo>
                    <a:pt x="0" y="1308"/>
                  </a:lnTo>
                  <a:lnTo>
                    <a:pt x="7" y="1348"/>
                  </a:lnTo>
                  <a:lnTo>
                    <a:pt x="24" y="1382"/>
                  </a:lnTo>
                  <a:lnTo>
                    <a:pt x="54" y="1409"/>
                  </a:lnTo>
                  <a:lnTo>
                    <a:pt x="87" y="1429"/>
                  </a:lnTo>
                  <a:lnTo>
                    <a:pt x="128" y="1432"/>
                  </a:lnTo>
                  <a:lnTo>
                    <a:pt x="2642" y="1432"/>
                  </a:lnTo>
                  <a:close/>
                </a:path>
              </a:pathLst>
            </a:custGeom>
            <a:solidFill>
              <a:srgbClr val="C6C6FF"/>
            </a:solidFill>
            <a:ln w="4763">
              <a:solidFill>
                <a:srgbClr val="000000"/>
              </a:solidFill>
              <a:prstDash val="solid"/>
              <a:round/>
              <a:headEnd/>
              <a:tailEnd/>
            </a:ln>
          </p:spPr>
          <p:txBody>
            <a:bodyPr/>
            <a:lstStyle/>
            <a:p>
              <a:endParaRPr lang="en-US"/>
            </a:p>
          </p:txBody>
        </p:sp>
        <p:sp>
          <p:nvSpPr>
            <p:cNvPr id="21510" name="Line 6"/>
            <p:cNvSpPr>
              <a:spLocks noChangeShapeType="1"/>
            </p:cNvSpPr>
            <p:nvPr/>
          </p:nvSpPr>
          <p:spPr bwMode="auto">
            <a:xfrm>
              <a:off x="3168" y="1152"/>
              <a:ext cx="2304" cy="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1" name="Line 7"/>
            <p:cNvSpPr>
              <a:spLocks noChangeShapeType="1"/>
            </p:cNvSpPr>
            <p:nvPr/>
          </p:nvSpPr>
          <p:spPr bwMode="auto">
            <a:xfrm flipV="1">
              <a:off x="3216" y="1584"/>
              <a:ext cx="2256" cy="0"/>
            </a:xfrm>
            <a:prstGeom prst="line">
              <a:avLst/>
            </a:prstGeom>
            <a:noFill/>
            <a:ln w="4763">
              <a:solidFill>
                <a:srgbClr val="00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21512" name="Rectangle 8"/>
            <p:cNvSpPr>
              <a:spLocks noChangeArrowheads="1"/>
            </p:cNvSpPr>
            <p:nvPr/>
          </p:nvSpPr>
          <p:spPr bwMode="auto">
            <a:xfrm>
              <a:off x="3312" y="1632"/>
              <a:ext cx="1551" cy="18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latin typeface="LucidaSansTypewriter" charset="0"/>
                </a:rPr>
                <a:t>+ Car()</a:t>
              </a:r>
            </a:p>
            <a:p>
              <a:r>
                <a:rPr lang="en-US" altLang="en-US" sz="1600">
                  <a:latin typeface="LucidaSansTypewriter" charset="0"/>
                </a:rPr>
                <a:t>+ Car (Color, int, int, int)</a:t>
              </a:r>
            </a:p>
            <a:p>
              <a:r>
                <a:rPr lang="en-US" altLang="en-US" sz="1600" b="1">
                  <a:latin typeface="LucidaSansTypewriter" charset="0"/>
                </a:rPr>
                <a:t>+ void setXPos (int x)</a:t>
              </a:r>
            </a:p>
            <a:p>
              <a:r>
                <a:rPr lang="en-US" altLang="en-US" sz="1600" b="1">
                  <a:latin typeface="LucidaSansTypewriter" charset="0"/>
                </a:rPr>
                <a:t>+ void setYPos (int y)</a:t>
              </a:r>
            </a:p>
            <a:p>
              <a:r>
                <a:rPr lang="en-US" altLang="en-US" sz="1600" b="1">
                  <a:latin typeface="LucidaSansTypewriter" charset="0"/>
                </a:rPr>
                <a:t>+ void setPos (int x, int y)</a:t>
              </a:r>
            </a:p>
            <a:p>
              <a:r>
                <a:rPr lang="en-US" altLang="en-US" sz="1600" b="1">
                  <a:latin typeface="LucidaSansTypewriter" charset="0"/>
                </a:rPr>
                <a:t>+ void setColor (Color c)</a:t>
              </a:r>
            </a:p>
            <a:p>
              <a:r>
                <a:rPr lang="en-US" altLang="en-US" sz="1600" b="1">
                  <a:latin typeface="LucidaSansTypewriter" charset="0"/>
                </a:rPr>
                <a:t>+ void setFuel (int f)</a:t>
              </a:r>
            </a:p>
            <a:p>
              <a:r>
                <a:rPr lang="en-US" altLang="en-US" sz="1600" b="1">
                  <a:latin typeface="LucidaSansTypewriter" charset="0"/>
                </a:rPr>
                <a:t>+ int getFuel()</a:t>
              </a:r>
            </a:p>
            <a:p>
              <a:r>
                <a:rPr lang="en-US" altLang="en-US" sz="1600" b="1">
                  <a:latin typeface="LucidaSansTypewriter" charset="0"/>
                </a:rPr>
                <a:t>+ int getXPos()</a:t>
              </a:r>
            </a:p>
            <a:p>
              <a:r>
                <a:rPr lang="en-US" altLang="en-US" sz="1600" b="1">
                  <a:latin typeface="LucidaSansTypewriter" charset="0"/>
                </a:rPr>
                <a:t>+ int getYPos()</a:t>
              </a:r>
            </a:p>
            <a:p>
              <a:r>
                <a:rPr lang="en-US" altLang="en-US" sz="1600" b="1">
                  <a:latin typeface="LucidaSansTypewriter" charset="0"/>
                </a:rPr>
                <a:t>+ Color getColor()</a:t>
              </a:r>
            </a:p>
            <a:p>
              <a:r>
                <a:rPr lang="en-US" altLang="en-US" sz="1600">
                  <a:latin typeface="LucidaSansTypewriter" charset="0"/>
                </a:rPr>
                <a:t>+ …</a:t>
              </a:r>
            </a:p>
          </p:txBody>
        </p:sp>
        <p:sp>
          <p:nvSpPr>
            <p:cNvPr id="21513" name="Rectangle 9"/>
            <p:cNvSpPr>
              <a:spLocks noChangeArrowheads="1"/>
            </p:cNvSpPr>
            <p:nvPr/>
          </p:nvSpPr>
          <p:spPr bwMode="auto">
            <a:xfrm>
              <a:off x="4224" y="912"/>
              <a:ext cx="20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Car</a:t>
              </a:r>
              <a:endParaRPr lang="en-US" altLang="en-US" b="1">
                <a:latin typeface="Verdana" panose="020B0604030504040204" pitchFamily="34" charset="0"/>
              </a:endParaRPr>
            </a:p>
          </p:txBody>
        </p:sp>
        <p:sp>
          <p:nvSpPr>
            <p:cNvPr id="21514" name="Rectangle 10"/>
            <p:cNvSpPr>
              <a:spLocks noChangeArrowheads="1"/>
            </p:cNvSpPr>
            <p:nvPr/>
          </p:nvSpPr>
          <p:spPr bwMode="auto">
            <a:xfrm>
              <a:off x="3258" y="1247"/>
              <a:ext cx="117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color = Color.BLUE</a:t>
              </a:r>
              <a:endParaRPr lang="en-US" altLang="en-US" b="1">
                <a:latin typeface="Verdana" panose="020B0604030504040204" pitchFamily="34" charset="0"/>
              </a:endParaRPr>
            </a:p>
          </p:txBody>
        </p:sp>
        <p:sp>
          <p:nvSpPr>
            <p:cNvPr id="21515" name="Rectangle 11"/>
            <p:cNvSpPr>
              <a:spLocks noChangeArrowheads="1"/>
            </p:cNvSpPr>
            <p:nvPr/>
          </p:nvSpPr>
          <p:spPr bwMode="auto">
            <a:xfrm>
              <a:off x="3258" y="1398"/>
              <a:ext cx="71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fuel = 1000</a:t>
              </a:r>
              <a:endParaRPr lang="en-US" altLang="en-US" b="1">
                <a:latin typeface="Verdana" panose="020B0604030504040204" pitchFamily="34" charset="0"/>
              </a:endParaRPr>
            </a:p>
          </p:txBody>
        </p:sp>
        <p:sp>
          <p:nvSpPr>
            <p:cNvPr id="21516" name="Rectangle 12"/>
            <p:cNvSpPr>
              <a:spLocks noChangeArrowheads="1"/>
            </p:cNvSpPr>
            <p:nvPr/>
          </p:nvSpPr>
          <p:spPr bwMode="auto">
            <a:xfrm>
              <a:off x="4608" y="1248"/>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xpos = 0</a:t>
              </a:r>
              <a:endParaRPr lang="en-US" altLang="en-US" b="1">
                <a:latin typeface="Verdana" panose="020B0604030504040204" pitchFamily="34" charset="0"/>
              </a:endParaRPr>
            </a:p>
          </p:txBody>
        </p:sp>
        <p:sp>
          <p:nvSpPr>
            <p:cNvPr id="21517" name="Rectangle 13"/>
            <p:cNvSpPr>
              <a:spLocks noChangeArrowheads="1"/>
            </p:cNvSpPr>
            <p:nvPr/>
          </p:nvSpPr>
          <p:spPr bwMode="auto">
            <a:xfrm>
              <a:off x="4608" y="1399"/>
              <a:ext cx="567"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en-US" sz="1600">
                  <a:solidFill>
                    <a:srgbClr val="000000"/>
                  </a:solidFill>
                  <a:latin typeface="LucidaSansTypewriter" charset="0"/>
                </a:rPr>
                <a:t>- ypos = 0</a:t>
              </a:r>
              <a:endParaRPr lang="en-US" altLang="en-US" b="1">
                <a:latin typeface="Verdana" panose="020B0604030504040204" pitchFamily="34" charset="0"/>
              </a:endParaRPr>
            </a:p>
          </p:txBody>
        </p:sp>
      </p:grpSp>
      <p:sp>
        <p:nvSpPr>
          <p:cNvPr id="2" name="Date Placeholder 1"/>
          <p:cNvSpPr>
            <a:spLocks noGrp="1"/>
          </p:cNvSpPr>
          <p:nvPr>
            <p:ph type="dt" sz="half" idx="10"/>
          </p:nvPr>
        </p:nvSpPr>
        <p:spPr/>
        <p:txBody>
          <a:bodyPr/>
          <a:lstStyle/>
          <a:p>
            <a:fld id="{219C30F9-9D85-44CB-9B5C-35A879C7BC53}"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23</a:t>
            </a:fld>
            <a:endParaRPr lang="en-US" altLang="en-US"/>
          </a:p>
        </p:txBody>
      </p:sp>
    </p:spTree>
    <p:extLst>
      <p:ext uri="{BB962C8B-B14F-4D97-AF65-F5344CB8AC3E}">
        <p14:creationId xmlns:p14="http://schemas.microsoft.com/office/powerpoint/2010/main" val="12141669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15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150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1507">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150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274638"/>
            <a:ext cx="8305800" cy="563562"/>
          </a:xfrm>
        </p:spPr>
        <p:txBody>
          <a:bodyPr>
            <a:normAutofit fontScale="90000"/>
          </a:bodyPr>
          <a:lstStyle/>
          <a:p>
            <a:r>
              <a:rPr lang="en-US" altLang="en-US" sz="3600" b="1">
                <a:latin typeface="Times New Roman" panose="02020603050405020304" pitchFamily="18" charset="0"/>
              </a:rPr>
              <a:t>Back to our specific constructor</a:t>
            </a:r>
          </a:p>
        </p:txBody>
      </p:sp>
      <p:sp>
        <p:nvSpPr>
          <p:cNvPr id="22531" name="Rectangle 3"/>
          <p:cNvSpPr>
            <a:spLocks noGrp="1" noChangeArrowheads="1"/>
          </p:cNvSpPr>
          <p:nvPr>
            <p:ph type="body" idx="1"/>
          </p:nvPr>
        </p:nvSpPr>
        <p:spPr>
          <a:xfrm>
            <a:off x="304800" y="1600200"/>
            <a:ext cx="3810000" cy="5105400"/>
          </a:xfrm>
        </p:spPr>
        <p:txBody>
          <a:bodyPr/>
          <a:lstStyle/>
          <a:p>
            <a:pPr>
              <a:buFontTx/>
              <a:buNone/>
            </a:pPr>
            <a:r>
              <a:rPr lang="en-US" altLang="en-US" sz="1800">
                <a:latin typeface="Times New Roman" panose="02020603050405020304" pitchFamily="18" charset="0"/>
              </a:rPr>
              <a:t>class Car {</a:t>
            </a:r>
          </a:p>
          <a:p>
            <a:pPr>
              <a:buFontTx/>
              <a:buNone/>
            </a:pPr>
            <a:r>
              <a:rPr lang="en-US" altLang="en-US" sz="1800">
                <a:latin typeface="Times New Roman" panose="02020603050405020304" pitchFamily="18" charset="0"/>
              </a:rPr>
              <a:t>	private Color color = Color.BLUE;</a:t>
            </a:r>
          </a:p>
          <a:p>
            <a:pPr>
              <a:buFontTx/>
              <a:buNone/>
            </a:pPr>
            <a:r>
              <a:rPr lang="en-US" altLang="en-US" sz="1800">
                <a:latin typeface="Times New Roman" panose="02020603050405020304" pitchFamily="18" charset="0"/>
              </a:rPr>
              <a:t>	private int xpos = 0;</a:t>
            </a:r>
          </a:p>
          <a:p>
            <a:pPr>
              <a:buFontTx/>
              <a:buNone/>
            </a:pPr>
            <a:r>
              <a:rPr lang="en-US" altLang="en-US" sz="1800">
                <a:latin typeface="Times New Roman" panose="02020603050405020304" pitchFamily="18" charset="0"/>
              </a:rPr>
              <a:t>	private int ypos = 0;</a:t>
            </a:r>
          </a:p>
          <a:p>
            <a:pPr>
              <a:buFontTx/>
              <a:buNone/>
            </a:pPr>
            <a:r>
              <a:rPr lang="en-US" altLang="en-US" sz="1800">
                <a:latin typeface="Times New Roman" panose="02020603050405020304" pitchFamily="18" charset="0"/>
              </a:rPr>
              <a:t>	private int fuel = 1000;</a:t>
            </a:r>
          </a:p>
          <a:p>
            <a:pPr>
              <a:buFontTx/>
              <a:buNone/>
            </a:pPr>
            <a:r>
              <a:rPr lang="en-US" altLang="en-US" sz="1800">
                <a:latin typeface="Times New Roman" panose="02020603050405020304" pitchFamily="18" charset="0"/>
              </a:rPr>
              <a:t>	Car (Color c, int x, int y, int f) {</a:t>
            </a:r>
          </a:p>
          <a:p>
            <a:pPr>
              <a:buFontTx/>
              <a:buNone/>
            </a:pPr>
            <a:r>
              <a:rPr lang="en-US" altLang="en-US" sz="1800">
                <a:latin typeface="Times New Roman" panose="02020603050405020304" pitchFamily="18" charset="0"/>
              </a:rPr>
              <a:t>		color = c;</a:t>
            </a:r>
          </a:p>
          <a:p>
            <a:pPr>
              <a:buFontTx/>
              <a:buNone/>
            </a:pPr>
            <a:r>
              <a:rPr lang="en-US" altLang="en-US" sz="1800">
                <a:latin typeface="Times New Roman" panose="02020603050405020304" pitchFamily="18" charset="0"/>
              </a:rPr>
              <a:t>		xpos = x;</a:t>
            </a:r>
          </a:p>
          <a:p>
            <a:pPr>
              <a:buFontTx/>
              <a:buNone/>
            </a:pPr>
            <a:r>
              <a:rPr lang="en-US" altLang="en-US" sz="1800">
                <a:latin typeface="Times New Roman" panose="02020603050405020304" pitchFamily="18" charset="0"/>
              </a:rPr>
              <a:t>		ypos = y;</a:t>
            </a:r>
          </a:p>
          <a:p>
            <a:pPr>
              <a:buFontTx/>
              <a:buNone/>
            </a:pPr>
            <a:r>
              <a:rPr lang="en-US" altLang="en-US" sz="1800">
                <a:latin typeface="Times New Roman" panose="02020603050405020304" pitchFamily="18" charset="0"/>
              </a:rPr>
              <a:t>		fuel = f;</a:t>
            </a:r>
          </a:p>
          <a:p>
            <a:pPr>
              <a:buFontTx/>
              <a:buNone/>
            </a:pPr>
            <a:r>
              <a:rPr lang="en-US" altLang="en-US" sz="1800">
                <a:latin typeface="Times New Roman" panose="02020603050405020304" pitchFamily="18" charset="0"/>
              </a:rPr>
              <a:t>   }</a:t>
            </a:r>
          </a:p>
          <a:p>
            <a:pPr>
              <a:buFontTx/>
              <a:buNone/>
            </a:pPr>
            <a:r>
              <a:rPr lang="en-US" altLang="en-US" sz="1800">
                <a:latin typeface="Times New Roman" panose="02020603050405020304" pitchFamily="18" charset="0"/>
              </a:rPr>
              <a:t>}</a:t>
            </a:r>
          </a:p>
        </p:txBody>
      </p:sp>
      <p:sp>
        <p:nvSpPr>
          <p:cNvPr id="22532" name="Rectangle 4"/>
          <p:cNvSpPr>
            <a:spLocks noChangeArrowheads="1"/>
          </p:cNvSpPr>
          <p:nvPr/>
        </p:nvSpPr>
        <p:spPr bwMode="auto">
          <a:xfrm>
            <a:off x="4495800" y="1600200"/>
            <a:ext cx="449580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1800">
                <a:latin typeface="Times New Roman" panose="02020603050405020304" pitchFamily="18" charset="0"/>
              </a:rPr>
              <a:t>class Car {</a:t>
            </a:r>
          </a:p>
          <a:p>
            <a:pPr eaLnBrk="1" hangingPunct="1">
              <a:buFontTx/>
              <a:buNone/>
            </a:pPr>
            <a:r>
              <a:rPr lang="en-US" altLang="en-US" sz="1800">
                <a:latin typeface="Times New Roman" panose="02020603050405020304" pitchFamily="18" charset="0"/>
              </a:rPr>
              <a:t>	private Color color = </a:t>
            </a:r>
          </a:p>
          <a:p>
            <a:pPr eaLnBrk="1" hangingPunct="1">
              <a:buFontTx/>
              <a:buNone/>
            </a:pPr>
            <a:r>
              <a:rPr lang="en-US" altLang="en-US" sz="1800">
                <a:latin typeface="Times New Roman" panose="02020603050405020304" pitchFamily="18" charset="0"/>
              </a:rPr>
              <a:t>			Color.BLUE;</a:t>
            </a:r>
          </a:p>
          <a:p>
            <a:pPr eaLnBrk="1" hangingPunct="1">
              <a:buFontTx/>
              <a:buNone/>
            </a:pPr>
            <a:r>
              <a:rPr lang="en-US" altLang="en-US" sz="1800">
                <a:latin typeface="Times New Roman" panose="02020603050405020304" pitchFamily="18" charset="0"/>
              </a:rPr>
              <a:t>	private int xpos = 0;</a:t>
            </a:r>
          </a:p>
          <a:p>
            <a:pPr eaLnBrk="1" hangingPunct="1">
              <a:buFontTx/>
              <a:buNone/>
            </a:pPr>
            <a:r>
              <a:rPr lang="en-US" altLang="en-US" sz="1800">
                <a:latin typeface="Times New Roman" panose="02020603050405020304" pitchFamily="18" charset="0"/>
              </a:rPr>
              <a:t>	private int ypos = 0;</a:t>
            </a:r>
          </a:p>
          <a:p>
            <a:pPr eaLnBrk="1" hangingPunct="1">
              <a:buFontTx/>
              <a:buNone/>
            </a:pPr>
            <a:r>
              <a:rPr lang="en-US" altLang="en-US" sz="1800">
                <a:latin typeface="Times New Roman" panose="02020603050405020304" pitchFamily="18" charset="0"/>
              </a:rPr>
              <a:t>	private int fuel = 1000;</a:t>
            </a:r>
          </a:p>
          <a:p>
            <a:pPr eaLnBrk="1" hangingPunct="1">
              <a:buFontTx/>
              <a:buNone/>
            </a:pPr>
            <a:endParaRPr lang="en-US" altLang="en-US" sz="1800">
              <a:latin typeface="Times New Roman" panose="02020603050405020304" pitchFamily="18" charset="0"/>
            </a:endParaRPr>
          </a:p>
          <a:p>
            <a:pPr eaLnBrk="1" hangingPunct="1">
              <a:buFontTx/>
              <a:buNone/>
            </a:pPr>
            <a:r>
              <a:rPr lang="en-US" altLang="en-US" sz="1800">
                <a:latin typeface="Times New Roman" panose="02020603050405020304" pitchFamily="18" charset="0"/>
              </a:rPr>
              <a:t>	Car (Color c, int x, int y, int f) {</a:t>
            </a:r>
          </a:p>
          <a:p>
            <a:pPr eaLnBrk="1" hangingPunct="1">
              <a:buFontTx/>
              <a:buNone/>
            </a:pPr>
            <a:r>
              <a:rPr lang="es-ES" altLang="en-US" sz="1800">
                <a:solidFill>
                  <a:srgbClr val="FFFF00"/>
                </a:solidFill>
                <a:latin typeface="Times New Roman" panose="02020603050405020304" pitchFamily="18" charset="0"/>
              </a:rPr>
              <a:t>		</a:t>
            </a:r>
            <a:r>
              <a:rPr lang="es-ES" altLang="en-US" sz="1800">
                <a:solidFill>
                  <a:srgbClr val="008000"/>
                </a:solidFill>
                <a:latin typeface="Times New Roman" panose="02020603050405020304" pitchFamily="18" charset="0"/>
              </a:rPr>
              <a:t>setColor (c);</a:t>
            </a:r>
          </a:p>
          <a:p>
            <a:pPr eaLnBrk="1" hangingPunct="1">
              <a:buFontTx/>
              <a:buNone/>
            </a:pPr>
            <a:r>
              <a:rPr lang="es-ES" altLang="en-US" sz="1800">
                <a:solidFill>
                  <a:srgbClr val="008000"/>
                </a:solidFill>
                <a:latin typeface="Times New Roman" panose="02020603050405020304" pitchFamily="18" charset="0"/>
              </a:rPr>
              <a:t>		setXPos (x);</a:t>
            </a:r>
          </a:p>
          <a:p>
            <a:pPr eaLnBrk="1" hangingPunct="1">
              <a:buFontTx/>
              <a:buNone/>
            </a:pPr>
            <a:r>
              <a:rPr lang="es-ES" altLang="en-US" sz="1800">
                <a:solidFill>
                  <a:srgbClr val="008000"/>
                </a:solidFill>
                <a:latin typeface="Times New Roman" panose="02020603050405020304" pitchFamily="18" charset="0"/>
              </a:rPr>
              <a:t>		setYPos (y);</a:t>
            </a:r>
          </a:p>
          <a:p>
            <a:pPr eaLnBrk="1" hangingPunct="1">
              <a:buFontTx/>
              <a:buNone/>
            </a:pPr>
            <a:r>
              <a:rPr lang="es-ES" altLang="en-US" sz="1800">
                <a:solidFill>
                  <a:srgbClr val="008000"/>
                </a:solidFill>
                <a:latin typeface="Times New Roman" panose="02020603050405020304" pitchFamily="18" charset="0"/>
              </a:rPr>
              <a:t>		setFuel (f);</a:t>
            </a:r>
            <a:endParaRPr lang="en-US" altLang="en-US" sz="1800">
              <a:solidFill>
                <a:srgbClr val="008000"/>
              </a:solidFill>
              <a:latin typeface="Times New Roman" panose="02020603050405020304" pitchFamily="18" charset="0"/>
            </a:endParaRPr>
          </a:p>
          <a:p>
            <a:pPr eaLnBrk="1" hangingPunct="1">
              <a:buFontTx/>
              <a:buNone/>
            </a:pPr>
            <a:r>
              <a:rPr lang="en-US" altLang="en-US" sz="1800">
                <a:latin typeface="Times New Roman" panose="02020603050405020304" pitchFamily="18" charset="0"/>
              </a:rPr>
              <a:t>   }</a:t>
            </a:r>
          </a:p>
          <a:p>
            <a:pPr eaLnBrk="1" hangingPunct="1">
              <a:buFontTx/>
              <a:buNone/>
            </a:pPr>
            <a:r>
              <a:rPr lang="en-US" altLang="en-US" sz="1800">
                <a:latin typeface="Times New Roman" panose="02020603050405020304" pitchFamily="18" charset="0"/>
              </a:rPr>
              <a:t>}</a:t>
            </a:r>
          </a:p>
        </p:txBody>
      </p:sp>
      <p:sp>
        <p:nvSpPr>
          <p:cNvPr id="22533" name="Line 5"/>
          <p:cNvSpPr>
            <a:spLocks noChangeShapeType="1"/>
          </p:cNvSpPr>
          <p:nvPr/>
        </p:nvSpPr>
        <p:spPr bwMode="auto">
          <a:xfrm>
            <a:off x="4419600" y="1447800"/>
            <a:ext cx="0" cy="5410200"/>
          </a:xfrm>
          <a:prstGeom prst="line">
            <a:avLst/>
          </a:prstGeom>
          <a:noFill/>
          <a:ln w="50800">
            <a:solidFill>
              <a:schemeClr val="accent2"/>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Date Placeholder 1"/>
          <p:cNvSpPr>
            <a:spLocks noGrp="1"/>
          </p:cNvSpPr>
          <p:nvPr>
            <p:ph type="dt" sz="half" idx="10"/>
          </p:nvPr>
        </p:nvSpPr>
        <p:spPr/>
        <p:txBody>
          <a:bodyPr/>
          <a:lstStyle/>
          <a:p>
            <a:fld id="{64666CEC-59E1-4EC1-8F0C-484953BC6BE7}"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24</a:t>
            </a:fld>
            <a:endParaRPr lang="en-US" altLang="en-US"/>
          </a:p>
        </p:txBody>
      </p:sp>
    </p:spTree>
    <p:extLst>
      <p:ext uri="{BB962C8B-B14F-4D97-AF65-F5344CB8AC3E}">
        <p14:creationId xmlns:p14="http://schemas.microsoft.com/office/powerpoint/2010/main" val="2641193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2531">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531">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531">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2531">
                                            <p:txEl>
                                              <p:pRg st="4" end="4"/>
                                            </p:txEl>
                                          </p:spTgt>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2531">
                                            <p:txEl>
                                              <p:pRg st="5" end="5"/>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2531">
                                            <p:txEl>
                                              <p:pRg st="6" end="6"/>
                                            </p:txEl>
                                          </p:spTgt>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531">
                                            <p:txEl>
                                              <p:pRg st="7" end="7"/>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2531">
                                            <p:txEl>
                                              <p:pRg st="8" end="8"/>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2531">
                                            <p:txEl>
                                              <p:pRg st="9" end="9"/>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531">
                                            <p:txEl>
                                              <p:pRg st="10" end="10"/>
                                            </p:txEl>
                                          </p:spTgt>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2531">
                                            <p:txEl>
                                              <p:pRg st="11" end="11"/>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5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build="p"/>
      <p:bldP spid="2253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457200" y="-76200"/>
            <a:ext cx="8229600" cy="1143000"/>
          </a:xfrm>
        </p:spPr>
        <p:txBody>
          <a:bodyPr/>
          <a:lstStyle/>
          <a:p>
            <a:r>
              <a:rPr lang="en-US" altLang="en-US" sz="4000" b="1">
                <a:latin typeface="Times New Roman" panose="02020603050405020304" pitchFamily="18" charset="0"/>
              </a:rPr>
              <a:t>Back to our specific constructor</a:t>
            </a:r>
          </a:p>
        </p:txBody>
      </p:sp>
      <p:sp>
        <p:nvSpPr>
          <p:cNvPr id="23555" name="Rectangle 3"/>
          <p:cNvSpPr>
            <a:spLocks noGrp="1" noChangeArrowheads="1"/>
          </p:cNvSpPr>
          <p:nvPr>
            <p:ph type="body" idx="1"/>
          </p:nvPr>
        </p:nvSpPr>
        <p:spPr/>
        <p:txBody>
          <a:bodyPr/>
          <a:lstStyle/>
          <a:p>
            <a:r>
              <a:rPr lang="en-US" altLang="en-US">
                <a:latin typeface="Times New Roman" panose="02020603050405020304" pitchFamily="18" charset="0"/>
              </a:rPr>
              <a:t>Using the mutator methods (i.e. the ‘set’ methods) is the preferred way to modify instance variables in a constructor</a:t>
            </a:r>
          </a:p>
        </p:txBody>
      </p:sp>
      <p:sp>
        <p:nvSpPr>
          <p:cNvPr id="2" name="Date Placeholder 1"/>
          <p:cNvSpPr>
            <a:spLocks noGrp="1"/>
          </p:cNvSpPr>
          <p:nvPr>
            <p:ph type="dt" sz="half" idx="10"/>
          </p:nvPr>
        </p:nvSpPr>
        <p:spPr/>
        <p:txBody>
          <a:bodyPr/>
          <a:lstStyle/>
          <a:p>
            <a:fld id="{1AFF8D58-4652-4FD2-9F08-E0B753703042}"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25</a:t>
            </a:fld>
            <a:endParaRPr lang="en-US" altLang="en-US"/>
          </a:p>
        </p:txBody>
      </p:sp>
    </p:spTree>
    <p:extLst>
      <p:ext uri="{BB962C8B-B14F-4D97-AF65-F5344CB8AC3E}">
        <p14:creationId xmlns:p14="http://schemas.microsoft.com/office/powerpoint/2010/main" val="30581164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55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0" y="-76200"/>
            <a:ext cx="9144000" cy="1143000"/>
          </a:xfrm>
        </p:spPr>
        <p:txBody>
          <a:bodyPr/>
          <a:lstStyle/>
          <a:p>
            <a:r>
              <a:rPr lang="en-US" altLang="en-US" sz="4000" b="1">
                <a:latin typeface="Times New Roman" panose="02020603050405020304" pitchFamily="18" charset="0"/>
              </a:rPr>
              <a:t>So what’s left to add to our Car class?</a:t>
            </a:r>
          </a:p>
        </p:txBody>
      </p:sp>
      <p:sp>
        <p:nvSpPr>
          <p:cNvPr id="24579" name="Rectangle 3"/>
          <p:cNvSpPr>
            <a:spLocks noGrp="1" noChangeArrowheads="1"/>
          </p:cNvSpPr>
          <p:nvPr>
            <p:ph type="body" idx="1"/>
          </p:nvPr>
        </p:nvSpPr>
        <p:spPr>
          <a:xfrm>
            <a:off x="457200" y="1036638"/>
            <a:ext cx="8229600" cy="4983162"/>
          </a:xfrm>
        </p:spPr>
        <p:txBody>
          <a:bodyPr/>
          <a:lstStyle/>
          <a:p>
            <a:r>
              <a:rPr lang="en-US" altLang="en-US" sz="2000">
                <a:latin typeface="Times New Roman" panose="02020603050405020304" pitchFamily="18" charset="0"/>
              </a:rPr>
              <a:t>What else we should add:</a:t>
            </a:r>
          </a:p>
          <a:p>
            <a:pPr lvl="1"/>
            <a:r>
              <a:rPr lang="en-US" altLang="en-US" sz="2000">
                <a:latin typeface="Times New Roman" panose="02020603050405020304" pitchFamily="18" charset="0"/>
              </a:rPr>
              <a:t>A mutator that </a:t>
            </a:r>
            <a:r>
              <a:rPr lang="en-US" altLang="en-US" sz="2000">
                <a:solidFill>
                  <a:srgbClr val="0066CC"/>
                </a:solidFill>
                <a:latin typeface="Times New Roman" panose="02020603050405020304" pitchFamily="18" charset="0"/>
              </a:rPr>
              <a:t>sets both the x and y positions at the same time</a:t>
            </a:r>
          </a:p>
          <a:p>
            <a:pPr lvl="1"/>
            <a:r>
              <a:rPr lang="en-US" altLang="en-US" sz="2000">
                <a:latin typeface="Times New Roman" panose="02020603050405020304" pitchFamily="18" charset="0"/>
              </a:rPr>
              <a:t>A means to “use” the </a:t>
            </a:r>
            <a:r>
              <a:rPr lang="en-US" altLang="en-US" sz="2000">
                <a:solidFill>
                  <a:srgbClr val="0066CC"/>
                </a:solidFill>
                <a:latin typeface="Times New Roman" panose="02020603050405020304" pitchFamily="18" charset="0"/>
              </a:rPr>
              <a:t>Car’s fuel</a:t>
            </a:r>
          </a:p>
          <a:p>
            <a:endParaRPr lang="en-US" altLang="en-US" sz="2000">
              <a:latin typeface="Times New Roman" panose="02020603050405020304" pitchFamily="18" charset="0"/>
            </a:endParaRPr>
          </a:p>
          <a:p>
            <a:r>
              <a:rPr lang="en-US" altLang="en-US" sz="2000">
                <a:latin typeface="Times New Roman" panose="02020603050405020304" pitchFamily="18" charset="0"/>
              </a:rPr>
              <a:t>Let’s do the first:</a:t>
            </a:r>
          </a:p>
          <a:p>
            <a:endParaRPr lang="en-US" altLang="en-US" sz="2000">
              <a:latin typeface="Times New Roman" panose="02020603050405020304" pitchFamily="18" charset="0"/>
            </a:endParaRPr>
          </a:p>
          <a:p>
            <a:pPr lvl="2">
              <a:buFontTx/>
              <a:buNone/>
            </a:pPr>
            <a:r>
              <a:rPr lang="en-US" altLang="en-US" sz="2000">
                <a:latin typeface="Times New Roman" panose="02020603050405020304" pitchFamily="18" charset="0"/>
              </a:rPr>
              <a:t> public void setPos (int x, int y) {</a:t>
            </a:r>
          </a:p>
          <a:p>
            <a:pPr lvl="2">
              <a:buFontTx/>
              <a:buNone/>
            </a:pPr>
            <a:r>
              <a:rPr lang="en-US" altLang="en-US" sz="2000">
                <a:latin typeface="Times New Roman" panose="02020603050405020304" pitchFamily="18" charset="0"/>
              </a:rPr>
              <a:t>	setXPos (x);</a:t>
            </a:r>
          </a:p>
          <a:p>
            <a:pPr lvl="2">
              <a:buFontTx/>
              <a:buNone/>
            </a:pPr>
            <a:r>
              <a:rPr lang="en-US" altLang="en-US" sz="2000">
                <a:latin typeface="Times New Roman" panose="02020603050405020304" pitchFamily="18" charset="0"/>
              </a:rPr>
              <a:t>	setYPos (y);</a:t>
            </a:r>
          </a:p>
          <a:p>
            <a:pPr lvl="2">
              <a:buFontTx/>
              <a:buNone/>
            </a:pPr>
            <a:r>
              <a:rPr lang="en-US" altLang="en-US" sz="2000">
                <a:latin typeface="Times New Roman" panose="02020603050405020304" pitchFamily="18" charset="0"/>
              </a:rPr>
              <a:t> }</a:t>
            </a:r>
          </a:p>
          <a:p>
            <a:endParaRPr lang="en-US" altLang="en-US" sz="2000">
              <a:latin typeface="Times New Roman" panose="02020603050405020304" pitchFamily="18" charset="0"/>
            </a:endParaRPr>
          </a:p>
          <a:p>
            <a:r>
              <a:rPr lang="en-US" altLang="en-US" sz="2000">
                <a:latin typeface="Times New Roman" panose="02020603050405020304" pitchFamily="18" charset="0"/>
              </a:rPr>
              <a:t>Notice that it calls the mutator methods</a:t>
            </a:r>
          </a:p>
        </p:txBody>
      </p:sp>
      <p:sp>
        <p:nvSpPr>
          <p:cNvPr id="2" name="Date Placeholder 1"/>
          <p:cNvSpPr>
            <a:spLocks noGrp="1"/>
          </p:cNvSpPr>
          <p:nvPr>
            <p:ph type="dt" sz="half" idx="10"/>
          </p:nvPr>
        </p:nvSpPr>
        <p:spPr/>
        <p:txBody>
          <a:bodyPr/>
          <a:lstStyle/>
          <a:p>
            <a:fld id="{7048D94E-71F2-4A54-89F5-46AFEB24F90A}"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26</a:t>
            </a:fld>
            <a:endParaRPr lang="en-US" altLang="en-US"/>
          </a:p>
        </p:txBody>
      </p:sp>
    </p:spTree>
    <p:extLst>
      <p:ext uri="{BB962C8B-B14F-4D97-AF65-F5344CB8AC3E}">
        <p14:creationId xmlns:p14="http://schemas.microsoft.com/office/powerpoint/2010/main" val="7414226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457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457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4579">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4579">
                                            <p:txEl>
                                              <p:pRg st="4" end="4"/>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24579">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4579">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579">
                                            <p:txEl>
                                              <p:pRg st="8" end="8"/>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4579">
                                            <p:txEl>
                                              <p:pRg st="9" end="9"/>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24579">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457200" y="-152400"/>
            <a:ext cx="8229600" cy="1143000"/>
          </a:xfrm>
        </p:spPr>
        <p:txBody>
          <a:bodyPr/>
          <a:lstStyle/>
          <a:p>
            <a:r>
              <a:rPr lang="en-US" altLang="en-US" sz="4000" b="1">
                <a:latin typeface="Times New Roman" panose="02020603050405020304" pitchFamily="18" charset="0"/>
              </a:rPr>
              <a:t>Using the Car’s fuel</a:t>
            </a:r>
          </a:p>
        </p:txBody>
      </p:sp>
      <p:sp>
        <p:nvSpPr>
          <p:cNvPr id="25603" name="Rectangle 3"/>
          <p:cNvSpPr>
            <a:spLocks noGrp="1" noChangeArrowheads="1"/>
          </p:cNvSpPr>
          <p:nvPr>
            <p:ph type="body" idx="1"/>
          </p:nvPr>
        </p:nvSpPr>
        <p:spPr>
          <a:xfrm>
            <a:off x="457200" y="990600"/>
            <a:ext cx="8229600" cy="4525963"/>
          </a:xfrm>
        </p:spPr>
        <p:txBody>
          <a:bodyPr/>
          <a:lstStyle/>
          <a:p>
            <a:r>
              <a:rPr lang="en-US" altLang="en-US" sz="2400">
                <a:latin typeface="Times New Roman" panose="02020603050405020304" pitchFamily="18" charset="0"/>
              </a:rPr>
              <a:t>Whenever the Car moves, it should burn some of the fuel</a:t>
            </a:r>
          </a:p>
          <a:p>
            <a:pPr lvl="1"/>
            <a:r>
              <a:rPr lang="en-US" altLang="en-US" sz="2400">
                <a:latin typeface="Times New Roman" panose="02020603050405020304" pitchFamily="18" charset="0"/>
              </a:rPr>
              <a:t>For each pixel it moves, it uses one unit of fuel</a:t>
            </a:r>
          </a:p>
          <a:p>
            <a:pPr lvl="2"/>
            <a:r>
              <a:rPr lang="en-US" altLang="en-US">
                <a:latin typeface="Times New Roman" panose="02020603050405020304" pitchFamily="18" charset="0"/>
              </a:rPr>
              <a:t>We could make this more realistic, but this is simpler</a:t>
            </a:r>
          </a:p>
          <a:p>
            <a:pPr>
              <a:buFontTx/>
              <a:buNone/>
            </a:pPr>
            <a:endParaRPr lang="en-US" altLang="en-US" sz="2400">
              <a:latin typeface="Times New Roman" panose="02020603050405020304" pitchFamily="18" charset="0"/>
            </a:endParaRPr>
          </a:p>
        </p:txBody>
      </p:sp>
      <p:sp>
        <p:nvSpPr>
          <p:cNvPr id="25604" name="Rectangle 4"/>
          <p:cNvSpPr>
            <a:spLocks noChangeArrowheads="1"/>
          </p:cNvSpPr>
          <p:nvPr/>
        </p:nvSpPr>
        <p:spPr bwMode="auto">
          <a:xfrm>
            <a:off x="304800" y="2514600"/>
            <a:ext cx="3429000" cy="3429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000">
                <a:latin typeface="Times New Roman" panose="02020603050405020304" pitchFamily="18" charset="0"/>
              </a:rPr>
              <a:t>public void setXPos (int x) {</a:t>
            </a:r>
          </a:p>
          <a:p>
            <a:pPr eaLnBrk="1" hangingPunct="1">
              <a:buFontTx/>
              <a:buNone/>
            </a:pPr>
            <a:r>
              <a:rPr lang="en-US" altLang="en-US" sz="2000">
                <a:latin typeface="Times New Roman" panose="02020603050405020304" pitchFamily="18" charset="0"/>
              </a:rPr>
              <a:t>	xpos = x;</a:t>
            </a:r>
          </a:p>
          <a:p>
            <a:pPr eaLnBrk="1" hangingPunct="1">
              <a:buFontTx/>
              <a:buNone/>
            </a:pPr>
            <a:r>
              <a:rPr lang="en-US" altLang="en-US" sz="2000">
                <a:latin typeface="Times New Roman" panose="02020603050405020304" pitchFamily="18" charset="0"/>
              </a:rPr>
              <a:t>}</a:t>
            </a:r>
          </a:p>
          <a:p>
            <a:pPr eaLnBrk="1" hangingPunct="1">
              <a:buFontTx/>
              <a:buNone/>
            </a:pPr>
            <a:endParaRPr lang="en-US" altLang="en-US" sz="2000">
              <a:latin typeface="Times New Roman" panose="02020603050405020304" pitchFamily="18" charset="0"/>
            </a:endParaRPr>
          </a:p>
          <a:p>
            <a:pPr eaLnBrk="1" hangingPunct="1">
              <a:buFontTx/>
              <a:buNone/>
            </a:pPr>
            <a:r>
              <a:rPr lang="en-US" altLang="en-US" sz="2000">
                <a:latin typeface="Times New Roman" panose="02020603050405020304" pitchFamily="18" charset="0"/>
              </a:rPr>
              <a:t>public void setYPos (int y) {</a:t>
            </a:r>
          </a:p>
          <a:p>
            <a:pPr eaLnBrk="1" hangingPunct="1">
              <a:buFontTx/>
              <a:buNone/>
            </a:pPr>
            <a:r>
              <a:rPr lang="en-US" altLang="en-US" sz="2000">
                <a:latin typeface="Times New Roman" panose="02020603050405020304" pitchFamily="18" charset="0"/>
              </a:rPr>
              <a:t>	ypos = y;</a:t>
            </a:r>
          </a:p>
          <a:p>
            <a:pPr eaLnBrk="1" hangingPunct="1">
              <a:buFontTx/>
              <a:buNone/>
            </a:pPr>
            <a:r>
              <a:rPr lang="en-US" altLang="en-US" sz="2000">
                <a:latin typeface="Times New Roman" panose="02020603050405020304" pitchFamily="18" charset="0"/>
              </a:rPr>
              <a:t>}</a:t>
            </a:r>
          </a:p>
          <a:p>
            <a:pPr eaLnBrk="1" hangingPunct="1">
              <a:buFontTx/>
              <a:buNone/>
            </a:pPr>
            <a:endParaRPr lang="en-US" altLang="en-US" sz="2000">
              <a:latin typeface="Times New Roman" panose="02020603050405020304" pitchFamily="18" charset="0"/>
            </a:endParaRPr>
          </a:p>
        </p:txBody>
      </p:sp>
      <p:sp>
        <p:nvSpPr>
          <p:cNvPr id="25605" name="Rectangle 5"/>
          <p:cNvSpPr>
            <a:spLocks noChangeArrowheads="1"/>
          </p:cNvSpPr>
          <p:nvPr/>
        </p:nvSpPr>
        <p:spPr bwMode="auto">
          <a:xfrm>
            <a:off x="4572000" y="2590800"/>
            <a:ext cx="44958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000">
                <a:latin typeface="Times New Roman" panose="02020603050405020304" pitchFamily="18" charset="0"/>
              </a:rPr>
              <a:t>public void setXPos (int x) {</a:t>
            </a:r>
          </a:p>
          <a:p>
            <a:pPr eaLnBrk="1" hangingPunct="1">
              <a:buFontTx/>
              <a:buNone/>
            </a:pPr>
            <a:r>
              <a:rPr lang="en-US" altLang="en-US" sz="2000">
                <a:solidFill>
                  <a:srgbClr val="FFFF00"/>
                </a:solidFill>
                <a:latin typeface="Times New Roman" panose="02020603050405020304" pitchFamily="18" charset="0"/>
              </a:rPr>
              <a:t>	</a:t>
            </a:r>
            <a:r>
              <a:rPr lang="en-US" altLang="en-US" sz="2000">
                <a:solidFill>
                  <a:srgbClr val="008000"/>
                </a:solidFill>
                <a:latin typeface="Times New Roman" panose="02020603050405020304" pitchFamily="18" charset="0"/>
              </a:rPr>
              <a:t>fuel -= Math.abs(getXPos()-x);</a:t>
            </a:r>
          </a:p>
          <a:p>
            <a:pPr eaLnBrk="1" hangingPunct="1">
              <a:buFontTx/>
              <a:buNone/>
            </a:pPr>
            <a:r>
              <a:rPr lang="en-US" altLang="en-US" sz="2000">
                <a:latin typeface="Times New Roman" panose="02020603050405020304" pitchFamily="18" charset="0"/>
              </a:rPr>
              <a:t>	xpos = x;</a:t>
            </a:r>
          </a:p>
          <a:p>
            <a:pPr eaLnBrk="1" hangingPunct="1">
              <a:buFontTx/>
              <a:buNone/>
            </a:pPr>
            <a:r>
              <a:rPr lang="en-US" altLang="en-US" sz="2000">
                <a:latin typeface="Times New Roman" panose="02020603050405020304" pitchFamily="18" charset="0"/>
              </a:rPr>
              <a:t>}</a:t>
            </a:r>
          </a:p>
          <a:p>
            <a:pPr eaLnBrk="1" hangingPunct="1">
              <a:buFontTx/>
              <a:buNone/>
            </a:pPr>
            <a:endParaRPr lang="en-US" altLang="en-US" sz="2000">
              <a:latin typeface="Times New Roman" panose="02020603050405020304" pitchFamily="18" charset="0"/>
            </a:endParaRPr>
          </a:p>
          <a:p>
            <a:pPr eaLnBrk="1" hangingPunct="1">
              <a:buFontTx/>
              <a:buNone/>
            </a:pPr>
            <a:r>
              <a:rPr lang="en-US" altLang="en-US" sz="2000">
                <a:latin typeface="Times New Roman" panose="02020603050405020304" pitchFamily="18" charset="0"/>
              </a:rPr>
              <a:t>public void setYPos (int y) {</a:t>
            </a:r>
          </a:p>
          <a:p>
            <a:pPr eaLnBrk="1" hangingPunct="1">
              <a:buFontTx/>
              <a:buNone/>
            </a:pPr>
            <a:r>
              <a:rPr lang="en-US" altLang="en-US" sz="2000">
                <a:latin typeface="Times New Roman" panose="02020603050405020304" pitchFamily="18" charset="0"/>
              </a:rPr>
              <a:t>	</a:t>
            </a:r>
            <a:r>
              <a:rPr lang="en-US" altLang="en-US" sz="2000">
                <a:solidFill>
                  <a:srgbClr val="008000"/>
                </a:solidFill>
                <a:latin typeface="Times New Roman" panose="02020603050405020304" pitchFamily="18" charset="0"/>
              </a:rPr>
              <a:t>fuel -= Math.abs(getYPos()-y);</a:t>
            </a:r>
          </a:p>
          <a:p>
            <a:pPr eaLnBrk="1" hangingPunct="1">
              <a:buFontTx/>
              <a:buNone/>
            </a:pPr>
            <a:r>
              <a:rPr lang="en-US" altLang="en-US" sz="2000">
                <a:latin typeface="Times New Roman" panose="02020603050405020304" pitchFamily="18" charset="0"/>
              </a:rPr>
              <a:t>	ypos = y;</a:t>
            </a:r>
          </a:p>
          <a:p>
            <a:pPr eaLnBrk="1" hangingPunct="1">
              <a:buFontTx/>
              <a:buNone/>
            </a:pPr>
            <a:r>
              <a:rPr lang="en-US" altLang="en-US" sz="2000">
                <a:latin typeface="Times New Roman" panose="02020603050405020304" pitchFamily="18" charset="0"/>
              </a:rPr>
              <a:t>}</a:t>
            </a:r>
          </a:p>
        </p:txBody>
      </p:sp>
      <p:sp>
        <p:nvSpPr>
          <p:cNvPr id="25606" name="Line 6"/>
          <p:cNvSpPr>
            <a:spLocks noChangeShapeType="1"/>
          </p:cNvSpPr>
          <p:nvPr/>
        </p:nvSpPr>
        <p:spPr bwMode="auto">
          <a:xfrm>
            <a:off x="4114800" y="2362200"/>
            <a:ext cx="0" cy="3733800"/>
          </a:xfrm>
          <a:prstGeom prst="line">
            <a:avLst/>
          </a:prstGeom>
          <a:noFill/>
          <a:ln w="50800">
            <a:solidFill>
              <a:schemeClr val="accent2"/>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 name="Date Placeholder 1"/>
          <p:cNvSpPr>
            <a:spLocks noGrp="1"/>
          </p:cNvSpPr>
          <p:nvPr>
            <p:ph type="dt" sz="half" idx="10"/>
          </p:nvPr>
        </p:nvSpPr>
        <p:spPr/>
        <p:txBody>
          <a:bodyPr/>
          <a:lstStyle/>
          <a:p>
            <a:fld id="{A998FA37-B4E1-4D13-AC06-8854EAAA030D}"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27</a:t>
            </a:fld>
            <a:endParaRPr lang="en-US" altLang="en-US"/>
          </a:p>
        </p:txBody>
      </p:sp>
    </p:spTree>
    <p:extLst>
      <p:ext uri="{BB962C8B-B14F-4D97-AF65-F5344CB8AC3E}">
        <p14:creationId xmlns:p14="http://schemas.microsoft.com/office/powerpoint/2010/main" val="1442996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560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25603">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25604">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604">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5604">
                                            <p:txEl>
                                              <p:pRg st="2" end="2"/>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25605">
                                            <p:txEl>
                                              <p:pRg st="0" end="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605">
                                            <p:txEl>
                                              <p:pRg st="1" end="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5605">
                                            <p:txEl>
                                              <p:pRg st="2" end="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5605">
                                            <p:txEl>
                                              <p:pRg st="3" end="3"/>
                                            </p:txEl>
                                          </p:spTgt>
                                        </p:tgtEl>
                                        <p:attrNameLst>
                                          <p:attrName>style.visibility</p:attrName>
                                        </p:attrNameLst>
                                      </p:cBhvr>
                                      <p:to>
                                        <p:strVal val="visible"/>
                                      </p:to>
                                    </p:set>
                                  </p:childTnLst>
                                </p:cTn>
                              </p:par>
                            </p:childTnLst>
                          </p:cTn>
                        </p:par>
                      </p:childTnLst>
                    </p:cTn>
                  </p:par>
                  <p:par>
                    <p:cTn id="33" fill="hold" nodeType="clickPar">
                      <p:stCondLst>
                        <p:cond delay="indefinite"/>
                      </p:stCondLst>
                      <p:childTnLst>
                        <p:par>
                          <p:cTn id="34" fill="hold" nodeType="withGroup">
                            <p:stCondLst>
                              <p:cond delay="0"/>
                            </p:stCondLst>
                            <p:childTnLst>
                              <p:par>
                                <p:cTn id="35" presetID="1" presetClass="entr" presetSubtype="0" fill="hold" nodeType="clickEffect">
                                  <p:stCondLst>
                                    <p:cond delay="0"/>
                                  </p:stCondLst>
                                  <p:childTnLst>
                                    <p:set>
                                      <p:cBhvr>
                                        <p:cTn id="36" dur="1" fill="hold">
                                          <p:stCondLst>
                                            <p:cond delay="0"/>
                                          </p:stCondLst>
                                        </p:cTn>
                                        <p:tgtEl>
                                          <p:spTgt spid="25604">
                                            <p:txEl>
                                              <p:pRg st="4" end="4"/>
                                            </p:txEl>
                                          </p:spTgt>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25604">
                                            <p:txEl>
                                              <p:pRg st="5" end="5"/>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25604">
                                            <p:txEl>
                                              <p:pRg st="6" end="6"/>
                                            </p:txEl>
                                          </p:spTgt>
                                        </p:tgtEl>
                                        <p:attrNameLst>
                                          <p:attrName>style.visibility</p:attrName>
                                        </p:attrNameLst>
                                      </p:cBhvr>
                                      <p:to>
                                        <p:strVal val="visible"/>
                                      </p:to>
                                    </p:set>
                                  </p:childTnLst>
                                </p:cTn>
                              </p:par>
                            </p:childTnLst>
                          </p:cTn>
                        </p:par>
                      </p:childTnLst>
                    </p:cTn>
                  </p:par>
                  <p:par>
                    <p:cTn id="41" fill="hold" nodeType="clickPar">
                      <p:stCondLst>
                        <p:cond delay="indefinite"/>
                      </p:stCondLst>
                      <p:childTnLst>
                        <p:par>
                          <p:cTn id="42" fill="hold" nodeType="withGroup">
                            <p:stCondLst>
                              <p:cond delay="0"/>
                            </p:stCondLst>
                            <p:childTnLst>
                              <p:par>
                                <p:cTn id="43" presetID="1" presetClass="entr" presetSubtype="0" fill="hold" nodeType="clickEffect">
                                  <p:stCondLst>
                                    <p:cond delay="0"/>
                                  </p:stCondLst>
                                  <p:childTnLst>
                                    <p:set>
                                      <p:cBhvr>
                                        <p:cTn id="44" dur="1" fill="hold">
                                          <p:stCondLst>
                                            <p:cond delay="0"/>
                                          </p:stCondLst>
                                        </p:cTn>
                                        <p:tgtEl>
                                          <p:spTgt spid="25605">
                                            <p:txEl>
                                              <p:pRg st="5" end="5"/>
                                            </p:txEl>
                                          </p:spTgt>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25605">
                                            <p:txEl>
                                              <p:pRg st="6" end="6"/>
                                            </p:txEl>
                                          </p:spTgt>
                                        </p:tgtEl>
                                        <p:attrNameLst>
                                          <p:attrName>style.visibility</p:attrName>
                                        </p:attrNameLst>
                                      </p:cBhvr>
                                      <p:to>
                                        <p:strVal val="visible"/>
                                      </p:to>
                                    </p:set>
                                  </p:childTnLst>
                                </p:cTn>
                              </p:par>
                              <p:par>
                                <p:cTn id="47" presetID="1" presetClass="entr" presetSubtype="0" fill="hold" nodeType="withEffect">
                                  <p:stCondLst>
                                    <p:cond delay="0"/>
                                  </p:stCondLst>
                                  <p:childTnLst>
                                    <p:set>
                                      <p:cBhvr>
                                        <p:cTn id="48" dur="1" fill="hold">
                                          <p:stCondLst>
                                            <p:cond delay="0"/>
                                          </p:stCondLst>
                                        </p:cTn>
                                        <p:tgtEl>
                                          <p:spTgt spid="25605">
                                            <p:txEl>
                                              <p:pRg st="7" end="7"/>
                                            </p:txEl>
                                          </p:spTgt>
                                        </p:tgtEl>
                                        <p:attrNameLst>
                                          <p:attrName>style.visibility</p:attrName>
                                        </p:attrNameLst>
                                      </p:cBhvr>
                                      <p:to>
                                        <p:strVal val="visible"/>
                                      </p:to>
                                    </p:set>
                                  </p:childTnLst>
                                </p:cTn>
                              </p:par>
                              <p:par>
                                <p:cTn id="49" presetID="1" presetClass="entr" presetSubtype="0" fill="hold" nodeType="withEffect">
                                  <p:stCondLst>
                                    <p:cond delay="0"/>
                                  </p:stCondLst>
                                  <p:childTnLst>
                                    <p:set>
                                      <p:cBhvr>
                                        <p:cTn id="50" dur="1" fill="hold">
                                          <p:stCondLst>
                                            <p:cond delay="0"/>
                                          </p:stCondLst>
                                        </p:cTn>
                                        <p:tgtEl>
                                          <p:spTgt spid="25605">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en-US" sz="4000" b="1">
                <a:latin typeface="Times New Roman" panose="02020603050405020304" pitchFamily="18" charset="0"/>
              </a:rPr>
              <a:t>Using the Car’s fuel</a:t>
            </a:r>
          </a:p>
        </p:txBody>
      </p:sp>
      <p:sp>
        <p:nvSpPr>
          <p:cNvPr id="26627" name="Rectangle 3"/>
          <p:cNvSpPr>
            <a:spLocks noGrp="1" noChangeArrowheads="1"/>
          </p:cNvSpPr>
          <p:nvPr>
            <p:ph type="body" idx="1"/>
          </p:nvPr>
        </p:nvSpPr>
        <p:spPr/>
        <p:txBody>
          <a:bodyPr/>
          <a:lstStyle/>
          <a:p>
            <a:endParaRPr lang="en-US" altLang="en-US" dirty="0"/>
          </a:p>
          <a:p>
            <a:pPr>
              <a:buNone/>
            </a:pPr>
            <a:endParaRPr lang="en-US" altLang="en-US" dirty="0"/>
          </a:p>
          <a:p>
            <a:endParaRPr lang="en-US" altLang="en-US"/>
          </a:p>
          <a:p>
            <a:endParaRPr lang="en-US" altLang="en-US" dirty="0"/>
          </a:p>
          <a:p>
            <a:r>
              <a:rPr lang="en-US" altLang="en-US" dirty="0"/>
              <a:t>Notice that to access the instance variables, the </a:t>
            </a:r>
            <a:r>
              <a:rPr lang="en-US" altLang="en-US" dirty="0" err="1"/>
              <a:t>accessor</a:t>
            </a:r>
            <a:r>
              <a:rPr lang="en-US" altLang="en-US" dirty="0"/>
              <a:t> methods are used</a:t>
            </a:r>
          </a:p>
          <a:p>
            <a:r>
              <a:rPr lang="en-US" altLang="en-US" dirty="0"/>
              <a:t>Math.abs() gets the absolute value of the passed parameter</a:t>
            </a:r>
          </a:p>
          <a:p>
            <a:endParaRPr lang="en-US" altLang="en-US" dirty="0"/>
          </a:p>
        </p:txBody>
      </p:sp>
      <p:sp>
        <p:nvSpPr>
          <p:cNvPr id="26628" name="Rectangle 4"/>
          <p:cNvSpPr>
            <a:spLocks noChangeArrowheads="1"/>
          </p:cNvSpPr>
          <p:nvPr/>
        </p:nvSpPr>
        <p:spPr bwMode="auto">
          <a:xfrm>
            <a:off x="304800" y="1600200"/>
            <a:ext cx="6934200" cy="3581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fontAlgn="base">
              <a:spcBef>
                <a:spcPct val="20000"/>
              </a:spcBef>
              <a:spcAft>
                <a:spcPct val="0"/>
              </a:spcAft>
              <a:buChar char="»"/>
              <a:defRPr sz="2000">
                <a:solidFill>
                  <a:schemeClr val="tx1"/>
                </a:solidFill>
                <a:latin typeface="Arial" panose="020B0604020202020204" pitchFamily="34" charset="0"/>
              </a:defRPr>
            </a:lvl6pPr>
            <a:lvl7pPr marL="2971800" indent="-228600" fontAlgn="base">
              <a:spcBef>
                <a:spcPct val="20000"/>
              </a:spcBef>
              <a:spcAft>
                <a:spcPct val="0"/>
              </a:spcAft>
              <a:buChar char="»"/>
              <a:defRPr sz="2000">
                <a:solidFill>
                  <a:schemeClr val="tx1"/>
                </a:solidFill>
                <a:latin typeface="Arial" panose="020B0604020202020204" pitchFamily="34" charset="0"/>
              </a:defRPr>
            </a:lvl7pPr>
            <a:lvl8pPr marL="3429000" indent="-228600" fontAlgn="base">
              <a:spcBef>
                <a:spcPct val="20000"/>
              </a:spcBef>
              <a:spcAft>
                <a:spcPct val="0"/>
              </a:spcAft>
              <a:buChar char="»"/>
              <a:defRPr sz="2000">
                <a:solidFill>
                  <a:schemeClr val="tx1"/>
                </a:solidFill>
                <a:latin typeface="Arial" panose="020B0604020202020204" pitchFamily="34" charset="0"/>
              </a:defRPr>
            </a:lvl8pPr>
            <a:lvl9pPr marL="3886200" indent="-228600" fontAlgn="base">
              <a:spcBef>
                <a:spcPct val="20000"/>
              </a:spcBef>
              <a:spcAft>
                <a:spcPct val="0"/>
              </a:spcAft>
              <a:buChar char="»"/>
              <a:defRPr sz="2000">
                <a:solidFill>
                  <a:schemeClr val="tx1"/>
                </a:solidFill>
                <a:latin typeface="Arial" panose="020B0604020202020204" pitchFamily="34" charset="0"/>
              </a:defRPr>
            </a:lvl9pPr>
          </a:lstStyle>
          <a:p>
            <a:pPr eaLnBrk="1" hangingPunct="1">
              <a:buFontTx/>
              <a:buNone/>
            </a:pPr>
            <a:r>
              <a:rPr lang="en-US" altLang="en-US" sz="2400">
                <a:latin typeface="Times New Roman" panose="02020603050405020304" pitchFamily="18" charset="0"/>
              </a:rPr>
              <a:t>public void setPos (int x, int y) {</a:t>
            </a:r>
          </a:p>
          <a:p>
            <a:pPr eaLnBrk="1" hangingPunct="1">
              <a:buFontTx/>
              <a:buNone/>
            </a:pPr>
            <a:r>
              <a:rPr lang="en-US" altLang="en-US" sz="2400">
                <a:latin typeface="Times New Roman" panose="02020603050405020304" pitchFamily="18" charset="0"/>
              </a:rPr>
              <a:t>	setXPos(x);</a:t>
            </a:r>
          </a:p>
          <a:p>
            <a:pPr eaLnBrk="1" hangingPunct="1">
              <a:buFontTx/>
              <a:buNone/>
            </a:pPr>
            <a:r>
              <a:rPr lang="en-US" altLang="en-US" sz="2400">
                <a:latin typeface="Times New Roman" panose="02020603050405020304" pitchFamily="18" charset="0"/>
              </a:rPr>
              <a:t>	setYPos(y);</a:t>
            </a:r>
          </a:p>
          <a:p>
            <a:pPr eaLnBrk="1" hangingPunct="1">
              <a:buFontTx/>
              <a:buNone/>
            </a:pPr>
            <a:r>
              <a:rPr lang="en-US" altLang="en-US" sz="2400">
                <a:latin typeface="Times New Roman" panose="02020603050405020304" pitchFamily="18" charset="0"/>
              </a:rPr>
              <a:t>}</a:t>
            </a:r>
          </a:p>
        </p:txBody>
      </p:sp>
      <p:sp>
        <p:nvSpPr>
          <p:cNvPr id="2" name="Date Placeholder 1"/>
          <p:cNvSpPr>
            <a:spLocks noGrp="1"/>
          </p:cNvSpPr>
          <p:nvPr>
            <p:ph type="dt" sz="half" idx="10"/>
          </p:nvPr>
        </p:nvSpPr>
        <p:spPr/>
        <p:txBody>
          <a:bodyPr/>
          <a:lstStyle/>
          <a:p>
            <a:fld id="{E38578AA-47CA-4FD2-95AE-9A9B02EA3CD0}"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28</a:t>
            </a:fld>
            <a:endParaRPr lang="en-US" altLang="en-US"/>
          </a:p>
        </p:txBody>
      </p:sp>
    </p:spTree>
    <p:extLst>
      <p:ext uri="{BB962C8B-B14F-4D97-AF65-F5344CB8AC3E}">
        <p14:creationId xmlns:p14="http://schemas.microsoft.com/office/powerpoint/2010/main" val="40706913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6628">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628">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6628">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6628">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26627">
                                            <p:txEl>
                                              <p:pRg st="4" end="4"/>
                                            </p:txEl>
                                          </p:spTgt>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266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274638"/>
            <a:ext cx="8686800" cy="563562"/>
          </a:xfrm>
        </p:spPr>
        <p:txBody>
          <a:bodyPr>
            <a:normAutofit fontScale="90000"/>
          </a:bodyPr>
          <a:lstStyle/>
          <a:p>
            <a:r>
              <a:rPr lang="en-US" altLang="en-US" sz="4000" b="1">
                <a:latin typeface="Times New Roman" panose="02020603050405020304" pitchFamily="18" charset="0"/>
              </a:rPr>
              <a:t>The main() method</a:t>
            </a:r>
          </a:p>
        </p:txBody>
      </p:sp>
      <p:sp>
        <p:nvSpPr>
          <p:cNvPr id="27651" name="Rectangle 3"/>
          <p:cNvSpPr>
            <a:spLocks noGrp="1" noChangeArrowheads="1"/>
          </p:cNvSpPr>
          <p:nvPr>
            <p:ph type="body" idx="1"/>
          </p:nvPr>
        </p:nvSpPr>
        <p:spPr>
          <a:xfrm>
            <a:off x="457200" y="1143000"/>
            <a:ext cx="8382000" cy="4953000"/>
          </a:xfrm>
        </p:spPr>
        <p:txBody>
          <a:bodyPr/>
          <a:lstStyle/>
          <a:p>
            <a:pPr>
              <a:lnSpc>
                <a:spcPct val="80000"/>
              </a:lnSpc>
            </a:pPr>
            <a:r>
              <a:rPr lang="en-US" altLang="en-US" sz="1800">
                <a:latin typeface="Times New Roman" panose="02020603050405020304" pitchFamily="18" charset="0"/>
              </a:rPr>
              <a:t>Consider a class with many methods:</a:t>
            </a:r>
          </a:p>
          <a:p>
            <a:pPr>
              <a:lnSpc>
                <a:spcPct val="80000"/>
              </a:lnSpc>
            </a:pPr>
            <a:endParaRPr lang="en-US" altLang="en-US" sz="1800">
              <a:latin typeface="Times New Roman" panose="02020603050405020304" pitchFamily="18" charset="0"/>
            </a:endParaRPr>
          </a:p>
          <a:p>
            <a:pPr>
              <a:lnSpc>
                <a:spcPct val="80000"/>
              </a:lnSpc>
              <a:buFontTx/>
              <a:buNone/>
            </a:pPr>
            <a:r>
              <a:rPr lang="en-US" altLang="en-US" sz="1800">
                <a:latin typeface="Times New Roman" panose="02020603050405020304" pitchFamily="18" charset="0"/>
              </a:rPr>
              <a:t>public class WhereToStart {</a:t>
            </a:r>
          </a:p>
          <a:p>
            <a:pPr lvl="1">
              <a:lnSpc>
                <a:spcPct val="80000"/>
              </a:lnSpc>
              <a:buFontTx/>
              <a:buNone/>
            </a:pPr>
            <a:endParaRPr lang="en-US" altLang="en-US" sz="1800">
              <a:latin typeface="Times New Roman" panose="02020603050405020304" pitchFamily="18" charset="0"/>
            </a:endParaRPr>
          </a:p>
          <a:p>
            <a:pPr lvl="1">
              <a:lnSpc>
                <a:spcPct val="80000"/>
              </a:lnSpc>
              <a:buFontTx/>
              <a:buNone/>
            </a:pPr>
            <a:r>
              <a:rPr lang="en-US" altLang="en-US" sz="1800">
                <a:latin typeface="Times New Roman" panose="02020603050405020304" pitchFamily="18" charset="0"/>
              </a:rPr>
              <a:t>public static void foo (int x) {</a:t>
            </a:r>
          </a:p>
          <a:p>
            <a:pPr lvl="2">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2000">
                <a:latin typeface="Times New Roman" panose="02020603050405020304" pitchFamily="18" charset="0"/>
              </a:rPr>
              <a:t>public static void bar () {</a:t>
            </a:r>
          </a:p>
          <a:p>
            <a:pPr lvl="2">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2000">
                <a:latin typeface="Times New Roman" panose="02020603050405020304" pitchFamily="18" charset="0"/>
              </a:rPr>
              <a:t>public static void main (String[] args) {</a:t>
            </a:r>
          </a:p>
          <a:p>
            <a:pPr lvl="2">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1800">
                <a:latin typeface="Times New Roman" panose="02020603050405020304" pitchFamily="18" charset="0"/>
              </a:rPr>
              <a:t>}</a:t>
            </a:r>
          </a:p>
          <a:p>
            <a:pPr>
              <a:lnSpc>
                <a:spcPct val="80000"/>
              </a:lnSpc>
            </a:pPr>
            <a:r>
              <a:rPr lang="en-US" altLang="en-US" sz="1800">
                <a:latin typeface="Times New Roman" panose="02020603050405020304" pitchFamily="18" charset="0"/>
              </a:rPr>
              <a:t>Where does Java start executing the program?</a:t>
            </a:r>
          </a:p>
          <a:p>
            <a:pPr lvl="1">
              <a:lnSpc>
                <a:spcPct val="80000"/>
              </a:lnSpc>
            </a:pPr>
            <a:r>
              <a:rPr lang="en-US" altLang="en-US" sz="1800">
                <a:latin typeface="Times New Roman" panose="02020603050405020304" pitchFamily="18" charset="0"/>
              </a:rPr>
              <a:t>Always at the beginning of the main() method!</a:t>
            </a:r>
          </a:p>
        </p:txBody>
      </p:sp>
      <p:sp>
        <p:nvSpPr>
          <p:cNvPr id="2" name="Date Placeholder 1"/>
          <p:cNvSpPr>
            <a:spLocks noGrp="1"/>
          </p:cNvSpPr>
          <p:nvPr>
            <p:ph type="dt" sz="half" idx="10"/>
          </p:nvPr>
        </p:nvSpPr>
        <p:spPr/>
        <p:txBody>
          <a:bodyPr/>
          <a:lstStyle/>
          <a:p>
            <a:fld id="{1800B44A-476C-463F-BBA9-0587C097C7C6}"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29</a:t>
            </a:fld>
            <a:endParaRPr lang="en-US" altLang="en-US"/>
          </a:p>
        </p:txBody>
      </p:sp>
    </p:spTree>
    <p:extLst>
      <p:ext uri="{BB962C8B-B14F-4D97-AF65-F5344CB8AC3E}">
        <p14:creationId xmlns:p14="http://schemas.microsoft.com/office/powerpoint/2010/main" val="30755381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27651">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7651">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7651">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7651">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7651">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7651">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651">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7651">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7651">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7651">
                                            <p:txEl>
                                              <p:pRg st="12" end="12"/>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7651">
                                            <p:txEl>
                                              <p:pRg st="13" end="13"/>
                                            </p:txEl>
                                          </p:spTgt>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27651">
                                            <p:txEl>
                                              <p:pRg st="14" end="14"/>
                                            </p:txEl>
                                          </p:spTgt>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nodeType="clickEffect">
                                  <p:stCondLst>
                                    <p:cond delay="0"/>
                                  </p:stCondLst>
                                  <p:childTnLst>
                                    <p:set>
                                      <p:cBhvr>
                                        <p:cTn id="38" dur="1" fill="hold">
                                          <p:stCondLst>
                                            <p:cond delay="0"/>
                                          </p:stCondLst>
                                        </p:cTn>
                                        <p:tgtEl>
                                          <p:spTgt spid="27651">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p:txBody>
          <a:bodyPr>
            <a:normAutofit fontScale="90000"/>
          </a:bodyPr>
          <a:lstStyle/>
          <a:p>
            <a:r>
              <a:rPr lang="en-US" altLang="en-US" sz="4000">
                <a:latin typeface="Times New Roman" panose="02020603050405020304" pitchFamily="18" charset="0"/>
              </a:rPr>
              <a:t>Running a class without a main() method</a:t>
            </a:r>
          </a:p>
        </p:txBody>
      </p:sp>
      <p:sp>
        <p:nvSpPr>
          <p:cNvPr id="28675" name="Rectangle 3"/>
          <p:cNvSpPr>
            <a:spLocks noGrp="1" noChangeArrowheads="1"/>
          </p:cNvSpPr>
          <p:nvPr>
            <p:ph type="body" idx="1"/>
          </p:nvPr>
        </p:nvSpPr>
        <p:spPr/>
        <p:txBody>
          <a:bodyPr/>
          <a:lstStyle/>
          <a:p>
            <a:r>
              <a:rPr lang="en-US" altLang="en-US" sz="2400" dirty="0">
                <a:latin typeface="Times New Roman" panose="02020603050405020304" pitchFamily="18" charset="0"/>
              </a:rPr>
              <a:t>Consider the Car class</a:t>
            </a:r>
          </a:p>
          <a:p>
            <a:pPr lvl="1"/>
            <a:r>
              <a:rPr lang="en-US" altLang="en-US" sz="2400" dirty="0">
                <a:latin typeface="Times New Roman" panose="02020603050405020304" pitchFamily="18" charset="0"/>
              </a:rPr>
              <a:t>It had no main() method!</a:t>
            </a:r>
          </a:p>
          <a:p>
            <a:pPr lvl="1"/>
            <a:r>
              <a:rPr lang="en-US" altLang="en-US" sz="2400" dirty="0">
                <a:latin typeface="Times New Roman" panose="02020603050405020304" pitchFamily="18" charset="0"/>
              </a:rPr>
              <a:t>Create another class named “</a:t>
            </a:r>
            <a:r>
              <a:rPr lang="en-US" altLang="en-US" sz="2400" dirty="0" err="1">
                <a:latin typeface="Times New Roman" panose="02020603050405020304" pitchFamily="18" charset="0"/>
              </a:rPr>
              <a:t>CarSimulation</a:t>
            </a:r>
            <a:r>
              <a:rPr lang="en-US" altLang="en-US" sz="2400" dirty="0">
                <a:latin typeface="Times New Roman" panose="02020603050405020304" pitchFamily="18" charset="0"/>
              </a:rPr>
              <a:t>” where main function and Car class is declared.</a:t>
            </a:r>
            <a:endParaRPr lang="en-US" altLang="en-US" dirty="0"/>
          </a:p>
        </p:txBody>
      </p:sp>
      <p:sp>
        <p:nvSpPr>
          <p:cNvPr id="2" name="Date Placeholder 1"/>
          <p:cNvSpPr>
            <a:spLocks noGrp="1"/>
          </p:cNvSpPr>
          <p:nvPr>
            <p:ph type="dt" sz="half" idx="10"/>
          </p:nvPr>
        </p:nvSpPr>
        <p:spPr/>
        <p:txBody>
          <a:bodyPr/>
          <a:lstStyle/>
          <a:p>
            <a:fld id="{72A7B42E-C13B-4512-83F9-F5BBAC20A826}" type="datetime1">
              <a:rPr lang="en-US" altLang="en-US" smtClean="0"/>
              <a:pPr/>
              <a:t>9/17/25</a:t>
            </a:fld>
            <a:endParaRPr lang="en-US" altLang="en-US"/>
          </a:p>
        </p:txBody>
      </p:sp>
      <p:sp>
        <p:nvSpPr>
          <p:cNvPr id="3" name="Slide Number Placeholder 2"/>
          <p:cNvSpPr>
            <a:spLocks noGrp="1"/>
          </p:cNvSpPr>
          <p:nvPr>
            <p:ph type="sldNum" sz="quarter" idx="12"/>
          </p:nvPr>
        </p:nvSpPr>
        <p:spPr/>
        <p:txBody>
          <a:bodyPr/>
          <a:lstStyle/>
          <a:p>
            <a:fld id="{F5E8D2BB-C09D-4217-9CDF-B5B378DC0A36}" type="slidenum">
              <a:rPr lang="en-US" altLang="en-US" smtClean="0"/>
              <a:pPr/>
              <a:t>30</a:t>
            </a:fld>
            <a:endParaRPr lang="en-US" altLang="en-US"/>
          </a:p>
        </p:txBody>
      </p:sp>
    </p:spTree>
    <p:extLst>
      <p:ext uri="{BB962C8B-B14F-4D97-AF65-F5344CB8AC3E}">
        <p14:creationId xmlns:p14="http://schemas.microsoft.com/office/powerpoint/2010/main" val="241638126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152400"/>
            <a:ext cx="8229600" cy="1143000"/>
          </a:xfrm>
        </p:spPr>
        <p:txBody>
          <a:bodyPr/>
          <a:lstStyle/>
          <a:p>
            <a:r>
              <a:rPr lang="en-US" altLang="en-US" sz="4000" b="1">
                <a:latin typeface="Times New Roman" panose="02020603050405020304" pitchFamily="18" charset="0"/>
              </a:rPr>
              <a:t>The this Keyword</a:t>
            </a:r>
          </a:p>
        </p:txBody>
      </p:sp>
      <p:sp>
        <p:nvSpPr>
          <p:cNvPr id="9219" name="Rectangle 3"/>
          <p:cNvSpPr>
            <a:spLocks noGrp="1" noChangeArrowheads="1"/>
          </p:cNvSpPr>
          <p:nvPr>
            <p:ph type="body" idx="1"/>
          </p:nvPr>
        </p:nvSpPr>
        <p:spPr>
          <a:xfrm>
            <a:off x="457200" y="1066800"/>
            <a:ext cx="8229600" cy="5059363"/>
          </a:xfrm>
        </p:spPr>
        <p:txBody>
          <a:bodyPr/>
          <a:lstStyle/>
          <a:p>
            <a:pPr>
              <a:lnSpc>
                <a:spcPct val="80000"/>
              </a:lnSpc>
              <a:buFont typeface="Wingdings" panose="05000000000000000000" pitchFamily="2" charset="2"/>
              <a:buChar char="ü"/>
            </a:pPr>
            <a:r>
              <a:rPr lang="en-US" altLang="en-US" sz="2000" dirty="0">
                <a:latin typeface="Times New Roman" panose="02020603050405020304" pitchFamily="18" charset="0"/>
              </a:rPr>
              <a:t>The this keyword can be used inside any method to refer to the current object.</a:t>
            </a:r>
          </a:p>
          <a:p>
            <a:pPr>
              <a:lnSpc>
                <a:spcPct val="80000"/>
              </a:lnSpc>
              <a:buFont typeface="Wingdings" panose="05000000000000000000" pitchFamily="2" charset="2"/>
              <a:buChar char="ü"/>
            </a:pPr>
            <a:r>
              <a:rPr lang="en-US" altLang="en-US" sz="2000" dirty="0">
                <a:latin typeface="Times New Roman" panose="02020603050405020304" pitchFamily="18" charset="0"/>
              </a:rPr>
              <a:t>Example:</a:t>
            </a:r>
          </a:p>
          <a:p>
            <a:pPr>
              <a:lnSpc>
                <a:spcPct val="80000"/>
              </a:lnSpc>
              <a:buFont typeface="Wingdings" panose="05000000000000000000" pitchFamily="2" charset="2"/>
              <a:buNone/>
            </a:pPr>
            <a:r>
              <a:rPr lang="en-US" altLang="en-US" sz="2000" dirty="0">
                <a:latin typeface="Times New Roman" panose="02020603050405020304" pitchFamily="18" charset="0"/>
              </a:rPr>
              <a:t>	Box (double w, double h, double d)</a:t>
            </a:r>
          </a:p>
          <a:p>
            <a:pPr>
              <a:lnSpc>
                <a:spcPct val="80000"/>
              </a:lnSpc>
              <a:buFont typeface="Wingdings" panose="05000000000000000000" pitchFamily="2" charset="2"/>
              <a:buNone/>
            </a:pPr>
            <a:r>
              <a:rPr lang="en-US" altLang="en-US" sz="2000" dirty="0">
                <a:latin typeface="Times New Roman" panose="02020603050405020304" pitchFamily="18" charset="0"/>
              </a:rPr>
              <a:t>	{</a:t>
            </a:r>
          </a:p>
          <a:p>
            <a:pPr>
              <a:lnSpc>
                <a:spcPct val="80000"/>
              </a:lnSpc>
              <a:buFont typeface="Wingdings" panose="05000000000000000000" pitchFamily="2" charset="2"/>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this.width</a:t>
            </a:r>
            <a:r>
              <a:rPr lang="en-US" altLang="en-US" sz="2000" dirty="0">
                <a:latin typeface="Times New Roman" panose="02020603050405020304" pitchFamily="18" charset="0"/>
              </a:rPr>
              <a:t> = w;</a:t>
            </a:r>
          </a:p>
          <a:p>
            <a:pPr>
              <a:lnSpc>
                <a:spcPct val="80000"/>
              </a:lnSpc>
              <a:buFont typeface="Wingdings" panose="05000000000000000000" pitchFamily="2" charset="2"/>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this.height</a:t>
            </a:r>
            <a:r>
              <a:rPr lang="en-US" altLang="en-US" sz="2000" dirty="0">
                <a:latin typeface="Times New Roman" panose="02020603050405020304" pitchFamily="18" charset="0"/>
              </a:rPr>
              <a:t> = h;</a:t>
            </a:r>
          </a:p>
          <a:p>
            <a:pPr>
              <a:lnSpc>
                <a:spcPct val="80000"/>
              </a:lnSpc>
              <a:buFont typeface="Wingdings" panose="05000000000000000000" pitchFamily="2" charset="2"/>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this.depth</a:t>
            </a:r>
            <a:r>
              <a:rPr lang="en-US" altLang="en-US" sz="2000" dirty="0">
                <a:latin typeface="Times New Roman" panose="02020603050405020304" pitchFamily="18" charset="0"/>
              </a:rPr>
              <a:t> = d;</a:t>
            </a:r>
          </a:p>
          <a:p>
            <a:pPr>
              <a:lnSpc>
                <a:spcPct val="80000"/>
              </a:lnSpc>
              <a:buFont typeface="Wingdings" panose="05000000000000000000" pitchFamily="2" charset="2"/>
              <a:buNone/>
            </a:pPr>
            <a:r>
              <a:rPr lang="en-US" altLang="en-US" sz="2000" dirty="0">
                <a:latin typeface="Times New Roman" panose="02020603050405020304" pitchFamily="18" charset="0"/>
              </a:rPr>
              <a:t>	}</a:t>
            </a:r>
          </a:p>
          <a:p>
            <a:pPr>
              <a:lnSpc>
                <a:spcPct val="80000"/>
              </a:lnSpc>
              <a:buFont typeface="Wingdings" panose="05000000000000000000" pitchFamily="2" charset="2"/>
              <a:buChar char="ü"/>
            </a:pPr>
            <a:r>
              <a:rPr lang="en-US" altLang="en-US" sz="2000" dirty="0">
                <a:latin typeface="Times New Roman" panose="02020603050405020304" pitchFamily="18" charset="0"/>
              </a:rPr>
              <a:t>Application-Instance Variable Hiding</a:t>
            </a:r>
          </a:p>
          <a:p>
            <a:pPr>
              <a:lnSpc>
                <a:spcPct val="80000"/>
              </a:lnSpc>
              <a:buFont typeface="Wingdings" panose="05000000000000000000" pitchFamily="2" charset="2"/>
              <a:buNone/>
            </a:pPr>
            <a:r>
              <a:rPr lang="en-US" altLang="en-US" sz="2000" dirty="0">
                <a:latin typeface="Times New Roman" panose="02020603050405020304" pitchFamily="18" charset="0"/>
              </a:rPr>
              <a:t>	Box (double width, double height, double depth)</a:t>
            </a:r>
          </a:p>
          <a:p>
            <a:pPr>
              <a:lnSpc>
                <a:spcPct val="80000"/>
              </a:lnSpc>
              <a:buFont typeface="Wingdings" panose="05000000000000000000" pitchFamily="2" charset="2"/>
              <a:buNone/>
            </a:pPr>
            <a:r>
              <a:rPr lang="en-US" altLang="en-US" sz="2000" dirty="0">
                <a:latin typeface="Times New Roman" panose="02020603050405020304" pitchFamily="18" charset="0"/>
              </a:rPr>
              <a:t>	{</a:t>
            </a:r>
          </a:p>
          <a:p>
            <a:pPr>
              <a:lnSpc>
                <a:spcPct val="80000"/>
              </a:lnSpc>
              <a:buFont typeface="Wingdings" panose="05000000000000000000" pitchFamily="2" charset="2"/>
              <a:buNone/>
            </a:pPr>
            <a:r>
              <a:rPr lang="en-US" altLang="en-US" sz="2000" dirty="0">
                <a:latin typeface="Times New Roman" panose="02020603050405020304" pitchFamily="18" charset="0"/>
              </a:rPr>
              <a:t>		this. width = width;</a:t>
            </a:r>
          </a:p>
          <a:p>
            <a:pPr>
              <a:lnSpc>
                <a:spcPct val="80000"/>
              </a:lnSpc>
              <a:buFont typeface="Wingdings" panose="05000000000000000000" pitchFamily="2" charset="2"/>
              <a:buNone/>
            </a:pPr>
            <a:r>
              <a:rPr lang="en-US" altLang="en-US" sz="2000" dirty="0">
                <a:latin typeface="Times New Roman" panose="02020603050405020304" pitchFamily="18" charset="0"/>
              </a:rPr>
              <a:t>		this. height = height;</a:t>
            </a:r>
          </a:p>
          <a:p>
            <a:pPr>
              <a:lnSpc>
                <a:spcPct val="80000"/>
              </a:lnSpc>
              <a:buFont typeface="Wingdings" panose="05000000000000000000" pitchFamily="2" charset="2"/>
              <a:buNone/>
            </a:pPr>
            <a:r>
              <a:rPr lang="en-US" altLang="en-US" sz="2000" dirty="0">
                <a:latin typeface="Times New Roman" panose="02020603050405020304" pitchFamily="18" charset="0"/>
              </a:rPr>
              <a:t>		this. depth = depth;</a:t>
            </a:r>
          </a:p>
          <a:p>
            <a:pPr>
              <a:lnSpc>
                <a:spcPct val="80000"/>
              </a:lnSpc>
              <a:buFont typeface="Wingdings" panose="05000000000000000000" pitchFamily="2" charset="2"/>
              <a:buNone/>
            </a:pPr>
            <a:endParaRPr lang="en-US" altLang="en-US" sz="2000" dirty="0">
              <a:latin typeface="Times New Roman" panose="02020603050405020304" pitchFamily="18" charset="0"/>
            </a:endParaRPr>
          </a:p>
          <a:p>
            <a:pPr>
              <a:lnSpc>
                <a:spcPct val="80000"/>
              </a:lnSpc>
              <a:buFont typeface="Wingdings" panose="05000000000000000000" pitchFamily="2" charset="2"/>
              <a:buNone/>
            </a:pPr>
            <a:r>
              <a:rPr lang="en-US" altLang="en-US" sz="2000" dirty="0">
                <a:latin typeface="Times New Roman" panose="02020603050405020304" pitchFamily="18" charset="0"/>
              </a:rPr>
              <a:t>	}</a:t>
            </a:r>
          </a:p>
        </p:txBody>
      </p:sp>
      <p:sp>
        <p:nvSpPr>
          <p:cNvPr id="2" name="Date Placeholder 1"/>
          <p:cNvSpPr>
            <a:spLocks noGrp="1"/>
          </p:cNvSpPr>
          <p:nvPr>
            <p:ph type="dt" sz="half" idx="10"/>
          </p:nvPr>
        </p:nvSpPr>
        <p:spPr/>
        <p:txBody>
          <a:bodyPr/>
          <a:lstStyle/>
          <a:p>
            <a:fld id="{4370D4AF-0FC1-423C-A8BC-A45D9BBE74D0}"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A2797038-AD64-4C97-BB0B-56363D18F42C}" type="slidenum">
              <a:rPr lang="en-US" altLang="en-US" smtClean="0"/>
              <a:pPr/>
              <a:t>31</a:t>
            </a:fld>
            <a:endParaRPr lang="en-US"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57200" y="-76200"/>
            <a:ext cx="8229600" cy="1143000"/>
          </a:xfrm>
        </p:spPr>
        <p:txBody>
          <a:bodyPr/>
          <a:lstStyle/>
          <a:p>
            <a:r>
              <a:rPr lang="en-US" altLang="en-US" b="1">
                <a:latin typeface="Times New Roman" panose="02020603050405020304" pitchFamily="18" charset="0"/>
              </a:rPr>
              <a:t>Garbage Collection</a:t>
            </a:r>
          </a:p>
        </p:txBody>
      </p:sp>
      <p:sp>
        <p:nvSpPr>
          <p:cNvPr id="10243" name="Rectangle 3"/>
          <p:cNvSpPr>
            <a:spLocks noGrp="1" noChangeArrowheads="1"/>
          </p:cNvSpPr>
          <p:nvPr>
            <p:ph type="body" idx="1"/>
          </p:nvPr>
        </p:nvSpPr>
        <p:spPr>
          <a:xfrm>
            <a:off x="457200" y="1066800"/>
            <a:ext cx="8229600" cy="5059363"/>
          </a:xfrm>
        </p:spPr>
        <p:txBody>
          <a:bodyPr/>
          <a:lstStyle/>
          <a:p>
            <a:pPr>
              <a:buFont typeface="Wingdings" panose="05000000000000000000" pitchFamily="2" charset="2"/>
              <a:buChar char="ü"/>
            </a:pPr>
            <a:r>
              <a:rPr lang="en-US" altLang="en-US" sz="2800">
                <a:latin typeface="Times New Roman" panose="02020603050405020304" pitchFamily="18" charset="0"/>
              </a:rPr>
              <a:t>Java handles deallocation automatically.</a:t>
            </a:r>
          </a:p>
          <a:p>
            <a:pPr>
              <a:buFont typeface="Wingdings" panose="05000000000000000000" pitchFamily="2" charset="2"/>
              <a:buChar char="ü"/>
            </a:pPr>
            <a:r>
              <a:rPr lang="en-US" altLang="en-US" sz="2800">
                <a:latin typeface="Times New Roman" panose="02020603050405020304" pitchFamily="18" charset="0"/>
              </a:rPr>
              <a:t>Garbage collection system automatically deallocates space for the programmer.</a:t>
            </a:r>
          </a:p>
          <a:p>
            <a:pPr>
              <a:buFont typeface="Wingdings" panose="05000000000000000000" pitchFamily="2" charset="2"/>
              <a:buChar char="ü"/>
            </a:pPr>
            <a:r>
              <a:rPr lang="en-US" altLang="en-US" sz="2800">
                <a:latin typeface="Times New Roman" panose="02020603050405020304" pitchFamily="18" charset="0"/>
              </a:rPr>
              <a:t>It runs periodically.</a:t>
            </a:r>
          </a:p>
          <a:p>
            <a:pPr>
              <a:buFont typeface="Wingdings" panose="05000000000000000000" pitchFamily="2" charset="2"/>
              <a:buChar char="ü"/>
            </a:pPr>
            <a:r>
              <a:rPr lang="en-US" altLang="en-US" sz="2800">
                <a:latin typeface="Times New Roman" panose="02020603050405020304" pitchFamily="18" charset="0"/>
              </a:rPr>
              <a:t>It automatically releases space for an object, when no reference to the object exists.</a:t>
            </a:r>
          </a:p>
        </p:txBody>
      </p:sp>
      <p:sp>
        <p:nvSpPr>
          <p:cNvPr id="2" name="Date Placeholder 1"/>
          <p:cNvSpPr>
            <a:spLocks noGrp="1"/>
          </p:cNvSpPr>
          <p:nvPr>
            <p:ph type="dt" sz="half" idx="10"/>
          </p:nvPr>
        </p:nvSpPr>
        <p:spPr/>
        <p:txBody>
          <a:bodyPr/>
          <a:lstStyle/>
          <a:p>
            <a:fld id="{BD055508-CCE1-49C1-AC91-CCF4C29E1AD1}"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A2797038-AD64-4C97-BB0B-56363D18F42C}" type="slidenum">
              <a:rPr lang="en-US" altLang="en-US" smtClean="0"/>
              <a:pPr/>
              <a:t>32</a:t>
            </a:fld>
            <a:endParaRPr lang="en-US"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sz="4000" b="1">
                <a:latin typeface="Times New Roman" panose="02020603050405020304" pitchFamily="18" charset="0"/>
              </a:rPr>
              <a:t>The finalize () Method</a:t>
            </a:r>
          </a:p>
        </p:txBody>
      </p:sp>
      <p:sp>
        <p:nvSpPr>
          <p:cNvPr id="11267" name="Rectangle 3"/>
          <p:cNvSpPr>
            <a:spLocks noGrp="1" noChangeArrowheads="1"/>
          </p:cNvSpPr>
          <p:nvPr>
            <p:ph type="body" idx="1"/>
          </p:nvPr>
        </p:nvSpPr>
        <p:spPr/>
        <p:txBody>
          <a:bodyPr/>
          <a:lstStyle/>
          <a:p>
            <a:pPr>
              <a:buFont typeface="Wingdings" panose="05000000000000000000" pitchFamily="2" charset="2"/>
              <a:buChar char="ü"/>
            </a:pPr>
            <a:r>
              <a:rPr lang="en-US" altLang="en-US" sz="2400">
                <a:latin typeface="Times New Roman" panose="02020603050405020304" pitchFamily="18" charset="0"/>
              </a:rPr>
              <a:t>By using finalize (), it is possible to define actions that will occur when an object is just about to be reclaimed by the garbage collector.</a:t>
            </a:r>
          </a:p>
          <a:p>
            <a:pPr>
              <a:buFont typeface="Wingdings" panose="05000000000000000000" pitchFamily="2" charset="2"/>
              <a:buChar char="ü"/>
            </a:pPr>
            <a:r>
              <a:rPr lang="en-US" altLang="en-US" sz="2400">
                <a:latin typeface="Times New Roman" panose="02020603050405020304" pitchFamily="18" charset="0"/>
              </a:rPr>
              <a:t>Java runtime system calls the method whenever it is about to recycle an object of that class.</a:t>
            </a:r>
          </a:p>
          <a:p>
            <a:pPr>
              <a:buFont typeface="Wingdings" panose="05000000000000000000" pitchFamily="2" charset="2"/>
              <a:buChar char="ü"/>
            </a:pPr>
            <a:r>
              <a:rPr lang="en-US" altLang="en-US" sz="2400">
                <a:latin typeface="Times New Roman" panose="02020603050405020304" pitchFamily="18" charset="0"/>
              </a:rPr>
              <a:t>protected void finalize ()	</a:t>
            </a:r>
          </a:p>
          <a:p>
            <a:pPr>
              <a:buFont typeface="Wingdings" panose="05000000000000000000" pitchFamily="2" charset="2"/>
              <a:buNone/>
            </a:pPr>
            <a:r>
              <a:rPr lang="en-US" altLang="en-US" sz="2400">
                <a:latin typeface="Times New Roman" panose="02020603050405020304" pitchFamily="18" charset="0"/>
              </a:rPr>
              <a:t>	{</a:t>
            </a:r>
          </a:p>
          <a:p>
            <a:pPr>
              <a:buFont typeface="Wingdings" panose="05000000000000000000" pitchFamily="2" charset="2"/>
              <a:buNone/>
            </a:pPr>
            <a:r>
              <a:rPr lang="en-US" altLang="en-US" sz="2400">
                <a:latin typeface="Times New Roman" panose="02020603050405020304" pitchFamily="18" charset="0"/>
              </a:rPr>
              <a:t>		//code here</a:t>
            </a:r>
          </a:p>
          <a:p>
            <a:pPr>
              <a:buFont typeface="Wingdings" panose="05000000000000000000" pitchFamily="2" charset="2"/>
              <a:buNone/>
            </a:pPr>
            <a:r>
              <a:rPr lang="en-US" altLang="en-US" sz="2400">
                <a:latin typeface="Times New Roman" panose="02020603050405020304" pitchFamily="18" charset="0"/>
              </a:rPr>
              <a:t>	}</a:t>
            </a:r>
          </a:p>
          <a:p>
            <a:pPr>
              <a:buFont typeface="Wingdings" panose="05000000000000000000" pitchFamily="2" charset="2"/>
              <a:buChar char="ü"/>
            </a:pPr>
            <a:r>
              <a:rPr lang="en-US" altLang="en-US" sz="2400">
                <a:latin typeface="Times New Roman" panose="02020603050405020304" pitchFamily="18" charset="0"/>
              </a:rPr>
              <a:t>It is only called just prior to garbage collection.</a:t>
            </a:r>
          </a:p>
        </p:txBody>
      </p:sp>
      <p:sp>
        <p:nvSpPr>
          <p:cNvPr id="2" name="Date Placeholder 1"/>
          <p:cNvSpPr>
            <a:spLocks noGrp="1"/>
          </p:cNvSpPr>
          <p:nvPr>
            <p:ph type="dt" sz="half" idx="10"/>
          </p:nvPr>
        </p:nvSpPr>
        <p:spPr/>
        <p:txBody>
          <a:bodyPr/>
          <a:lstStyle/>
          <a:p>
            <a:fld id="{095296A1-AEDD-474F-9C98-2EFEA5E15339}"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A2797038-AD64-4C97-BB0B-56363D18F42C}" type="slidenum">
              <a:rPr lang="en-US" altLang="en-US" smtClean="0"/>
              <a:pPr/>
              <a:t>33</a:t>
            </a:fld>
            <a:endParaRPr lang="en-US"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altLang="en-US">
                <a:latin typeface="Times New Roman" panose="02020603050405020304" pitchFamily="18" charset="0"/>
              </a:rPr>
              <a:t>Parameter Passing in Java</a:t>
            </a:r>
          </a:p>
        </p:txBody>
      </p:sp>
      <p:sp>
        <p:nvSpPr>
          <p:cNvPr id="6147" name="Rectangle 3"/>
          <p:cNvSpPr>
            <a:spLocks noGrp="1" noChangeArrowheads="1"/>
          </p:cNvSpPr>
          <p:nvPr>
            <p:ph type="body" idx="1"/>
          </p:nvPr>
        </p:nvSpPr>
        <p:spPr/>
        <p:txBody>
          <a:bodyPr/>
          <a:lstStyle/>
          <a:p>
            <a:pPr>
              <a:buClr>
                <a:schemeClr val="tx1"/>
              </a:buClr>
              <a:buFont typeface="Wingdings" panose="05000000000000000000" pitchFamily="2" charset="2"/>
              <a:buChar char="ü"/>
            </a:pPr>
            <a:r>
              <a:rPr lang="en-US" altLang="en-US" sz="2400" b="1" u="sng">
                <a:latin typeface="Times New Roman" panose="02020603050405020304" pitchFamily="18" charset="0"/>
              </a:rPr>
              <a:t>Call by value:</a:t>
            </a:r>
          </a:p>
          <a:p>
            <a:pPr>
              <a:buClr>
                <a:schemeClr val="tx1"/>
              </a:buClr>
              <a:buFont typeface="Wingdings" panose="05000000000000000000" pitchFamily="2" charset="2"/>
              <a:buNone/>
            </a:pPr>
            <a:r>
              <a:rPr lang="en-US" altLang="en-US" sz="2400">
                <a:latin typeface="Times New Roman" panose="02020603050405020304" pitchFamily="18" charset="0"/>
              </a:rPr>
              <a:t>	1. Copies the value of an argument into the formal parameter of the method.</a:t>
            </a:r>
          </a:p>
          <a:p>
            <a:pPr>
              <a:buClr>
                <a:schemeClr val="tx1"/>
              </a:buClr>
              <a:buFont typeface="Wingdings" panose="05000000000000000000" pitchFamily="2" charset="2"/>
              <a:buNone/>
            </a:pPr>
            <a:r>
              <a:rPr lang="en-US" altLang="en-US" sz="2400">
                <a:latin typeface="Times New Roman" panose="02020603050405020304" pitchFamily="18" charset="0"/>
              </a:rPr>
              <a:t>	2. Changes made to the parameter inside the function has no effect on the argument used in the call.</a:t>
            </a:r>
          </a:p>
          <a:p>
            <a:pPr>
              <a:buClr>
                <a:schemeClr val="tx1"/>
              </a:buClr>
              <a:buFont typeface="Wingdings" panose="05000000000000000000" pitchFamily="2" charset="2"/>
              <a:buChar char="ü"/>
            </a:pPr>
            <a:r>
              <a:rPr lang="en-US" altLang="en-US" sz="2400" b="1" u="sng">
                <a:latin typeface="Times New Roman" panose="02020603050405020304" pitchFamily="18" charset="0"/>
              </a:rPr>
              <a:t>Call by reference</a:t>
            </a:r>
          </a:p>
          <a:p>
            <a:pPr>
              <a:buClr>
                <a:schemeClr val="tx1"/>
              </a:buClr>
              <a:buFont typeface="Wingdings" panose="05000000000000000000" pitchFamily="2" charset="2"/>
              <a:buNone/>
            </a:pPr>
            <a:r>
              <a:rPr lang="en-US" altLang="en-US" sz="2400">
                <a:latin typeface="Times New Roman" panose="02020603050405020304" pitchFamily="18" charset="0"/>
              </a:rPr>
              <a:t>   1. A reference to an argument is passed to the parameter.</a:t>
            </a:r>
          </a:p>
          <a:p>
            <a:pPr>
              <a:buClr>
                <a:schemeClr val="tx1"/>
              </a:buClr>
              <a:buFont typeface="Wingdings" panose="05000000000000000000" pitchFamily="2" charset="2"/>
              <a:buNone/>
            </a:pPr>
            <a:r>
              <a:rPr lang="en-US" altLang="en-US" sz="2400">
                <a:latin typeface="Times New Roman" panose="02020603050405020304" pitchFamily="18" charset="0"/>
              </a:rPr>
              <a:t>   2. Changes made to the parameter inside the function affect the argument used in the call.</a:t>
            </a:r>
          </a:p>
          <a:p>
            <a:pPr>
              <a:buClr>
                <a:schemeClr val="tx1"/>
              </a:buClr>
              <a:buFont typeface="Wingdings" panose="05000000000000000000" pitchFamily="2" charset="2"/>
              <a:buChar char="ü"/>
            </a:pPr>
            <a:r>
              <a:rPr lang="en-US" altLang="en-US" sz="2400">
                <a:latin typeface="Times New Roman" panose="02020603050405020304" pitchFamily="18" charset="0"/>
              </a:rPr>
              <a:t>Java uses both depending on what is passed</a:t>
            </a:r>
          </a:p>
          <a:p>
            <a:pPr>
              <a:buClr>
                <a:schemeClr val="tx1"/>
              </a:buClr>
              <a:buFont typeface="Wingdings" panose="05000000000000000000" pitchFamily="2" charset="2"/>
              <a:buChar char="ü"/>
            </a:pPr>
            <a:endParaRPr lang="en-US" altLang="en-US" sz="2400">
              <a:latin typeface="Times New Roman" panose="02020603050405020304" pitchFamily="18" charset="0"/>
            </a:endParaRPr>
          </a:p>
        </p:txBody>
      </p:sp>
      <p:sp>
        <p:nvSpPr>
          <p:cNvPr id="2" name="Date Placeholder 1"/>
          <p:cNvSpPr>
            <a:spLocks noGrp="1"/>
          </p:cNvSpPr>
          <p:nvPr>
            <p:ph type="dt" sz="half" idx="10"/>
          </p:nvPr>
        </p:nvSpPr>
        <p:spPr/>
        <p:txBody>
          <a:bodyPr/>
          <a:lstStyle/>
          <a:p>
            <a:fld id="{6B9AD6AE-33C1-4FB1-9B0D-03B4A11E11D6}"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A2797038-AD64-4C97-BB0B-56363D18F42C}" type="slidenum">
              <a:rPr lang="en-US" altLang="en-US" smtClean="0"/>
              <a:pPr/>
              <a:t>34</a:t>
            </a:fld>
            <a:endParaRPr lang="en-US" altLang="en-US"/>
          </a:p>
        </p:txBody>
      </p:sp>
    </p:spTree>
    <p:extLst>
      <p:ext uri="{BB962C8B-B14F-4D97-AF65-F5344CB8AC3E}">
        <p14:creationId xmlns:p14="http://schemas.microsoft.com/office/powerpoint/2010/main" val="175432625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457200" y="274638"/>
            <a:ext cx="8229600" cy="563562"/>
          </a:xfrm>
        </p:spPr>
        <p:txBody>
          <a:bodyPr/>
          <a:lstStyle/>
          <a:p>
            <a:r>
              <a:rPr lang="en-US" altLang="en-US" sz="4000" b="1">
                <a:latin typeface="Times New Roman" panose="02020603050405020304" pitchFamily="18" charset="0"/>
              </a:rPr>
              <a:t>Call by Value</a:t>
            </a:r>
          </a:p>
        </p:txBody>
      </p:sp>
      <p:sp>
        <p:nvSpPr>
          <p:cNvPr id="7172" name="Rectangle 4"/>
          <p:cNvSpPr>
            <a:spLocks noGrp="1" noChangeArrowheads="1"/>
          </p:cNvSpPr>
          <p:nvPr>
            <p:ph type="body" sz="half" idx="1"/>
          </p:nvPr>
        </p:nvSpPr>
        <p:spPr>
          <a:xfrm>
            <a:off x="457200" y="1600200"/>
            <a:ext cx="5029200" cy="5257800"/>
          </a:xfrm>
        </p:spPr>
        <p:txBody>
          <a:bodyPr/>
          <a:lstStyle/>
          <a:p>
            <a:pPr>
              <a:lnSpc>
                <a:spcPct val="80000"/>
              </a:lnSpc>
              <a:buFontTx/>
              <a:buNone/>
            </a:pPr>
            <a:r>
              <a:rPr lang="en-US" altLang="en-US" sz="1600">
                <a:latin typeface="Times New Roman" panose="02020603050405020304" pitchFamily="18" charset="0"/>
              </a:rPr>
              <a:t>class test</a:t>
            </a:r>
          </a:p>
          <a:p>
            <a:pPr>
              <a:lnSpc>
                <a:spcPct val="80000"/>
              </a:lnSpc>
              <a:buFontTx/>
              <a:buNone/>
            </a:pPr>
            <a:r>
              <a:rPr lang="en-US" altLang="en-US" sz="1600">
                <a:latin typeface="Times New Roman" panose="02020603050405020304" pitchFamily="18" charset="0"/>
              </a:rPr>
              <a:t>{</a:t>
            </a:r>
          </a:p>
          <a:p>
            <a:pPr>
              <a:lnSpc>
                <a:spcPct val="80000"/>
              </a:lnSpc>
              <a:buFontTx/>
              <a:buNone/>
            </a:pPr>
            <a:r>
              <a:rPr lang="en-US" altLang="en-US" sz="1600">
                <a:latin typeface="Times New Roman" panose="02020603050405020304" pitchFamily="18" charset="0"/>
              </a:rPr>
              <a:t>	void set (int i, int j)</a:t>
            </a:r>
          </a:p>
          <a:p>
            <a:pPr>
              <a:lnSpc>
                <a:spcPct val="80000"/>
              </a:lnSpc>
              <a:buFontTx/>
              <a:buNone/>
            </a:pPr>
            <a:r>
              <a:rPr lang="en-US" altLang="en-US" sz="1600">
                <a:latin typeface="Times New Roman" panose="02020603050405020304" pitchFamily="18" charset="0"/>
              </a:rPr>
              <a:t>	{</a:t>
            </a:r>
          </a:p>
          <a:p>
            <a:pPr>
              <a:lnSpc>
                <a:spcPct val="80000"/>
              </a:lnSpc>
              <a:buFontTx/>
              <a:buNone/>
            </a:pPr>
            <a:r>
              <a:rPr lang="en-US" altLang="en-US" sz="1600">
                <a:latin typeface="Times New Roman" panose="02020603050405020304" pitchFamily="18" charset="0"/>
              </a:rPr>
              <a:t>		i * = 2;</a:t>
            </a:r>
          </a:p>
          <a:p>
            <a:pPr>
              <a:lnSpc>
                <a:spcPct val="80000"/>
              </a:lnSpc>
              <a:buFontTx/>
              <a:buNone/>
            </a:pPr>
            <a:r>
              <a:rPr lang="en-US" altLang="en-US" sz="1600">
                <a:latin typeface="Times New Roman" panose="02020603050405020304" pitchFamily="18" charset="0"/>
              </a:rPr>
              <a:t>		j /=2;</a:t>
            </a:r>
          </a:p>
          <a:p>
            <a:pPr>
              <a:lnSpc>
                <a:spcPct val="80000"/>
              </a:lnSpc>
              <a:buFontTx/>
              <a:buNone/>
            </a:pPr>
            <a:r>
              <a:rPr lang="en-US" altLang="en-US" sz="1600">
                <a:latin typeface="Times New Roman" panose="02020603050405020304" pitchFamily="18" charset="0"/>
              </a:rPr>
              <a:t>	}</a:t>
            </a:r>
          </a:p>
          <a:p>
            <a:pPr>
              <a:lnSpc>
                <a:spcPct val="80000"/>
              </a:lnSpc>
              <a:buFontTx/>
              <a:buNone/>
            </a:pPr>
            <a:r>
              <a:rPr lang="en-US" altLang="en-US" sz="1600">
                <a:latin typeface="Times New Roman" panose="02020603050405020304" pitchFamily="18" charset="0"/>
              </a:rPr>
              <a:t>}</a:t>
            </a:r>
          </a:p>
          <a:p>
            <a:pPr>
              <a:lnSpc>
                <a:spcPct val="80000"/>
              </a:lnSpc>
              <a:buFontTx/>
              <a:buNone/>
            </a:pPr>
            <a:r>
              <a:rPr lang="en-US" altLang="en-US" sz="1600">
                <a:latin typeface="Times New Roman" panose="02020603050405020304" pitchFamily="18" charset="0"/>
              </a:rPr>
              <a:t>class test1</a:t>
            </a:r>
          </a:p>
          <a:p>
            <a:pPr>
              <a:lnSpc>
                <a:spcPct val="80000"/>
              </a:lnSpc>
              <a:buFontTx/>
              <a:buNone/>
            </a:pPr>
            <a:r>
              <a:rPr lang="en-US" altLang="en-US" sz="1600">
                <a:latin typeface="Times New Roman" panose="02020603050405020304" pitchFamily="18" charset="0"/>
              </a:rPr>
              <a:t>{</a:t>
            </a:r>
          </a:p>
          <a:p>
            <a:pPr>
              <a:lnSpc>
                <a:spcPct val="80000"/>
              </a:lnSpc>
              <a:buFontTx/>
              <a:buNone/>
            </a:pPr>
            <a:r>
              <a:rPr lang="en-US" altLang="en-US" sz="1600">
                <a:latin typeface="Times New Roman" panose="02020603050405020304" pitchFamily="18" charset="0"/>
              </a:rPr>
              <a:t>	public static void main (String args[])</a:t>
            </a:r>
          </a:p>
          <a:p>
            <a:pPr>
              <a:lnSpc>
                <a:spcPct val="80000"/>
              </a:lnSpc>
              <a:buFontTx/>
              <a:buNone/>
            </a:pPr>
            <a:r>
              <a:rPr lang="en-US" altLang="en-US" sz="1600">
                <a:latin typeface="Times New Roman" panose="02020603050405020304" pitchFamily="18" charset="0"/>
              </a:rPr>
              <a:t>	{</a:t>
            </a:r>
          </a:p>
          <a:p>
            <a:pPr>
              <a:lnSpc>
                <a:spcPct val="80000"/>
              </a:lnSpc>
              <a:buFontTx/>
              <a:buNone/>
            </a:pPr>
            <a:r>
              <a:rPr lang="en-US" altLang="en-US" sz="1600">
                <a:latin typeface="Times New Roman" panose="02020603050405020304" pitchFamily="18" charset="0"/>
              </a:rPr>
              <a:t>		test ob=new test();</a:t>
            </a:r>
          </a:p>
          <a:p>
            <a:pPr>
              <a:lnSpc>
                <a:spcPct val="80000"/>
              </a:lnSpc>
              <a:buFontTx/>
              <a:buNone/>
            </a:pPr>
            <a:r>
              <a:rPr lang="en-US" altLang="en-US" sz="1600">
                <a:latin typeface="Times New Roman" panose="02020603050405020304" pitchFamily="18" charset="0"/>
              </a:rPr>
              <a:t>		int a=14, b=20;</a:t>
            </a:r>
          </a:p>
          <a:p>
            <a:pPr>
              <a:lnSpc>
                <a:spcPct val="80000"/>
              </a:lnSpc>
              <a:buFontTx/>
              <a:buNone/>
            </a:pPr>
            <a:r>
              <a:rPr lang="en-US" altLang="en-US" sz="1600">
                <a:latin typeface="Times New Roman" panose="02020603050405020304" pitchFamily="18" charset="0"/>
              </a:rPr>
              <a:t>		System.out.println (“Before call:”+a+” “ +b);</a:t>
            </a:r>
          </a:p>
          <a:p>
            <a:pPr>
              <a:lnSpc>
                <a:spcPct val="80000"/>
              </a:lnSpc>
              <a:buFontTx/>
              <a:buNone/>
            </a:pPr>
            <a:r>
              <a:rPr lang="en-US" altLang="en-US" sz="1600">
                <a:latin typeface="Times New Roman" panose="02020603050405020304" pitchFamily="18" charset="0"/>
              </a:rPr>
              <a:t>		ob.set(a,b);</a:t>
            </a:r>
          </a:p>
          <a:p>
            <a:pPr>
              <a:lnSpc>
                <a:spcPct val="80000"/>
              </a:lnSpc>
              <a:buFontTx/>
              <a:buNone/>
            </a:pPr>
            <a:r>
              <a:rPr lang="en-US" altLang="en-US" sz="1600">
                <a:latin typeface="Times New Roman" panose="02020603050405020304" pitchFamily="18" charset="0"/>
              </a:rPr>
              <a:t>       	System.out.println (“After call:”+a+” “ + b); 		</a:t>
            </a:r>
          </a:p>
          <a:p>
            <a:pPr>
              <a:lnSpc>
                <a:spcPct val="80000"/>
              </a:lnSpc>
              <a:buFontTx/>
              <a:buNone/>
            </a:pPr>
            <a:r>
              <a:rPr lang="en-US" altLang="en-US" sz="1600">
                <a:latin typeface="Times New Roman" panose="02020603050405020304" pitchFamily="18" charset="0"/>
              </a:rPr>
              <a:t>	}</a:t>
            </a:r>
          </a:p>
          <a:p>
            <a:pPr>
              <a:lnSpc>
                <a:spcPct val="80000"/>
              </a:lnSpc>
              <a:buFontTx/>
              <a:buNone/>
            </a:pPr>
            <a:r>
              <a:rPr lang="en-US" altLang="en-US" sz="1600">
                <a:latin typeface="Times New Roman" panose="02020603050405020304" pitchFamily="18" charset="0"/>
              </a:rPr>
              <a:t>}</a:t>
            </a:r>
          </a:p>
        </p:txBody>
      </p:sp>
      <p:sp>
        <p:nvSpPr>
          <p:cNvPr id="7173" name="Rectangle 5"/>
          <p:cNvSpPr>
            <a:spLocks noGrp="1" noChangeArrowheads="1"/>
          </p:cNvSpPr>
          <p:nvPr>
            <p:ph type="body" sz="half" idx="2"/>
          </p:nvPr>
        </p:nvSpPr>
        <p:spPr>
          <a:xfrm>
            <a:off x="5562600" y="1600200"/>
            <a:ext cx="3124200" cy="4525963"/>
          </a:xfrm>
        </p:spPr>
        <p:txBody>
          <a:bodyPr/>
          <a:lstStyle/>
          <a:p>
            <a:pPr>
              <a:lnSpc>
                <a:spcPct val="80000"/>
              </a:lnSpc>
              <a:buFontTx/>
              <a:buNone/>
            </a:pPr>
            <a:r>
              <a:rPr lang="en-US" altLang="en-US" sz="2400" b="1" u="sng">
                <a:latin typeface="Times New Roman" panose="02020603050405020304" pitchFamily="18" charset="0"/>
              </a:rPr>
              <a:t>Output:</a:t>
            </a:r>
          </a:p>
          <a:p>
            <a:pPr>
              <a:lnSpc>
                <a:spcPct val="80000"/>
              </a:lnSpc>
              <a:buFontTx/>
              <a:buNone/>
            </a:pPr>
            <a:r>
              <a:rPr lang="en-US" altLang="en-US" sz="2400">
                <a:latin typeface="Times New Roman" panose="02020603050405020304" pitchFamily="18" charset="0"/>
              </a:rPr>
              <a:t>Before call: 14 20</a:t>
            </a:r>
          </a:p>
          <a:p>
            <a:pPr>
              <a:lnSpc>
                <a:spcPct val="80000"/>
              </a:lnSpc>
              <a:buFontTx/>
              <a:buNone/>
            </a:pPr>
            <a:r>
              <a:rPr lang="en-US" altLang="en-US" sz="2400">
                <a:latin typeface="Times New Roman" panose="02020603050405020304" pitchFamily="18" charset="0"/>
              </a:rPr>
              <a:t>After call: 14 20</a:t>
            </a:r>
          </a:p>
        </p:txBody>
      </p:sp>
      <p:sp>
        <p:nvSpPr>
          <p:cNvPr id="7174" name="Text Box 6"/>
          <p:cNvSpPr txBox="1">
            <a:spLocks noChangeArrowheads="1"/>
          </p:cNvSpPr>
          <p:nvPr/>
        </p:nvSpPr>
        <p:spPr bwMode="auto">
          <a:xfrm>
            <a:off x="381000" y="1219200"/>
            <a:ext cx="8382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a:latin typeface="Times New Roman" panose="02020603050405020304" pitchFamily="18" charset="0"/>
              </a:rPr>
              <a:t>When a simple type is passed, it is passed by value</a:t>
            </a:r>
          </a:p>
        </p:txBody>
      </p:sp>
      <p:sp>
        <p:nvSpPr>
          <p:cNvPr id="2" name="Date Placeholder 1"/>
          <p:cNvSpPr>
            <a:spLocks noGrp="1"/>
          </p:cNvSpPr>
          <p:nvPr>
            <p:ph type="dt" sz="half" idx="10"/>
          </p:nvPr>
        </p:nvSpPr>
        <p:spPr/>
        <p:txBody>
          <a:bodyPr/>
          <a:lstStyle/>
          <a:p>
            <a:fld id="{22742108-6193-4133-AB77-B635F870E7AF}"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537DE4E2-1CA0-4C5B-A02F-FEFF3DD9C080}" type="slidenum">
              <a:rPr lang="en-US" altLang="en-US" smtClean="0"/>
              <a:pPr/>
              <a:t>35</a:t>
            </a:fld>
            <a:endParaRPr lang="en-US" altLang="en-US"/>
          </a:p>
        </p:txBody>
      </p:sp>
    </p:spTree>
    <p:extLst>
      <p:ext uri="{BB962C8B-B14F-4D97-AF65-F5344CB8AC3E}">
        <p14:creationId xmlns:p14="http://schemas.microsoft.com/office/powerpoint/2010/main" val="6032851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457200" y="274638"/>
            <a:ext cx="8305800" cy="487362"/>
          </a:xfrm>
        </p:spPr>
        <p:txBody>
          <a:bodyPr/>
          <a:lstStyle/>
          <a:p>
            <a:r>
              <a:rPr lang="en-US" altLang="en-US" sz="4000" b="1">
                <a:latin typeface="Times New Roman" panose="02020603050405020304" pitchFamily="18" charset="0"/>
              </a:rPr>
              <a:t>Call by Reference</a:t>
            </a:r>
          </a:p>
        </p:txBody>
      </p:sp>
      <p:sp>
        <p:nvSpPr>
          <p:cNvPr id="9220" name="Rectangle 4"/>
          <p:cNvSpPr>
            <a:spLocks noGrp="1" noChangeArrowheads="1"/>
          </p:cNvSpPr>
          <p:nvPr>
            <p:ph type="body" sz="half" idx="1"/>
          </p:nvPr>
        </p:nvSpPr>
        <p:spPr>
          <a:xfrm>
            <a:off x="457200" y="1524000"/>
            <a:ext cx="5181600" cy="5257800"/>
          </a:xfrm>
        </p:spPr>
        <p:txBody>
          <a:bodyPr/>
          <a:lstStyle/>
          <a:p>
            <a:pPr>
              <a:lnSpc>
                <a:spcPct val="90000"/>
              </a:lnSpc>
              <a:buFontTx/>
              <a:buNone/>
            </a:pPr>
            <a:r>
              <a:rPr lang="en-US" altLang="en-US" sz="1400" dirty="0">
                <a:latin typeface="Times New Roman" panose="02020603050405020304" pitchFamily="18" charset="0"/>
              </a:rPr>
              <a:t>class test</a:t>
            </a:r>
          </a:p>
          <a:p>
            <a:pPr>
              <a:lnSpc>
                <a:spcPct val="90000"/>
              </a:lnSpc>
              <a:buFontTx/>
              <a:buNone/>
            </a:pPr>
            <a:r>
              <a:rPr lang="en-US" altLang="en-US" sz="1400" dirty="0">
                <a:latin typeface="Times New Roman" panose="02020603050405020304" pitchFamily="18" charset="0"/>
              </a:rPr>
              <a:t>{</a:t>
            </a:r>
          </a:p>
          <a:p>
            <a:pPr>
              <a:lnSpc>
                <a:spcPct val="90000"/>
              </a:lnSpc>
              <a:buFontTx/>
              <a:buNone/>
            </a:pPr>
            <a:r>
              <a:rPr lang="en-US" altLang="en-US" sz="1400" dirty="0">
                <a:latin typeface="Times New Roman" panose="02020603050405020304" pitchFamily="18" charset="0"/>
              </a:rPr>
              <a:t>	int a, b;</a:t>
            </a:r>
          </a:p>
          <a:p>
            <a:pPr>
              <a:lnSpc>
                <a:spcPct val="90000"/>
              </a:lnSpc>
              <a:buFontTx/>
              <a:buNone/>
            </a:pPr>
            <a:r>
              <a:rPr lang="en-US" altLang="en-US" sz="1400" dirty="0">
                <a:latin typeface="Times New Roman" panose="02020603050405020304" pitchFamily="18" charset="0"/>
              </a:rPr>
              <a:t>	void set (test o)</a:t>
            </a:r>
          </a:p>
          <a:p>
            <a:pPr>
              <a:lnSpc>
                <a:spcPct val="90000"/>
              </a:lnSpc>
              <a:buFontTx/>
              <a:buNone/>
            </a:pPr>
            <a:r>
              <a:rPr lang="en-US" altLang="en-US" sz="1400" dirty="0">
                <a:latin typeface="Times New Roman" panose="02020603050405020304" pitchFamily="18" charset="0"/>
              </a:rPr>
              <a:t>	{</a:t>
            </a:r>
          </a:p>
          <a:p>
            <a:pPr>
              <a:lnSpc>
                <a:spcPct val="90000"/>
              </a:lnSpc>
              <a:buFontTx/>
              <a:buNone/>
            </a:pPr>
            <a:r>
              <a:rPr lang="en-US" altLang="en-US" sz="1400" dirty="0">
                <a:latin typeface="Times New Roman" panose="02020603050405020304" pitchFamily="18" charset="0"/>
              </a:rPr>
              <a:t>		</a:t>
            </a:r>
            <a:r>
              <a:rPr lang="en-US" altLang="en-US" sz="1400" dirty="0" err="1">
                <a:latin typeface="Times New Roman" panose="02020603050405020304" pitchFamily="18" charset="0"/>
              </a:rPr>
              <a:t>o.a</a:t>
            </a:r>
            <a:r>
              <a:rPr lang="en-US" altLang="en-US" sz="1400" dirty="0">
                <a:latin typeface="Times New Roman" panose="02020603050405020304" pitchFamily="18" charset="0"/>
              </a:rPr>
              <a:t> *=2;</a:t>
            </a:r>
          </a:p>
          <a:p>
            <a:pPr>
              <a:lnSpc>
                <a:spcPct val="90000"/>
              </a:lnSpc>
              <a:buFontTx/>
              <a:buNone/>
            </a:pPr>
            <a:r>
              <a:rPr lang="en-US" altLang="en-US" sz="1400" dirty="0">
                <a:latin typeface="Times New Roman" panose="02020603050405020304" pitchFamily="18" charset="0"/>
              </a:rPr>
              <a:t>		</a:t>
            </a:r>
            <a:r>
              <a:rPr lang="en-US" altLang="en-US" sz="1400" dirty="0" err="1">
                <a:latin typeface="Times New Roman" panose="02020603050405020304" pitchFamily="18" charset="0"/>
              </a:rPr>
              <a:t>o.b</a:t>
            </a:r>
            <a:r>
              <a:rPr lang="en-US" altLang="en-US" sz="1400" dirty="0">
                <a:latin typeface="Times New Roman" panose="02020603050405020304" pitchFamily="18" charset="0"/>
              </a:rPr>
              <a:t>/=2;</a:t>
            </a:r>
          </a:p>
          <a:p>
            <a:pPr>
              <a:lnSpc>
                <a:spcPct val="90000"/>
              </a:lnSpc>
              <a:buFontTx/>
              <a:buNone/>
            </a:pPr>
            <a:r>
              <a:rPr lang="en-US" altLang="en-US" sz="1400" dirty="0">
                <a:latin typeface="Times New Roman" panose="02020603050405020304" pitchFamily="18" charset="0"/>
              </a:rPr>
              <a:t>	}</a:t>
            </a:r>
          </a:p>
          <a:p>
            <a:pPr>
              <a:lnSpc>
                <a:spcPct val="90000"/>
              </a:lnSpc>
              <a:buFontTx/>
              <a:buNone/>
            </a:pPr>
            <a:r>
              <a:rPr lang="en-US" altLang="en-US" sz="1400" dirty="0">
                <a:latin typeface="Times New Roman" panose="02020603050405020304" pitchFamily="18" charset="0"/>
              </a:rPr>
              <a:t>}</a:t>
            </a:r>
          </a:p>
          <a:p>
            <a:pPr>
              <a:lnSpc>
                <a:spcPct val="90000"/>
              </a:lnSpc>
              <a:buFontTx/>
              <a:buNone/>
            </a:pPr>
            <a:r>
              <a:rPr lang="en-US" altLang="en-US" sz="1400" dirty="0">
                <a:latin typeface="Times New Roman" panose="02020603050405020304" pitchFamily="18" charset="0"/>
              </a:rPr>
              <a:t>class test1</a:t>
            </a:r>
          </a:p>
          <a:p>
            <a:pPr>
              <a:lnSpc>
                <a:spcPct val="90000"/>
              </a:lnSpc>
              <a:buFontTx/>
              <a:buNone/>
            </a:pPr>
            <a:r>
              <a:rPr lang="en-US" altLang="en-US" sz="1400" dirty="0">
                <a:latin typeface="Times New Roman" panose="02020603050405020304" pitchFamily="18" charset="0"/>
              </a:rPr>
              <a:t>{</a:t>
            </a:r>
          </a:p>
          <a:p>
            <a:pPr>
              <a:lnSpc>
                <a:spcPct val="90000"/>
              </a:lnSpc>
              <a:buFontTx/>
              <a:buNone/>
            </a:pPr>
            <a:r>
              <a:rPr lang="en-US" altLang="en-US" sz="1400" dirty="0">
                <a:latin typeface="Times New Roman" panose="02020603050405020304" pitchFamily="18" charset="0"/>
              </a:rPr>
              <a:t>	public static void main (String </a:t>
            </a:r>
            <a:r>
              <a:rPr lang="en-US" altLang="en-US" sz="1400" dirty="0" err="1">
                <a:latin typeface="Times New Roman" panose="02020603050405020304" pitchFamily="18" charset="0"/>
              </a:rPr>
              <a:t>args</a:t>
            </a:r>
            <a:r>
              <a:rPr lang="en-US" altLang="en-US" sz="1400" dirty="0">
                <a:latin typeface="Times New Roman" panose="02020603050405020304" pitchFamily="18" charset="0"/>
              </a:rPr>
              <a:t>[])</a:t>
            </a:r>
          </a:p>
          <a:p>
            <a:pPr>
              <a:lnSpc>
                <a:spcPct val="90000"/>
              </a:lnSpc>
              <a:buFontTx/>
              <a:buNone/>
            </a:pPr>
            <a:r>
              <a:rPr lang="en-US" altLang="en-US" sz="1400" dirty="0">
                <a:latin typeface="Times New Roman" panose="02020603050405020304" pitchFamily="18" charset="0"/>
              </a:rPr>
              <a:t>	{</a:t>
            </a:r>
          </a:p>
          <a:p>
            <a:pPr>
              <a:lnSpc>
                <a:spcPct val="90000"/>
              </a:lnSpc>
              <a:buFontTx/>
              <a:buNone/>
            </a:pPr>
            <a:r>
              <a:rPr lang="en-US" altLang="en-US" sz="1400" dirty="0">
                <a:latin typeface="Times New Roman" panose="02020603050405020304" pitchFamily="18" charset="0"/>
              </a:rPr>
              <a:t>		test </a:t>
            </a:r>
            <a:r>
              <a:rPr lang="en-US" altLang="en-US" sz="1400" dirty="0" err="1">
                <a:latin typeface="Times New Roman" panose="02020603050405020304" pitchFamily="18" charset="0"/>
              </a:rPr>
              <a:t>ob</a:t>
            </a:r>
            <a:r>
              <a:rPr lang="en-US" altLang="en-US" sz="1400" dirty="0">
                <a:latin typeface="Times New Roman" panose="02020603050405020304" pitchFamily="18" charset="0"/>
              </a:rPr>
              <a:t>=new test();</a:t>
            </a:r>
          </a:p>
          <a:p>
            <a:pPr>
              <a:lnSpc>
                <a:spcPct val="90000"/>
              </a:lnSpc>
              <a:buFontTx/>
              <a:buNone/>
            </a:pPr>
            <a:r>
              <a:rPr lang="en-US" altLang="en-US" sz="1400" dirty="0">
                <a:latin typeface="Times New Roman" panose="02020603050405020304" pitchFamily="18" charset="0"/>
              </a:rPr>
              <a:t>		</a:t>
            </a:r>
            <a:r>
              <a:rPr lang="en-US" altLang="en-US" sz="1400" dirty="0" err="1">
                <a:latin typeface="Times New Roman" panose="02020603050405020304" pitchFamily="18" charset="0"/>
              </a:rPr>
              <a:t>ob.a</a:t>
            </a:r>
            <a:r>
              <a:rPr lang="en-US" altLang="en-US" sz="1400" dirty="0">
                <a:latin typeface="Times New Roman" panose="02020603050405020304" pitchFamily="18" charset="0"/>
              </a:rPr>
              <a:t>=14;</a:t>
            </a:r>
          </a:p>
          <a:p>
            <a:pPr>
              <a:lnSpc>
                <a:spcPct val="90000"/>
              </a:lnSpc>
              <a:buFontTx/>
              <a:buNone/>
            </a:pPr>
            <a:r>
              <a:rPr lang="en-US" altLang="en-US" sz="1400" dirty="0">
                <a:latin typeface="Times New Roman" panose="02020603050405020304" pitchFamily="18" charset="0"/>
              </a:rPr>
              <a:t>		</a:t>
            </a:r>
            <a:r>
              <a:rPr lang="en-US" altLang="en-US" sz="1400" dirty="0" err="1">
                <a:latin typeface="Times New Roman" panose="02020603050405020304" pitchFamily="18" charset="0"/>
              </a:rPr>
              <a:t>ob.b</a:t>
            </a:r>
            <a:r>
              <a:rPr lang="en-US" altLang="en-US" sz="1400" dirty="0">
                <a:latin typeface="Times New Roman" panose="02020603050405020304" pitchFamily="18" charset="0"/>
              </a:rPr>
              <a:t>=20;</a:t>
            </a:r>
          </a:p>
          <a:p>
            <a:pPr>
              <a:lnSpc>
                <a:spcPct val="90000"/>
              </a:lnSpc>
              <a:buFontTx/>
              <a:buNone/>
            </a:pPr>
            <a:r>
              <a:rPr lang="en-US" altLang="en-US" sz="1400" dirty="0">
                <a:latin typeface="Times New Roman" panose="02020603050405020304" pitchFamily="18" charset="0"/>
              </a:rPr>
              <a:t>		</a:t>
            </a:r>
            <a:r>
              <a:rPr lang="en-US" altLang="en-US" sz="1400" dirty="0" err="1">
                <a:latin typeface="Times New Roman" panose="02020603050405020304" pitchFamily="18" charset="0"/>
              </a:rPr>
              <a:t>System.out.println</a:t>
            </a:r>
            <a:r>
              <a:rPr lang="en-US" altLang="en-US" sz="1400" dirty="0">
                <a:latin typeface="Times New Roman" panose="02020603050405020304" pitchFamily="18" charset="0"/>
              </a:rPr>
              <a:t> (“Before call:”+</a:t>
            </a:r>
            <a:r>
              <a:rPr lang="en-US" altLang="en-US" sz="1400" dirty="0" err="1">
                <a:latin typeface="Times New Roman" panose="02020603050405020304" pitchFamily="18" charset="0"/>
              </a:rPr>
              <a:t>ob.a</a:t>
            </a:r>
            <a:r>
              <a:rPr lang="en-US" altLang="en-US" sz="1400" dirty="0">
                <a:latin typeface="Times New Roman" panose="02020603050405020304" pitchFamily="18" charset="0"/>
              </a:rPr>
              <a:t>+” “ +</a:t>
            </a:r>
            <a:r>
              <a:rPr lang="en-US" altLang="en-US" sz="1400" dirty="0" err="1">
                <a:latin typeface="Times New Roman" panose="02020603050405020304" pitchFamily="18" charset="0"/>
              </a:rPr>
              <a:t>ob.b</a:t>
            </a:r>
            <a:r>
              <a:rPr lang="en-US" altLang="en-US" sz="1400" dirty="0">
                <a:latin typeface="Times New Roman" panose="02020603050405020304" pitchFamily="18" charset="0"/>
              </a:rPr>
              <a:t>);</a:t>
            </a:r>
          </a:p>
          <a:p>
            <a:pPr>
              <a:lnSpc>
                <a:spcPct val="90000"/>
              </a:lnSpc>
              <a:buFontTx/>
              <a:buNone/>
            </a:pPr>
            <a:r>
              <a:rPr lang="en-US" altLang="en-US" sz="1400" dirty="0">
                <a:latin typeface="Times New Roman" panose="02020603050405020304" pitchFamily="18" charset="0"/>
              </a:rPr>
              <a:t>		</a:t>
            </a:r>
            <a:r>
              <a:rPr lang="en-US" altLang="en-US" sz="1400" dirty="0" err="1">
                <a:latin typeface="Times New Roman" panose="02020603050405020304" pitchFamily="18" charset="0"/>
              </a:rPr>
              <a:t>ob.set</a:t>
            </a:r>
            <a:r>
              <a:rPr lang="en-US" altLang="en-US" sz="1400" dirty="0">
                <a:latin typeface="Times New Roman" panose="02020603050405020304" pitchFamily="18" charset="0"/>
              </a:rPr>
              <a:t>(</a:t>
            </a:r>
            <a:r>
              <a:rPr lang="en-US" altLang="en-US" sz="1400" dirty="0" err="1">
                <a:latin typeface="Times New Roman" panose="02020603050405020304" pitchFamily="18" charset="0"/>
              </a:rPr>
              <a:t>ob</a:t>
            </a:r>
            <a:r>
              <a:rPr lang="en-US" altLang="en-US" sz="1400" dirty="0">
                <a:latin typeface="Times New Roman" panose="02020603050405020304" pitchFamily="18" charset="0"/>
              </a:rPr>
              <a:t>);</a:t>
            </a:r>
          </a:p>
          <a:p>
            <a:pPr>
              <a:lnSpc>
                <a:spcPct val="90000"/>
              </a:lnSpc>
              <a:buFontTx/>
              <a:buNone/>
            </a:pPr>
            <a:r>
              <a:rPr lang="en-US" altLang="en-US" sz="1400" dirty="0">
                <a:latin typeface="Times New Roman" panose="02020603050405020304" pitchFamily="18" charset="0"/>
              </a:rPr>
              <a:t>         	</a:t>
            </a:r>
            <a:r>
              <a:rPr lang="en-US" altLang="en-US" sz="1400" dirty="0" err="1">
                <a:latin typeface="Times New Roman" panose="02020603050405020304" pitchFamily="18" charset="0"/>
              </a:rPr>
              <a:t>System.out.println</a:t>
            </a:r>
            <a:r>
              <a:rPr lang="en-US" altLang="en-US" sz="1400" dirty="0">
                <a:latin typeface="Times New Roman" panose="02020603050405020304" pitchFamily="18" charset="0"/>
              </a:rPr>
              <a:t> (“After call:”+</a:t>
            </a:r>
            <a:r>
              <a:rPr lang="en-US" altLang="en-US" sz="1400" dirty="0" err="1">
                <a:latin typeface="Times New Roman" panose="02020603050405020304" pitchFamily="18" charset="0"/>
              </a:rPr>
              <a:t>ob.a</a:t>
            </a:r>
            <a:r>
              <a:rPr lang="en-US" altLang="en-US" sz="1400" dirty="0">
                <a:latin typeface="Times New Roman" panose="02020603050405020304" pitchFamily="18" charset="0"/>
              </a:rPr>
              <a:t>+” “ +ob. b); 		</a:t>
            </a:r>
          </a:p>
          <a:p>
            <a:pPr>
              <a:lnSpc>
                <a:spcPct val="90000"/>
              </a:lnSpc>
              <a:buFontTx/>
              <a:buNone/>
            </a:pPr>
            <a:r>
              <a:rPr lang="en-US" altLang="en-US" sz="1400" dirty="0">
                <a:latin typeface="Times New Roman" panose="02020603050405020304" pitchFamily="18" charset="0"/>
              </a:rPr>
              <a:t>	}</a:t>
            </a:r>
          </a:p>
          <a:p>
            <a:pPr>
              <a:lnSpc>
                <a:spcPct val="90000"/>
              </a:lnSpc>
              <a:buFontTx/>
              <a:buNone/>
            </a:pPr>
            <a:r>
              <a:rPr lang="en-US" altLang="en-US" sz="1400" dirty="0">
                <a:latin typeface="Times New Roman" panose="02020603050405020304" pitchFamily="18" charset="0"/>
              </a:rPr>
              <a:t>}</a:t>
            </a:r>
          </a:p>
          <a:p>
            <a:pPr>
              <a:lnSpc>
                <a:spcPct val="90000"/>
              </a:lnSpc>
              <a:buFontTx/>
              <a:buNone/>
            </a:pPr>
            <a:endParaRPr lang="en-US" altLang="en-US" sz="1400" dirty="0">
              <a:latin typeface="Times New Roman" panose="02020603050405020304" pitchFamily="18" charset="0"/>
            </a:endParaRPr>
          </a:p>
        </p:txBody>
      </p:sp>
      <p:sp>
        <p:nvSpPr>
          <p:cNvPr id="9221" name="Rectangle 5"/>
          <p:cNvSpPr>
            <a:spLocks noGrp="1" noChangeArrowheads="1"/>
          </p:cNvSpPr>
          <p:nvPr>
            <p:ph type="body" sz="half" idx="2"/>
          </p:nvPr>
        </p:nvSpPr>
        <p:spPr>
          <a:xfrm>
            <a:off x="5943600" y="1600200"/>
            <a:ext cx="2743200" cy="4525963"/>
          </a:xfrm>
        </p:spPr>
        <p:txBody>
          <a:bodyPr/>
          <a:lstStyle/>
          <a:p>
            <a:pPr>
              <a:lnSpc>
                <a:spcPct val="90000"/>
              </a:lnSpc>
              <a:buFontTx/>
              <a:buNone/>
            </a:pPr>
            <a:r>
              <a:rPr lang="en-US" altLang="en-US" sz="2000" b="1" u="sng">
                <a:latin typeface="Times New Roman" panose="02020603050405020304" pitchFamily="18" charset="0"/>
              </a:rPr>
              <a:t>Output:</a:t>
            </a:r>
          </a:p>
          <a:p>
            <a:pPr>
              <a:lnSpc>
                <a:spcPct val="90000"/>
              </a:lnSpc>
              <a:buFontTx/>
              <a:buNone/>
            </a:pPr>
            <a:r>
              <a:rPr lang="en-US" altLang="en-US" sz="2000">
                <a:latin typeface="Times New Roman" panose="02020603050405020304" pitchFamily="18" charset="0"/>
              </a:rPr>
              <a:t>Before call: 14 20</a:t>
            </a:r>
          </a:p>
          <a:p>
            <a:pPr>
              <a:lnSpc>
                <a:spcPct val="90000"/>
              </a:lnSpc>
              <a:buFontTx/>
              <a:buNone/>
            </a:pPr>
            <a:r>
              <a:rPr lang="en-US" altLang="en-US" sz="2000">
                <a:latin typeface="Times New Roman" panose="02020603050405020304" pitchFamily="18" charset="0"/>
              </a:rPr>
              <a:t>After call: 28 10</a:t>
            </a:r>
          </a:p>
        </p:txBody>
      </p:sp>
      <p:sp>
        <p:nvSpPr>
          <p:cNvPr id="9222" name="Text Box 6"/>
          <p:cNvSpPr txBox="1">
            <a:spLocks noChangeArrowheads="1"/>
          </p:cNvSpPr>
          <p:nvPr/>
        </p:nvSpPr>
        <p:spPr bwMode="auto">
          <a:xfrm>
            <a:off x="381000" y="1143000"/>
            <a:ext cx="97536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n-US">
                <a:latin typeface="Times New Roman" panose="02020603050405020304" pitchFamily="18" charset="0"/>
              </a:rPr>
              <a:t>When an object is passed to a method, it is passed by reference.</a:t>
            </a:r>
          </a:p>
        </p:txBody>
      </p:sp>
      <p:sp>
        <p:nvSpPr>
          <p:cNvPr id="2" name="Date Placeholder 1"/>
          <p:cNvSpPr>
            <a:spLocks noGrp="1"/>
          </p:cNvSpPr>
          <p:nvPr>
            <p:ph type="dt" sz="half" idx="10"/>
          </p:nvPr>
        </p:nvSpPr>
        <p:spPr/>
        <p:txBody>
          <a:bodyPr/>
          <a:lstStyle/>
          <a:p>
            <a:fld id="{6683F683-A13D-44D6-A296-04502170DAEF}"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537DE4E2-1CA0-4C5B-A02F-FEFF3DD9C080}" type="slidenum">
              <a:rPr lang="en-US" altLang="en-US" smtClean="0"/>
              <a:pPr/>
              <a:t>36</a:t>
            </a:fld>
            <a:endParaRPr lang="en-US" altLang="en-US"/>
          </a:p>
        </p:txBody>
      </p:sp>
    </p:spTree>
    <p:extLst>
      <p:ext uri="{BB962C8B-B14F-4D97-AF65-F5344CB8AC3E}">
        <p14:creationId xmlns:p14="http://schemas.microsoft.com/office/powerpoint/2010/main" val="39566632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p:txBody>
          <a:bodyPr/>
          <a:lstStyle/>
          <a:p>
            <a:r>
              <a:rPr lang="en-US" altLang="en-US" b="1">
                <a:latin typeface="Times New Roman" panose="02020603050405020304" pitchFamily="18" charset="0"/>
              </a:rPr>
              <a:t>Returning Objects</a:t>
            </a:r>
          </a:p>
        </p:txBody>
      </p:sp>
      <p:sp>
        <p:nvSpPr>
          <p:cNvPr id="11268" name="Rectangle 4"/>
          <p:cNvSpPr>
            <a:spLocks noGrp="1" noChangeArrowheads="1"/>
          </p:cNvSpPr>
          <p:nvPr>
            <p:ph type="body" sz="half" idx="1"/>
          </p:nvPr>
        </p:nvSpPr>
        <p:spPr/>
        <p:txBody>
          <a:bodyPr/>
          <a:lstStyle/>
          <a:p>
            <a:pPr>
              <a:lnSpc>
                <a:spcPct val="90000"/>
              </a:lnSpc>
              <a:buFontTx/>
              <a:buNone/>
            </a:pPr>
            <a:r>
              <a:rPr lang="en-US" altLang="en-US" sz="1800">
                <a:latin typeface="Times New Roman" panose="02020603050405020304" pitchFamily="18" charset="0"/>
              </a:rPr>
              <a:t>class test</a:t>
            </a:r>
          </a:p>
          <a:p>
            <a:pPr>
              <a:lnSpc>
                <a:spcPct val="90000"/>
              </a:lnSpc>
              <a:buFontTx/>
              <a:buNone/>
            </a:pPr>
            <a:r>
              <a:rPr lang="en-US" altLang="en-US" sz="1800">
                <a:latin typeface="Times New Roman" panose="02020603050405020304" pitchFamily="18" charset="0"/>
              </a:rPr>
              <a:t>{</a:t>
            </a:r>
          </a:p>
          <a:p>
            <a:pPr>
              <a:lnSpc>
                <a:spcPct val="90000"/>
              </a:lnSpc>
              <a:buFontTx/>
              <a:buNone/>
            </a:pPr>
            <a:r>
              <a:rPr lang="en-US" altLang="en-US" sz="1800">
                <a:latin typeface="Times New Roman" panose="02020603050405020304" pitchFamily="18" charset="0"/>
              </a:rPr>
              <a:t>	int a;</a:t>
            </a:r>
          </a:p>
          <a:p>
            <a:pPr>
              <a:lnSpc>
                <a:spcPct val="90000"/>
              </a:lnSpc>
              <a:buFontTx/>
              <a:buNone/>
            </a:pPr>
            <a:r>
              <a:rPr lang="en-US" altLang="en-US" sz="1800">
                <a:latin typeface="Times New Roman" panose="02020603050405020304" pitchFamily="18" charset="0"/>
              </a:rPr>
              <a:t>	test (int i)</a:t>
            </a:r>
          </a:p>
          <a:p>
            <a:pPr>
              <a:lnSpc>
                <a:spcPct val="90000"/>
              </a:lnSpc>
              <a:buFontTx/>
              <a:buNone/>
            </a:pPr>
            <a:r>
              <a:rPr lang="en-US" altLang="en-US" sz="1800">
                <a:latin typeface="Times New Roman" panose="02020603050405020304" pitchFamily="18" charset="0"/>
              </a:rPr>
              <a:t>	{</a:t>
            </a:r>
          </a:p>
          <a:p>
            <a:pPr>
              <a:lnSpc>
                <a:spcPct val="90000"/>
              </a:lnSpc>
              <a:buFontTx/>
              <a:buNone/>
            </a:pPr>
            <a:r>
              <a:rPr lang="en-US" altLang="en-US" sz="1800">
                <a:latin typeface="Times New Roman" panose="02020603050405020304" pitchFamily="18" charset="0"/>
              </a:rPr>
              <a:t>		a=i;</a:t>
            </a:r>
          </a:p>
          <a:p>
            <a:pPr>
              <a:lnSpc>
                <a:spcPct val="90000"/>
              </a:lnSpc>
              <a:buFontTx/>
              <a:buNone/>
            </a:pPr>
            <a:r>
              <a:rPr lang="en-US" altLang="en-US" sz="1800">
                <a:latin typeface="Times New Roman" panose="02020603050405020304" pitchFamily="18" charset="0"/>
              </a:rPr>
              <a:t>	}</a:t>
            </a:r>
          </a:p>
          <a:p>
            <a:pPr>
              <a:lnSpc>
                <a:spcPct val="90000"/>
              </a:lnSpc>
              <a:buFontTx/>
              <a:buNone/>
            </a:pPr>
            <a:r>
              <a:rPr lang="en-US" altLang="en-US" sz="1800">
                <a:latin typeface="Times New Roman" panose="02020603050405020304" pitchFamily="18" charset="0"/>
              </a:rPr>
              <a:t>	test incr()</a:t>
            </a:r>
          </a:p>
          <a:p>
            <a:pPr>
              <a:lnSpc>
                <a:spcPct val="90000"/>
              </a:lnSpc>
              <a:buFontTx/>
              <a:buNone/>
            </a:pPr>
            <a:r>
              <a:rPr lang="en-US" altLang="en-US" sz="1800">
                <a:latin typeface="Times New Roman" panose="02020603050405020304" pitchFamily="18" charset="0"/>
              </a:rPr>
              <a:t>	{</a:t>
            </a:r>
          </a:p>
          <a:p>
            <a:pPr>
              <a:lnSpc>
                <a:spcPct val="90000"/>
              </a:lnSpc>
              <a:buFontTx/>
              <a:buNone/>
            </a:pPr>
            <a:r>
              <a:rPr lang="en-US" altLang="en-US" sz="1800">
                <a:latin typeface="Times New Roman" panose="02020603050405020304" pitchFamily="18" charset="0"/>
              </a:rPr>
              <a:t>		test temp = new test(a+20);</a:t>
            </a:r>
          </a:p>
          <a:p>
            <a:pPr>
              <a:lnSpc>
                <a:spcPct val="90000"/>
              </a:lnSpc>
              <a:buFontTx/>
              <a:buNone/>
            </a:pPr>
            <a:r>
              <a:rPr lang="en-US" altLang="en-US" sz="1800">
                <a:latin typeface="Times New Roman" panose="02020603050405020304" pitchFamily="18" charset="0"/>
              </a:rPr>
              <a:t>		return temp;</a:t>
            </a:r>
          </a:p>
          <a:p>
            <a:pPr>
              <a:lnSpc>
                <a:spcPct val="90000"/>
              </a:lnSpc>
              <a:buFontTx/>
              <a:buNone/>
            </a:pPr>
            <a:r>
              <a:rPr lang="en-US" altLang="en-US" sz="1800">
                <a:latin typeface="Times New Roman" panose="02020603050405020304" pitchFamily="18" charset="0"/>
              </a:rPr>
              <a:t>	}</a:t>
            </a:r>
          </a:p>
          <a:p>
            <a:pPr>
              <a:lnSpc>
                <a:spcPct val="90000"/>
              </a:lnSpc>
              <a:buFontTx/>
              <a:buNone/>
            </a:pPr>
            <a:r>
              <a:rPr lang="en-US" altLang="en-US" sz="1800">
                <a:latin typeface="Times New Roman" panose="02020603050405020304" pitchFamily="18" charset="0"/>
              </a:rPr>
              <a:t>}</a:t>
            </a:r>
          </a:p>
        </p:txBody>
      </p:sp>
      <p:sp>
        <p:nvSpPr>
          <p:cNvPr id="11269" name="Rectangle 5"/>
          <p:cNvSpPr>
            <a:spLocks noGrp="1" noChangeArrowheads="1"/>
          </p:cNvSpPr>
          <p:nvPr>
            <p:ph type="body" sz="half" idx="2"/>
          </p:nvPr>
        </p:nvSpPr>
        <p:spPr>
          <a:xfrm>
            <a:off x="4648200" y="1295400"/>
            <a:ext cx="4495800" cy="5257800"/>
          </a:xfrm>
        </p:spPr>
        <p:txBody>
          <a:bodyPr/>
          <a:lstStyle/>
          <a:p>
            <a:pPr>
              <a:lnSpc>
                <a:spcPct val="80000"/>
              </a:lnSpc>
              <a:buFontTx/>
              <a:buNone/>
            </a:pPr>
            <a:r>
              <a:rPr lang="en-US" altLang="en-US" sz="1800">
                <a:latin typeface="Times New Roman" panose="02020603050405020304" pitchFamily="18" charset="0"/>
              </a:rPr>
              <a:t>class test1</a:t>
            </a:r>
          </a:p>
          <a:p>
            <a:pPr>
              <a:lnSpc>
                <a:spcPct val="80000"/>
              </a:lnSpc>
              <a:buFontTx/>
              <a:buNone/>
            </a:pPr>
            <a:r>
              <a:rPr lang="en-US" altLang="en-US" sz="1800">
                <a:latin typeface="Times New Roman" panose="02020603050405020304" pitchFamily="18" charset="0"/>
              </a:rPr>
              <a:t>{</a:t>
            </a:r>
          </a:p>
          <a:p>
            <a:pPr>
              <a:lnSpc>
                <a:spcPct val="80000"/>
              </a:lnSpc>
              <a:buFontTx/>
              <a:buNone/>
            </a:pPr>
            <a:r>
              <a:rPr lang="en-US" altLang="en-US" sz="1800">
                <a:latin typeface="Times New Roman" panose="02020603050405020304" pitchFamily="18" charset="0"/>
              </a:rPr>
              <a:t>	public static void main (String args[])</a:t>
            </a:r>
          </a:p>
          <a:p>
            <a:pPr>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1800">
                <a:latin typeface="Times New Roman" panose="02020603050405020304" pitchFamily="18" charset="0"/>
              </a:rPr>
              <a:t>		test ob1=new test(2);</a:t>
            </a:r>
          </a:p>
          <a:p>
            <a:pPr>
              <a:lnSpc>
                <a:spcPct val="80000"/>
              </a:lnSpc>
              <a:buFontTx/>
              <a:buNone/>
            </a:pPr>
            <a:r>
              <a:rPr lang="en-US" altLang="en-US" sz="1800">
                <a:latin typeface="Times New Roman" panose="02020603050405020304" pitchFamily="18" charset="0"/>
              </a:rPr>
              <a:t>		test ob2;</a:t>
            </a:r>
          </a:p>
          <a:p>
            <a:pPr>
              <a:lnSpc>
                <a:spcPct val="80000"/>
              </a:lnSpc>
              <a:buFontTx/>
              <a:buNone/>
            </a:pPr>
            <a:r>
              <a:rPr lang="en-US" altLang="en-US" sz="1800">
                <a:latin typeface="Times New Roman" panose="02020603050405020304" pitchFamily="18" charset="0"/>
              </a:rPr>
              <a:t>		ob2=ob1.incr();</a:t>
            </a:r>
          </a:p>
          <a:p>
            <a:pPr>
              <a:lnSpc>
                <a:spcPct val="80000"/>
              </a:lnSpc>
              <a:buFontTx/>
              <a:buNone/>
            </a:pPr>
            <a:r>
              <a:rPr lang="en-US" altLang="en-US" sz="1800">
                <a:latin typeface="Times New Roman" panose="02020603050405020304" pitchFamily="18" charset="0"/>
              </a:rPr>
              <a:t>		System.out.println (ob1.a);</a:t>
            </a:r>
          </a:p>
          <a:p>
            <a:pPr>
              <a:lnSpc>
                <a:spcPct val="80000"/>
              </a:lnSpc>
              <a:buFontTx/>
              <a:buNone/>
            </a:pPr>
            <a:r>
              <a:rPr lang="en-US" altLang="en-US" sz="1800">
                <a:latin typeface="Times New Roman" panose="02020603050405020304" pitchFamily="18" charset="0"/>
              </a:rPr>
              <a:t>		System.out.println (ob2.a);</a:t>
            </a:r>
          </a:p>
          <a:p>
            <a:pPr>
              <a:lnSpc>
                <a:spcPct val="80000"/>
              </a:lnSpc>
              <a:buFontTx/>
              <a:buNone/>
            </a:pPr>
            <a:endParaRPr lang="en-US" altLang="en-US" sz="1800">
              <a:latin typeface="Times New Roman" panose="02020603050405020304" pitchFamily="18" charset="0"/>
            </a:endParaRPr>
          </a:p>
          <a:p>
            <a:pPr>
              <a:lnSpc>
                <a:spcPct val="80000"/>
              </a:lnSpc>
              <a:buFontTx/>
              <a:buNone/>
            </a:pPr>
            <a:r>
              <a:rPr lang="en-US" altLang="en-US" sz="1800">
                <a:latin typeface="Times New Roman" panose="02020603050405020304" pitchFamily="18" charset="0"/>
              </a:rPr>
              <a:t>		ob2=ob2.incr();</a:t>
            </a:r>
          </a:p>
          <a:p>
            <a:pPr>
              <a:lnSpc>
                <a:spcPct val="80000"/>
              </a:lnSpc>
              <a:buFontTx/>
              <a:buNone/>
            </a:pPr>
            <a:r>
              <a:rPr lang="en-US" altLang="en-US" sz="1800">
                <a:latin typeface="Times New Roman" panose="02020603050405020304" pitchFamily="18" charset="0"/>
              </a:rPr>
              <a:t>		System.out.println (ob2.a); 			</a:t>
            </a:r>
          </a:p>
          <a:p>
            <a:pPr>
              <a:lnSpc>
                <a:spcPct val="80000"/>
              </a:lnSpc>
              <a:buFontTx/>
              <a:buNone/>
            </a:pPr>
            <a:r>
              <a:rPr lang="en-US" altLang="en-US" sz="1800">
                <a:latin typeface="Times New Roman" panose="02020603050405020304" pitchFamily="18" charset="0"/>
              </a:rPr>
              <a:t>	}</a:t>
            </a:r>
          </a:p>
          <a:p>
            <a:pPr>
              <a:lnSpc>
                <a:spcPct val="80000"/>
              </a:lnSpc>
              <a:buFontTx/>
              <a:buNone/>
            </a:pPr>
            <a:r>
              <a:rPr lang="en-US" altLang="en-US" sz="1800">
                <a:latin typeface="Times New Roman" panose="02020603050405020304" pitchFamily="18" charset="0"/>
              </a:rPr>
              <a:t>} </a:t>
            </a:r>
            <a:r>
              <a:rPr lang="en-US" altLang="en-US" sz="1800" b="1" u="sng">
                <a:latin typeface="Times New Roman" panose="02020603050405020304" pitchFamily="18" charset="0"/>
              </a:rPr>
              <a:t>Output:</a:t>
            </a:r>
          </a:p>
          <a:p>
            <a:pPr>
              <a:lnSpc>
                <a:spcPct val="80000"/>
              </a:lnSpc>
              <a:buFontTx/>
              <a:buNone/>
            </a:pPr>
            <a:r>
              <a:rPr lang="en-US" altLang="en-US" sz="1800">
                <a:latin typeface="Times New Roman" panose="02020603050405020304" pitchFamily="18" charset="0"/>
              </a:rPr>
              <a:t>2</a:t>
            </a:r>
          </a:p>
          <a:p>
            <a:pPr>
              <a:lnSpc>
                <a:spcPct val="80000"/>
              </a:lnSpc>
              <a:buFontTx/>
              <a:buNone/>
            </a:pPr>
            <a:r>
              <a:rPr lang="en-US" altLang="en-US" sz="1800">
                <a:latin typeface="Times New Roman" panose="02020603050405020304" pitchFamily="18" charset="0"/>
              </a:rPr>
              <a:t>22</a:t>
            </a:r>
          </a:p>
          <a:p>
            <a:pPr>
              <a:lnSpc>
                <a:spcPct val="80000"/>
              </a:lnSpc>
              <a:buFontTx/>
              <a:buNone/>
            </a:pPr>
            <a:r>
              <a:rPr lang="en-US" altLang="en-US" sz="1800">
                <a:latin typeface="Times New Roman" panose="02020603050405020304" pitchFamily="18" charset="0"/>
              </a:rPr>
              <a:t>42</a:t>
            </a:r>
          </a:p>
          <a:p>
            <a:pPr>
              <a:lnSpc>
                <a:spcPct val="80000"/>
              </a:lnSpc>
              <a:buFontTx/>
              <a:buNone/>
            </a:pPr>
            <a:endParaRPr lang="en-US" altLang="en-US" sz="1800">
              <a:latin typeface="Times New Roman" panose="02020603050405020304" pitchFamily="18" charset="0"/>
            </a:endParaRPr>
          </a:p>
        </p:txBody>
      </p:sp>
      <p:sp>
        <p:nvSpPr>
          <p:cNvPr id="2" name="Date Placeholder 1"/>
          <p:cNvSpPr>
            <a:spLocks noGrp="1"/>
          </p:cNvSpPr>
          <p:nvPr>
            <p:ph type="dt" sz="half" idx="10"/>
          </p:nvPr>
        </p:nvSpPr>
        <p:spPr/>
        <p:txBody>
          <a:bodyPr/>
          <a:lstStyle/>
          <a:p>
            <a:fld id="{3F9C08BF-10D8-49EA-A6B0-7C2242DD421E}"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537DE4E2-1CA0-4C5B-A02F-FEFF3DD9C080}" type="slidenum">
              <a:rPr lang="en-US" altLang="en-US" smtClean="0"/>
              <a:pPr/>
              <a:t>37</a:t>
            </a:fld>
            <a:endParaRPr lang="en-US" altLang="en-US"/>
          </a:p>
        </p:txBody>
      </p:sp>
    </p:spTree>
    <p:extLst>
      <p:ext uri="{BB962C8B-B14F-4D97-AF65-F5344CB8AC3E}">
        <p14:creationId xmlns:p14="http://schemas.microsoft.com/office/powerpoint/2010/main" val="1732671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457200" y="274638"/>
            <a:ext cx="8229600" cy="715962"/>
          </a:xfrm>
        </p:spPr>
        <p:txBody>
          <a:bodyPr/>
          <a:lstStyle/>
          <a:p>
            <a:r>
              <a:rPr lang="en-US" altLang="en-US" sz="4000" b="1">
                <a:latin typeface="Times New Roman" panose="02020603050405020304" pitchFamily="18" charset="0"/>
              </a:rPr>
              <a:t>Overloading Methods</a:t>
            </a:r>
          </a:p>
        </p:txBody>
      </p:sp>
      <p:sp>
        <p:nvSpPr>
          <p:cNvPr id="13315" name="Rectangle 3"/>
          <p:cNvSpPr>
            <a:spLocks noGrp="1" noChangeArrowheads="1"/>
          </p:cNvSpPr>
          <p:nvPr>
            <p:ph type="body" idx="1"/>
          </p:nvPr>
        </p:nvSpPr>
        <p:spPr>
          <a:xfrm>
            <a:off x="457200" y="1295400"/>
            <a:ext cx="8229600" cy="4525963"/>
          </a:xfrm>
        </p:spPr>
        <p:txBody>
          <a:bodyPr/>
          <a:lstStyle/>
          <a:p>
            <a:pPr>
              <a:buClr>
                <a:schemeClr val="tx1"/>
              </a:buClr>
              <a:buFont typeface="Wingdings" panose="05000000000000000000" pitchFamily="2" charset="2"/>
              <a:buChar char="ü"/>
            </a:pPr>
            <a:r>
              <a:rPr lang="en-US" altLang="en-US" sz="2800">
                <a:latin typeface="Times New Roman" panose="02020603050405020304" pitchFamily="18" charset="0"/>
              </a:rPr>
              <a:t>Two or more methods with the same name exists in the same class.</a:t>
            </a:r>
          </a:p>
          <a:p>
            <a:pPr>
              <a:buClr>
                <a:schemeClr val="tx1"/>
              </a:buClr>
              <a:buFont typeface="Wingdings" panose="05000000000000000000" pitchFamily="2" charset="2"/>
              <a:buChar char="ü"/>
            </a:pPr>
            <a:r>
              <a:rPr lang="en-US" altLang="en-US" sz="2800">
                <a:latin typeface="Times New Roman" panose="02020603050405020304" pitchFamily="18" charset="0"/>
              </a:rPr>
              <a:t>Method overloading is used to support polymorphism in java.</a:t>
            </a:r>
          </a:p>
          <a:p>
            <a:pPr>
              <a:buClr>
                <a:schemeClr val="tx1"/>
              </a:buClr>
              <a:buFont typeface="Wingdings" panose="05000000000000000000" pitchFamily="2" charset="2"/>
              <a:buChar char="ü"/>
            </a:pPr>
            <a:r>
              <a:rPr lang="en-US" altLang="en-US" sz="2800">
                <a:latin typeface="Times New Roman" panose="02020603050405020304" pitchFamily="18" charset="0"/>
              </a:rPr>
              <a:t>It reduces the complexity of a program.</a:t>
            </a:r>
          </a:p>
          <a:p>
            <a:pPr>
              <a:buClr>
                <a:schemeClr val="tx1"/>
              </a:buClr>
              <a:buFont typeface="Wingdings" panose="05000000000000000000" pitchFamily="2" charset="2"/>
              <a:buChar char="ü"/>
            </a:pPr>
            <a:r>
              <a:rPr lang="en-US" altLang="en-US" sz="2800">
                <a:latin typeface="Times New Roman" panose="02020603050405020304" pitchFamily="18" charset="0"/>
              </a:rPr>
              <a:t>When an overloaded method is called, java uses the type and/or the number of arguments to decide which version of the function to call.</a:t>
            </a:r>
          </a:p>
          <a:p>
            <a:pPr>
              <a:buClr>
                <a:schemeClr val="tx1"/>
              </a:buClr>
              <a:buFont typeface="Wingdings" panose="05000000000000000000" pitchFamily="2" charset="2"/>
              <a:buChar char="ü"/>
            </a:pPr>
            <a:r>
              <a:rPr lang="en-US" altLang="en-US" sz="2800">
                <a:latin typeface="Times New Roman" panose="02020603050405020304" pitchFamily="18" charset="0"/>
              </a:rPr>
              <a:t>Return type is insufficient to distinguish two versions of a method.</a:t>
            </a:r>
          </a:p>
          <a:p>
            <a:pPr>
              <a:buClr>
                <a:schemeClr val="tx1"/>
              </a:buClr>
              <a:buFont typeface="Wingdings" panose="05000000000000000000" pitchFamily="2" charset="2"/>
              <a:buChar char="ü"/>
            </a:pPr>
            <a:endParaRPr lang="en-US" altLang="en-US" sz="2800">
              <a:latin typeface="Times New Roman" panose="02020603050405020304" pitchFamily="18" charset="0"/>
            </a:endParaRPr>
          </a:p>
        </p:txBody>
      </p:sp>
      <p:sp>
        <p:nvSpPr>
          <p:cNvPr id="2" name="Date Placeholder 1"/>
          <p:cNvSpPr>
            <a:spLocks noGrp="1"/>
          </p:cNvSpPr>
          <p:nvPr>
            <p:ph type="dt" sz="half" idx="10"/>
          </p:nvPr>
        </p:nvSpPr>
        <p:spPr/>
        <p:txBody>
          <a:bodyPr/>
          <a:lstStyle/>
          <a:p>
            <a:fld id="{443AB018-433B-4CE6-97EA-BF7E48073547}"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A2797038-AD64-4C97-BB0B-56363D18F42C}" type="slidenum">
              <a:rPr lang="en-US" altLang="en-US" smtClean="0"/>
              <a:pPr/>
              <a:t>38</a:t>
            </a:fld>
            <a:endParaRPr lang="en-US" altLang="en-US"/>
          </a:p>
        </p:txBody>
      </p:sp>
    </p:spTree>
    <p:extLst>
      <p:ext uri="{BB962C8B-B14F-4D97-AF65-F5344CB8AC3E}">
        <p14:creationId xmlns:p14="http://schemas.microsoft.com/office/powerpoint/2010/main" val="91941916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457200" y="274638"/>
            <a:ext cx="8229600" cy="639762"/>
          </a:xfrm>
        </p:spPr>
        <p:txBody>
          <a:bodyPr/>
          <a:lstStyle/>
          <a:p>
            <a:r>
              <a:rPr lang="en-US" altLang="en-US" b="1">
                <a:latin typeface="Times New Roman" panose="02020603050405020304" pitchFamily="18" charset="0"/>
              </a:rPr>
              <a:t>Example1-Method Overloading</a:t>
            </a:r>
          </a:p>
        </p:txBody>
      </p:sp>
      <p:sp>
        <p:nvSpPr>
          <p:cNvPr id="14340" name="Rectangle 4"/>
          <p:cNvSpPr>
            <a:spLocks noGrp="1" noChangeArrowheads="1"/>
          </p:cNvSpPr>
          <p:nvPr>
            <p:ph type="body" sz="half" idx="1"/>
          </p:nvPr>
        </p:nvSpPr>
        <p:spPr>
          <a:xfrm>
            <a:off x="457200" y="1143000"/>
            <a:ext cx="4343400" cy="5029200"/>
          </a:xfrm>
        </p:spPr>
        <p:txBody>
          <a:bodyPr/>
          <a:lstStyle/>
          <a:p>
            <a:pPr>
              <a:lnSpc>
                <a:spcPct val="80000"/>
              </a:lnSpc>
              <a:buFontTx/>
              <a:buNone/>
            </a:pPr>
            <a:r>
              <a:rPr lang="en-US" altLang="en-US" sz="2000">
                <a:latin typeface="Times New Roman" panose="02020603050405020304" pitchFamily="18" charset="0"/>
              </a:rPr>
              <a:t>class tmp</a:t>
            </a:r>
          </a:p>
          <a:p>
            <a:pPr>
              <a:lnSpc>
                <a:spcPct val="80000"/>
              </a:lnSpc>
              <a:buFontTx/>
              <a:buNone/>
            </a:pPr>
            <a:r>
              <a:rPr lang="en-US" altLang="en-US" sz="2000">
                <a:latin typeface="Times New Roman" panose="02020603050405020304" pitchFamily="18" charset="0"/>
              </a:rPr>
              <a:t>{</a:t>
            </a:r>
          </a:p>
          <a:p>
            <a:pPr>
              <a:lnSpc>
                <a:spcPct val="80000"/>
              </a:lnSpc>
              <a:buFontTx/>
              <a:buNone/>
            </a:pPr>
            <a:r>
              <a:rPr lang="en-US" altLang="en-US" sz="2000">
                <a:latin typeface="Times New Roman" panose="02020603050405020304" pitchFamily="18" charset="0"/>
              </a:rPr>
              <a:t>	void test()</a:t>
            </a:r>
          </a:p>
          <a:p>
            <a:pPr>
              <a:lnSpc>
                <a:spcPct val="80000"/>
              </a:lnSpc>
              <a:buFontTx/>
              <a:buNone/>
            </a:pPr>
            <a:r>
              <a:rPr lang="en-US" altLang="en-US" sz="2000">
                <a:latin typeface="Times New Roman" panose="02020603050405020304" pitchFamily="18" charset="0"/>
              </a:rPr>
              <a:t>	{ System.out.println(“NoParameter”); }</a:t>
            </a:r>
          </a:p>
          <a:p>
            <a:pPr>
              <a:lnSpc>
                <a:spcPct val="80000"/>
              </a:lnSpc>
              <a:buFontTx/>
              <a:buNone/>
            </a:pPr>
            <a:endParaRPr lang="en-US" altLang="en-US" sz="2000">
              <a:latin typeface="Times New Roman" panose="02020603050405020304" pitchFamily="18" charset="0"/>
            </a:endParaRPr>
          </a:p>
          <a:p>
            <a:pPr>
              <a:lnSpc>
                <a:spcPct val="80000"/>
              </a:lnSpc>
              <a:buFontTx/>
              <a:buNone/>
            </a:pPr>
            <a:r>
              <a:rPr lang="en-US" altLang="en-US" sz="2000">
                <a:latin typeface="Times New Roman" panose="02020603050405020304" pitchFamily="18" charset="0"/>
              </a:rPr>
              <a:t>	void test(int a)</a:t>
            </a:r>
          </a:p>
          <a:p>
            <a:pPr>
              <a:lnSpc>
                <a:spcPct val="80000"/>
              </a:lnSpc>
              <a:buFontTx/>
              <a:buNone/>
            </a:pPr>
            <a:r>
              <a:rPr lang="en-US" altLang="en-US" sz="2000">
                <a:latin typeface="Times New Roman" panose="02020603050405020304" pitchFamily="18" charset="0"/>
              </a:rPr>
              <a:t>	{ System.out.println(a);}</a:t>
            </a:r>
          </a:p>
          <a:p>
            <a:pPr>
              <a:lnSpc>
                <a:spcPct val="80000"/>
              </a:lnSpc>
              <a:buFontTx/>
              <a:buNone/>
            </a:pPr>
            <a:endParaRPr lang="en-US" altLang="en-US" sz="2000">
              <a:latin typeface="Times New Roman" panose="02020603050405020304" pitchFamily="18" charset="0"/>
            </a:endParaRPr>
          </a:p>
          <a:p>
            <a:pPr>
              <a:lnSpc>
                <a:spcPct val="80000"/>
              </a:lnSpc>
              <a:buFontTx/>
              <a:buNone/>
            </a:pPr>
            <a:r>
              <a:rPr lang="en-US" altLang="en-US" sz="2000">
                <a:latin typeface="Times New Roman" panose="02020603050405020304" pitchFamily="18" charset="0"/>
              </a:rPr>
              <a:t>	void test(int a, int b)</a:t>
            </a:r>
          </a:p>
          <a:p>
            <a:pPr>
              <a:lnSpc>
                <a:spcPct val="80000"/>
              </a:lnSpc>
              <a:buFontTx/>
              <a:buNone/>
            </a:pPr>
            <a:r>
              <a:rPr lang="en-US" altLang="en-US" sz="2000">
                <a:latin typeface="Times New Roman" panose="02020603050405020304" pitchFamily="18" charset="0"/>
              </a:rPr>
              <a:t>	{ System.out.println(a + “ “+b); }</a:t>
            </a:r>
          </a:p>
          <a:p>
            <a:pPr>
              <a:lnSpc>
                <a:spcPct val="80000"/>
              </a:lnSpc>
              <a:buFontTx/>
              <a:buNone/>
            </a:pPr>
            <a:endParaRPr lang="en-US" altLang="en-US" sz="2000">
              <a:latin typeface="Times New Roman" panose="02020603050405020304" pitchFamily="18" charset="0"/>
            </a:endParaRPr>
          </a:p>
          <a:p>
            <a:pPr>
              <a:lnSpc>
                <a:spcPct val="80000"/>
              </a:lnSpc>
              <a:buFontTx/>
              <a:buNone/>
            </a:pPr>
            <a:r>
              <a:rPr lang="en-US" altLang="en-US" sz="2000">
                <a:latin typeface="Times New Roman" panose="02020603050405020304" pitchFamily="18" charset="0"/>
              </a:rPr>
              <a:t>	double test (double a)</a:t>
            </a:r>
          </a:p>
          <a:p>
            <a:pPr>
              <a:lnSpc>
                <a:spcPct val="80000"/>
              </a:lnSpc>
              <a:buFontTx/>
              <a:buNone/>
            </a:pPr>
            <a:r>
              <a:rPr lang="en-US" altLang="en-US" sz="2000">
                <a:latin typeface="Times New Roman" panose="02020603050405020304" pitchFamily="18" charset="0"/>
              </a:rPr>
              <a:t>	{ System.out.println(a); }</a:t>
            </a:r>
          </a:p>
          <a:p>
            <a:pPr>
              <a:lnSpc>
                <a:spcPct val="80000"/>
              </a:lnSpc>
              <a:buFontTx/>
              <a:buNone/>
            </a:pPr>
            <a:r>
              <a:rPr lang="en-US" altLang="en-US" sz="2000">
                <a:latin typeface="Times New Roman" panose="02020603050405020304" pitchFamily="18" charset="0"/>
              </a:rPr>
              <a:t>}</a:t>
            </a:r>
          </a:p>
        </p:txBody>
      </p:sp>
      <p:sp>
        <p:nvSpPr>
          <p:cNvPr id="14341" name="Rectangle 5"/>
          <p:cNvSpPr>
            <a:spLocks noGrp="1" noChangeArrowheads="1"/>
          </p:cNvSpPr>
          <p:nvPr>
            <p:ph type="body" sz="half" idx="2"/>
          </p:nvPr>
        </p:nvSpPr>
        <p:spPr>
          <a:xfrm>
            <a:off x="4800600" y="1143000"/>
            <a:ext cx="4343400" cy="5105400"/>
          </a:xfrm>
        </p:spPr>
        <p:txBody>
          <a:bodyPr/>
          <a:lstStyle/>
          <a:p>
            <a:pPr>
              <a:lnSpc>
                <a:spcPct val="90000"/>
              </a:lnSpc>
              <a:buFontTx/>
              <a:buNone/>
            </a:pPr>
            <a:r>
              <a:rPr lang="en-US" altLang="en-US" sz="1800" dirty="0">
                <a:latin typeface="Times New Roman" panose="02020603050405020304" pitchFamily="18" charset="0"/>
              </a:rPr>
              <a:t>class tmp1</a:t>
            </a:r>
          </a:p>
          <a:p>
            <a:pPr>
              <a:lnSpc>
                <a:spcPct val="90000"/>
              </a:lnSpc>
              <a:buFontTx/>
              <a:buNone/>
            </a:pPr>
            <a:r>
              <a:rPr lang="en-US" altLang="en-US" sz="1800" dirty="0">
                <a:latin typeface="Times New Roman" panose="02020603050405020304" pitchFamily="18" charset="0"/>
              </a:rPr>
              <a:t>{</a:t>
            </a:r>
          </a:p>
          <a:p>
            <a:pPr>
              <a:lnSpc>
                <a:spcPct val="90000"/>
              </a:lnSpc>
              <a:buFontTx/>
              <a:buNone/>
            </a:pPr>
            <a:r>
              <a:rPr lang="en-US" altLang="en-US" sz="1800" dirty="0">
                <a:latin typeface="Times New Roman" panose="02020603050405020304" pitchFamily="18" charset="0"/>
              </a:rPr>
              <a:t>	public static void main(String </a:t>
            </a:r>
            <a:r>
              <a:rPr lang="en-US" altLang="en-US" sz="1800" dirty="0" err="1">
                <a:latin typeface="Times New Roman" panose="02020603050405020304" pitchFamily="18" charset="0"/>
              </a:rPr>
              <a:t>args</a:t>
            </a:r>
            <a:r>
              <a:rPr lang="en-US" altLang="en-US" sz="1800" dirty="0">
                <a:latin typeface="Times New Roman" panose="02020603050405020304" pitchFamily="18" charset="0"/>
              </a:rPr>
              <a:t>[])</a:t>
            </a:r>
          </a:p>
          <a:p>
            <a:pPr>
              <a:lnSpc>
                <a:spcPct val="90000"/>
              </a:lnSpc>
              <a:buFontTx/>
              <a:buNone/>
            </a:pPr>
            <a:r>
              <a:rPr lang="en-US" altLang="en-US" sz="1800" dirty="0">
                <a:latin typeface="Times New Roman" panose="02020603050405020304" pitchFamily="18" charset="0"/>
              </a:rPr>
              <a:t>	{</a:t>
            </a:r>
          </a:p>
          <a:p>
            <a:pPr>
              <a:lnSpc>
                <a:spcPct val="9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tmp</a:t>
            </a:r>
            <a:r>
              <a:rPr lang="en-US" altLang="en-US" sz="1800" dirty="0">
                <a:latin typeface="Times New Roman" panose="02020603050405020304" pitchFamily="18" charset="0"/>
              </a:rPr>
              <a:t> </a:t>
            </a:r>
            <a:r>
              <a:rPr lang="en-US" altLang="en-US" sz="1800" dirty="0" err="1">
                <a:latin typeface="Times New Roman" panose="02020603050405020304" pitchFamily="18" charset="0"/>
              </a:rPr>
              <a:t>ob</a:t>
            </a:r>
            <a:r>
              <a:rPr lang="en-US" altLang="en-US" sz="1800" dirty="0">
                <a:latin typeface="Times New Roman" panose="02020603050405020304" pitchFamily="18" charset="0"/>
              </a:rPr>
              <a:t>=new </a:t>
            </a:r>
            <a:r>
              <a:rPr lang="en-US" altLang="en-US" sz="1800" dirty="0" err="1">
                <a:latin typeface="Times New Roman" panose="02020603050405020304" pitchFamily="18" charset="0"/>
              </a:rPr>
              <a:t>tmp</a:t>
            </a:r>
            <a:r>
              <a:rPr lang="en-US" altLang="en-US" sz="1800" dirty="0">
                <a:latin typeface="Times New Roman" panose="02020603050405020304" pitchFamily="18" charset="0"/>
              </a:rPr>
              <a:t>();</a:t>
            </a:r>
          </a:p>
          <a:p>
            <a:pPr>
              <a:lnSpc>
                <a:spcPct val="90000"/>
              </a:lnSpc>
              <a:buFontTx/>
              <a:buNone/>
            </a:pPr>
            <a:r>
              <a:rPr lang="en-US" altLang="en-US" sz="1800" dirty="0">
                <a:latin typeface="Times New Roman" panose="02020603050405020304" pitchFamily="18" charset="0"/>
              </a:rPr>
              <a:t>		double v;</a:t>
            </a:r>
          </a:p>
          <a:p>
            <a:pPr>
              <a:lnSpc>
                <a:spcPct val="9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ob.test</a:t>
            </a:r>
            <a:r>
              <a:rPr lang="en-US" altLang="en-US" sz="1800" dirty="0">
                <a:latin typeface="Times New Roman" panose="02020603050405020304" pitchFamily="18" charset="0"/>
              </a:rPr>
              <a:t>();</a:t>
            </a:r>
          </a:p>
          <a:p>
            <a:pPr>
              <a:lnSpc>
                <a:spcPct val="9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ob.test</a:t>
            </a:r>
            <a:r>
              <a:rPr lang="en-US" altLang="en-US" sz="1800" dirty="0">
                <a:latin typeface="Times New Roman" panose="02020603050405020304" pitchFamily="18" charset="0"/>
              </a:rPr>
              <a:t>(10);</a:t>
            </a:r>
          </a:p>
          <a:p>
            <a:pPr>
              <a:lnSpc>
                <a:spcPct val="9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ob.test</a:t>
            </a:r>
            <a:r>
              <a:rPr lang="en-US" altLang="en-US" sz="1800" dirty="0">
                <a:latin typeface="Times New Roman" panose="02020603050405020304" pitchFamily="18" charset="0"/>
              </a:rPr>
              <a:t>(12,14);</a:t>
            </a:r>
          </a:p>
          <a:p>
            <a:pPr>
              <a:lnSpc>
                <a:spcPct val="90000"/>
              </a:lnSpc>
              <a:buFontTx/>
              <a:buNone/>
            </a:pPr>
            <a:r>
              <a:rPr lang="en-US" altLang="en-US" sz="1800" dirty="0">
                <a:latin typeface="Times New Roman" panose="02020603050405020304" pitchFamily="18" charset="0"/>
              </a:rPr>
              <a:t>		v=</a:t>
            </a:r>
            <a:r>
              <a:rPr lang="en-US" altLang="en-US" sz="1800" dirty="0" err="1">
                <a:latin typeface="Times New Roman" panose="02020603050405020304" pitchFamily="18" charset="0"/>
              </a:rPr>
              <a:t>ob.test</a:t>
            </a:r>
            <a:r>
              <a:rPr lang="en-US" altLang="en-US" sz="1800" dirty="0">
                <a:latin typeface="Times New Roman" panose="02020603050405020304" pitchFamily="18" charset="0"/>
              </a:rPr>
              <a:t>(123.4);	</a:t>
            </a:r>
          </a:p>
          <a:p>
            <a:pPr>
              <a:lnSpc>
                <a:spcPct val="90000"/>
              </a:lnSpc>
              <a:buFontTx/>
              <a:buNone/>
            </a:pPr>
            <a:r>
              <a:rPr lang="en-US" altLang="en-US" sz="1800" dirty="0">
                <a:latin typeface="Times New Roman" panose="02020603050405020304" pitchFamily="18" charset="0"/>
              </a:rPr>
              <a:t>	}</a:t>
            </a:r>
          </a:p>
          <a:p>
            <a:pPr>
              <a:lnSpc>
                <a:spcPct val="90000"/>
              </a:lnSpc>
              <a:buFontTx/>
              <a:buNone/>
            </a:pPr>
            <a:r>
              <a:rPr lang="en-US" altLang="en-US" sz="1800" dirty="0">
                <a:latin typeface="Times New Roman" panose="02020603050405020304" pitchFamily="18" charset="0"/>
              </a:rPr>
              <a:t>}</a:t>
            </a:r>
          </a:p>
          <a:p>
            <a:pPr>
              <a:lnSpc>
                <a:spcPct val="90000"/>
              </a:lnSpc>
              <a:buFontTx/>
              <a:buNone/>
            </a:pPr>
            <a:r>
              <a:rPr lang="en-US" altLang="en-US" sz="1800" b="1" u="sng" dirty="0">
                <a:latin typeface="Times New Roman" panose="02020603050405020304" pitchFamily="18" charset="0"/>
              </a:rPr>
              <a:t>Result:</a:t>
            </a:r>
          </a:p>
          <a:p>
            <a:pPr>
              <a:lnSpc>
                <a:spcPct val="90000"/>
              </a:lnSpc>
              <a:buFontTx/>
              <a:buNone/>
            </a:pPr>
            <a:r>
              <a:rPr lang="en-US" altLang="en-US" sz="1800" dirty="0">
                <a:latin typeface="Times New Roman" panose="02020603050405020304" pitchFamily="18" charset="0"/>
              </a:rPr>
              <a:t>No Parameter</a:t>
            </a:r>
          </a:p>
          <a:p>
            <a:pPr>
              <a:lnSpc>
                <a:spcPct val="90000"/>
              </a:lnSpc>
              <a:buFontTx/>
              <a:buNone/>
            </a:pPr>
            <a:r>
              <a:rPr lang="en-US" altLang="en-US" sz="1800" dirty="0">
                <a:latin typeface="Times New Roman" panose="02020603050405020304" pitchFamily="18" charset="0"/>
              </a:rPr>
              <a:t>10</a:t>
            </a:r>
          </a:p>
          <a:p>
            <a:pPr>
              <a:lnSpc>
                <a:spcPct val="90000"/>
              </a:lnSpc>
              <a:buFontTx/>
              <a:buNone/>
            </a:pPr>
            <a:r>
              <a:rPr lang="en-US" altLang="en-US" sz="1800" dirty="0">
                <a:latin typeface="Times New Roman" panose="02020603050405020304" pitchFamily="18" charset="0"/>
              </a:rPr>
              <a:t>12 14</a:t>
            </a:r>
          </a:p>
          <a:p>
            <a:pPr>
              <a:lnSpc>
                <a:spcPct val="90000"/>
              </a:lnSpc>
              <a:buFontTx/>
              <a:buNone/>
            </a:pPr>
            <a:r>
              <a:rPr lang="en-US" altLang="en-US" sz="1800" dirty="0">
                <a:latin typeface="Times New Roman" panose="02020603050405020304" pitchFamily="18" charset="0"/>
              </a:rPr>
              <a:t>123.4</a:t>
            </a:r>
          </a:p>
        </p:txBody>
      </p:sp>
      <p:sp>
        <p:nvSpPr>
          <p:cNvPr id="2" name="Date Placeholder 1"/>
          <p:cNvSpPr>
            <a:spLocks noGrp="1"/>
          </p:cNvSpPr>
          <p:nvPr>
            <p:ph type="dt" sz="half" idx="10"/>
          </p:nvPr>
        </p:nvSpPr>
        <p:spPr/>
        <p:txBody>
          <a:bodyPr/>
          <a:lstStyle/>
          <a:p>
            <a:fld id="{3DFF309A-5125-4148-AF82-CF47D9F27AD5}"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537DE4E2-1CA0-4C5B-A02F-FEFF3DD9C080}" type="slidenum">
              <a:rPr lang="en-US" altLang="en-US" smtClean="0"/>
              <a:pPr/>
              <a:t>39</a:t>
            </a:fld>
            <a:endParaRPr lang="en-US" altLang="en-US"/>
          </a:p>
        </p:txBody>
      </p:sp>
    </p:spTree>
    <p:extLst>
      <p:ext uri="{BB962C8B-B14F-4D97-AF65-F5344CB8AC3E}">
        <p14:creationId xmlns:p14="http://schemas.microsoft.com/office/powerpoint/2010/main" val="23777651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r>
              <a:rPr lang="en-US" altLang="en-US" b="1">
                <a:latin typeface="Times New Roman" panose="02020603050405020304" pitchFamily="18" charset="0"/>
              </a:rPr>
              <a:t>Example2-Method Overloading</a:t>
            </a:r>
          </a:p>
        </p:txBody>
      </p:sp>
      <p:sp>
        <p:nvSpPr>
          <p:cNvPr id="17411" name="Rectangle 3"/>
          <p:cNvSpPr>
            <a:spLocks noGrp="1" noChangeArrowheads="1"/>
          </p:cNvSpPr>
          <p:nvPr>
            <p:ph type="body" sz="half" idx="1"/>
          </p:nvPr>
        </p:nvSpPr>
        <p:spPr>
          <a:xfrm>
            <a:off x="457200" y="1600200"/>
            <a:ext cx="4419600" cy="2971800"/>
          </a:xfrm>
        </p:spPr>
        <p:txBody>
          <a:bodyPr/>
          <a:lstStyle/>
          <a:p>
            <a:pPr>
              <a:lnSpc>
                <a:spcPct val="80000"/>
              </a:lnSpc>
              <a:buFontTx/>
              <a:buNone/>
            </a:pPr>
            <a:r>
              <a:rPr lang="en-US" altLang="en-US" sz="1800">
                <a:latin typeface="Times New Roman" panose="02020603050405020304" pitchFamily="18" charset="0"/>
              </a:rPr>
              <a:t>class tmp</a:t>
            </a:r>
          </a:p>
          <a:p>
            <a:pPr>
              <a:lnSpc>
                <a:spcPct val="80000"/>
              </a:lnSpc>
              <a:buFontTx/>
              <a:buNone/>
            </a:pPr>
            <a:r>
              <a:rPr lang="en-US" altLang="en-US" sz="1800">
                <a:latin typeface="Times New Roman" panose="02020603050405020304" pitchFamily="18" charset="0"/>
              </a:rPr>
              <a:t>{</a:t>
            </a:r>
          </a:p>
          <a:p>
            <a:pPr>
              <a:lnSpc>
                <a:spcPct val="80000"/>
              </a:lnSpc>
              <a:buFontTx/>
              <a:buNone/>
            </a:pPr>
            <a:r>
              <a:rPr lang="en-US" altLang="en-US" sz="1800">
                <a:latin typeface="Times New Roman" panose="02020603050405020304" pitchFamily="18" charset="0"/>
              </a:rPr>
              <a:t>	void test()</a:t>
            </a:r>
          </a:p>
          <a:p>
            <a:pPr>
              <a:lnSpc>
                <a:spcPct val="80000"/>
              </a:lnSpc>
              <a:buFontTx/>
              <a:buNone/>
            </a:pPr>
            <a:r>
              <a:rPr lang="en-US" altLang="en-US" sz="1800">
                <a:latin typeface="Times New Roman" panose="02020603050405020304" pitchFamily="18" charset="0"/>
              </a:rPr>
              <a:t>	{ System.out.println(“NoParameter”); }</a:t>
            </a:r>
          </a:p>
          <a:p>
            <a:pPr>
              <a:lnSpc>
                <a:spcPct val="80000"/>
              </a:lnSpc>
              <a:buFontTx/>
              <a:buNone/>
            </a:pPr>
            <a:r>
              <a:rPr lang="en-US" altLang="en-US" sz="1800">
                <a:latin typeface="Times New Roman" panose="02020603050405020304" pitchFamily="18" charset="0"/>
              </a:rPr>
              <a:t>	void test(int a, int b)</a:t>
            </a:r>
          </a:p>
          <a:p>
            <a:pPr>
              <a:lnSpc>
                <a:spcPct val="80000"/>
              </a:lnSpc>
              <a:buFontTx/>
              <a:buNone/>
            </a:pPr>
            <a:r>
              <a:rPr lang="en-US" altLang="en-US" sz="1800">
                <a:latin typeface="Times New Roman" panose="02020603050405020304" pitchFamily="18" charset="0"/>
              </a:rPr>
              <a:t>	{ System.out.println(a + “ “+b); }</a:t>
            </a:r>
          </a:p>
          <a:p>
            <a:pPr>
              <a:lnSpc>
                <a:spcPct val="80000"/>
              </a:lnSpc>
              <a:buFontTx/>
              <a:buNone/>
            </a:pPr>
            <a:r>
              <a:rPr lang="en-US" altLang="en-US" sz="1800">
                <a:latin typeface="Times New Roman" panose="02020603050405020304" pitchFamily="18" charset="0"/>
              </a:rPr>
              <a:t>	double test (double a)</a:t>
            </a:r>
          </a:p>
          <a:p>
            <a:pPr>
              <a:lnSpc>
                <a:spcPct val="80000"/>
              </a:lnSpc>
              <a:buFontTx/>
              <a:buNone/>
            </a:pPr>
            <a:r>
              <a:rPr lang="en-US" altLang="en-US" sz="1800">
                <a:latin typeface="Times New Roman" panose="02020603050405020304" pitchFamily="18" charset="0"/>
              </a:rPr>
              <a:t>	{ System.out.println(a); }</a:t>
            </a:r>
          </a:p>
          <a:p>
            <a:pPr>
              <a:lnSpc>
                <a:spcPct val="80000"/>
              </a:lnSpc>
              <a:buFontTx/>
              <a:buNone/>
            </a:pPr>
            <a:r>
              <a:rPr lang="en-US" altLang="en-US" sz="1800">
                <a:latin typeface="Times New Roman" panose="02020603050405020304" pitchFamily="18" charset="0"/>
              </a:rPr>
              <a:t>}</a:t>
            </a:r>
          </a:p>
        </p:txBody>
      </p:sp>
      <p:sp>
        <p:nvSpPr>
          <p:cNvPr id="17412" name="Rectangle 4"/>
          <p:cNvSpPr>
            <a:spLocks noGrp="1" noChangeArrowheads="1"/>
          </p:cNvSpPr>
          <p:nvPr>
            <p:ph type="body" sz="half" idx="2"/>
          </p:nvPr>
        </p:nvSpPr>
        <p:spPr>
          <a:xfrm>
            <a:off x="4800600" y="1600200"/>
            <a:ext cx="4343400" cy="4800600"/>
          </a:xfrm>
        </p:spPr>
        <p:txBody>
          <a:bodyPr/>
          <a:lstStyle/>
          <a:p>
            <a:pPr>
              <a:lnSpc>
                <a:spcPct val="80000"/>
              </a:lnSpc>
              <a:buFontTx/>
              <a:buNone/>
            </a:pPr>
            <a:r>
              <a:rPr lang="en-US" altLang="en-US" sz="1800" dirty="0">
                <a:latin typeface="Times New Roman" panose="02020603050405020304" pitchFamily="18" charset="0"/>
              </a:rPr>
              <a:t>class tmp1</a:t>
            </a:r>
          </a:p>
          <a:p>
            <a:pPr>
              <a:lnSpc>
                <a:spcPct val="80000"/>
              </a:lnSpc>
              <a:buFontTx/>
              <a:buNone/>
            </a:pPr>
            <a:r>
              <a:rPr lang="en-US" altLang="en-US" sz="1800" dirty="0">
                <a:latin typeface="Times New Roman" panose="02020603050405020304" pitchFamily="18" charset="0"/>
              </a:rPr>
              <a:t>{</a:t>
            </a:r>
          </a:p>
          <a:p>
            <a:pPr>
              <a:lnSpc>
                <a:spcPct val="80000"/>
              </a:lnSpc>
              <a:buFontTx/>
              <a:buNone/>
            </a:pPr>
            <a:r>
              <a:rPr lang="en-US" altLang="en-US" sz="1800" dirty="0">
                <a:latin typeface="Times New Roman" panose="02020603050405020304" pitchFamily="18" charset="0"/>
              </a:rPr>
              <a:t>	public static void main(String </a:t>
            </a:r>
            <a:r>
              <a:rPr lang="en-US" altLang="en-US" sz="1800" dirty="0" err="1">
                <a:latin typeface="Times New Roman" panose="02020603050405020304" pitchFamily="18" charset="0"/>
              </a:rPr>
              <a:t>args</a:t>
            </a:r>
            <a:r>
              <a:rPr lang="en-US" altLang="en-US" sz="1800" dirty="0">
                <a:latin typeface="Times New Roman" panose="02020603050405020304" pitchFamily="18" charset="0"/>
              </a:rPr>
              <a:t>[])</a:t>
            </a:r>
          </a:p>
          <a:p>
            <a:pPr>
              <a:lnSpc>
                <a:spcPct val="80000"/>
              </a:lnSpc>
              <a:buFontTx/>
              <a:buNone/>
            </a:pPr>
            <a:r>
              <a:rPr lang="en-US" altLang="en-US" sz="1800" dirty="0">
                <a:latin typeface="Times New Roman" panose="02020603050405020304" pitchFamily="18" charset="0"/>
              </a:rPr>
              <a:t>	{</a:t>
            </a:r>
          </a:p>
          <a:p>
            <a:pPr>
              <a:lnSpc>
                <a:spcPct val="8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tmp</a:t>
            </a:r>
            <a:r>
              <a:rPr lang="en-US" altLang="en-US" sz="1800" dirty="0">
                <a:latin typeface="Times New Roman" panose="02020603050405020304" pitchFamily="18" charset="0"/>
              </a:rPr>
              <a:t> </a:t>
            </a:r>
            <a:r>
              <a:rPr lang="en-US" altLang="en-US" sz="1800" dirty="0" err="1">
                <a:latin typeface="Times New Roman" panose="02020603050405020304" pitchFamily="18" charset="0"/>
              </a:rPr>
              <a:t>ob</a:t>
            </a:r>
            <a:r>
              <a:rPr lang="en-US" altLang="en-US" sz="1800" dirty="0">
                <a:latin typeface="Times New Roman" panose="02020603050405020304" pitchFamily="18" charset="0"/>
              </a:rPr>
              <a:t>=new </a:t>
            </a:r>
            <a:r>
              <a:rPr lang="en-US" altLang="en-US" sz="1800" dirty="0" err="1">
                <a:latin typeface="Times New Roman" panose="02020603050405020304" pitchFamily="18" charset="0"/>
              </a:rPr>
              <a:t>tmp</a:t>
            </a:r>
            <a:r>
              <a:rPr lang="en-US" altLang="en-US" sz="1800" dirty="0">
                <a:latin typeface="Times New Roman" panose="02020603050405020304" pitchFamily="18" charset="0"/>
              </a:rPr>
              <a:t>();</a:t>
            </a:r>
          </a:p>
          <a:p>
            <a:pPr>
              <a:lnSpc>
                <a:spcPct val="80000"/>
              </a:lnSpc>
              <a:buFontTx/>
              <a:buNone/>
            </a:pPr>
            <a:r>
              <a:rPr lang="en-US" altLang="en-US" sz="1800" dirty="0">
                <a:latin typeface="Times New Roman" panose="02020603050405020304" pitchFamily="18" charset="0"/>
              </a:rPr>
              <a:t>		double v;</a:t>
            </a:r>
          </a:p>
          <a:p>
            <a:pPr>
              <a:lnSpc>
                <a:spcPct val="8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ob.test</a:t>
            </a:r>
            <a:r>
              <a:rPr lang="en-US" altLang="en-US" sz="1800" dirty="0">
                <a:latin typeface="Times New Roman" panose="02020603050405020304" pitchFamily="18" charset="0"/>
              </a:rPr>
              <a:t>();</a:t>
            </a:r>
          </a:p>
          <a:p>
            <a:pPr>
              <a:lnSpc>
                <a:spcPct val="8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ob.test</a:t>
            </a:r>
            <a:r>
              <a:rPr lang="en-US" altLang="en-US" sz="1800" dirty="0">
                <a:latin typeface="Times New Roman" panose="02020603050405020304" pitchFamily="18" charset="0"/>
              </a:rPr>
              <a:t>(10);</a:t>
            </a:r>
          </a:p>
          <a:p>
            <a:pPr>
              <a:lnSpc>
                <a:spcPct val="80000"/>
              </a:lnSpc>
              <a:buFontTx/>
              <a:buNone/>
            </a:pPr>
            <a:r>
              <a:rPr lang="en-US" altLang="en-US" sz="1800" dirty="0">
                <a:latin typeface="Times New Roman" panose="02020603050405020304" pitchFamily="18" charset="0"/>
              </a:rPr>
              <a:t>		</a:t>
            </a:r>
            <a:r>
              <a:rPr lang="en-US" altLang="en-US" sz="1800" dirty="0" err="1">
                <a:latin typeface="Times New Roman" panose="02020603050405020304" pitchFamily="18" charset="0"/>
              </a:rPr>
              <a:t>ob.test</a:t>
            </a:r>
            <a:r>
              <a:rPr lang="en-US" altLang="en-US" sz="1800" dirty="0">
                <a:latin typeface="Times New Roman" panose="02020603050405020304" pitchFamily="18" charset="0"/>
              </a:rPr>
              <a:t>(12,14);</a:t>
            </a:r>
          </a:p>
          <a:p>
            <a:pPr>
              <a:lnSpc>
                <a:spcPct val="80000"/>
              </a:lnSpc>
              <a:buFontTx/>
              <a:buNone/>
            </a:pPr>
            <a:r>
              <a:rPr lang="en-US" altLang="en-US" sz="1800" dirty="0">
                <a:latin typeface="Times New Roman" panose="02020603050405020304" pitchFamily="18" charset="0"/>
              </a:rPr>
              <a:t>		v=</a:t>
            </a:r>
            <a:r>
              <a:rPr lang="en-US" altLang="en-US" sz="1800" dirty="0" err="1">
                <a:latin typeface="Times New Roman" panose="02020603050405020304" pitchFamily="18" charset="0"/>
              </a:rPr>
              <a:t>ob.test</a:t>
            </a:r>
            <a:r>
              <a:rPr lang="en-US" altLang="en-US" sz="1800" dirty="0">
                <a:latin typeface="Times New Roman" panose="02020603050405020304" pitchFamily="18" charset="0"/>
              </a:rPr>
              <a:t>(123.4);	</a:t>
            </a:r>
          </a:p>
          <a:p>
            <a:pPr>
              <a:lnSpc>
                <a:spcPct val="80000"/>
              </a:lnSpc>
              <a:buFontTx/>
              <a:buNone/>
            </a:pPr>
            <a:r>
              <a:rPr lang="en-US" altLang="en-US" sz="1800" dirty="0">
                <a:latin typeface="Times New Roman" panose="02020603050405020304" pitchFamily="18" charset="0"/>
              </a:rPr>
              <a:t>	}</a:t>
            </a:r>
          </a:p>
          <a:p>
            <a:pPr>
              <a:lnSpc>
                <a:spcPct val="80000"/>
              </a:lnSpc>
              <a:buFontTx/>
              <a:buNone/>
            </a:pPr>
            <a:r>
              <a:rPr lang="en-US" altLang="en-US" sz="1800" dirty="0">
                <a:latin typeface="Times New Roman" panose="02020603050405020304" pitchFamily="18" charset="0"/>
              </a:rPr>
              <a:t>} </a:t>
            </a:r>
            <a:r>
              <a:rPr lang="en-US" altLang="en-US" sz="1800" b="1" u="sng" dirty="0">
                <a:latin typeface="Times New Roman" panose="02020603050405020304" pitchFamily="18" charset="0"/>
              </a:rPr>
              <a:t>Result:</a:t>
            </a:r>
          </a:p>
          <a:p>
            <a:pPr>
              <a:lnSpc>
                <a:spcPct val="80000"/>
              </a:lnSpc>
              <a:buFontTx/>
              <a:buNone/>
            </a:pPr>
            <a:r>
              <a:rPr lang="en-US" altLang="en-US" sz="1800" dirty="0">
                <a:latin typeface="Times New Roman" panose="02020603050405020304" pitchFamily="18" charset="0"/>
              </a:rPr>
              <a:t>No Parameter</a:t>
            </a:r>
          </a:p>
          <a:p>
            <a:pPr>
              <a:lnSpc>
                <a:spcPct val="80000"/>
              </a:lnSpc>
              <a:buFontTx/>
              <a:buNone/>
            </a:pPr>
            <a:r>
              <a:rPr lang="en-US" altLang="en-US" sz="1800" dirty="0">
                <a:latin typeface="Times New Roman" panose="02020603050405020304" pitchFamily="18" charset="0"/>
              </a:rPr>
              <a:t>10</a:t>
            </a:r>
          </a:p>
          <a:p>
            <a:pPr>
              <a:lnSpc>
                <a:spcPct val="80000"/>
              </a:lnSpc>
              <a:buFontTx/>
              <a:buNone/>
            </a:pPr>
            <a:r>
              <a:rPr lang="en-US" altLang="en-US" sz="1800" dirty="0">
                <a:latin typeface="Times New Roman" panose="02020603050405020304" pitchFamily="18" charset="0"/>
              </a:rPr>
              <a:t>12 14</a:t>
            </a:r>
          </a:p>
          <a:p>
            <a:pPr>
              <a:lnSpc>
                <a:spcPct val="80000"/>
              </a:lnSpc>
              <a:buFontTx/>
              <a:buNone/>
            </a:pPr>
            <a:r>
              <a:rPr lang="en-US" altLang="en-US" sz="1800" dirty="0">
                <a:latin typeface="Times New Roman" panose="02020603050405020304" pitchFamily="18" charset="0"/>
              </a:rPr>
              <a:t>123.4</a:t>
            </a:r>
          </a:p>
          <a:p>
            <a:pPr>
              <a:lnSpc>
                <a:spcPct val="80000"/>
              </a:lnSpc>
              <a:buFontTx/>
              <a:buNone/>
            </a:pPr>
            <a:endParaRPr lang="en-US" altLang="en-US" sz="1800" dirty="0">
              <a:latin typeface="Times New Roman" panose="02020603050405020304" pitchFamily="18" charset="0"/>
            </a:endParaRPr>
          </a:p>
        </p:txBody>
      </p:sp>
      <p:sp>
        <p:nvSpPr>
          <p:cNvPr id="17413" name="Text Box 5"/>
          <p:cNvSpPr txBox="1">
            <a:spLocks noChangeArrowheads="1"/>
          </p:cNvSpPr>
          <p:nvPr/>
        </p:nvSpPr>
        <p:spPr bwMode="auto">
          <a:xfrm>
            <a:off x="381000" y="5029200"/>
            <a:ext cx="41910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buFont typeface="Wingdings" panose="05000000000000000000" pitchFamily="2" charset="2"/>
              <a:buChar char="ü"/>
            </a:pPr>
            <a:r>
              <a:rPr lang="en-US" altLang="en-US">
                <a:latin typeface="Times New Roman" panose="02020603050405020304" pitchFamily="18" charset="0"/>
              </a:rPr>
              <a:t>Java employ automatic type conversion only if no exact match is found.</a:t>
            </a:r>
          </a:p>
        </p:txBody>
      </p:sp>
      <p:sp>
        <p:nvSpPr>
          <p:cNvPr id="2" name="Date Placeholder 1"/>
          <p:cNvSpPr>
            <a:spLocks noGrp="1"/>
          </p:cNvSpPr>
          <p:nvPr>
            <p:ph type="dt" sz="half" idx="10"/>
          </p:nvPr>
        </p:nvSpPr>
        <p:spPr/>
        <p:txBody>
          <a:bodyPr/>
          <a:lstStyle/>
          <a:p>
            <a:fld id="{7193D648-9792-4EA7-99EA-7537B60A87F5}"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537DE4E2-1CA0-4C5B-A02F-FEFF3DD9C080}" type="slidenum">
              <a:rPr lang="en-US" altLang="en-US" smtClean="0"/>
              <a:pPr/>
              <a:t>40</a:t>
            </a:fld>
            <a:endParaRPr lang="en-US" altLang="en-US"/>
          </a:p>
        </p:txBody>
      </p:sp>
    </p:spTree>
    <p:extLst>
      <p:ext uri="{BB962C8B-B14F-4D97-AF65-F5344CB8AC3E}">
        <p14:creationId xmlns:p14="http://schemas.microsoft.com/office/powerpoint/2010/main" val="25679892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457200" y="274638"/>
            <a:ext cx="8229600" cy="715962"/>
          </a:xfrm>
        </p:spPr>
        <p:txBody>
          <a:bodyPr/>
          <a:lstStyle/>
          <a:p>
            <a:r>
              <a:rPr lang="en-US" altLang="en-US" sz="4200" b="1">
                <a:latin typeface="Times New Roman" panose="02020603050405020304" pitchFamily="18" charset="0"/>
              </a:rPr>
              <a:t>Example-Overloading Constructor</a:t>
            </a:r>
          </a:p>
        </p:txBody>
      </p:sp>
      <p:sp>
        <p:nvSpPr>
          <p:cNvPr id="18436" name="Rectangle 4"/>
          <p:cNvSpPr>
            <a:spLocks noGrp="1" noChangeArrowheads="1"/>
          </p:cNvSpPr>
          <p:nvPr>
            <p:ph type="body" sz="half" idx="1"/>
          </p:nvPr>
        </p:nvSpPr>
        <p:spPr>
          <a:xfrm>
            <a:off x="457200" y="990600"/>
            <a:ext cx="4114800" cy="5181600"/>
          </a:xfrm>
        </p:spPr>
        <p:txBody>
          <a:bodyPr/>
          <a:lstStyle/>
          <a:p>
            <a:pPr>
              <a:lnSpc>
                <a:spcPct val="80000"/>
              </a:lnSpc>
              <a:buFontTx/>
              <a:buNone/>
            </a:pPr>
            <a:r>
              <a:rPr lang="en-US" altLang="en-US" sz="1600">
                <a:latin typeface="Times New Roman" panose="02020603050405020304" pitchFamily="18" charset="0"/>
              </a:rPr>
              <a:t>class Box</a:t>
            </a:r>
          </a:p>
          <a:p>
            <a:pPr>
              <a:lnSpc>
                <a:spcPct val="80000"/>
              </a:lnSpc>
              <a:buFontTx/>
              <a:buNone/>
            </a:pPr>
            <a:r>
              <a:rPr lang="en-US" altLang="en-US" sz="1600">
                <a:latin typeface="Times New Roman" panose="02020603050405020304" pitchFamily="18" charset="0"/>
              </a:rPr>
              <a:t>{</a:t>
            </a:r>
          </a:p>
          <a:p>
            <a:pPr>
              <a:lnSpc>
                <a:spcPct val="80000"/>
              </a:lnSpc>
              <a:buFontTx/>
              <a:buNone/>
            </a:pPr>
            <a:r>
              <a:rPr lang="en-US" altLang="en-US" sz="1600">
                <a:latin typeface="Times New Roman" panose="02020603050405020304" pitchFamily="18" charset="0"/>
              </a:rPr>
              <a:t>	double width;</a:t>
            </a:r>
          </a:p>
          <a:p>
            <a:pPr>
              <a:lnSpc>
                <a:spcPct val="80000"/>
              </a:lnSpc>
              <a:buFontTx/>
              <a:buNone/>
            </a:pPr>
            <a:r>
              <a:rPr lang="en-US" altLang="en-US" sz="1600">
                <a:latin typeface="Times New Roman" panose="02020603050405020304" pitchFamily="18" charset="0"/>
              </a:rPr>
              <a:t>	double height;</a:t>
            </a:r>
          </a:p>
          <a:p>
            <a:pPr>
              <a:lnSpc>
                <a:spcPct val="80000"/>
              </a:lnSpc>
              <a:buFontTx/>
              <a:buNone/>
            </a:pPr>
            <a:r>
              <a:rPr lang="en-US" altLang="en-US" sz="1600">
                <a:latin typeface="Times New Roman" panose="02020603050405020304" pitchFamily="18" charset="0"/>
              </a:rPr>
              <a:t>	double depth;</a:t>
            </a:r>
          </a:p>
          <a:p>
            <a:pPr>
              <a:lnSpc>
                <a:spcPct val="80000"/>
              </a:lnSpc>
              <a:buFontTx/>
              <a:buNone/>
            </a:pPr>
            <a:endParaRPr lang="en-US" altLang="en-US" sz="1600">
              <a:latin typeface="Times New Roman" panose="02020603050405020304" pitchFamily="18" charset="0"/>
            </a:endParaRPr>
          </a:p>
          <a:p>
            <a:pPr>
              <a:lnSpc>
                <a:spcPct val="80000"/>
              </a:lnSpc>
              <a:buFontTx/>
              <a:buNone/>
            </a:pPr>
            <a:r>
              <a:rPr lang="en-US" altLang="en-US" sz="1600">
                <a:latin typeface="Times New Roman" panose="02020603050405020304" pitchFamily="18" charset="0"/>
              </a:rPr>
              <a:t>	Box()</a:t>
            </a:r>
          </a:p>
          <a:p>
            <a:pPr>
              <a:lnSpc>
                <a:spcPct val="80000"/>
              </a:lnSpc>
              <a:buFontTx/>
              <a:buNone/>
            </a:pPr>
            <a:r>
              <a:rPr lang="en-US" altLang="en-US" sz="1600">
                <a:latin typeface="Times New Roman" panose="02020603050405020304" pitchFamily="18" charset="0"/>
              </a:rPr>
              <a:t>	{ width=-1; height=-1;depth=-1;}</a:t>
            </a:r>
          </a:p>
          <a:p>
            <a:pPr>
              <a:lnSpc>
                <a:spcPct val="80000"/>
              </a:lnSpc>
              <a:buFontTx/>
              <a:buNone/>
            </a:pPr>
            <a:endParaRPr lang="en-US" altLang="en-US" sz="1600">
              <a:latin typeface="Times New Roman" panose="02020603050405020304" pitchFamily="18" charset="0"/>
            </a:endParaRPr>
          </a:p>
          <a:p>
            <a:pPr>
              <a:lnSpc>
                <a:spcPct val="80000"/>
              </a:lnSpc>
              <a:buFontTx/>
              <a:buNone/>
            </a:pPr>
            <a:r>
              <a:rPr lang="en-US" altLang="en-US" sz="1600">
                <a:latin typeface="Times New Roman" panose="02020603050405020304" pitchFamily="18" charset="0"/>
              </a:rPr>
              <a:t>	Box(double w, double h, double d)</a:t>
            </a:r>
          </a:p>
          <a:p>
            <a:pPr>
              <a:lnSpc>
                <a:spcPct val="80000"/>
              </a:lnSpc>
              <a:buFontTx/>
              <a:buNone/>
            </a:pPr>
            <a:r>
              <a:rPr lang="en-US" altLang="en-US" sz="1600">
                <a:latin typeface="Times New Roman" panose="02020603050405020304" pitchFamily="18" charset="0"/>
              </a:rPr>
              <a:t>	{width=w; height=h;depth=d;}</a:t>
            </a:r>
          </a:p>
          <a:p>
            <a:pPr>
              <a:lnSpc>
                <a:spcPct val="80000"/>
              </a:lnSpc>
              <a:buFontTx/>
              <a:buNone/>
            </a:pPr>
            <a:endParaRPr lang="en-US" altLang="en-US" sz="1600">
              <a:latin typeface="Times New Roman" panose="02020603050405020304" pitchFamily="18" charset="0"/>
            </a:endParaRPr>
          </a:p>
          <a:p>
            <a:pPr>
              <a:lnSpc>
                <a:spcPct val="80000"/>
              </a:lnSpc>
              <a:buFontTx/>
              <a:buNone/>
            </a:pPr>
            <a:r>
              <a:rPr lang="en-US" altLang="en-US" sz="1600">
                <a:latin typeface="Times New Roman" panose="02020603050405020304" pitchFamily="18" charset="0"/>
              </a:rPr>
              <a:t>	Box(double l)</a:t>
            </a:r>
          </a:p>
          <a:p>
            <a:pPr>
              <a:lnSpc>
                <a:spcPct val="80000"/>
              </a:lnSpc>
              <a:buFontTx/>
              <a:buNone/>
            </a:pPr>
            <a:r>
              <a:rPr lang="en-US" altLang="en-US" sz="1600">
                <a:latin typeface="Times New Roman" panose="02020603050405020304" pitchFamily="18" charset="0"/>
              </a:rPr>
              <a:t>	{width=height=depth=l;}</a:t>
            </a:r>
          </a:p>
          <a:p>
            <a:pPr>
              <a:lnSpc>
                <a:spcPct val="80000"/>
              </a:lnSpc>
              <a:buFontTx/>
              <a:buNone/>
            </a:pPr>
            <a:endParaRPr lang="en-US" altLang="en-US" sz="1600">
              <a:latin typeface="Times New Roman" panose="02020603050405020304" pitchFamily="18" charset="0"/>
            </a:endParaRPr>
          </a:p>
          <a:p>
            <a:pPr>
              <a:lnSpc>
                <a:spcPct val="80000"/>
              </a:lnSpc>
              <a:buFontTx/>
              <a:buNone/>
            </a:pPr>
            <a:r>
              <a:rPr lang="en-US" altLang="en-US" sz="1600">
                <a:latin typeface="Times New Roman" panose="02020603050405020304" pitchFamily="18" charset="0"/>
              </a:rPr>
              <a:t>	Box(Box ob)</a:t>
            </a:r>
          </a:p>
          <a:p>
            <a:pPr>
              <a:lnSpc>
                <a:spcPct val="80000"/>
              </a:lnSpc>
              <a:buFontTx/>
              <a:buNone/>
            </a:pPr>
            <a:r>
              <a:rPr lang="en-US" altLang="en-US" sz="1600">
                <a:latin typeface="Times New Roman" panose="02020603050405020304" pitchFamily="18" charset="0"/>
              </a:rPr>
              <a:t>	{</a:t>
            </a:r>
          </a:p>
          <a:p>
            <a:pPr>
              <a:lnSpc>
                <a:spcPct val="80000"/>
              </a:lnSpc>
              <a:buFontTx/>
              <a:buNone/>
            </a:pPr>
            <a:r>
              <a:rPr lang="en-US" altLang="en-US" sz="1600">
                <a:latin typeface="Times New Roman" panose="02020603050405020304" pitchFamily="18" charset="0"/>
              </a:rPr>
              <a:t>	width = ob.width;</a:t>
            </a:r>
          </a:p>
          <a:p>
            <a:pPr>
              <a:lnSpc>
                <a:spcPct val="80000"/>
              </a:lnSpc>
              <a:buFontTx/>
              <a:buNone/>
            </a:pPr>
            <a:r>
              <a:rPr lang="en-US" altLang="en-US" sz="1600">
                <a:latin typeface="Times New Roman" panose="02020603050405020304" pitchFamily="18" charset="0"/>
              </a:rPr>
              <a:t>	height=ob.height;</a:t>
            </a:r>
          </a:p>
          <a:p>
            <a:pPr>
              <a:lnSpc>
                <a:spcPct val="80000"/>
              </a:lnSpc>
              <a:buFontTx/>
              <a:buNone/>
            </a:pPr>
            <a:r>
              <a:rPr lang="en-US" altLang="en-US" sz="1600">
                <a:latin typeface="Times New Roman" panose="02020603050405020304" pitchFamily="18" charset="0"/>
              </a:rPr>
              <a:t>	depth = ob.depth;</a:t>
            </a:r>
          </a:p>
          <a:p>
            <a:pPr>
              <a:lnSpc>
                <a:spcPct val="80000"/>
              </a:lnSpc>
              <a:buFontTx/>
              <a:buNone/>
            </a:pPr>
            <a:r>
              <a:rPr lang="en-US" altLang="en-US" sz="1600">
                <a:latin typeface="Times New Roman" panose="02020603050405020304" pitchFamily="18" charset="0"/>
              </a:rPr>
              <a:t>	}</a:t>
            </a:r>
          </a:p>
          <a:p>
            <a:pPr>
              <a:lnSpc>
                <a:spcPct val="80000"/>
              </a:lnSpc>
              <a:buFontTx/>
              <a:buNone/>
            </a:pPr>
            <a:r>
              <a:rPr lang="en-US" altLang="en-US" sz="1600">
                <a:latin typeface="Times New Roman" panose="02020603050405020304" pitchFamily="18" charset="0"/>
              </a:rPr>
              <a:t>}</a:t>
            </a:r>
          </a:p>
        </p:txBody>
      </p:sp>
      <p:sp>
        <p:nvSpPr>
          <p:cNvPr id="18437" name="Rectangle 5"/>
          <p:cNvSpPr>
            <a:spLocks noGrp="1" noChangeArrowheads="1"/>
          </p:cNvSpPr>
          <p:nvPr>
            <p:ph type="body" sz="half" idx="2"/>
          </p:nvPr>
        </p:nvSpPr>
        <p:spPr>
          <a:xfrm>
            <a:off x="4652963" y="1219200"/>
            <a:ext cx="4033837" cy="4525963"/>
          </a:xfrm>
        </p:spPr>
        <p:txBody>
          <a:bodyPr/>
          <a:lstStyle/>
          <a:p>
            <a:pPr>
              <a:lnSpc>
                <a:spcPct val="80000"/>
              </a:lnSpc>
              <a:buFontTx/>
              <a:buNone/>
            </a:pPr>
            <a:r>
              <a:rPr lang="en-US" altLang="en-US" sz="1800" dirty="0">
                <a:latin typeface="Times New Roman" panose="02020603050405020304" pitchFamily="18" charset="0"/>
              </a:rPr>
              <a:t>class </a:t>
            </a:r>
            <a:r>
              <a:rPr lang="en-US" altLang="en-US" sz="1800" dirty="0" err="1">
                <a:latin typeface="Times New Roman" panose="02020603050405020304" pitchFamily="18" charset="0"/>
              </a:rPr>
              <a:t>Boxdemo</a:t>
            </a:r>
            <a:endParaRPr lang="en-US" altLang="en-US" sz="1800" dirty="0">
              <a:latin typeface="Times New Roman" panose="02020603050405020304" pitchFamily="18" charset="0"/>
            </a:endParaRPr>
          </a:p>
          <a:p>
            <a:pPr>
              <a:lnSpc>
                <a:spcPct val="80000"/>
              </a:lnSpc>
              <a:buFontTx/>
              <a:buNone/>
            </a:pPr>
            <a:r>
              <a:rPr lang="en-US" altLang="en-US" sz="1800" dirty="0">
                <a:latin typeface="Times New Roman" panose="02020603050405020304" pitchFamily="18" charset="0"/>
              </a:rPr>
              <a:t>{</a:t>
            </a:r>
          </a:p>
          <a:p>
            <a:pPr>
              <a:lnSpc>
                <a:spcPct val="80000"/>
              </a:lnSpc>
              <a:buFontTx/>
              <a:buNone/>
            </a:pPr>
            <a:r>
              <a:rPr lang="en-US" altLang="en-US" sz="1800" dirty="0">
                <a:latin typeface="Times New Roman" panose="02020603050405020304" pitchFamily="18" charset="0"/>
              </a:rPr>
              <a:t>	Box ob1=new Box();</a:t>
            </a:r>
          </a:p>
          <a:p>
            <a:pPr>
              <a:lnSpc>
                <a:spcPct val="80000"/>
              </a:lnSpc>
              <a:buFontTx/>
              <a:buNone/>
            </a:pPr>
            <a:r>
              <a:rPr lang="en-US" altLang="en-US" sz="1800" dirty="0">
                <a:latin typeface="Times New Roman" panose="02020603050405020304" pitchFamily="18" charset="0"/>
              </a:rPr>
              <a:t>	Box ob2 = new Box(10,12,23);</a:t>
            </a:r>
          </a:p>
          <a:p>
            <a:pPr>
              <a:lnSpc>
                <a:spcPct val="80000"/>
              </a:lnSpc>
              <a:buFontTx/>
              <a:buNone/>
            </a:pPr>
            <a:r>
              <a:rPr lang="en-US" altLang="en-US" sz="1800" dirty="0">
                <a:latin typeface="Times New Roman" panose="02020603050405020304" pitchFamily="18" charset="0"/>
              </a:rPr>
              <a:t>	Box ob3=new Box(2.34);</a:t>
            </a:r>
          </a:p>
          <a:p>
            <a:pPr>
              <a:lnSpc>
                <a:spcPct val="80000"/>
              </a:lnSpc>
              <a:buFontTx/>
              <a:buNone/>
            </a:pPr>
            <a:r>
              <a:rPr lang="en-US" altLang="en-US" sz="1800" dirty="0">
                <a:latin typeface="Times New Roman" panose="02020603050405020304" pitchFamily="18" charset="0"/>
              </a:rPr>
              <a:t>	Box ob4=new Box(ob2);</a:t>
            </a:r>
          </a:p>
          <a:p>
            <a:pPr>
              <a:lnSpc>
                <a:spcPct val="80000"/>
              </a:lnSpc>
              <a:buFontTx/>
              <a:buNone/>
            </a:pPr>
            <a:r>
              <a:rPr lang="en-US" altLang="en-US" sz="1800" dirty="0">
                <a:latin typeface="Times New Roman" panose="02020603050405020304" pitchFamily="18" charset="0"/>
              </a:rPr>
              <a:t>}</a:t>
            </a:r>
          </a:p>
        </p:txBody>
      </p:sp>
      <p:sp>
        <p:nvSpPr>
          <p:cNvPr id="2" name="Date Placeholder 1"/>
          <p:cNvSpPr>
            <a:spLocks noGrp="1"/>
          </p:cNvSpPr>
          <p:nvPr>
            <p:ph type="dt" sz="half" idx="10"/>
          </p:nvPr>
        </p:nvSpPr>
        <p:spPr/>
        <p:txBody>
          <a:bodyPr/>
          <a:lstStyle/>
          <a:p>
            <a:fld id="{671F80A2-D8D6-4D00-9C41-C25CA677E689}"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537DE4E2-1CA0-4C5B-A02F-FEFF3DD9C080}" type="slidenum">
              <a:rPr lang="en-US" altLang="en-US" smtClean="0"/>
              <a:pPr/>
              <a:t>41</a:t>
            </a:fld>
            <a:endParaRPr lang="en-US" altLang="en-US"/>
          </a:p>
        </p:txBody>
      </p:sp>
    </p:spTree>
    <p:extLst>
      <p:ext uri="{BB962C8B-B14F-4D97-AF65-F5344CB8AC3E}">
        <p14:creationId xmlns:p14="http://schemas.microsoft.com/office/powerpoint/2010/main" val="21218702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xfrm>
            <a:off x="457200" y="274638"/>
            <a:ext cx="8229600" cy="715962"/>
          </a:xfrm>
        </p:spPr>
        <p:txBody>
          <a:bodyPr/>
          <a:lstStyle/>
          <a:p>
            <a:r>
              <a:rPr lang="en-US" altLang="en-US" sz="4000" b="1">
                <a:latin typeface="Times New Roman" panose="02020603050405020304" pitchFamily="18" charset="0"/>
              </a:rPr>
              <a:t>Example-Array of Objects</a:t>
            </a:r>
          </a:p>
        </p:txBody>
      </p:sp>
      <p:sp>
        <p:nvSpPr>
          <p:cNvPr id="29699" name="Rectangle 3"/>
          <p:cNvSpPr>
            <a:spLocks noGrp="1" noChangeArrowheads="1"/>
          </p:cNvSpPr>
          <p:nvPr>
            <p:ph type="body" idx="1"/>
          </p:nvPr>
        </p:nvSpPr>
        <p:spPr>
          <a:xfrm>
            <a:off x="609600" y="990600"/>
            <a:ext cx="4495800" cy="5562600"/>
          </a:xfrm>
        </p:spPr>
        <p:txBody>
          <a:bodyPr/>
          <a:lstStyle/>
          <a:p>
            <a:pPr>
              <a:lnSpc>
                <a:spcPct val="80000"/>
              </a:lnSpc>
              <a:buFontTx/>
              <a:buNone/>
            </a:pPr>
            <a:r>
              <a:rPr lang="en-US" altLang="en-US" sz="1600" b="1">
                <a:latin typeface="Times New Roman" panose="02020603050405020304" pitchFamily="18" charset="0"/>
              </a:rPr>
              <a:t>class test</a:t>
            </a:r>
          </a:p>
          <a:p>
            <a:pPr>
              <a:lnSpc>
                <a:spcPct val="80000"/>
              </a:lnSpc>
              <a:buFontTx/>
              <a:buNone/>
            </a:pPr>
            <a:r>
              <a:rPr lang="en-US" altLang="en-US" sz="1600" b="1">
                <a:latin typeface="Times New Roman" panose="02020603050405020304" pitchFamily="18" charset="0"/>
              </a:rPr>
              <a:t>{</a:t>
            </a:r>
          </a:p>
          <a:p>
            <a:pPr>
              <a:lnSpc>
                <a:spcPct val="80000"/>
              </a:lnSpc>
              <a:buFontTx/>
              <a:buNone/>
            </a:pPr>
            <a:r>
              <a:rPr lang="en-US" altLang="en-US" sz="1600" b="1">
                <a:latin typeface="Times New Roman" panose="02020603050405020304" pitchFamily="18" charset="0"/>
              </a:rPr>
              <a:t>	int a;</a:t>
            </a:r>
          </a:p>
          <a:p>
            <a:pPr>
              <a:lnSpc>
                <a:spcPct val="80000"/>
              </a:lnSpc>
              <a:buFontTx/>
              <a:buNone/>
            </a:pPr>
            <a:r>
              <a:rPr lang="en-US" altLang="en-US" sz="1600" b="1">
                <a:latin typeface="Times New Roman" panose="02020603050405020304" pitchFamily="18" charset="0"/>
              </a:rPr>
              <a:t>	test(int k)</a:t>
            </a:r>
          </a:p>
          <a:p>
            <a:pPr>
              <a:lnSpc>
                <a:spcPct val="80000"/>
              </a:lnSpc>
              <a:buFontTx/>
              <a:buNone/>
            </a:pPr>
            <a:r>
              <a:rPr lang="en-US" altLang="en-US" sz="1600" b="1">
                <a:latin typeface="Times New Roman" panose="02020603050405020304" pitchFamily="18" charset="0"/>
              </a:rPr>
              <a:t>	{</a:t>
            </a:r>
          </a:p>
          <a:p>
            <a:pPr>
              <a:lnSpc>
                <a:spcPct val="80000"/>
              </a:lnSpc>
              <a:buFontTx/>
              <a:buNone/>
            </a:pPr>
            <a:r>
              <a:rPr lang="en-US" altLang="en-US" sz="1600" b="1">
                <a:latin typeface="Times New Roman" panose="02020603050405020304" pitchFamily="18" charset="0"/>
              </a:rPr>
              <a:t>		a=k;</a:t>
            </a:r>
          </a:p>
          <a:p>
            <a:pPr>
              <a:lnSpc>
                <a:spcPct val="80000"/>
              </a:lnSpc>
              <a:buFontTx/>
              <a:buNone/>
            </a:pPr>
            <a:r>
              <a:rPr lang="en-US" altLang="en-US" sz="1600" b="1">
                <a:latin typeface="Times New Roman" panose="02020603050405020304" pitchFamily="18" charset="0"/>
              </a:rPr>
              <a:t>	}</a:t>
            </a:r>
          </a:p>
          <a:p>
            <a:pPr>
              <a:lnSpc>
                <a:spcPct val="80000"/>
              </a:lnSpc>
              <a:buFontTx/>
              <a:buNone/>
            </a:pPr>
            <a:r>
              <a:rPr lang="en-US" altLang="en-US" sz="1600" b="1">
                <a:latin typeface="Times New Roman" panose="02020603050405020304" pitchFamily="18" charset="0"/>
              </a:rPr>
              <a:t>	</a:t>
            </a:r>
          </a:p>
          <a:p>
            <a:pPr>
              <a:lnSpc>
                <a:spcPct val="80000"/>
              </a:lnSpc>
              <a:buFontTx/>
              <a:buNone/>
            </a:pPr>
            <a:r>
              <a:rPr lang="en-US" altLang="en-US" sz="1600" b="1">
                <a:latin typeface="Times New Roman" panose="02020603050405020304" pitchFamily="18" charset="0"/>
              </a:rPr>
              <a:t>}</a:t>
            </a:r>
          </a:p>
          <a:p>
            <a:pPr>
              <a:lnSpc>
                <a:spcPct val="80000"/>
              </a:lnSpc>
            </a:pPr>
            <a:endParaRPr lang="en-US" altLang="en-US" sz="1600" b="1">
              <a:latin typeface="Times New Roman" panose="02020603050405020304" pitchFamily="18" charset="0"/>
            </a:endParaRPr>
          </a:p>
          <a:p>
            <a:pPr>
              <a:lnSpc>
                <a:spcPct val="80000"/>
              </a:lnSpc>
              <a:buFontTx/>
              <a:buNone/>
            </a:pPr>
            <a:r>
              <a:rPr lang="en-US" altLang="en-US" sz="1600" b="1">
                <a:latin typeface="Times New Roman" panose="02020603050405020304" pitchFamily="18" charset="0"/>
              </a:rPr>
              <a:t>class array_ob</a:t>
            </a:r>
          </a:p>
          <a:p>
            <a:pPr>
              <a:lnSpc>
                <a:spcPct val="80000"/>
              </a:lnSpc>
              <a:buFontTx/>
              <a:buNone/>
            </a:pPr>
            <a:r>
              <a:rPr lang="en-US" altLang="en-US" sz="1600" b="1">
                <a:latin typeface="Times New Roman" panose="02020603050405020304" pitchFamily="18" charset="0"/>
              </a:rPr>
              <a:t>{</a:t>
            </a:r>
          </a:p>
          <a:p>
            <a:pPr>
              <a:lnSpc>
                <a:spcPct val="80000"/>
              </a:lnSpc>
              <a:buFontTx/>
              <a:buNone/>
            </a:pPr>
            <a:r>
              <a:rPr lang="en-US" altLang="en-US" sz="1600" b="1">
                <a:latin typeface="Times New Roman" panose="02020603050405020304" pitchFamily="18" charset="0"/>
              </a:rPr>
              <a:t>	public static void main(String args[])</a:t>
            </a:r>
          </a:p>
          <a:p>
            <a:pPr>
              <a:lnSpc>
                <a:spcPct val="80000"/>
              </a:lnSpc>
              <a:buFontTx/>
              <a:buNone/>
            </a:pPr>
            <a:r>
              <a:rPr lang="en-US" altLang="en-US" sz="1600" b="1">
                <a:latin typeface="Times New Roman" panose="02020603050405020304" pitchFamily="18" charset="0"/>
              </a:rPr>
              <a:t>	{</a:t>
            </a:r>
          </a:p>
          <a:p>
            <a:pPr>
              <a:lnSpc>
                <a:spcPct val="80000"/>
              </a:lnSpc>
              <a:buFontTx/>
              <a:buNone/>
            </a:pPr>
            <a:r>
              <a:rPr lang="en-US" altLang="en-US" sz="1600" b="1">
                <a:latin typeface="Times New Roman" panose="02020603050405020304" pitchFamily="18" charset="0"/>
              </a:rPr>
              <a:t>		test ob[]=new test[2];</a:t>
            </a:r>
          </a:p>
          <a:p>
            <a:pPr>
              <a:lnSpc>
                <a:spcPct val="80000"/>
              </a:lnSpc>
              <a:buFontTx/>
              <a:buNone/>
            </a:pPr>
            <a:r>
              <a:rPr lang="en-US" altLang="en-US" sz="1600" b="1">
                <a:latin typeface="Times New Roman" panose="02020603050405020304" pitchFamily="18" charset="0"/>
              </a:rPr>
              <a:t>		ob[0]=new test(4);</a:t>
            </a:r>
          </a:p>
          <a:p>
            <a:pPr>
              <a:lnSpc>
                <a:spcPct val="80000"/>
              </a:lnSpc>
              <a:buFontTx/>
              <a:buNone/>
            </a:pPr>
            <a:r>
              <a:rPr lang="en-US" altLang="en-US" sz="1600" b="1">
                <a:latin typeface="Times New Roman" panose="02020603050405020304" pitchFamily="18" charset="0"/>
              </a:rPr>
              <a:t>		ob[1]=new test(8);</a:t>
            </a:r>
          </a:p>
          <a:p>
            <a:pPr>
              <a:lnSpc>
                <a:spcPct val="80000"/>
              </a:lnSpc>
              <a:buFontTx/>
              <a:buNone/>
            </a:pPr>
            <a:r>
              <a:rPr lang="en-US" altLang="en-US" sz="1600" b="1">
                <a:latin typeface="Times New Roman" panose="02020603050405020304" pitchFamily="18" charset="0"/>
              </a:rPr>
              <a:t>		System.out.println(ob.length);</a:t>
            </a:r>
          </a:p>
          <a:p>
            <a:pPr>
              <a:lnSpc>
                <a:spcPct val="80000"/>
              </a:lnSpc>
              <a:buFontTx/>
              <a:buNone/>
            </a:pPr>
            <a:r>
              <a:rPr lang="en-US" altLang="en-US" sz="1600" b="1">
                <a:latin typeface="Times New Roman" panose="02020603050405020304" pitchFamily="18" charset="0"/>
              </a:rPr>
              <a:t>		</a:t>
            </a:r>
          </a:p>
          <a:p>
            <a:pPr>
              <a:lnSpc>
                <a:spcPct val="80000"/>
              </a:lnSpc>
              <a:buFontTx/>
              <a:buNone/>
            </a:pPr>
            <a:r>
              <a:rPr lang="en-US" altLang="en-US" sz="1600" b="1">
                <a:latin typeface="Times New Roman" panose="02020603050405020304" pitchFamily="18" charset="0"/>
              </a:rPr>
              <a:t>		for(int i=0;i&lt;2;i++)	</a:t>
            </a:r>
          </a:p>
          <a:p>
            <a:pPr>
              <a:lnSpc>
                <a:spcPct val="80000"/>
              </a:lnSpc>
              <a:buFontTx/>
              <a:buNone/>
            </a:pPr>
            <a:r>
              <a:rPr lang="en-US" altLang="en-US" sz="1600" b="1">
                <a:latin typeface="Times New Roman" panose="02020603050405020304" pitchFamily="18" charset="0"/>
              </a:rPr>
              <a:t>			System.out.println(ob[i].a);</a:t>
            </a:r>
          </a:p>
          <a:p>
            <a:pPr>
              <a:lnSpc>
                <a:spcPct val="80000"/>
              </a:lnSpc>
              <a:buFontTx/>
              <a:buNone/>
            </a:pPr>
            <a:r>
              <a:rPr lang="en-US" altLang="en-US" sz="1600" b="1">
                <a:latin typeface="Times New Roman" panose="02020603050405020304" pitchFamily="18" charset="0"/>
              </a:rPr>
              <a:t>	}</a:t>
            </a:r>
          </a:p>
          <a:p>
            <a:pPr>
              <a:lnSpc>
                <a:spcPct val="80000"/>
              </a:lnSpc>
              <a:buFontTx/>
              <a:buNone/>
            </a:pPr>
            <a:r>
              <a:rPr lang="en-US" altLang="en-US" sz="1600" b="1">
                <a:latin typeface="Times New Roman" panose="02020603050405020304" pitchFamily="18" charset="0"/>
              </a:rPr>
              <a:t>}</a:t>
            </a:r>
          </a:p>
        </p:txBody>
      </p:sp>
      <p:sp>
        <p:nvSpPr>
          <p:cNvPr id="29700" name="Text Box 4"/>
          <p:cNvSpPr txBox="1">
            <a:spLocks noChangeArrowheads="1"/>
          </p:cNvSpPr>
          <p:nvPr/>
        </p:nvSpPr>
        <p:spPr bwMode="auto">
          <a:xfrm>
            <a:off x="5715000" y="1752600"/>
            <a:ext cx="2895600" cy="2430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u="sng">
                <a:latin typeface="Times New Roman" panose="02020603050405020304" pitchFamily="18" charset="0"/>
              </a:rPr>
              <a:t>Output:</a:t>
            </a:r>
          </a:p>
          <a:p>
            <a:pPr>
              <a:spcBef>
                <a:spcPct val="50000"/>
              </a:spcBef>
            </a:pPr>
            <a:r>
              <a:rPr lang="en-US" altLang="en-US" b="1">
                <a:latin typeface="Times New Roman" panose="02020603050405020304" pitchFamily="18" charset="0"/>
              </a:rPr>
              <a:t>2</a:t>
            </a:r>
          </a:p>
          <a:p>
            <a:pPr>
              <a:spcBef>
                <a:spcPct val="50000"/>
              </a:spcBef>
            </a:pPr>
            <a:r>
              <a:rPr lang="en-US" altLang="en-US" b="1">
                <a:latin typeface="Times New Roman" panose="02020603050405020304" pitchFamily="18" charset="0"/>
              </a:rPr>
              <a:t>4</a:t>
            </a:r>
          </a:p>
          <a:p>
            <a:pPr>
              <a:spcBef>
                <a:spcPct val="50000"/>
              </a:spcBef>
            </a:pPr>
            <a:r>
              <a:rPr lang="en-US" altLang="en-US" b="1">
                <a:latin typeface="Times New Roman" panose="02020603050405020304" pitchFamily="18" charset="0"/>
              </a:rPr>
              <a:t>8</a:t>
            </a:r>
          </a:p>
          <a:p>
            <a:pPr>
              <a:spcBef>
                <a:spcPct val="50000"/>
              </a:spcBef>
            </a:pPr>
            <a:endParaRPr lang="en-US" altLang="en-US" b="1">
              <a:latin typeface="Times New Roman" panose="02020603050405020304" pitchFamily="18" charset="0"/>
            </a:endParaRPr>
          </a:p>
          <a:p>
            <a:pPr>
              <a:spcBef>
                <a:spcPct val="50000"/>
              </a:spcBef>
            </a:pPr>
            <a:endParaRPr lang="en-US" altLang="en-US" b="1" u="sng">
              <a:latin typeface="Times New Roman" panose="02020603050405020304" pitchFamily="18" charset="0"/>
            </a:endParaRPr>
          </a:p>
        </p:txBody>
      </p:sp>
      <p:sp>
        <p:nvSpPr>
          <p:cNvPr id="2" name="Date Placeholder 1"/>
          <p:cNvSpPr>
            <a:spLocks noGrp="1"/>
          </p:cNvSpPr>
          <p:nvPr>
            <p:ph type="dt" sz="half" idx="10"/>
          </p:nvPr>
        </p:nvSpPr>
        <p:spPr/>
        <p:txBody>
          <a:bodyPr/>
          <a:lstStyle/>
          <a:p>
            <a:fld id="{A72E8503-8F1E-458E-B1DE-0AC0085FE1FB}"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A2797038-AD64-4C97-BB0B-56363D18F42C}" type="slidenum">
              <a:rPr lang="en-US" altLang="en-US" smtClean="0"/>
              <a:pPr/>
              <a:t>42</a:t>
            </a:fld>
            <a:endParaRPr lang="en-US" altLang="en-US"/>
          </a:p>
        </p:txBody>
      </p:sp>
    </p:spTree>
    <p:extLst>
      <p:ext uri="{BB962C8B-B14F-4D97-AF65-F5344CB8AC3E}">
        <p14:creationId xmlns:p14="http://schemas.microsoft.com/office/powerpoint/2010/main" val="415982162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457200" y="274638"/>
            <a:ext cx="8229600" cy="639762"/>
          </a:xfrm>
        </p:spPr>
        <p:txBody>
          <a:bodyPr/>
          <a:lstStyle/>
          <a:p>
            <a:r>
              <a:rPr lang="en-US" altLang="en-US" sz="4000" b="1">
                <a:latin typeface="Times New Roman" panose="02020603050405020304" pitchFamily="18" charset="0"/>
              </a:rPr>
              <a:t>Example-Recursion</a:t>
            </a:r>
          </a:p>
        </p:txBody>
      </p:sp>
      <p:sp>
        <p:nvSpPr>
          <p:cNvPr id="24580" name="Rectangle 4"/>
          <p:cNvSpPr>
            <a:spLocks noGrp="1" noChangeArrowheads="1"/>
          </p:cNvSpPr>
          <p:nvPr>
            <p:ph type="body" sz="half" idx="1"/>
          </p:nvPr>
        </p:nvSpPr>
        <p:spPr>
          <a:xfrm>
            <a:off x="457200" y="1066800"/>
            <a:ext cx="4033838" cy="4525963"/>
          </a:xfrm>
        </p:spPr>
        <p:txBody>
          <a:bodyPr/>
          <a:lstStyle/>
          <a:p>
            <a:pPr>
              <a:buFontTx/>
              <a:buNone/>
            </a:pPr>
            <a:r>
              <a:rPr lang="en-US" altLang="en-US" sz="2000" dirty="0">
                <a:latin typeface="Times New Roman" panose="02020603050405020304" pitchFamily="18" charset="0"/>
              </a:rPr>
              <a:t>class Factorial</a:t>
            </a:r>
          </a:p>
          <a:p>
            <a:pPr>
              <a:buFontTx/>
              <a:buNone/>
            </a:pPr>
            <a:r>
              <a:rPr lang="en-US" altLang="en-US" sz="2000" dirty="0">
                <a:latin typeface="Times New Roman" panose="02020603050405020304" pitchFamily="18" charset="0"/>
              </a:rPr>
              <a:t>{</a:t>
            </a:r>
          </a:p>
          <a:p>
            <a:pPr>
              <a:buFontTx/>
              <a:buNone/>
            </a:pPr>
            <a:r>
              <a:rPr lang="en-US" altLang="en-US" sz="2000" dirty="0">
                <a:latin typeface="Times New Roman" panose="02020603050405020304" pitchFamily="18" charset="0"/>
              </a:rPr>
              <a:t>	int fact(int n)</a:t>
            </a:r>
          </a:p>
          <a:p>
            <a:pPr>
              <a:buFontTx/>
              <a:buNone/>
            </a:pPr>
            <a:r>
              <a:rPr lang="en-US" altLang="en-US" sz="2000" dirty="0">
                <a:latin typeface="Times New Roman" panose="02020603050405020304" pitchFamily="18" charset="0"/>
              </a:rPr>
              <a:t>	{</a:t>
            </a:r>
          </a:p>
          <a:p>
            <a:pPr>
              <a:buFontTx/>
              <a:buNone/>
            </a:pPr>
            <a:r>
              <a:rPr lang="en-US" altLang="en-US" sz="2000" dirty="0">
                <a:latin typeface="Times New Roman" panose="02020603050405020304" pitchFamily="18" charset="0"/>
              </a:rPr>
              <a:t>		int res;</a:t>
            </a:r>
          </a:p>
          <a:p>
            <a:pPr>
              <a:buFontTx/>
              <a:buNone/>
            </a:pPr>
            <a:r>
              <a:rPr lang="en-US" altLang="en-US" sz="2000" dirty="0">
                <a:latin typeface="Times New Roman" panose="02020603050405020304" pitchFamily="18" charset="0"/>
              </a:rPr>
              <a:t>		if(n==1)</a:t>
            </a:r>
          </a:p>
          <a:p>
            <a:pPr>
              <a:buFontTx/>
              <a:buNone/>
            </a:pPr>
            <a:r>
              <a:rPr lang="en-US" altLang="en-US" sz="2000" dirty="0">
                <a:latin typeface="Times New Roman" panose="02020603050405020304" pitchFamily="18" charset="0"/>
              </a:rPr>
              <a:t>		return 1;</a:t>
            </a:r>
          </a:p>
          <a:p>
            <a:pPr>
              <a:buFontTx/>
              <a:buNone/>
            </a:pPr>
            <a:r>
              <a:rPr lang="en-US" altLang="en-US" sz="2000" dirty="0">
                <a:latin typeface="Times New Roman" panose="02020603050405020304" pitchFamily="18" charset="0"/>
              </a:rPr>
              <a:t>		res=fact(n-1)*n;</a:t>
            </a:r>
          </a:p>
          <a:p>
            <a:pPr>
              <a:buFontTx/>
              <a:buNone/>
            </a:pPr>
            <a:r>
              <a:rPr lang="en-US" altLang="en-US" sz="2000" dirty="0">
                <a:latin typeface="Times New Roman" panose="02020603050405020304" pitchFamily="18" charset="0"/>
              </a:rPr>
              <a:t>		return res;</a:t>
            </a:r>
          </a:p>
          <a:p>
            <a:pPr>
              <a:buFontTx/>
              <a:buNone/>
            </a:pPr>
            <a:r>
              <a:rPr lang="en-US" altLang="en-US" sz="2000" dirty="0">
                <a:latin typeface="Times New Roman" panose="02020603050405020304" pitchFamily="18" charset="0"/>
              </a:rPr>
              <a:t>		</a:t>
            </a:r>
          </a:p>
          <a:p>
            <a:pPr>
              <a:buFontTx/>
              <a:buNone/>
            </a:pPr>
            <a:r>
              <a:rPr lang="en-US" altLang="en-US" sz="2000" dirty="0">
                <a:latin typeface="Times New Roman" panose="02020603050405020304" pitchFamily="18" charset="0"/>
              </a:rPr>
              <a:t>	}</a:t>
            </a:r>
          </a:p>
          <a:p>
            <a:pPr>
              <a:buFontTx/>
              <a:buNone/>
            </a:pPr>
            <a:r>
              <a:rPr lang="en-US" altLang="en-US" sz="2000" dirty="0">
                <a:latin typeface="Times New Roman" panose="02020603050405020304" pitchFamily="18" charset="0"/>
              </a:rPr>
              <a:t>}</a:t>
            </a:r>
          </a:p>
        </p:txBody>
      </p:sp>
      <p:sp>
        <p:nvSpPr>
          <p:cNvPr id="24581" name="Rectangle 5"/>
          <p:cNvSpPr>
            <a:spLocks noGrp="1" noChangeArrowheads="1"/>
          </p:cNvSpPr>
          <p:nvPr>
            <p:ph type="body" sz="half" idx="2"/>
          </p:nvPr>
        </p:nvSpPr>
        <p:spPr>
          <a:xfrm>
            <a:off x="4343400" y="1143000"/>
            <a:ext cx="4800600" cy="5257800"/>
          </a:xfrm>
        </p:spPr>
        <p:txBody>
          <a:bodyPr/>
          <a:lstStyle/>
          <a:p>
            <a:pPr>
              <a:buFontTx/>
              <a:buNone/>
            </a:pPr>
            <a:r>
              <a:rPr lang="en-US" altLang="en-US" sz="2000" dirty="0">
                <a:latin typeface="Times New Roman" panose="02020603050405020304" pitchFamily="18" charset="0"/>
              </a:rPr>
              <a:t>class Recursion</a:t>
            </a:r>
          </a:p>
          <a:p>
            <a:pPr>
              <a:buFontTx/>
              <a:buNone/>
            </a:pPr>
            <a:r>
              <a:rPr lang="en-US" altLang="en-US" sz="2000" dirty="0">
                <a:latin typeface="Times New Roman" panose="02020603050405020304" pitchFamily="18" charset="0"/>
              </a:rPr>
              <a:t>{</a:t>
            </a:r>
          </a:p>
          <a:p>
            <a:pPr>
              <a:buFontTx/>
              <a:buNone/>
            </a:pPr>
            <a:r>
              <a:rPr lang="en-US" altLang="en-US" sz="2000" dirty="0">
                <a:latin typeface="Times New Roman" panose="02020603050405020304" pitchFamily="18" charset="0"/>
              </a:rPr>
              <a:t>	public static void main(String </a:t>
            </a:r>
            <a:r>
              <a:rPr lang="en-US" altLang="en-US" sz="2000" dirty="0" err="1">
                <a:latin typeface="Times New Roman" panose="02020603050405020304" pitchFamily="18" charset="0"/>
              </a:rPr>
              <a:t>args</a:t>
            </a:r>
            <a:r>
              <a:rPr lang="en-US" altLang="en-US" sz="2000" dirty="0">
                <a:latin typeface="Times New Roman" panose="02020603050405020304" pitchFamily="18" charset="0"/>
              </a:rPr>
              <a:t>[])</a:t>
            </a:r>
          </a:p>
          <a:p>
            <a:pPr>
              <a:buFontTx/>
              <a:buNone/>
            </a:pPr>
            <a:r>
              <a:rPr lang="en-US" altLang="en-US" sz="2000" dirty="0">
                <a:latin typeface="Times New Roman" panose="02020603050405020304" pitchFamily="18" charset="0"/>
              </a:rPr>
              <a:t>	{</a:t>
            </a:r>
          </a:p>
          <a:p>
            <a:pPr>
              <a:buFontTx/>
              <a:buNone/>
            </a:pPr>
            <a:r>
              <a:rPr lang="en-US" altLang="en-US" sz="2000" dirty="0">
                <a:latin typeface="Times New Roman" panose="02020603050405020304" pitchFamily="18" charset="0"/>
              </a:rPr>
              <a:t>		Factorial f=new Factorial();</a:t>
            </a:r>
          </a:p>
          <a:p>
            <a:pPr>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System.out.println</a:t>
            </a:r>
            <a:r>
              <a:rPr lang="en-US" altLang="en-US" sz="2000" dirty="0">
                <a:latin typeface="Times New Roman" panose="02020603050405020304" pitchFamily="18" charset="0"/>
              </a:rPr>
              <a:t>(</a:t>
            </a:r>
            <a:r>
              <a:rPr lang="en-US" altLang="en-US" sz="2000" dirty="0" err="1">
                <a:latin typeface="Times New Roman" panose="02020603050405020304" pitchFamily="18" charset="0"/>
              </a:rPr>
              <a:t>f.fact</a:t>
            </a:r>
            <a:r>
              <a:rPr lang="en-US" altLang="en-US" sz="2000" dirty="0">
                <a:latin typeface="Times New Roman" panose="02020603050405020304" pitchFamily="18" charset="0"/>
              </a:rPr>
              <a:t>(3));</a:t>
            </a:r>
          </a:p>
          <a:p>
            <a:pPr>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System.out.println</a:t>
            </a:r>
            <a:r>
              <a:rPr lang="en-US" altLang="en-US" sz="2000" dirty="0">
                <a:latin typeface="Times New Roman" panose="02020603050405020304" pitchFamily="18" charset="0"/>
              </a:rPr>
              <a:t>(</a:t>
            </a:r>
            <a:r>
              <a:rPr lang="en-US" altLang="en-US" sz="2000" dirty="0" err="1">
                <a:latin typeface="Times New Roman" panose="02020603050405020304" pitchFamily="18" charset="0"/>
              </a:rPr>
              <a:t>f.fact</a:t>
            </a:r>
            <a:r>
              <a:rPr lang="en-US" altLang="en-US" sz="2000" dirty="0">
                <a:latin typeface="Times New Roman" panose="02020603050405020304" pitchFamily="18" charset="0"/>
              </a:rPr>
              <a:t>(4));</a:t>
            </a:r>
          </a:p>
          <a:p>
            <a:pPr>
              <a:buFontTx/>
              <a:buNone/>
            </a:pPr>
            <a:r>
              <a:rPr lang="en-US" altLang="en-US" sz="2000" dirty="0">
                <a:latin typeface="Times New Roman" panose="02020603050405020304" pitchFamily="18" charset="0"/>
              </a:rPr>
              <a:t>		</a:t>
            </a:r>
            <a:r>
              <a:rPr lang="en-US" altLang="en-US" sz="2000" dirty="0" err="1">
                <a:latin typeface="Times New Roman" panose="02020603050405020304" pitchFamily="18" charset="0"/>
              </a:rPr>
              <a:t>System.out.println</a:t>
            </a:r>
            <a:r>
              <a:rPr lang="en-US" altLang="en-US" sz="2000" dirty="0">
                <a:latin typeface="Times New Roman" panose="02020603050405020304" pitchFamily="18" charset="0"/>
              </a:rPr>
              <a:t>(</a:t>
            </a:r>
            <a:r>
              <a:rPr lang="en-US" altLang="en-US" sz="2000" dirty="0" err="1">
                <a:latin typeface="Times New Roman" panose="02020603050405020304" pitchFamily="18" charset="0"/>
              </a:rPr>
              <a:t>f.fact</a:t>
            </a:r>
            <a:r>
              <a:rPr lang="en-US" altLang="en-US" sz="2000" dirty="0">
                <a:latin typeface="Times New Roman" panose="02020603050405020304" pitchFamily="18" charset="0"/>
              </a:rPr>
              <a:t>(5));</a:t>
            </a:r>
          </a:p>
          <a:p>
            <a:pPr>
              <a:buFontTx/>
              <a:buNone/>
            </a:pPr>
            <a:r>
              <a:rPr lang="en-US" altLang="en-US" sz="2000" dirty="0">
                <a:latin typeface="Times New Roman" panose="02020603050405020304" pitchFamily="18" charset="0"/>
              </a:rPr>
              <a:t>		</a:t>
            </a:r>
          </a:p>
          <a:p>
            <a:pPr>
              <a:buFontTx/>
              <a:buNone/>
            </a:pPr>
            <a:r>
              <a:rPr lang="en-US" altLang="en-US" sz="2000" dirty="0">
                <a:latin typeface="Times New Roman" panose="02020603050405020304" pitchFamily="18" charset="0"/>
              </a:rPr>
              <a:t>	}</a:t>
            </a:r>
          </a:p>
          <a:p>
            <a:pPr>
              <a:buFontTx/>
              <a:buNone/>
            </a:pPr>
            <a:r>
              <a:rPr lang="en-US" altLang="en-US" sz="2000" dirty="0">
                <a:latin typeface="Times New Roman" panose="02020603050405020304" pitchFamily="18" charset="0"/>
              </a:rPr>
              <a:t>}</a:t>
            </a:r>
          </a:p>
        </p:txBody>
      </p:sp>
      <p:sp>
        <p:nvSpPr>
          <p:cNvPr id="2" name="Date Placeholder 1"/>
          <p:cNvSpPr>
            <a:spLocks noGrp="1"/>
          </p:cNvSpPr>
          <p:nvPr>
            <p:ph type="dt" sz="half" idx="10"/>
          </p:nvPr>
        </p:nvSpPr>
        <p:spPr/>
        <p:txBody>
          <a:bodyPr/>
          <a:lstStyle/>
          <a:p>
            <a:fld id="{6946F363-948E-4400-ADC8-2AD647DA334C}"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537DE4E2-1CA0-4C5B-A02F-FEFF3DD9C080}" type="slidenum">
              <a:rPr lang="en-US" altLang="en-US" smtClean="0"/>
              <a:pPr/>
              <a:t>43</a:t>
            </a:fld>
            <a:endParaRPr lang="en-US" altLang="en-US"/>
          </a:p>
        </p:txBody>
      </p:sp>
    </p:spTree>
    <p:extLst>
      <p:ext uri="{BB962C8B-B14F-4D97-AF65-F5344CB8AC3E}">
        <p14:creationId xmlns:p14="http://schemas.microsoft.com/office/powerpoint/2010/main" val="20155547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457200" y="274638"/>
            <a:ext cx="8229600" cy="715962"/>
          </a:xfrm>
        </p:spPr>
        <p:txBody>
          <a:bodyPr/>
          <a:lstStyle/>
          <a:p>
            <a:r>
              <a:rPr lang="en-US" altLang="en-US" sz="4000" b="1">
                <a:latin typeface="Times New Roman" panose="02020603050405020304" pitchFamily="18" charset="0"/>
              </a:rPr>
              <a:t>Access Control</a:t>
            </a:r>
          </a:p>
        </p:txBody>
      </p:sp>
      <p:sp>
        <p:nvSpPr>
          <p:cNvPr id="26627" name="Rectangle 3"/>
          <p:cNvSpPr>
            <a:spLocks noGrp="1" noChangeArrowheads="1"/>
          </p:cNvSpPr>
          <p:nvPr>
            <p:ph type="body" idx="1"/>
          </p:nvPr>
        </p:nvSpPr>
        <p:spPr>
          <a:xfrm>
            <a:off x="457200" y="1066800"/>
            <a:ext cx="8229600" cy="4525963"/>
          </a:xfrm>
        </p:spPr>
        <p:txBody>
          <a:bodyPr/>
          <a:lstStyle/>
          <a:p>
            <a:pPr marL="533400" indent="-533400">
              <a:lnSpc>
                <a:spcPct val="90000"/>
              </a:lnSpc>
              <a:buFont typeface="Wingdings" panose="05000000000000000000" pitchFamily="2" charset="2"/>
              <a:buChar char="ü"/>
            </a:pPr>
            <a:r>
              <a:rPr lang="en-US" altLang="en-US" sz="2400">
                <a:latin typeface="Times New Roman" panose="02020603050405020304" pitchFamily="18" charset="0"/>
              </a:rPr>
              <a:t>Determines how the members of a class are accessed.</a:t>
            </a:r>
          </a:p>
          <a:p>
            <a:pPr marL="533400" indent="-533400">
              <a:lnSpc>
                <a:spcPct val="90000"/>
              </a:lnSpc>
              <a:buFont typeface="Wingdings" panose="05000000000000000000" pitchFamily="2" charset="2"/>
              <a:buChar char="ü"/>
            </a:pPr>
            <a:r>
              <a:rPr lang="en-US" altLang="en-US" sz="2400">
                <a:latin typeface="Times New Roman" panose="02020603050405020304" pitchFamily="18" charset="0"/>
              </a:rPr>
              <a:t>Used to ensure encapsulation.</a:t>
            </a:r>
          </a:p>
          <a:p>
            <a:pPr marL="533400" indent="-533400">
              <a:lnSpc>
                <a:spcPct val="90000"/>
              </a:lnSpc>
              <a:buFont typeface="Wingdings" panose="05000000000000000000" pitchFamily="2" charset="2"/>
              <a:buChar char="ü"/>
            </a:pPr>
            <a:r>
              <a:rPr lang="en-US" altLang="en-US" sz="2400">
                <a:latin typeface="Times New Roman" panose="02020603050405020304" pitchFamily="18" charset="0"/>
              </a:rPr>
              <a:t>Four access control:</a:t>
            </a:r>
          </a:p>
          <a:p>
            <a:pPr marL="952500" lvl="1" indent="-495300">
              <a:lnSpc>
                <a:spcPct val="90000"/>
              </a:lnSpc>
              <a:buFont typeface="Wingdings" panose="05000000000000000000" pitchFamily="2" charset="2"/>
              <a:buAutoNum type="arabicPeriod"/>
            </a:pPr>
            <a:r>
              <a:rPr lang="en-US" altLang="en-US" sz="2000">
                <a:latin typeface="Times New Roman" panose="02020603050405020304" pitchFamily="18" charset="0"/>
              </a:rPr>
              <a:t>Default:</a:t>
            </a:r>
          </a:p>
          <a:p>
            <a:pPr marL="952500" lvl="1" indent="-495300">
              <a:lnSpc>
                <a:spcPct val="90000"/>
              </a:lnSpc>
              <a:buFont typeface="Wingdings" panose="05000000000000000000" pitchFamily="2" charset="2"/>
              <a:buNone/>
            </a:pPr>
            <a:r>
              <a:rPr lang="en-US" altLang="en-US" sz="2000">
                <a:latin typeface="Times New Roman" panose="02020603050405020304" pitchFamily="18" charset="0"/>
              </a:rPr>
              <a:t>	 -If nothing is specified, then available within the package</a:t>
            </a:r>
          </a:p>
          <a:p>
            <a:pPr marL="952500" lvl="1" indent="-495300">
              <a:lnSpc>
                <a:spcPct val="90000"/>
              </a:lnSpc>
              <a:buFont typeface="Wingdings" panose="05000000000000000000" pitchFamily="2" charset="2"/>
              <a:buNone/>
            </a:pPr>
            <a:r>
              <a:rPr lang="en-US" altLang="en-US" sz="2000">
                <a:latin typeface="Times New Roman" panose="02020603050405020304" pitchFamily="18" charset="0"/>
              </a:rPr>
              <a:t>	- Default access control. </a:t>
            </a:r>
          </a:p>
          <a:p>
            <a:pPr marL="952500" lvl="1" indent="-495300">
              <a:lnSpc>
                <a:spcPct val="90000"/>
              </a:lnSpc>
              <a:buFont typeface="Wingdings" panose="05000000000000000000" pitchFamily="2" charset="2"/>
              <a:buNone/>
            </a:pPr>
            <a:r>
              <a:rPr lang="en-US" altLang="en-US" sz="2000">
                <a:latin typeface="Times New Roman" panose="02020603050405020304" pitchFamily="18" charset="0"/>
              </a:rPr>
              <a:t>2. Public:</a:t>
            </a:r>
          </a:p>
          <a:p>
            <a:pPr marL="952500" lvl="1" indent="-495300">
              <a:lnSpc>
                <a:spcPct val="90000"/>
              </a:lnSpc>
              <a:buFont typeface="Wingdings" panose="05000000000000000000" pitchFamily="2" charset="2"/>
              <a:buNone/>
            </a:pPr>
            <a:r>
              <a:rPr lang="en-US" altLang="en-US" sz="2000">
                <a:latin typeface="Times New Roman" panose="02020603050405020304" pitchFamily="18" charset="0"/>
              </a:rPr>
              <a:t>	-Can be accessed by other if explicitly specified </a:t>
            </a:r>
          </a:p>
          <a:p>
            <a:pPr marL="952500" lvl="1" indent="-495300">
              <a:lnSpc>
                <a:spcPct val="90000"/>
              </a:lnSpc>
              <a:buFont typeface="Wingdings" panose="05000000000000000000" pitchFamily="2" charset="2"/>
              <a:buNone/>
            </a:pPr>
            <a:r>
              <a:rPr lang="en-US" altLang="en-US" sz="2000">
                <a:latin typeface="Times New Roman" panose="02020603050405020304" pitchFamily="18" charset="0"/>
              </a:rPr>
              <a:t>3. Private</a:t>
            </a:r>
          </a:p>
          <a:p>
            <a:pPr marL="952500" lvl="1" indent="-495300">
              <a:lnSpc>
                <a:spcPct val="90000"/>
              </a:lnSpc>
              <a:buFont typeface="Wingdings" panose="05000000000000000000" pitchFamily="2" charset="2"/>
              <a:buNone/>
            </a:pPr>
            <a:r>
              <a:rPr lang="en-US" altLang="en-US" sz="2000">
                <a:latin typeface="Times New Roman" panose="02020603050405020304" pitchFamily="18" charset="0"/>
              </a:rPr>
              <a:t>	-Can be accessed by other members of it’s class.</a:t>
            </a:r>
          </a:p>
          <a:p>
            <a:pPr marL="952500" lvl="1" indent="-495300">
              <a:lnSpc>
                <a:spcPct val="90000"/>
              </a:lnSpc>
              <a:buFont typeface="Wingdings" panose="05000000000000000000" pitchFamily="2" charset="2"/>
              <a:buNone/>
            </a:pPr>
            <a:r>
              <a:rPr lang="en-US" altLang="en-US" sz="2000">
                <a:latin typeface="Times New Roman" panose="02020603050405020304" pitchFamily="18" charset="0"/>
              </a:rPr>
              <a:t>4. Protected</a:t>
            </a:r>
          </a:p>
          <a:p>
            <a:pPr marL="952500" lvl="1" indent="-495300">
              <a:lnSpc>
                <a:spcPct val="90000"/>
              </a:lnSpc>
              <a:buFont typeface="Wingdings" panose="05000000000000000000" pitchFamily="2" charset="2"/>
              <a:buNone/>
            </a:pPr>
            <a:r>
              <a:rPr lang="en-US" altLang="en-US" sz="2000">
                <a:latin typeface="Times New Roman" panose="02020603050405020304" pitchFamily="18" charset="0"/>
              </a:rPr>
              <a:t>	- Used only when inheritance is involved.</a:t>
            </a:r>
          </a:p>
          <a:p>
            <a:pPr marL="952500" lvl="1" indent="-495300">
              <a:lnSpc>
                <a:spcPct val="90000"/>
              </a:lnSpc>
              <a:buFont typeface="Wingdings" panose="05000000000000000000" pitchFamily="2" charset="2"/>
              <a:buNone/>
            </a:pPr>
            <a:endParaRPr lang="en-US" altLang="en-US" sz="2000">
              <a:latin typeface="Times New Roman" panose="02020603050405020304" pitchFamily="18" charset="0"/>
            </a:endParaRPr>
          </a:p>
        </p:txBody>
      </p:sp>
      <p:sp>
        <p:nvSpPr>
          <p:cNvPr id="2" name="Date Placeholder 1"/>
          <p:cNvSpPr>
            <a:spLocks noGrp="1"/>
          </p:cNvSpPr>
          <p:nvPr>
            <p:ph type="dt" sz="half" idx="10"/>
          </p:nvPr>
        </p:nvSpPr>
        <p:spPr/>
        <p:txBody>
          <a:bodyPr/>
          <a:lstStyle/>
          <a:p>
            <a:fld id="{B9526D82-EA05-44D4-99D5-5ADC9D4F4B23}"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A2797038-AD64-4C97-BB0B-56363D18F42C}" type="slidenum">
              <a:rPr lang="en-US" altLang="en-US" smtClean="0"/>
              <a:pPr/>
              <a:t>44</a:t>
            </a:fld>
            <a:endParaRPr lang="en-US" altLang="en-US"/>
          </a:p>
        </p:txBody>
      </p:sp>
    </p:spTree>
    <p:extLst>
      <p:ext uri="{BB962C8B-B14F-4D97-AF65-F5344CB8AC3E}">
        <p14:creationId xmlns:p14="http://schemas.microsoft.com/office/powerpoint/2010/main" val="22983165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457200" y="274638"/>
            <a:ext cx="8229600" cy="639762"/>
          </a:xfrm>
        </p:spPr>
        <p:txBody>
          <a:bodyPr/>
          <a:lstStyle/>
          <a:p>
            <a:r>
              <a:rPr lang="en-US" altLang="en-US" sz="4000" b="1">
                <a:latin typeface="Times New Roman" panose="02020603050405020304" pitchFamily="18" charset="0"/>
              </a:rPr>
              <a:t>Example-Access Control</a:t>
            </a:r>
          </a:p>
        </p:txBody>
      </p:sp>
      <p:sp>
        <p:nvSpPr>
          <p:cNvPr id="27652" name="Rectangle 4"/>
          <p:cNvSpPr>
            <a:spLocks noGrp="1" noChangeArrowheads="1"/>
          </p:cNvSpPr>
          <p:nvPr>
            <p:ph type="body" sz="half" idx="1"/>
          </p:nvPr>
        </p:nvSpPr>
        <p:spPr>
          <a:xfrm>
            <a:off x="304800" y="1143000"/>
            <a:ext cx="4186238" cy="4983163"/>
          </a:xfrm>
        </p:spPr>
        <p:txBody>
          <a:bodyPr/>
          <a:lstStyle/>
          <a:p>
            <a:pPr>
              <a:lnSpc>
                <a:spcPct val="90000"/>
              </a:lnSpc>
              <a:buFontTx/>
              <a:buNone/>
            </a:pPr>
            <a:r>
              <a:rPr lang="en-US" altLang="en-US" sz="2400">
                <a:latin typeface="Times New Roman" panose="02020603050405020304" pitchFamily="18" charset="0"/>
              </a:rPr>
              <a:t>class test</a:t>
            </a:r>
          </a:p>
          <a:p>
            <a:pPr>
              <a:lnSpc>
                <a:spcPct val="90000"/>
              </a:lnSpc>
              <a:buFontTx/>
              <a:buNone/>
            </a:pPr>
            <a:r>
              <a:rPr lang="en-US" altLang="en-US" sz="2400">
                <a:latin typeface="Times New Roman" panose="02020603050405020304" pitchFamily="18" charset="0"/>
              </a:rPr>
              <a:t>{</a:t>
            </a:r>
          </a:p>
          <a:p>
            <a:pPr>
              <a:lnSpc>
                <a:spcPct val="90000"/>
              </a:lnSpc>
              <a:buFontTx/>
              <a:buNone/>
            </a:pPr>
            <a:r>
              <a:rPr lang="en-US" altLang="en-US" sz="2400">
                <a:latin typeface="Times New Roman" panose="02020603050405020304" pitchFamily="18" charset="0"/>
              </a:rPr>
              <a:t>	int a;</a:t>
            </a:r>
          </a:p>
          <a:p>
            <a:pPr>
              <a:lnSpc>
                <a:spcPct val="90000"/>
              </a:lnSpc>
              <a:buFontTx/>
              <a:buNone/>
            </a:pPr>
            <a:r>
              <a:rPr lang="en-US" altLang="en-US" sz="2400">
                <a:latin typeface="Times New Roman" panose="02020603050405020304" pitchFamily="18" charset="0"/>
              </a:rPr>
              <a:t>	public int b;</a:t>
            </a:r>
          </a:p>
          <a:p>
            <a:pPr>
              <a:lnSpc>
                <a:spcPct val="90000"/>
              </a:lnSpc>
              <a:buFontTx/>
              <a:buNone/>
            </a:pPr>
            <a:r>
              <a:rPr lang="en-US" altLang="en-US" sz="2400">
                <a:latin typeface="Times New Roman" panose="02020603050405020304" pitchFamily="18" charset="0"/>
              </a:rPr>
              <a:t>	private int c;</a:t>
            </a:r>
          </a:p>
          <a:p>
            <a:pPr>
              <a:lnSpc>
                <a:spcPct val="90000"/>
              </a:lnSpc>
              <a:buFontTx/>
              <a:buNone/>
            </a:pPr>
            <a:r>
              <a:rPr lang="en-US" altLang="en-US" sz="2400">
                <a:latin typeface="Times New Roman" panose="02020603050405020304" pitchFamily="18" charset="0"/>
              </a:rPr>
              <a:t>	void setc(int i)</a:t>
            </a:r>
          </a:p>
          <a:p>
            <a:pPr>
              <a:lnSpc>
                <a:spcPct val="90000"/>
              </a:lnSpc>
              <a:buFontTx/>
              <a:buNone/>
            </a:pPr>
            <a:r>
              <a:rPr lang="en-US" altLang="en-US" sz="2400">
                <a:latin typeface="Times New Roman" panose="02020603050405020304" pitchFamily="18" charset="0"/>
              </a:rPr>
              <a:t>	{ c= i; }</a:t>
            </a:r>
          </a:p>
          <a:p>
            <a:pPr>
              <a:lnSpc>
                <a:spcPct val="90000"/>
              </a:lnSpc>
              <a:buFontTx/>
              <a:buNone/>
            </a:pPr>
            <a:r>
              <a:rPr lang="en-US" altLang="en-US" sz="2400">
                <a:latin typeface="Times New Roman" panose="02020603050405020304" pitchFamily="18" charset="0"/>
              </a:rPr>
              <a:t>	int getc()</a:t>
            </a:r>
          </a:p>
          <a:p>
            <a:pPr>
              <a:lnSpc>
                <a:spcPct val="90000"/>
              </a:lnSpc>
              <a:buFontTx/>
              <a:buNone/>
            </a:pPr>
            <a:r>
              <a:rPr lang="en-US" altLang="en-US" sz="2400">
                <a:latin typeface="Times New Roman" panose="02020603050405020304" pitchFamily="18" charset="0"/>
              </a:rPr>
              <a:t>	{ return c; }</a:t>
            </a:r>
          </a:p>
          <a:p>
            <a:pPr>
              <a:lnSpc>
                <a:spcPct val="90000"/>
              </a:lnSpc>
              <a:buFontTx/>
              <a:buNone/>
            </a:pPr>
            <a:r>
              <a:rPr lang="en-US" altLang="en-US" sz="2400">
                <a:latin typeface="Times New Roman" panose="02020603050405020304" pitchFamily="18" charset="0"/>
              </a:rPr>
              <a:t>}</a:t>
            </a:r>
          </a:p>
        </p:txBody>
      </p:sp>
      <p:sp>
        <p:nvSpPr>
          <p:cNvPr id="27653" name="Rectangle 5"/>
          <p:cNvSpPr>
            <a:spLocks noGrp="1" noChangeArrowheads="1"/>
          </p:cNvSpPr>
          <p:nvPr>
            <p:ph type="body" sz="half" idx="2"/>
          </p:nvPr>
        </p:nvSpPr>
        <p:spPr>
          <a:xfrm>
            <a:off x="4038600" y="1143000"/>
            <a:ext cx="4953000" cy="4876800"/>
          </a:xfrm>
        </p:spPr>
        <p:txBody>
          <a:bodyPr/>
          <a:lstStyle/>
          <a:p>
            <a:pPr>
              <a:lnSpc>
                <a:spcPct val="90000"/>
              </a:lnSpc>
              <a:buFontTx/>
              <a:buNone/>
            </a:pPr>
            <a:r>
              <a:rPr lang="en-US" altLang="en-US" sz="2000">
                <a:latin typeface="Times New Roman" panose="02020603050405020304" pitchFamily="18" charset="0"/>
              </a:rPr>
              <a:t>class test1</a:t>
            </a:r>
          </a:p>
          <a:p>
            <a:pPr>
              <a:lnSpc>
                <a:spcPct val="90000"/>
              </a:lnSpc>
              <a:buFontTx/>
              <a:buNone/>
            </a:pPr>
            <a:r>
              <a:rPr lang="en-US" altLang="en-US" sz="2000">
                <a:latin typeface="Times New Roman" panose="02020603050405020304" pitchFamily="18" charset="0"/>
              </a:rPr>
              <a:t>{</a:t>
            </a:r>
          </a:p>
          <a:p>
            <a:pPr>
              <a:lnSpc>
                <a:spcPct val="90000"/>
              </a:lnSpc>
              <a:buFontTx/>
              <a:buNone/>
            </a:pPr>
            <a:r>
              <a:rPr lang="en-US" altLang="en-US" sz="2000">
                <a:latin typeface="Times New Roman" panose="02020603050405020304" pitchFamily="18" charset="0"/>
              </a:rPr>
              <a:t>	public static void main(String args[])</a:t>
            </a:r>
          </a:p>
          <a:p>
            <a:pPr>
              <a:lnSpc>
                <a:spcPct val="90000"/>
              </a:lnSpc>
              <a:buFontTx/>
              <a:buNone/>
            </a:pPr>
            <a:r>
              <a:rPr lang="en-US" altLang="en-US" sz="2000">
                <a:latin typeface="Times New Roman" panose="02020603050405020304" pitchFamily="18" charset="0"/>
              </a:rPr>
              <a:t>	{</a:t>
            </a:r>
          </a:p>
          <a:p>
            <a:pPr>
              <a:lnSpc>
                <a:spcPct val="90000"/>
              </a:lnSpc>
              <a:buFontTx/>
              <a:buNone/>
            </a:pPr>
            <a:r>
              <a:rPr lang="en-US" altLang="en-US" sz="2000">
                <a:latin typeface="Times New Roman" panose="02020603050405020304" pitchFamily="18" charset="0"/>
              </a:rPr>
              <a:t>		test ob = new test();</a:t>
            </a:r>
          </a:p>
          <a:p>
            <a:pPr>
              <a:lnSpc>
                <a:spcPct val="90000"/>
              </a:lnSpc>
              <a:buFontTx/>
              <a:buNone/>
            </a:pPr>
            <a:r>
              <a:rPr lang="en-US" altLang="en-US" sz="2000">
                <a:latin typeface="Times New Roman" panose="02020603050405020304" pitchFamily="18" charset="0"/>
              </a:rPr>
              <a:t>		ob. a =10;</a:t>
            </a:r>
          </a:p>
          <a:p>
            <a:pPr>
              <a:lnSpc>
                <a:spcPct val="90000"/>
              </a:lnSpc>
              <a:buFontTx/>
              <a:buNone/>
            </a:pPr>
            <a:r>
              <a:rPr lang="en-US" altLang="en-US" sz="2000">
                <a:latin typeface="Times New Roman" panose="02020603050405020304" pitchFamily="18" charset="0"/>
              </a:rPr>
              <a:t>		ob. b =20;</a:t>
            </a:r>
          </a:p>
          <a:p>
            <a:pPr>
              <a:lnSpc>
                <a:spcPct val="90000"/>
              </a:lnSpc>
              <a:buFontTx/>
              <a:buNone/>
            </a:pPr>
            <a:r>
              <a:rPr lang="en-US" altLang="en-US" sz="2000">
                <a:latin typeface="Times New Roman" panose="02020603050405020304" pitchFamily="18" charset="0"/>
              </a:rPr>
              <a:t>		ob.c = 12;   //Error</a:t>
            </a:r>
          </a:p>
          <a:p>
            <a:pPr>
              <a:lnSpc>
                <a:spcPct val="90000"/>
              </a:lnSpc>
              <a:buFontTx/>
              <a:buNone/>
            </a:pPr>
            <a:r>
              <a:rPr lang="en-US" altLang="en-US" sz="2000">
                <a:latin typeface="Times New Roman" panose="02020603050405020304" pitchFamily="18" charset="0"/>
              </a:rPr>
              <a:t>		ob.setc(12);</a:t>
            </a:r>
          </a:p>
          <a:p>
            <a:pPr>
              <a:lnSpc>
                <a:spcPct val="90000"/>
              </a:lnSpc>
              <a:buFontTx/>
              <a:buNone/>
            </a:pPr>
            <a:r>
              <a:rPr lang="en-US" altLang="en-US" sz="2000">
                <a:latin typeface="Times New Roman" panose="02020603050405020304" pitchFamily="18" charset="0"/>
              </a:rPr>
              <a:t>		System.out.println(ob. a +” “ + ob.b);</a:t>
            </a:r>
          </a:p>
          <a:p>
            <a:pPr>
              <a:lnSpc>
                <a:spcPct val="90000"/>
              </a:lnSpc>
              <a:buFontTx/>
              <a:buNone/>
            </a:pPr>
            <a:r>
              <a:rPr lang="en-US" altLang="en-US" sz="2000">
                <a:latin typeface="Times New Roman" panose="02020603050405020304" pitchFamily="18" charset="0"/>
              </a:rPr>
              <a:t>		System.out.println(ob. getc());</a:t>
            </a:r>
          </a:p>
          <a:p>
            <a:pPr>
              <a:lnSpc>
                <a:spcPct val="90000"/>
              </a:lnSpc>
              <a:buFontTx/>
              <a:buNone/>
            </a:pPr>
            <a:endParaRPr lang="en-US" altLang="en-US" sz="2000">
              <a:latin typeface="Times New Roman" panose="02020603050405020304" pitchFamily="18" charset="0"/>
            </a:endParaRPr>
          </a:p>
          <a:p>
            <a:pPr>
              <a:lnSpc>
                <a:spcPct val="90000"/>
              </a:lnSpc>
              <a:buFontTx/>
              <a:buNone/>
            </a:pPr>
            <a:r>
              <a:rPr lang="en-US" altLang="en-US" sz="2000">
                <a:latin typeface="Times New Roman" panose="02020603050405020304" pitchFamily="18" charset="0"/>
              </a:rPr>
              <a:t>	}</a:t>
            </a:r>
          </a:p>
          <a:p>
            <a:pPr>
              <a:lnSpc>
                <a:spcPct val="90000"/>
              </a:lnSpc>
              <a:buFontTx/>
              <a:buNone/>
            </a:pPr>
            <a:r>
              <a:rPr lang="en-US" altLang="en-US" sz="2000">
                <a:latin typeface="Times New Roman" panose="02020603050405020304" pitchFamily="18" charset="0"/>
              </a:rPr>
              <a:t>}</a:t>
            </a:r>
          </a:p>
        </p:txBody>
      </p:sp>
      <p:sp>
        <p:nvSpPr>
          <p:cNvPr id="2" name="Date Placeholder 1"/>
          <p:cNvSpPr>
            <a:spLocks noGrp="1"/>
          </p:cNvSpPr>
          <p:nvPr>
            <p:ph type="dt" sz="half" idx="10"/>
          </p:nvPr>
        </p:nvSpPr>
        <p:spPr/>
        <p:txBody>
          <a:bodyPr/>
          <a:lstStyle/>
          <a:p>
            <a:fld id="{7CCA2C90-FE79-4CAB-BC98-D65EF3A7449B}"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537DE4E2-1CA0-4C5B-A02F-FEFF3DD9C080}" type="slidenum">
              <a:rPr lang="en-US" altLang="en-US" smtClean="0"/>
              <a:pPr/>
              <a:t>45</a:t>
            </a:fld>
            <a:endParaRPr lang="en-US" altLang="en-US"/>
          </a:p>
        </p:txBody>
      </p:sp>
    </p:spTree>
    <p:extLst>
      <p:ext uri="{BB962C8B-B14F-4D97-AF65-F5344CB8AC3E}">
        <p14:creationId xmlns:p14="http://schemas.microsoft.com/office/powerpoint/2010/main" val="312990535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7" name="Rectangle 1"/>
          <p:cNvSpPr>
            <a:spLocks noGrp="1" noChangeArrowheads="1"/>
          </p:cNvSpPr>
          <p:nvPr>
            <p:ph type="title"/>
          </p:nvPr>
        </p:nvSpPr>
        <p:spPr>
          <a:xfrm>
            <a:off x="457200" y="0"/>
            <a:ext cx="8229600" cy="792163"/>
          </a:xfrm>
          <a:ln/>
        </p:spPr>
        <p:txBody>
          <a:bodyPr lIns="92160" tIns="46080" rIns="92160" bIns="46080"/>
          <a:lstStyle/>
          <a:p>
            <a:pPr>
              <a:lnSpc>
                <a:spcPct val="100000"/>
              </a:lnSpc>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Times New Roman" panose="02020603050405020304" pitchFamily="18" charset="0"/>
              </a:rPr>
              <a:t>Static Variables</a:t>
            </a:r>
          </a:p>
        </p:txBody>
      </p:sp>
      <p:sp>
        <p:nvSpPr>
          <p:cNvPr id="4098" name="Rectangle 2"/>
          <p:cNvSpPr>
            <a:spLocks noGrp="1" noChangeArrowheads="1"/>
          </p:cNvSpPr>
          <p:nvPr>
            <p:ph type="body" idx="1"/>
          </p:nvPr>
        </p:nvSpPr>
        <p:spPr>
          <a:xfrm>
            <a:off x="381000" y="990600"/>
            <a:ext cx="8305800" cy="4800600"/>
          </a:xfrm>
          <a:ln/>
        </p:spPr>
        <p:txBody>
          <a:bodyPr lIns="92160" tIns="46080" rIns="92160" bIns="46080"/>
          <a:lstStyle/>
          <a:p>
            <a:pPr>
              <a:lnSpc>
                <a:spcPct val="90000"/>
              </a:lnSpc>
              <a:spcBef>
                <a:spcPts val="18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dirty="0">
                <a:latin typeface="Times New Roman" panose="02020603050405020304" pitchFamily="18" charset="0"/>
              </a:rPr>
              <a:t>Static variables are also called </a:t>
            </a:r>
            <a:r>
              <a:rPr lang="en-GB" altLang="en-US" sz="2400" i="1" dirty="0">
                <a:solidFill>
                  <a:srgbClr val="0000CC"/>
                </a:solidFill>
                <a:latin typeface="Times New Roman" panose="02020603050405020304" pitchFamily="18" charset="0"/>
              </a:rPr>
              <a:t>class variables</a:t>
            </a:r>
            <a:r>
              <a:rPr lang="en-GB" altLang="en-US" sz="2400" dirty="0">
                <a:latin typeface="Times New Roman" panose="02020603050405020304" pitchFamily="18" charset="0"/>
              </a:rPr>
              <a:t> </a:t>
            </a:r>
          </a:p>
          <a:p>
            <a:pPr>
              <a:lnSpc>
                <a:spcPct val="90000"/>
              </a:lnSpc>
              <a:spcBef>
                <a:spcPts val="18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dirty="0">
                <a:latin typeface="Times New Roman" panose="02020603050405020304" pitchFamily="18" charset="0"/>
              </a:rPr>
              <a:t>Normally, each object has its own data space, but if a variable is declared as static, only one copy of the variable exists</a:t>
            </a:r>
          </a:p>
          <a:p>
            <a:pPr>
              <a:lnSpc>
                <a:spcPct val="90000"/>
              </a:lnSpc>
              <a:spcBef>
                <a:spcPts val="18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dirty="0">
                <a:latin typeface="Times New Roman" panose="02020603050405020304" pitchFamily="18" charset="0"/>
              </a:rPr>
              <a:t>All objects created from the class share static variables</a:t>
            </a:r>
          </a:p>
          <a:p>
            <a:pPr>
              <a:lnSpc>
                <a:spcPct val="90000"/>
              </a:lnSpc>
              <a:spcBef>
                <a:spcPts val="18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dirty="0">
                <a:latin typeface="Times New Roman" panose="02020603050405020304" pitchFamily="18" charset="0"/>
              </a:rPr>
              <a:t>Changing the value of a static variable in one object changes it for all others</a:t>
            </a:r>
          </a:p>
          <a:p>
            <a:pPr>
              <a:lnSpc>
                <a:spcPct val="90000"/>
              </a:lnSpc>
              <a:spcBef>
                <a:spcPts val="18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dirty="0">
                <a:latin typeface="Times New Roman" panose="02020603050405020304" pitchFamily="18" charset="0"/>
              </a:rPr>
              <a:t>It can be accessed before any objects of its class created and without any reference to any object.</a:t>
            </a:r>
          </a:p>
          <a:p>
            <a:pPr>
              <a:lnSpc>
                <a:spcPct val="90000"/>
              </a:lnSpc>
              <a:spcBef>
                <a:spcPts val="18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dirty="0">
                <a:latin typeface="Times New Roman" panose="02020603050405020304" pitchFamily="18" charset="0"/>
              </a:rPr>
              <a:t>Precede the declaration with the keyword </a:t>
            </a:r>
            <a:r>
              <a:rPr lang="en-GB" altLang="en-US" sz="2400" b="1" dirty="0">
                <a:latin typeface="Times New Roman" panose="02020603050405020304" pitchFamily="18" charset="0"/>
              </a:rPr>
              <a:t>static</a:t>
            </a:r>
            <a:r>
              <a:rPr lang="en-GB" altLang="en-US" sz="2400" dirty="0">
                <a:latin typeface="Times New Roman" panose="02020603050405020304" pitchFamily="18" charset="0"/>
              </a:rPr>
              <a:t>.  </a:t>
            </a:r>
          </a:p>
          <a:p>
            <a:pPr>
              <a:lnSpc>
                <a:spcPct val="90000"/>
              </a:lnSpc>
              <a:spcBef>
                <a:spcPts val="18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dirty="0">
                <a:latin typeface="Times New Roman" panose="02020603050405020304" pitchFamily="18" charset="0"/>
              </a:rPr>
              <a:t>Example: static int a =3;</a:t>
            </a:r>
          </a:p>
        </p:txBody>
      </p:sp>
      <p:sp>
        <p:nvSpPr>
          <p:cNvPr id="2" name="Date Placeholder 1"/>
          <p:cNvSpPr>
            <a:spLocks noGrp="1"/>
          </p:cNvSpPr>
          <p:nvPr>
            <p:ph type="dt" idx="10"/>
          </p:nvPr>
        </p:nvSpPr>
        <p:spPr/>
        <p:txBody>
          <a:bodyPr/>
          <a:lstStyle/>
          <a:p>
            <a:fld id="{DF3A779A-72E2-4C93-81F7-EF431552BCA0}" type="datetime1">
              <a:rPr lang="en-US" altLang="en-US" smtClean="0"/>
              <a:pPr/>
              <a:t>9/17/25</a:t>
            </a:fld>
            <a:endParaRPr lang="en-GB" altLang="en-US"/>
          </a:p>
        </p:txBody>
      </p:sp>
      <p:sp>
        <p:nvSpPr>
          <p:cNvPr id="3" name="Slide Number Placeholder 2"/>
          <p:cNvSpPr>
            <a:spLocks noGrp="1"/>
          </p:cNvSpPr>
          <p:nvPr>
            <p:ph type="sldNum" idx="12"/>
          </p:nvPr>
        </p:nvSpPr>
        <p:spPr/>
        <p:txBody>
          <a:bodyPr/>
          <a:lstStyle/>
          <a:p>
            <a:fld id="{14A5F247-8C61-4455-A097-17F3E365C121}" type="slidenum">
              <a:rPr lang="en-GB" altLang="en-US" smtClean="0"/>
              <a:pPr/>
              <a:t>46</a:t>
            </a:fld>
            <a:endParaRPr lang="en-GB" altLang="en-US"/>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1"/>
          <p:cNvSpPr>
            <a:spLocks noGrp="1" noChangeArrowheads="1"/>
          </p:cNvSpPr>
          <p:nvPr>
            <p:ph type="title"/>
          </p:nvPr>
        </p:nvSpPr>
        <p:spPr>
          <a:xfrm>
            <a:off x="457200" y="274638"/>
            <a:ext cx="8229600" cy="1143000"/>
          </a:xfrm>
          <a:ln/>
        </p:spPr>
        <p:txBody>
          <a:bodyPr/>
          <a:lstStyle/>
          <a:p>
            <a:pPr>
              <a:lnSpc>
                <a:spcPct val="100000"/>
              </a:lnSpc>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Times New Roman" panose="02020603050405020304" pitchFamily="18" charset="0"/>
              </a:rPr>
              <a:t>Example</a:t>
            </a:r>
          </a:p>
        </p:txBody>
      </p:sp>
      <p:sp>
        <p:nvSpPr>
          <p:cNvPr id="5122" name="Rectangle 2"/>
          <p:cNvSpPr>
            <a:spLocks noGrp="1" noChangeArrowheads="1"/>
          </p:cNvSpPr>
          <p:nvPr>
            <p:ph type="body" idx="1"/>
          </p:nvPr>
        </p:nvSpPr>
        <p:spPr>
          <a:xfrm>
            <a:off x="457200" y="1600200"/>
            <a:ext cx="4038600" cy="4525963"/>
          </a:xfrm>
          <a:ln/>
        </p:spPr>
        <p:txBody>
          <a:bodyPr/>
          <a:lstStyle/>
          <a:p>
            <a:pPr marL="531813" indent="-531813">
              <a:lnSpc>
                <a:spcPct val="90000"/>
              </a:lnSpc>
              <a:spcBef>
                <a:spcPts val="600"/>
              </a:spcBef>
              <a:buFont typeface="Times New Roman" panose="02020603050405020304" pitchFamily="18" charset="0"/>
              <a:buNone/>
              <a:tabLst>
                <a:tab pos="1101725" algn="l"/>
                <a:tab pos="2016125" algn="l"/>
                <a:tab pos="2930525" algn="l"/>
                <a:tab pos="3844925" algn="l"/>
                <a:tab pos="4759325" algn="l"/>
                <a:tab pos="5673725" algn="l"/>
                <a:tab pos="6588125" algn="l"/>
                <a:tab pos="7502525" algn="l"/>
                <a:tab pos="8416925" algn="l"/>
                <a:tab pos="9331325" algn="l"/>
                <a:tab pos="10245725" algn="l"/>
              </a:tabLst>
            </a:pPr>
            <a:r>
              <a:rPr lang="en-GB" altLang="en-US" sz="2400">
                <a:latin typeface="Times New Roman" panose="02020603050405020304" pitchFamily="18" charset="0"/>
              </a:rPr>
              <a:t>class test{</a:t>
            </a:r>
          </a:p>
          <a:p>
            <a:pPr marL="531813" indent="-531813">
              <a:lnSpc>
                <a:spcPct val="90000"/>
              </a:lnSpc>
              <a:spcBef>
                <a:spcPts val="600"/>
              </a:spcBef>
              <a:buFont typeface="Times New Roman" panose="02020603050405020304" pitchFamily="18" charset="0"/>
              <a:buNone/>
              <a:tabLst>
                <a:tab pos="1101725" algn="l"/>
                <a:tab pos="2016125" algn="l"/>
                <a:tab pos="2930525" algn="l"/>
                <a:tab pos="3844925" algn="l"/>
                <a:tab pos="4759325" algn="l"/>
                <a:tab pos="5673725" algn="l"/>
                <a:tab pos="6588125" algn="l"/>
                <a:tab pos="7502525" algn="l"/>
                <a:tab pos="8416925" algn="l"/>
                <a:tab pos="9331325" algn="l"/>
                <a:tab pos="10245725" algn="l"/>
              </a:tabLst>
            </a:pPr>
            <a:r>
              <a:rPr lang="en-GB" altLang="en-US" sz="2400">
                <a:latin typeface="Times New Roman" panose="02020603050405020304" pitchFamily="18" charset="0"/>
              </a:rPr>
              <a:t>	static int a = 20;</a:t>
            </a:r>
          </a:p>
          <a:p>
            <a:pPr marL="531813" indent="-531813">
              <a:lnSpc>
                <a:spcPct val="90000"/>
              </a:lnSpc>
              <a:spcBef>
                <a:spcPts val="600"/>
              </a:spcBef>
              <a:buFont typeface="Times New Roman" panose="02020603050405020304" pitchFamily="18" charset="0"/>
              <a:buNone/>
              <a:tabLst>
                <a:tab pos="1101725" algn="l"/>
                <a:tab pos="2016125" algn="l"/>
                <a:tab pos="2930525" algn="l"/>
                <a:tab pos="3844925" algn="l"/>
                <a:tab pos="4759325" algn="l"/>
                <a:tab pos="5673725" algn="l"/>
                <a:tab pos="6588125" algn="l"/>
                <a:tab pos="7502525" algn="l"/>
                <a:tab pos="8416925" algn="l"/>
                <a:tab pos="9331325" algn="l"/>
                <a:tab pos="10245725" algn="l"/>
              </a:tabLst>
            </a:pPr>
            <a:r>
              <a:rPr lang="en-GB" altLang="en-US" sz="2400">
                <a:latin typeface="Times New Roman" panose="02020603050405020304" pitchFamily="18" charset="0"/>
              </a:rPr>
              <a:t>}</a:t>
            </a:r>
          </a:p>
          <a:p>
            <a:pPr marL="531813" indent="-531813">
              <a:lnSpc>
                <a:spcPct val="90000"/>
              </a:lnSpc>
              <a:spcBef>
                <a:spcPts val="600"/>
              </a:spcBef>
              <a:buFont typeface="Times New Roman" panose="02020603050405020304" pitchFamily="18" charset="0"/>
              <a:buNone/>
              <a:tabLst>
                <a:tab pos="1101725" algn="l"/>
                <a:tab pos="2016125" algn="l"/>
                <a:tab pos="2930525" algn="l"/>
                <a:tab pos="3844925" algn="l"/>
                <a:tab pos="4759325" algn="l"/>
                <a:tab pos="5673725" algn="l"/>
                <a:tab pos="6588125" algn="l"/>
                <a:tab pos="7502525" algn="l"/>
                <a:tab pos="8416925" algn="l"/>
                <a:tab pos="9331325" algn="l"/>
                <a:tab pos="10245725" algn="l"/>
              </a:tabLst>
            </a:pPr>
            <a:r>
              <a:rPr lang="en-GB" altLang="en-US" sz="2400" u="sng">
                <a:latin typeface="Times New Roman" panose="02020603050405020304" pitchFamily="18" charset="0"/>
              </a:rPr>
              <a:t>Output:</a:t>
            </a:r>
          </a:p>
          <a:p>
            <a:pPr marL="531813" indent="-531813">
              <a:lnSpc>
                <a:spcPct val="90000"/>
              </a:lnSpc>
              <a:spcBef>
                <a:spcPts val="600"/>
              </a:spcBef>
              <a:buFont typeface="Times New Roman" panose="02020603050405020304" pitchFamily="18" charset="0"/>
              <a:buAutoNum type="arabicPlain"/>
              <a:tabLst>
                <a:tab pos="1101725" algn="l"/>
                <a:tab pos="2016125" algn="l"/>
                <a:tab pos="2930525" algn="l"/>
                <a:tab pos="3844925" algn="l"/>
                <a:tab pos="4759325" algn="l"/>
                <a:tab pos="5673725" algn="l"/>
                <a:tab pos="6588125" algn="l"/>
                <a:tab pos="7502525" algn="l"/>
                <a:tab pos="8416925" algn="l"/>
                <a:tab pos="9331325" algn="l"/>
                <a:tab pos="10245725" algn="l"/>
              </a:tabLst>
            </a:pPr>
            <a:r>
              <a:rPr lang="en-GB" altLang="en-US" sz="2400">
                <a:latin typeface="Times New Roman" panose="02020603050405020304" pitchFamily="18" charset="0"/>
              </a:rPr>
              <a:t>-&gt;test.a</a:t>
            </a:r>
          </a:p>
          <a:p>
            <a:pPr marL="531813" indent="-531813">
              <a:lnSpc>
                <a:spcPct val="90000"/>
              </a:lnSpc>
              <a:spcBef>
                <a:spcPts val="600"/>
              </a:spcBef>
              <a:buFont typeface="Times New Roman" panose="02020603050405020304" pitchFamily="18" charset="0"/>
              <a:buNone/>
              <a:tabLst>
                <a:tab pos="1101725" algn="l"/>
                <a:tab pos="2016125" algn="l"/>
                <a:tab pos="2930525" algn="l"/>
                <a:tab pos="3844925" algn="l"/>
                <a:tab pos="4759325" algn="l"/>
                <a:tab pos="5673725" algn="l"/>
                <a:tab pos="6588125" algn="l"/>
                <a:tab pos="7502525" algn="l"/>
                <a:tab pos="8416925" algn="l"/>
                <a:tab pos="9331325" algn="l"/>
                <a:tab pos="10245725" algn="l"/>
              </a:tabLst>
            </a:pPr>
            <a:r>
              <a:rPr lang="en-GB" altLang="en-US" sz="2400">
                <a:latin typeface="Times New Roman" panose="02020603050405020304" pitchFamily="18" charset="0"/>
              </a:rPr>
              <a:t>20	-&gt;ob1.a</a:t>
            </a:r>
          </a:p>
          <a:p>
            <a:pPr marL="531813" indent="-531813">
              <a:lnSpc>
                <a:spcPct val="90000"/>
              </a:lnSpc>
              <a:spcBef>
                <a:spcPts val="600"/>
              </a:spcBef>
              <a:buFont typeface="Times New Roman" panose="02020603050405020304" pitchFamily="18" charset="0"/>
              <a:buNone/>
              <a:tabLst>
                <a:tab pos="1101725" algn="l"/>
                <a:tab pos="2016125" algn="l"/>
                <a:tab pos="2930525" algn="l"/>
                <a:tab pos="3844925" algn="l"/>
                <a:tab pos="4759325" algn="l"/>
                <a:tab pos="5673725" algn="l"/>
                <a:tab pos="6588125" algn="l"/>
                <a:tab pos="7502525" algn="l"/>
                <a:tab pos="8416925" algn="l"/>
                <a:tab pos="9331325" algn="l"/>
                <a:tab pos="10245725" algn="l"/>
              </a:tabLst>
            </a:pPr>
            <a:r>
              <a:rPr lang="en-GB" altLang="en-US" sz="2400">
                <a:latin typeface="Times New Roman" panose="02020603050405020304" pitchFamily="18" charset="0"/>
              </a:rPr>
              <a:t>20	-&gt;ob2.a</a:t>
            </a:r>
          </a:p>
          <a:p>
            <a:pPr marL="531813" indent="-531813">
              <a:lnSpc>
                <a:spcPct val="90000"/>
              </a:lnSpc>
              <a:spcBef>
                <a:spcPts val="600"/>
              </a:spcBef>
              <a:buFont typeface="Times New Roman" panose="02020603050405020304" pitchFamily="18" charset="0"/>
              <a:buNone/>
              <a:tabLst>
                <a:tab pos="1101725" algn="l"/>
                <a:tab pos="2016125" algn="l"/>
                <a:tab pos="2930525" algn="l"/>
                <a:tab pos="3844925" algn="l"/>
                <a:tab pos="4759325" algn="l"/>
                <a:tab pos="5673725" algn="l"/>
                <a:tab pos="6588125" algn="l"/>
                <a:tab pos="7502525" algn="l"/>
                <a:tab pos="8416925" algn="l"/>
                <a:tab pos="9331325" algn="l"/>
                <a:tab pos="10245725" algn="l"/>
              </a:tabLst>
            </a:pPr>
            <a:r>
              <a:rPr lang="en-GB" altLang="en-US" sz="2400">
                <a:latin typeface="Times New Roman" panose="02020603050405020304" pitchFamily="18" charset="0"/>
              </a:rPr>
              <a:t>25	-&gt;ob1.a</a:t>
            </a:r>
          </a:p>
          <a:p>
            <a:pPr marL="531813" indent="-531813">
              <a:lnSpc>
                <a:spcPct val="90000"/>
              </a:lnSpc>
              <a:spcBef>
                <a:spcPts val="600"/>
              </a:spcBef>
              <a:buFont typeface="Times New Roman" panose="02020603050405020304" pitchFamily="18" charset="0"/>
              <a:buNone/>
              <a:tabLst>
                <a:tab pos="1101725" algn="l"/>
                <a:tab pos="2016125" algn="l"/>
                <a:tab pos="2930525" algn="l"/>
                <a:tab pos="3844925" algn="l"/>
                <a:tab pos="4759325" algn="l"/>
                <a:tab pos="5673725" algn="l"/>
                <a:tab pos="6588125" algn="l"/>
                <a:tab pos="7502525" algn="l"/>
                <a:tab pos="8416925" algn="l"/>
                <a:tab pos="9331325" algn="l"/>
                <a:tab pos="10245725" algn="l"/>
              </a:tabLst>
            </a:pPr>
            <a:r>
              <a:rPr lang="en-GB" altLang="en-US" sz="2400">
                <a:latin typeface="Times New Roman" panose="02020603050405020304" pitchFamily="18" charset="0"/>
              </a:rPr>
              <a:t>25	-&gt;ob2.a</a:t>
            </a:r>
          </a:p>
        </p:txBody>
      </p:sp>
      <p:sp>
        <p:nvSpPr>
          <p:cNvPr id="5123" name="Rectangle 3"/>
          <p:cNvSpPr>
            <a:spLocks noGrp="1" noChangeArrowheads="1"/>
          </p:cNvSpPr>
          <p:nvPr>
            <p:ph type="body" idx="2"/>
          </p:nvPr>
        </p:nvSpPr>
        <p:spPr>
          <a:xfrm>
            <a:off x="4648200" y="1600200"/>
            <a:ext cx="4038600" cy="4525963"/>
          </a:xfrm>
          <a:ln/>
        </p:spPr>
        <p:txBody>
          <a:bodyPr/>
          <a:lstStyle/>
          <a:p>
            <a:pPr>
              <a:lnSpc>
                <a:spcPct val="90000"/>
              </a:lnSpc>
              <a:spcBef>
                <a:spcPts val="6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a:latin typeface="Times New Roman" panose="02020603050405020304" pitchFamily="18" charset="0"/>
              </a:rPr>
              <a:t>class test1</a:t>
            </a:r>
          </a:p>
          <a:p>
            <a:pPr>
              <a:lnSpc>
                <a:spcPct val="90000"/>
              </a:lnSpc>
              <a:spcBef>
                <a:spcPts val="6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a:latin typeface="Times New Roman" panose="02020603050405020304" pitchFamily="18" charset="0"/>
              </a:rPr>
              <a:t>{</a:t>
            </a:r>
          </a:p>
          <a:p>
            <a:pPr>
              <a:lnSpc>
                <a:spcPct val="90000"/>
              </a:lnSpc>
              <a:spcBef>
                <a:spcPts val="6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a:latin typeface="Times New Roman" panose="02020603050405020304" pitchFamily="18" charset="0"/>
              </a:rPr>
              <a:t>public static void main(String args[])</a:t>
            </a:r>
          </a:p>
          <a:p>
            <a:pPr>
              <a:lnSpc>
                <a:spcPct val="90000"/>
              </a:lnSpc>
              <a:spcBef>
                <a:spcPts val="6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a:latin typeface="Times New Roman" panose="02020603050405020304" pitchFamily="18" charset="0"/>
              </a:rPr>
              <a:t>{</a:t>
            </a:r>
          </a:p>
          <a:p>
            <a:pPr>
              <a:lnSpc>
                <a:spcPct val="90000"/>
              </a:lnSpc>
              <a:spcBef>
                <a:spcPts val="6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a:latin typeface="Times New Roman" panose="02020603050405020304" pitchFamily="18" charset="0"/>
              </a:rPr>
              <a:t>	System.out.println(test.a);</a:t>
            </a:r>
          </a:p>
          <a:p>
            <a:pPr>
              <a:lnSpc>
                <a:spcPct val="90000"/>
              </a:lnSpc>
              <a:spcBef>
                <a:spcPts val="6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a:latin typeface="Times New Roman" panose="02020603050405020304" pitchFamily="18" charset="0"/>
              </a:rPr>
              <a:t>	test ob1 = new test();</a:t>
            </a:r>
          </a:p>
          <a:p>
            <a:pPr>
              <a:lnSpc>
                <a:spcPct val="90000"/>
              </a:lnSpc>
              <a:spcBef>
                <a:spcPts val="6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a:latin typeface="Times New Roman" panose="02020603050405020304" pitchFamily="18" charset="0"/>
              </a:rPr>
              <a:t>	test ob2 = new test();</a:t>
            </a:r>
          </a:p>
          <a:p>
            <a:pPr>
              <a:lnSpc>
                <a:spcPct val="90000"/>
              </a:lnSpc>
              <a:spcBef>
                <a:spcPts val="6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a:latin typeface="Times New Roman" panose="02020603050405020304" pitchFamily="18" charset="0"/>
              </a:rPr>
              <a:t>	System.out.println(ob1.a);</a:t>
            </a:r>
          </a:p>
          <a:p>
            <a:pPr>
              <a:lnSpc>
                <a:spcPct val="90000"/>
              </a:lnSpc>
              <a:spcBef>
                <a:spcPts val="6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a:latin typeface="Times New Roman" panose="02020603050405020304" pitchFamily="18" charset="0"/>
              </a:rPr>
              <a:t>	System.out.println(ob2.a);</a:t>
            </a:r>
          </a:p>
          <a:p>
            <a:pPr>
              <a:lnSpc>
                <a:spcPct val="90000"/>
              </a:lnSpc>
              <a:spcBef>
                <a:spcPts val="6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a:latin typeface="Times New Roman" panose="02020603050405020304" pitchFamily="18" charset="0"/>
              </a:rPr>
              <a:t>	ob1.a =25;</a:t>
            </a:r>
          </a:p>
          <a:p>
            <a:pPr>
              <a:lnSpc>
                <a:spcPct val="90000"/>
              </a:lnSpc>
              <a:spcBef>
                <a:spcPts val="6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a:latin typeface="Times New Roman" panose="02020603050405020304" pitchFamily="18" charset="0"/>
              </a:rPr>
              <a:t>	System.out.println(ob1.a);</a:t>
            </a:r>
          </a:p>
          <a:p>
            <a:pPr>
              <a:lnSpc>
                <a:spcPct val="90000"/>
              </a:lnSpc>
              <a:spcBef>
                <a:spcPts val="6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a:latin typeface="Times New Roman" panose="02020603050405020304" pitchFamily="18" charset="0"/>
              </a:rPr>
              <a:t>	System.out.println(ob2.a);</a:t>
            </a:r>
          </a:p>
          <a:p>
            <a:pPr>
              <a:lnSpc>
                <a:spcPct val="90000"/>
              </a:lnSpc>
              <a:spcBef>
                <a:spcPts val="6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a:latin typeface="Times New Roman" panose="02020603050405020304" pitchFamily="18" charset="0"/>
              </a:rPr>
              <a:t>}</a:t>
            </a:r>
          </a:p>
          <a:p>
            <a:pPr>
              <a:lnSpc>
                <a:spcPct val="90000"/>
              </a:lnSpc>
              <a:spcBef>
                <a:spcPts val="6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a:latin typeface="Times New Roman" panose="02020603050405020304" pitchFamily="18" charset="0"/>
              </a:rPr>
              <a:t>}</a:t>
            </a:r>
          </a:p>
        </p:txBody>
      </p:sp>
      <p:sp>
        <p:nvSpPr>
          <p:cNvPr id="2" name="Date Placeholder 1"/>
          <p:cNvSpPr>
            <a:spLocks noGrp="1"/>
          </p:cNvSpPr>
          <p:nvPr>
            <p:ph type="dt" idx="10"/>
          </p:nvPr>
        </p:nvSpPr>
        <p:spPr/>
        <p:txBody>
          <a:bodyPr/>
          <a:lstStyle/>
          <a:p>
            <a:fld id="{DE8F4D52-0A30-496B-92C0-5EDCFAAC52E5}" type="datetime1">
              <a:rPr lang="en-US" altLang="en-US" smtClean="0"/>
              <a:pPr/>
              <a:t>9/17/25</a:t>
            </a:fld>
            <a:endParaRPr lang="en-GB" altLang="en-US"/>
          </a:p>
        </p:txBody>
      </p:sp>
      <p:sp>
        <p:nvSpPr>
          <p:cNvPr id="3" name="Slide Number Placeholder 2"/>
          <p:cNvSpPr>
            <a:spLocks noGrp="1"/>
          </p:cNvSpPr>
          <p:nvPr>
            <p:ph type="sldNum" idx="12"/>
          </p:nvPr>
        </p:nvSpPr>
        <p:spPr/>
        <p:txBody>
          <a:bodyPr/>
          <a:lstStyle/>
          <a:p>
            <a:fld id="{DFDD96B3-7294-4DC9-8D81-64C499082E36}" type="slidenum">
              <a:rPr lang="en-GB" altLang="en-US" smtClean="0"/>
              <a:pPr/>
              <a:t>47</a:t>
            </a:fld>
            <a:endParaRPr lang="en-GB"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1"/>
          <p:cNvSpPr>
            <a:spLocks noGrp="1" noChangeArrowheads="1"/>
          </p:cNvSpPr>
          <p:nvPr>
            <p:ph type="title"/>
          </p:nvPr>
        </p:nvSpPr>
        <p:spPr>
          <a:xfrm>
            <a:off x="457200" y="274638"/>
            <a:ext cx="8229600" cy="1143000"/>
          </a:xfrm>
          <a:ln/>
        </p:spPr>
        <p:txBody>
          <a:bodyPr lIns="92160" tIns="46080" rIns="92160" bIns="46080"/>
          <a:lstStyle/>
          <a:p>
            <a:pPr>
              <a:lnSpc>
                <a:spcPct val="100000"/>
              </a:lnSpc>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a:latin typeface="Times New Roman" panose="02020603050405020304" pitchFamily="18" charset="0"/>
              </a:rPr>
              <a:t>Static Methods</a:t>
            </a:r>
          </a:p>
        </p:txBody>
      </p:sp>
      <p:sp>
        <p:nvSpPr>
          <p:cNvPr id="6146" name="Rectangle 2"/>
          <p:cNvSpPr>
            <a:spLocks noGrp="1" noChangeArrowheads="1"/>
          </p:cNvSpPr>
          <p:nvPr>
            <p:ph type="body" idx="1"/>
          </p:nvPr>
        </p:nvSpPr>
        <p:spPr>
          <a:xfrm>
            <a:off x="381000" y="1600200"/>
            <a:ext cx="8305800" cy="5106988"/>
          </a:xfrm>
          <a:ln/>
        </p:spPr>
        <p:txBody>
          <a:bodyPr lIns="92160" tIns="46080" rIns="92160" bIns="46080"/>
          <a:lstStyle/>
          <a:p>
            <a:pPr>
              <a:lnSpc>
                <a:spcPct val="100000"/>
              </a:lnSpc>
              <a:spcBef>
                <a:spcPts val="21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Static methods have several restrictions:</a:t>
            </a:r>
          </a:p>
          <a:p>
            <a:pPr>
              <a:lnSpc>
                <a:spcPct val="100000"/>
              </a:lnSpc>
              <a:spcBef>
                <a:spcPts val="2100"/>
              </a:spcBef>
              <a:buFont typeface="Wingdings" panose="05000000000000000000"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	-They can call other static methods.</a:t>
            </a:r>
          </a:p>
          <a:p>
            <a:pPr>
              <a:lnSpc>
                <a:spcPct val="100000"/>
              </a:lnSpc>
              <a:spcBef>
                <a:spcPts val="2100"/>
              </a:spcBef>
              <a:buFont typeface="Wingdings" panose="05000000000000000000"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	-They must only access static data.</a:t>
            </a:r>
          </a:p>
          <a:p>
            <a:pPr>
              <a:lnSpc>
                <a:spcPct val="100000"/>
              </a:lnSpc>
              <a:spcBef>
                <a:spcPts val="2100"/>
              </a:spcBef>
              <a:buFont typeface="Wingdings" panose="05000000000000000000"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	-They cannot refer to this or super.</a:t>
            </a:r>
          </a:p>
          <a:p>
            <a:pPr>
              <a:lnSpc>
                <a:spcPct val="100000"/>
              </a:lnSpc>
              <a:spcBef>
                <a:spcPts val="21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b="1">
                <a:latin typeface="Times New Roman" panose="02020603050405020304" pitchFamily="18" charset="0"/>
              </a:rPr>
              <a:t>Static Block:</a:t>
            </a:r>
          </a:p>
          <a:p>
            <a:pPr>
              <a:lnSpc>
                <a:spcPct val="100000"/>
              </a:lnSpc>
              <a:spcBef>
                <a:spcPts val="2100"/>
              </a:spcBef>
              <a:buFont typeface="Wingdings" panose="05000000000000000000"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b="1">
                <a:latin typeface="Times New Roman" panose="02020603050405020304" pitchFamily="18" charset="0"/>
              </a:rPr>
              <a:t>	</a:t>
            </a:r>
            <a:r>
              <a:rPr lang="en-GB" altLang="en-US" sz="2400">
                <a:latin typeface="Times New Roman" panose="02020603050405020304" pitchFamily="18" charset="0"/>
              </a:rPr>
              <a:t>-static block is used to initialize the static variables.</a:t>
            </a:r>
          </a:p>
          <a:p>
            <a:pPr>
              <a:lnSpc>
                <a:spcPct val="100000"/>
              </a:lnSpc>
              <a:spcBef>
                <a:spcPts val="2100"/>
              </a:spcBef>
              <a:buFont typeface="Wingdings" panose="05000000000000000000"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	- It gets executed exactly once ,when the class is first loaded.</a:t>
            </a:r>
          </a:p>
          <a:p>
            <a:pPr>
              <a:lnSpc>
                <a:spcPct val="100000"/>
              </a:lnSpc>
              <a:spcBef>
                <a:spcPts val="2450"/>
              </a:spcBef>
              <a:buFont typeface="Wingdings" panose="05000000000000000000"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800">
                <a:latin typeface="Times New Roman" panose="02020603050405020304" pitchFamily="18" charset="0"/>
              </a:rPr>
              <a:t>	</a:t>
            </a:r>
          </a:p>
        </p:txBody>
      </p:sp>
      <p:sp>
        <p:nvSpPr>
          <p:cNvPr id="2" name="Date Placeholder 1"/>
          <p:cNvSpPr>
            <a:spLocks noGrp="1"/>
          </p:cNvSpPr>
          <p:nvPr>
            <p:ph type="dt" idx="10"/>
          </p:nvPr>
        </p:nvSpPr>
        <p:spPr/>
        <p:txBody>
          <a:bodyPr/>
          <a:lstStyle/>
          <a:p>
            <a:fld id="{38DE83F9-E672-47DF-9580-0E7C154EA38E}" type="datetime1">
              <a:rPr lang="en-US" altLang="en-US" smtClean="0"/>
              <a:pPr/>
              <a:t>9/17/25</a:t>
            </a:fld>
            <a:endParaRPr lang="en-GB" altLang="en-US"/>
          </a:p>
        </p:txBody>
      </p:sp>
      <p:sp>
        <p:nvSpPr>
          <p:cNvPr id="3" name="Slide Number Placeholder 2"/>
          <p:cNvSpPr>
            <a:spLocks noGrp="1"/>
          </p:cNvSpPr>
          <p:nvPr>
            <p:ph type="sldNum" idx="12"/>
          </p:nvPr>
        </p:nvSpPr>
        <p:spPr/>
        <p:txBody>
          <a:bodyPr/>
          <a:lstStyle/>
          <a:p>
            <a:fld id="{14A5F247-8C61-4455-A097-17F3E365C121}" type="slidenum">
              <a:rPr lang="en-GB" altLang="en-US" smtClean="0"/>
              <a:pPr/>
              <a:t>48</a:t>
            </a:fld>
            <a:endParaRPr lang="en-GB" altLang="en-US"/>
          </a:p>
        </p:txBody>
      </p:sp>
    </p:spTree>
  </p:cSld>
  <p:clrMapOvr>
    <a:masterClrMapping/>
  </p:clrMapOvr>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1"/>
          <p:cNvSpPr>
            <a:spLocks noGrp="1" noChangeArrowheads="1"/>
          </p:cNvSpPr>
          <p:nvPr>
            <p:ph type="title"/>
          </p:nvPr>
        </p:nvSpPr>
        <p:spPr>
          <a:xfrm>
            <a:off x="457200" y="274638"/>
            <a:ext cx="8229600" cy="1143000"/>
          </a:xfrm>
          <a:ln/>
        </p:spPr>
        <p:txBody>
          <a:bodyPr/>
          <a:lstStyle/>
          <a:p>
            <a:pPr>
              <a:lnSpc>
                <a:spcPct val="100000"/>
              </a:lnSpc>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b="1">
                <a:latin typeface="Times New Roman" panose="02020603050405020304" pitchFamily="18" charset="0"/>
              </a:rPr>
              <a:t>Example-static data and methods</a:t>
            </a:r>
          </a:p>
        </p:txBody>
      </p:sp>
      <p:sp>
        <p:nvSpPr>
          <p:cNvPr id="7170" name="Rectangle 2"/>
          <p:cNvSpPr>
            <a:spLocks noGrp="1" noChangeArrowheads="1"/>
          </p:cNvSpPr>
          <p:nvPr>
            <p:ph type="body" idx="1"/>
          </p:nvPr>
        </p:nvSpPr>
        <p:spPr>
          <a:xfrm>
            <a:off x="457200" y="1600200"/>
            <a:ext cx="4033838" cy="4637088"/>
          </a:xfrm>
          <a:ln/>
        </p:spPr>
        <p:txBody>
          <a:bodyPr/>
          <a:lstStyle/>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class test</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static int a =3;</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static int b;</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static void meth( int x)</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System.out.println(x);</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System.out.println(a);</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System.out.println(b);</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static</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b=a * 4;</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a:t>
            </a:r>
          </a:p>
        </p:txBody>
      </p:sp>
      <p:sp>
        <p:nvSpPr>
          <p:cNvPr id="7171" name="Rectangle 3"/>
          <p:cNvSpPr>
            <a:spLocks noGrp="1" noChangeArrowheads="1"/>
          </p:cNvSpPr>
          <p:nvPr>
            <p:ph type="body" idx="2"/>
          </p:nvPr>
        </p:nvSpPr>
        <p:spPr>
          <a:xfrm>
            <a:off x="3962400" y="1600200"/>
            <a:ext cx="5181600" cy="4800600"/>
          </a:xfrm>
          <a:ln/>
        </p:spPr>
        <p:txBody>
          <a:bodyPr/>
          <a:lstStyle/>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class test1</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public static void main ( String </a:t>
            </a:r>
            <a:r>
              <a:rPr lang="en-GB" altLang="en-US" sz="2000" dirty="0" err="1">
                <a:latin typeface="Times New Roman" panose="02020603050405020304" pitchFamily="18" charset="0"/>
              </a:rPr>
              <a:t>args</a:t>
            </a:r>
            <a:r>
              <a:rPr lang="en-GB" altLang="en-US" sz="2000" dirty="0">
                <a:latin typeface="Times New Roman" panose="02020603050405020304" pitchFamily="18" charset="0"/>
              </a:rPr>
              <a:t> [])</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	{</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		</a:t>
            </a:r>
            <a:r>
              <a:rPr lang="en-GB" altLang="en-US" sz="2000" dirty="0" err="1">
                <a:latin typeface="Times New Roman" panose="02020603050405020304" pitchFamily="18" charset="0"/>
              </a:rPr>
              <a:t>test.meth</a:t>
            </a:r>
            <a:r>
              <a:rPr lang="en-GB" altLang="en-US" sz="2000" dirty="0">
                <a:latin typeface="Times New Roman" panose="02020603050405020304" pitchFamily="18" charset="0"/>
              </a:rPr>
              <a:t>(42);</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		</a:t>
            </a:r>
            <a:r>
              <a:rPr lang="en-GB" altLang="en-US" sz="2000" dirty="0" err="1">
                <a:latin typeface="Times New Roman" panose="02020603050405020304" pitchFamily="18" charset="0"/>
              </a:rPr>
              <a:t>test.a</a:t>
            </a:r>
            <a:r>
              <a:rPr lang="en-GB" altLang="en-US" sz="2000" dirty="0">
                <a:latin typeface="Times New Roman" panose="02020603050405020304" pitchFamily="18" charset="0"/>
              </a:rPr>
              <a:t> = 100;</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		</a:t>
            </a:r>
            <a:r>
              <a:rPr lang="en-GB" altLang="en-US" sz="2000" dirty="0" err="1">
                <a:latin typeface="Times New Roman" panose="02020603050405020304" pitchFamily="18" charset="0"/>
              </a:rPr>
              <a:t>System.out.println</a:t>
            </a:r>
            <a:r>
              <a:rPr lang="en-GB" altLang="en-US" sz="2000" dirty="0">
                <a:latin typeface="Times New Roman" panose="02020603050405020304" pitchFamily="18" charset="0"/>
              </a:rPr>
              <a:t>(</a:t>
            </a:r>
            <a:r>
              <a:rPr lang="en-GB" altLang="en-US" sz="2000" dirty="0" err="1">
                <a:latin typeface="Times New Roman" panose="02020603050405020304" pitchFamily="18" charset="0"/>
              </a:rPr>
              <a:t>test.a</a:t>
            </a:r>
            <a:r>
              <a:rPr lang="en-GB" altLang="en-US" sz="2000" dirty="0">
                <a:latin typeface="Times New Roman" panose="02020603050405020304" pitchFamily="18" charset="0"/>
              </a:rPr>
              <a:t>);</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	}</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000" dirty="0">
              <a:latin typeface="Times New Roman" panose="02020603050405020304" pitchFamily="18" charset="0"/>
            </a:endParaRP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u="sng" dirty="0">
                <a:latin typeface="Times New Roman" panose="02020603050405020304" pitchFamily="18" charset="0"/>
              </a:rPr>
              <a:t>Output:</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42</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3</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12</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100</a:t>
            </a:r>
          </a:p>
        </p:txBody>
      </p:sp>
      <p:sp>
        <p:nvSpPr>
          <p:cNvPr id="2" name="Date Placeholder 1"/>
          <p:cNvSpPr>
            <a:spLocks noGrp="1"/>
          </p:cNvSpPr>
          <p:nvPr>
            <p:ph type="dt" idx="10"/>
          </p:nvPr>
        </p:nvSpPr>
        <p:spPr/>
        <p:txBody>
          <a:bodyPr/>
          <a:lstStyle/>
          <a:p>
            <a:fld id="{9B285A16-57C0-43FC-B6DA-0CAAD8E14124}" type="datetime1">
              <a:rPr lang="en-US" altLang="en-US" smtClean="0"/>
              <a:pPr/>
              <a:t>9/17/25</a:t>
            </a:fld>
            <a:endParaRPr lang="en-GB" altLang="en-US"/>
          </a:p>
        </p:txBody>
      </p:sp>
      <p:sp>
        <p:nvSpPr>
          <p:cNvPr id="3" name="Slide Number Placeholder 2"/>
          <p:cNvSpPr>
            <a:spLocks noGrp="1"/>
          </p:cNvSpPr>
          <p:nvPr>
            <p:ph type="sldNum" idx="12"/>
          </p:nvPr>
        </p:nvSpPr>
        <p:spPr/>
        <p:txBody>
          <a:bodyPr/>
          <a:lstStyle/>
          <a:p>
            <a:fld id="{DFDD96B3-7294-4DC9-8D81-64C499082E36}" type="slidenum">
              <a:rPr lang="en-GB" altLang="en-US" smtClean="0"/>
              <a:pPr/>
              <a:t>49</a:t>
            </a:fld>
            <a:endParaRPr lang="en-GB"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1"/>
          <p:cNvSpPr>
            <a:spLocks noGrp="1" noChangeArrowheads="1"/>
          </p:cNvSpPr>
          <p:nvPr>
            <p:ph type="title"/>
          </p:nvPr>
        </p:nvSpPr>
        <p:spPr>
          <a:xfrm>
            <a:off x="457200" y="274638"/>
            <a:ext cx="8229600" cy="1143000"/>
          </a:xfrm>
          <a:ln/>
        </p:spPr>
        <p:txBody>
          <a:bodyPr/>
          <a:lstStyle/>
          <a:p>
            <a:pPr>
              <a:lnSpc>
                <a:spcPct val="100000"/>
              </a:lnSpc>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Times New Roman" panose="02020603050405020304" pitchFamily="18" charset="0"/>
              </a:rPr>
              <a:t>Example</a:t>
            </a:r>
          </a:p>
        </p:txBody>
      </p:sp>
      <p:sp>
        <p:nvSpPr>
          <p:cNvPr id="8194" name="Rectangle 2"/>
          <p:cNvSpPr>
            <a:spLocks noGrp="1" noChangeArrowheads="1"/>
          </p:cNvSpPr>
          <p:nvPr>
            <p:ph type="body" idx="1"/>
          </p:nvPr>
        </p:nvSpPr>
        <p:spPr>
          <a:xfrm>
            <a:off x="457200" y="1600200"/>
            <a:ext cx="4038600" cy="4525963"/>
          </a:xfrm>
          <a:ln/>
        </p:spPr>
        <p:txBody>
          <a:bodyPr/>
          <a:lstStyle/>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class test{</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static int a;</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static int b;</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static void set()</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a=20;</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b=34;</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static void print()</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set();</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System.out.println(a+” “+b);</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a:t>
            </a:r>
          </a:p>
        </p:txBody>
      </p:sp>
      <p:sp>
        <p:nvSpPr>
          <p:cNvPr id="8195" name="Rectangle 3"/>
          <p:cNvSpPr>
            <a:spLocks noGrp="1" noChangeArrowheads="1"/>
          </p:cNvSpPr>
          <p:nvPr>
            <p:ph type="body" idx="2"/>
          </p:nvPr>
        </p:nvSpPr>
        <p:spPr>
          <a:xfrm>
            <a:off x="4267200" y="1600200"/>
            <a:ext cx="4876800" cy="4525963"/>
          </a:xfrm>
          <a:ln/>
        </p:spPr>
        <p:txBody>
          <a:bodyPr/>
          <a:lstStyle/>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class test1</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public static void main(String args[])</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test.print();</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a:t>
            </a:r>
            <a:r>
              <a:rPr lang="en-GB" altLang="en-US" sz="2000" b="1" u="sng">
                <a:latin typeface="Times New Roman" panose="02020603050405020304" pitchFamily="18" charset="0"/>
              </a:rPr>
              <a:t>OR</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test ob = new test();</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	ob.print();</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2000">
              <a:latin typeface="Times New Roman" panose="02020603050405020304" pitchFamily="18" charset="0"/>
            </a:endParaRP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a:t>
            </a:r>
          </a:p>
          <a:p>
            <a:pPr>
              <a:lnSpc>
                <a:spcPct val="8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a:latin typeface="Times New Roman" panose="02020603050405020304" pitchFamily="18" charset="0"/>
              </a:rPr>
              <a:t>}</a:t>
            </a:r>
          </a:p>
        </p:txBody>
      </p:sp>
      <p:sp>
        <p:nvSpPr>
          <p:cNvPr id="2" name="Date Placeholder 1"/>
          <p:cNvSpPr>
            <a:spLocks noGrp="1"/>
          </p:cNvSpPr>
          <p:nvPr>
            <p:ph type="dt" idx="10"/>
          </p:nvPr>
        </p:nvSpPr>
        <p:spPr/>
        <p:txBody>
          <a:bodyPr/>
          <a:lstStyle/>
          <a:p>
            <a:fld id="{707A7FD9-6C47-4BF7-8FBE-4E487F066875}" type="datetime1">
              <a:rPr lang="en-US" altLang="en-US" smtClean="0"/>
              <a:pPr/>
              <a:t>9/17/25</a:t>
            </a:fld>
            <a:endParaRPr lang="en-GB" altLang="en-US"/>
          </a:p>
        </p:txBody>
      </p:sp>
      <p:sp>
        <p:nvSpPr>
          <p:cNvPr id="3" name="Slide Number Placeholder 2"/>
          <p:cNvSpPr>
            <a:spLocks noGrp="1"/>
          </p:cNvSpPr>
          <p:nvPr>
            <p:ph type="sldNum" idx="12"/>
          </p:nvPr>
        </p:nvSpPr>
        <p:spPr/>
        <p:txBody>
          <a:bodyPr/>
          <a:lstStyle/>
          <a:p>
            <a:fld id="{DFDD96B3-7294-4DC9-8D81-64C499082E36}" type="slidenum">
              <a:rPr lang="en-GB" altLang="en-US" smtClean="0"/>
              <a:pPr/>
              <a:t>50</a:t>
            </a:fld>
            <a:endParaRPr lang="en-GB"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Rectangle 1"/>
          <p:cNvSpPr>
            <a:spLocks noGrp="1" noChangeArrowheads="1"/>
          </p:cNvSpPr>
          <p:nvPr>
            <p:ph type="title"/>
          </p:nvPr>
        </p:nvSpPr>
        <p:spPr>
          <a:xfrm>
            <a:off x="457200" y="274638"/>
            <a:ext cx="8686800" cy="717550"/>
          </a:xfrm>
          <a:ln/>
        </p:spPr>
        <p:txBody>
          <a:bodyPr/>
          <a:lstStyle/>
          <a:p>
            <a:pPr>
              <a:lnSpc>
                <a:spcPct val="100000"/>
              </a:lnSpc>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4000">
                <a:latin typeface="Times New Roman" panose="02020603050405020304" pitchFamily="18" charset="0"/>
              </a:rPr>
              <a:t>Example-using main() in the same class</a:t>
            </a:r>
          </a:p>
        </p:txBody>
      </p:sp>
      <p:sp>
        <p:nvSpPr>
          <p:cNvPr id="9218" name="Rectangle 2"/>
          <p:cNvSpPr>
            <a:spLocks noGrp="1" noChangeArrowheads="1"/>
          </p:cNvSpPr>
          <p:nvPr>
            <p:ph type="body" idx="1"/>
          </p:nvPr>
        </p:nvSpPr>
        <p:spPr>
          <a:xfrm>
            <a:off x="457200" y="990600"/>
            <a:ext cx="4038600" cy="5135563"/>
          </a:xfrm>
          <a:ln/>
        </p:spPr>
        <p:txBody>
          <a:bodyPr/>
          <a:lstStyle/>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class </a:t>
            </a:r>
            <a:r>
              <a:rPr lang="en-GB" altLang="en-US" sz="1800" dirty="0" err="1">
                <a:latin typeface="Times New Roman" panose="02020603050405020304" pitchFamily="18" charset="0"/>
              </a:rPr>
              <a:t>st</a:t>
            </a:r>
            <a:endParaRPr lang="en-GB" altLang="en-US" sz="1800" dirty="0">
              <a:latin typeface="Times New Roman" panose="02020603050405020304" pitchFamily="18" charset="0"/>
            </a:endParaRP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static </a:t>
            </a:r>
            <a:r>
              <a:rPr lang="en-GB" altLang="en-US" sz="1800" dirty="0" err="1">
                <a:latin typeface="Times New Roman" panose="02020603050405020304" pitchFamily="18" charset="0"/>
              </a:rPr>
              <a:t>int</a:t>
            </a:r>
            <a:r>
              <a:rPr lang="en-GB" altLang="en-US" sz="1800" dirty="0">
                <a:latin typeface="Times New Roman" panose="02020603050405020304" pitchFamily="18" charset="0"/>
              </a:rPr>
              <a:t> a;</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static </a:t>
            </a:r>
            <a:r>
              <a:rPr lang="en-GB" altLang="en-US" sz="1800" dirty="0" err="1">
                <a:latin typeface="Times New Roman" panose="02020603050405020304" pitchFamily="18" charset="0"/>
              </a:rPr>
              <a:t>int</a:t>
            </a:r>
            <a:r>
              <a:rPr lang="en-GB" altLang="en-US" sz="1800" dirty="0">
                <a:latin typeface="Times New Roman" panose="02020603050405020304" pitchFamily="18" charset="0"/>
              </a:rPr>
              <a:t> b;</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1800" dirty="0">
              <a:latin typeface="Times New Roman" panose="02020603050405020304" pitchFamily="18" charset="0"/>
            </a:endParaRP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static void set()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a=20;</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b=25;</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1800" dirty="0">
              <a:latin typeface="Times New Roman" panose="02020603050405020304" pitchFamily="18" charset="0"/>
            </a:endParaRP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static void print()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set();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r>
              <a:rPr lang="en-GB" altLang="en-US" sz="1800" dirty="0" err="1">
                <a:latin typeface="Times New Roman" panose="02020603050405020304" pitchFamily="18" charset="0"/>
              </a:rPr>
              <a:t>System.out.println</a:t>
            </a:r>
            <a:r>
              <a:rPr lang="en-GB" altLang="en-US" sz="1800" dirty="0">
                <a:latin typeface="Times New Roman" panose="02020603050405020304" pitchFamily="18" charset="0"/>
              </a:rPr>
              <a:t>(a+” “+b);</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1800" dirty="0">
              <a:latin typeface="Times New Roman" panose="02020603050405020304" pitchFamily="18" charset="0"/>
            </a:endParaRP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p:txBody>
      </p:sp>
      <p:sp>
        <p:nvSpPr>
          <p:cNvPr id="9219" name="Rectangle 3"/>
          <p:cNvSpPr>
            <a:spLocks noGrp="1" noChangeArrowheads="1"/>
          </p:cNvSpPr>
          <p:nvPr>
            <p:ph type="body" idx="2"/>
          </p:nvPr>
        </p:nvSpPr>
        <p:spPr>
          <a:xfrm>
            <a:off x="4648200" y="990600"/>
            <a:ext cx="4038600" cy="5135563"/>
          </a:xfrm>
          <a:ln/>
        </p:spPr>
        <p:txBody>
          <a:bodyPr/>
          <a:lstStyle/>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public static void main(String </a:t>
            </a:r>
            <a:r>
              <a:rPr lang="en-GB" altLang="en-US" sz="1800" dirty="0" err="1">
                <a:latin typeface="Times New Roman" panose="02020603050405020304" pitchFamily="18" charset="0"/>
              </a:rPr>
              <a:t>args</a:t>
            </a: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print();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1800" dirty="0">
              <a:latin typeface="Times New Roman" panose="02020603050405020304" pitchFamily="18" charset="0"/>
            </a:endParaRPr>
          </a:p>
        </p:txBody>
      </p:sp>
      <p:sp>
        <p:nvSpPr>
          <p:cNvPr id="2" name="Date Placeholder 1"/>
          <p:cNvSpPr>
            <a:spLocks noGrp="1"/>
          </p:cNvSpPr>
          <p:nvPr>
            <p:ph type="dt" idx="10"/>
          </p:nvPr>
        </p:nvSpPr>
        <p:spPr/>
        <p:txBody>
          <a:bodyPr/>
          <a:lstStyle/>
          <a:p>
            <a:fld id="{649223DC-D32F-458A-8046-2608399009A4}" type="datetime1">
              <a:rPr lang="en-US" altLang="en-US" smtClean="0"/>
              <a:pPr/>
              <a:t>9/17/25</a:t>
            </a:fld>
            <a:endParaRPr lang="en-GB" altLang="en-US"/>
          </a:p>
        </p:txBody>
      </p:sp>
      <p:sp>
        <p:nvSpPr>
          <p:cNvPr id="3" name="Slide Number Placeholder 2"/>
          <p:cNvSpPr>
            <a:spLocks noGrp="1"/>
          </p:cNvSpPr>
          <p:nvPr>
            <p:ph type="sldNum" idx="12"/>
          </p:nvPr>
        </p:nvSpPr>
        <p:spPr/>
        <p:txBody>
          <a:bodyPr/>
          <a:lstStyle/>
          <a:p>
            <a:fld id="{DFDD96B3-7294-4DC9-8D81-64C499082E36}" type="slidenum">
              <a:rPr lang="en-GB" altLang="en-US" smtClean="0"/>
              <a:pPr/>
              <a:t>51</a:t>
            </a:fld>
            <a:endParaRPr lang="en-GB"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1"/>
          <p:cNvSpPr>
            <a:spLocks noGrp="1" noChangeArrowheads="1"/>
          </p:cNvSpPr>
          <p:nvPr>
            <p:ph type="title"/>
          </p:nvPr>
        </p:nvSpPr>
        <p:spPr>
          <a:xfrm>
            <a:off x="457200" y="274638"/>
            <a:ext cx="8686800" cy="717550"/>
          </a:xfrm>
          <a:ln/>
        </p:spPr>
        <p:txBody>
          <a:bodyPr/>
          <a:lstStyle/>
          <a:p>
            <a:pPr>
              <a:lnSpc>
                <a:spcPct val="100000"/>
              </a:lnSpc>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4000">
                <a:latin typeface="Times New Roman" panose="02020603050405020304" pitchFamily="18" charset="0"/>
              </a:rPr>
              <a:t>Example-using main() in the same class</a:t>
            </a:r>
          </a:p>
        </p:txBody>
      </p:sp>
      <p:sp>
        <p:nvSpPr>
          <p:cNvPr id="10242" name="Rectangle 2"/>
          <p:cNvSpPr>
            <a:spLocks noGrp="1" noChangeArrowheads="1"/>
          </p:cNvSpPr>
          <p:nvPr>
            <p:ph type="body" idx="1"/>
          </p:nvPr>
        </p:nvSpPr>
        <p:spPr>
          <a:xfrm>
            <a:off x="457200" y="990600"/>
            <a:ext cx="4038600" cy="5135563"/>
          </a:xfrm>
          <a:ln/>
        </p:spPr>
        <p:txBody>
          <a:bodyPr/>
          <a:lstStyle/>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class </a:t>
            </a:r>
            <a:r>
              <a:rPr lang="en-GB" altLang="en-US" sz="1800" dirty="0" err="1">
                <a:latin typeface="Times New Roman" panose="02020603050405020304" pitchFamily="18" charset="0"/>
              </a:rPr>
              <a:t>st</a:t>
            </a:r>
            <a:endParaRPr lang="en-GB" altLang="en-US" sz="1800" dirty="0">
              <a:latin typeface="Times New Roman" panose="02020603050405020304" pitchFamily="18" charset="0"/>
            </a:endParaRP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static </a:t>
            </a:r>
            <a:r>
              <a:rPr lang="en-GB" altLang="en-US" sz="1800" dirty="0" err="1">
                <a:latin typeface="Times New Roman" panose="02020603050405020304" pitchFamily="18" charset="0"/>
              </a:rPr>
              <a:t>int</a:t>
            </a:r>
            <a:r>
              <a:rPr lang="en-GB" altLang="en-US" sz="1800" dirty="0">
                <a:latin typeface="Times New Roman" panose="02020603050405020304" pitchFamily="18" charset="0"/>
              </a:rPr>
              <a:t> a;</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r>
              <a:rPr lang="en-GB" altLang="en-US" sz="1800" dirty="0" err="1">
                <a:latin typeface="Times New Roman" panose="02020603050405020304" pitchFamily="18" charset="0"/>
              </a:rPr>
              <a:t>int</a:t>
            </a:r>
            <a:r>
              <a:rPr lang="en-GB" altLang="en-US" sz="1800" dirty="0">
                <a:latin typeface="Times New Roman" panose="02020603050405020304" pitchFamily="18" charset="0"/>
              </a:rPr>
              <a:t> b;</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1800" dirty="0">
              <a:latin typeface="Times New Roman" panose="02020603050405020304" pitchFamily="18" charset="0"/>
            </a:endParaRP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static void set()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a=20;</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1800" dirty="0">
              <a:latin typeface="Times New Roman" panose="02020603050405020304" pitchFamily="18" charset="0"/>
            </a:endParaRP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static void print()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set();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r>
              <a:rPr lang="en-GB" altLang="en-US" sz="1800" dirty="0" err="1">
                <a:latin typeface="Times New Roman" panose="02020603050405020304" pitchFamily="18" charset="0"/>
              </a:rPr>
              <a:t>System.out.println</a:t>
            </a:r>
            <a:r>
              <a:rPr lang="en-GB" altLang="en-US" sz="1800" dirty="0">
                <a:latin typeface="Times New Roman" panose="02020603050405020304" pitchFamily="18" charset="0"/>
              </a:rPr>
              <a:t>(a);</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p:txBody>
      </p:sp>
      <p:sp>
        <p:nvSpPr>
          <p:cNvPr id="10243" name="Rectangle 3"/>
          <p:cNvSpPr>
            <a:spLocks noGrp="1" noChangeArrowheads="1"/>
          </p:cNvSpPr>
          <p:nvPr>
            <p:ph type="body" idx="2"/>
          </p:nvPr>
        </p:nvSpPr>
        <p:spPr>
          <a:xfrm>
            <a:off x="4648200" y="990600"/>
            <a:ext cx="4038600" cy="5135563"/>
          </a:xfrm>
          <a:ln/>
        </p:spPr>
        <p:txBody>
          <a:bodyPr/>
          <a:lstStyle/>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public static void main(String </a:t>
            </a:r>
            <a:r>
              <a:rPr lang="en-GB" altLang="en-US" sz="1800" dirty="0" err="1">
                <a:latin typeface="Times New Roman" panose="02020603050405020304" pitchFamily="18" charset="0"/>
              </a:rPr>
              <a:t>args</a:t>
            </a:r>
            <a:r>
              <a:rPr lang="en-GB" altLang="en-US" sz="1800">
                <a:latin typeface="Times New Roman" panose="02020603050405020304" pitchFamily="18" charset="0"/>
              </a:rPr>
              <a:t>[]){</a:t>
            </a:r>
            <a:endParaRPr lang="en-GB" altLang="en-US" sz="1800" dirty="0">
              <a:latin typeface="Times New Roman" panose="02020603050405020304" pitchFamily="18" charset="0"/>
            </a:endParaRP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r>
              <a:rPr lang="en-GB" altLang="en-US" sz="1800" dirty="0" err="1">
                <a:latin typeface="Times New Roman" panose="02020603050405020304" pitchFamily="18" charset="0"/>
              </a:rPr>
              <a:t>st</a:t>
            </a:r>
            <a:r>
              <a:rPr lang="en-GB" altLang="en-US" sz="1800" dirty="0">
                <a:latin typeface="Times New Roman" panose="02020603050405020304" pitchFamily="18" charset="0"/>
              </a:rPr>
              <a:t> ob = new </a:t>
            </a:r>
            <a:r>
              <a:rPr lang="en-GB" altLang="en-US" sz="1800" dirty="0" err="1">
                <a:latin typeface="Times New Roman" panose="02020603050405020304" pitchFamily="18" charset="0"/>
              </a:rPr>
              <a:t>st</a:t>
            </a: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r>
              <a:rPr lang="en-GB" altLang="en-US" sz="1800" dirty="0" err="1">
                <a:latin typeface="Times New Roman" panose="02020603050405020304" pitchFamily="18" charset="0"/>
              </a:rPr>
              <a:t>ob.b</a:t>
            </a:r>
            <a:r>
              <a:rPr lang="en-GB" altLang="en-US" sz="1800" dirty="0">
                <a:latin typeface="Times New Roman" panose="02020603050405020304" pitchFamily="18" charset="0"/>
              </a:rPr>
              <a:t>=25;</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1800" dirty="0">
              <a:latin typeface="Times New Roman" panose="02020603050405020304" pitchFamily="18" charset="0"/>
            </a:endParaRP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print();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r>
              <a:rPr lang="en-GB" altLang="en-US" sz="1800" dirty="0" err="1">
                <a:latin typeface="Times New Roman" panose="02020603050405020304" pitchFamily="18" charset="0"/>
              </a:rPr>
              <a:t>System.out.println</a:t>
            </a:r>
            <a:r>
              <a:rPr lang="en-GB" altLang="en-US" sz="1800" dirty="0">
                <a:latin typeface="Times New Roman" panose="02020603050405020304" pitchFamily="18" charset="0"/>
              </a:rPr>
              <a:t>(</a:t>
            </a:r>
            <a:r>
              <a:rPr lang="en-GB" altLang="en-US" sz="1800" dirty="0" err="1">
                <a:latin typeface="Times New Roman" panose="02020603050405020304" pitchFamily="18" charset="0"/>
              </a:rPr>
              <a:t>ob.b</a:t>
            </a: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altLang="en-US" sz="1800" dirty="0">
              <a:latin typeface="Times New Roman" panose="02020603050405020304" pitchFamily="18" charset="0"/>
            </a:endParaRPr>
          </a:p>
        </p:txBody>
      </p:sp>
      <p:sp>
        <p:nvSpPr>
          <p:cNvPr id="2" name="Date Placeholder 1"/>
          <p:cNvSpPr>
            <a:spLocks noGrp="1"/>
          </p:cNvSpPr>
          <p:nvPr>
            <p:ph type="dt" idx="10"/>
          </p:nvPr>
        </p:nvSpPr>
        <p:spPr/>
        <p:txBody>
          <a:bodyPr/>
          <a:lstStyle/>
          <a:p>
            <a:fld id="{937BA1BE-F3D8-47D7-8049-D6281C0882D9}" type="datetime1">
              <a:rPr lang="en-US" altLang="en-US" smtClean="0"/>
              <a:pPr/>
              <a:t>9/17/25</a:t>
            </a:fld>
            <a:endParaRPr lang="en-GB" altLang="en-US"/>
          </a:p>
        </p:txBody>
      </p:sp>
      <p:sp>
        <p:nvSpPr>
          <p:cNvPr id="3" name="Slide Number Placeholder 2"/>
          <p:cNvSpPr>
            <a:spLocks noGrp="1"/>
          </p:cNvSpPr>
          <p:nvPr>
            <p:ph type="sldNum" idx="12"/>
          </p:nvPr>
        </p:nvSpPr>
        <p:spPr/>
        <p:txBody>
          <a:bodyPr/>
          <a:lstStyle/>
          <a:p>
            <a:fld id="{DFDD96B3-7294-4DC9-8D81-64C499082E36}" type="slidenum">
              <a:rPr lang="en-GB" altLang="en-US" smtClean="0"/>
              <a:pPr/>
              <a:t>52</a:t>
            </a:fld>
            <a:endParaRPr lang="en-GB"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1"/>
          <p:cNvSpPr>
            <a:spLocks noGrp="1" noChangeArrowheads="1"/>
          </p:cNvSpPr>
          <p:nvPr>
            <p:ph type="title"/>
          </p:nvPr>
        </p:nvSpPr>
        <p:spPr>
          <a:xfrm>
            <a:off x="457200" y="274638"/>
            <a:ext cx="8229600" cy="1143000"/>
          </a:xfrm>
          <a:ln/>
        </p:spPr>
        <p:txBody>
          <a:bodyPr/>
          <a:lstStyle/>
          <a:p>
            <a:pPr>
              <a:lnSpc>
                <a:spcPct val="100000"/>
              </a:lnSpc>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Times New Roman" panose="02020603050405020304" pitchFamily="18" charset="0"/>
              </a:rPr>
              <a:t>Nested Class</a:t>
            </a:r>
          </a:p>
        </p:txBody>
      </p:sp>
      <p:sp>
        <p:nvSpPr>
          <p:cNvPr id="11266" name="Rectangle 2"/>
          <p:cNvSpPr>
            <a:spLocks noGrp="1" noChangeArrowheads="1"/>
          </p:cNvSpPr>
          <p:nvPr>
            <p:ph type="body" idx="1"/>
          </p:nvPr>
        </p:nvSpPr>
        <p:spPr>
          <a:xfrm>
            <a:off x="457200" y="1600200"/>
            <a:ext cx="8229600" cy="4525963"/>
          </a:xfrm>
          <a:ln/>
        </p:spPr>
        <p:txBody>
          <a:bodyPr/>
          <a:lstStyle/>
          <a:p>
            <a:pPr>
              <a:lnSpc>
                <a:spcPct val="100000"/>
              </a:lnSpc>
              <a:spcBef>
                <a:spcPts val="6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A nested class is a class defined within another class.</a:t>
            </a:r>
          </a:p>
          <a:p>
            <a:pPr>
              <a:lnSpc>
                <a:spcPct val="100000"/>
              </a:lnSpc>
              <a:spcBef>
                <a:spcPts val="6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The scope of a nested class is bounded by the scope of it’s enclosing class.</a:t>
            </a:r>
          </a:p>
          <a:p>
            <a:pPr>
              <a:lnSpc>
                <a:spcPct val="100000"/>
              </a:lnSpc>
              <a:spcBef>
                <a:spcPts val="6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class A</a:t>
            </a:r>
          </a:p>
          <a:p>
            <a:pPr>
              <a:lnSpc>
                <a:spcPct val="100000"/>
              </a:lnSpc>
              <a:spcBef>
                <a:spcPts val="600"/>
              </a:spcBef>
              <a:buFont typeface="Wingdings" panose="05000000000000000000"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	{</a:t>
            </a:r>
          </a:p>
          <a:p>
            <a:pPr>
              <a:lnSpc>
                <a:spcPct val="100000"/>
              </a:lnSpc>
              <a:spcBef>
                <a:spcPts val="600"/>
              </a:spcBef>
              <a:buFont typeface="Wingdings" panose="05000000000000000000"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		class B</a:t>
            </a:r>
          </a:p>
          <a:p>
            <a:pPr>
              <a:lnSpc>
                <a:spcPct val="100000"/>
              </a:lnSpc>
              <a:spcBef>
                <a:spcPts val="600"/>
              </a:spcBef>
              <a:buFont typeface="Wingdings" panose="05000000000000000000"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		{</a:t>
            </a:r>
          </a:p>
          <a:p>
            <a:pPr>
              <a:lnSpc>
                <a:spcPct val="100000"/>
              </a:lnSpc>
              <a:spcBef>
                <a:spcPts val="600"/>
              </a:spcBef>
              <a:buFont typeface="Wingdings" panose="05000000000000000000"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		}</a:t>
            </a:r>
          </a:p>
          <a:p>
            <a:pPr>
              <a:lnSpc>
                <a:spcPct val="100000"/>
              </a:lnSpc>
              <a:spcBef>
                <a:spcPts val="600"/>
              </a:spcBef>
              <a:buFont typeface="Wingdings" panose="05000000000000000000"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	} </a:t>
            </a:r>
          </a:p>
          <a:p>
            <a:pPr>
              <a:lnSpc>
                <a:spcPct val="100000"/>
              </a:lnSpc>
              <a:spcBef>
                <a:spcPts val="6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Class B is known inside class A not outside of A.</a:t>
            </a:r>
          </a:p>
        </p:txBody>
      </p:sp>
      <p:sp>
        <p:nvSpPr>
          <p:cNvPr id="2" name="Date Placeholder 1"/>
          <p:cNvSpPr>
            <a:spLocks noGrp="1"/>
          </p:cNvSpPr>
          <p:nvPr>
            <p:ph type="dt" idx="10"/>
          </p:nvPr>
        </p:nvSpPr>
        <p:spPr/>
        <p:txBody>
          <a:bodyPr/>
          <a:lstStyle/>
          <a:p>
            <a:fld id="{DDEE506A-E8C8-4523-AD73-3C5C7628A893}" type="datetime1">
              <a:rPr lang="en-US" altLang="en-US" smtClean="0"/>
              <a:pPr/>
              <a:t>9/17/25</a:t>
            </a:fld>
            <a:endParaRPr lang="en-GB" altLang="en-US"/>
          </a:p>
        </p:txBody>
      </p:sp>
      <p:sp>
        <p:nvSpPr>
          <p:cNvPr id="3" name="Slide Number Placeholder 2"/>
          <p:cNvSpPr>
            <a:spLocks noGrp="1"/>
          </p:cNvSpPr>
          <p:nvPr>
            <p:ph type="sldNum" idx="12"/>
          </p:nvPr>
        </p:nvSpPr>
        <p:spPr/>
        <p:txBody>
          <a:bodyPr/>
          <a:lstStyle/>
          <a:p>
            <a:fld id="{14A5F247-8C61-4455-A097-17F3E365C121}" type="slidenum">
              <a:rPr lang="en-GB" altLang="en-US" smtClean="0"/>
              <a:pPr/>
              <a:t>53</a:t>
            </a:fld>
            <a:endParaRPr lang="en-GB"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1"/>
          <p:cNvSpPr>
            <a:spLocks noGrp="1" noChangeArrowheads="1"/>
          </p:cNvSpPr>
          <p:nvPr>
            <p:ph type="title"/>
          </p:nvPr>
        </p:nvSpPr>
        <p:spPr>
          <a:xfrm>
            <a:off x="457200" y="274638"/>
            <a:ext cx="8229600" cy="1143000"/>
          </a:xfrm>
          <a:ln/>
        </p:spPr>
        <p:txBody>
          <a:bodyPr/>
          <a:lstStyle/>
          <a:p>
            <a:pPr>
              <a:lnSpc>
                <a:spcPct val="100000"/>
              </a:lnSpc>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Times New Roman" panose="02020603050405020304" pitchFamily="18" charset="0"/>
              </a:rPr>
              <a:t>Nested Class</a:t>
            </a:r>
          </a:p>
        </p:txBody>
      </p:sp>
      <p:sp>
        <p:nvSpPr>
          <p:cNvPr id="12290" name="Rectangle 2"/>
          <p:cNvSpPr>
            <a:spLocks noGrp="1" noChangeArrowheads="1"/>
          </p:cNvSpPr>
          <p:nvPr>
            <p:ph type="body" idx="1"/>
          </p:nvPr>
        </p:nvSpPr>
        <p:spPr>
          <a:xfrm>
            <a:off x="457200" y="1600200"/>
            <a:ext cx="8229600" cy="4525963"/>
          </a:xfrm>
          <a:ln/>
        </p:spPr>
        <p:txBody>
          <a:bodyPr/>
          <a:lstStyle/>
          <a:p>
            <a:pPr>
              <a:lnSpc>
                <a:spcPct val="100000"/>
              </a:lnSpc>
              <a:spcBef>
                <a:spcPts val="6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A nested class has access to the members, including private members, of the class in which it is nested.</a:t>
            </a:r>
          </a:p>
          <a:p>
            <a:pPr>
              <a:lnSpc>
                <a:spcPct val="100000"/>
              </a:lnSpc>
              <a:spcBef>
                <a:spcPts val="6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The enclosing class has no access to the members of the nested class.</a:t>
            </a:r>
          </a:p>
          <a:p>
            <a:pPr>
              <a:lnSpc>
                <a:spcPct val="100000"/>
              </a:lnSpc>
              <a:spcBef>
                <a:spcPts val="6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Two types of nested class:</a:t>
            </a:r>
          </a:p>
          <a:p>
            <a:pPr>
              <a:lnSpc>
                <a:spcPct val="100000"/>
              </a:lnSpc>
              <a:spcBef>
                <a:spcPts val="600"/>
              </a:spcBef>
              <a:buFont typeface="Wingdings" panose="05000000000000000000"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	-static nested class --- rarely used.</a:t>
            </a:r>
          </a:p>
          <a:p>
            <a:pPr>
              <a:lnSpc>
                <a:spcPct val="100000"/>
              </a:lnSpc>
              <a:spcBef>
                <a:spcPts val="600"/>
              </a:spcBef>
              <a:buFont typeface="Wingdings" panose="05000000000000000000" pitchFamily="2" charset="2"/>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	-Non-static class ---known as inner class.</a:t>
            </a:r>
          </a:p>
        </p:txBody>
      </p:sp>
      <p:sp>
        <p:nvSpPr>
          <p:cNvPr id="2" name="Date Placeholder 1"/>
          <p:cNvSpPr>
            <a:spLocks noGrp="1"/>
          </p:cNvSpPr>
          <p:nvPr>
            <p:ph type="dt" idx="10"/>
          </p:nvPr>
        </p:nvSpPr>
        <p:spPr/>
        <p:txBody>
          <a:bodyPr/>
          <a:lstStyle/>
          <a:p>
            <a:fld id="{8E3ADCF4-552A-46C3-BA6F-5F680EA0ED38}" type="datetime1">
              <a:rPr lang="en-US" altLang="en-US" smtClean="0"/>
              <a:pPr/>
              <a:t>9/17/25</a:t>
            </a:fld>
            <a:endParaRPr lang="en-GB" altLang="en-US"/>
          </a:p>
        </p:txBody>
      </p:sp>
      <p:sp>
        <p:nvSpPr>
          <p:cNvPr id="3" name="Slide Number Placeholder 2"/>
          <p:cNvSpPr>
            <a:spLocks noGrp="1"/>
          </p:cNvSpPr>
          <p:nvPr>
            <p:ph type="sldNum" idx="12"/>
          </p:nvPr>
        </p:nvSpPr>
        <p:spPr/>
        <p:txBody>
          <a:bodyPr/>
          <a:lstStyle/>
          <a:p>
            <a:fld id="{14A5F247-8C61-4455-A097-17F3E365C121}" type="slidenum">
              <a:rPr lang="en-GB" altLang="en-US" smtClean="0"/>
              <a:pPr/>
              <a:t>54</a:t>
            </a:fld>
            <a:endParaRPr lang="en-GB"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1"/>
          <p:cNvSpPr>
            <a:spLocks noGrp="1" noChangeArrowheads="1"/>
          </p:cNvSpPr>
          <p:nvPr>
            <p:ph type="title"/>
          </p:nvPr>
        </p:nvSpPr>
        <p:spPr>
          <a:xfrm>
            <a:off x="457200" y="274638"/>
            <a:ext cx="8229600" cy="1143000"/>
          </a:xfrm>
          <a:ln/>
        </p:spPr>
        <p:txBody>
          <a:bodyPr/>
          <a:lstStyle/>
          <a:p>
            <a:pPr>
              <a:lnSpc>
                <a:spcPct val="100000"/>
              </a:lnSpc>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Times New Roman" panose="02020603050405020304" pitchFamily="18" charset="0"/>
              </a:rPr>
              <a:t>Inner Class</a:t>
            </a:r>
          </a:p>
        </p:txBody>
      </p:sp>
      <p:sp>
        <p:nvSpPr>
          <p:cNvPr id="13314" name="Rectangle 2"/>
          <p:cNvSpPr>
            <a:spLocks noGrp="1" noChangeArrowheads="1"/>
          </p:cNvSpPr>
          <p:nvPr>
            <p:ph type="body" idx="1"/>
          </p:nvPr>
        </p:nvSpPr>
        <p:spPr>
          <a:xfrm>
            <a:off x="457200" y="1600200"/>
            <a:ext cx="8229600" cy="4525963"/>
          </a:xfrm>
          <a:ln/>
        </p:spPr>
        <p:txBody>
          <a:bodyPr/>
          <a:lstStyle/>
          <a:p>
            <a:pPr>
              <a:lnSpc>
                <a:spcPct val="100000"/>
              </a:lnSpc>
              <a:spcBef>
                <a:spcPts val="6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A non-static nested class.</a:t>
            </a:r>
          </a:p>
          <a:p>
            <a:pPr>
              <a:lnSpc>
                <a:spcPct val="100000"/>
              </a:lnSpc>
              <a:spcBef>
                <a:spcPts val="6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It has access to all the members of the outer class and refer them directly.</a:t>
            </a:r>
          </a:p>
        </p:txBody>
      </p:sp>
      <p:sp>
        <p:nvSpPr>
          <p:cNvPr id="2" name="Date Placeholder 1"/>
          <p:cNvSpPr>
            <a:spLocks noGrp="1"/>
          </p:cNvSpPr>
          <p:nvPr>
            <p:ph type="dt" idx="10"/>
          </p:nvPr>
        </p:nvSpPr>
        <p:spPr/>
        <p:txBody>
          <a:bodyPr/>
          <a:lstStyle/>
          <a:p>
            <a:fld id="{1DF362E9-1A75-4FED-84B9-7862AA46B8B7}" type="datetime1">
              <a:rPr lang="en-US" altLang="en-US" smtClean="0"/>
              <a:pPr/>
              <a:t>9/17/25</a:t>
            </a:fld>
            <a:endParaRPr lang="en-GB" altLang="en-US"/>
          </a:p>
        </p:txBody>
      </p:sp>
      <p:sp>
        <p:nvSpPr>
          <p:cNvPr id="3" name="Slide Number Placeholder 2"/>
          <p:cNvSpPr>
            <a:spLocks noGrp="1"/>
          </p:cNvSpPr>
          <p:nvPr>
            <p:ph type="sldNum" idx="12"/>
          </p:nvPr>
        </p:nvSpPr>
        <p:spPr/>
        <p:txBody>
          <a:bodyPr/>
          <a:lstStyle/>
          <a:p>
            <a:fld id="{14A5F247-8C61-4455-A097-17F3E365C121}" type="slidenum">
              <a:rPr lang="en-GB" altLang="en-US" smtClean="0"/>
              <a:pPr/>
              <a:t>55</a:t>
            </a:fld>
            <a:endParaRPr lang="en-GB"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1"/>
          <p:cNvSpPr>
            <a:spLocks noGrp="1" noChangeArrowheads="1"/>
          </p:cNvSpPr>
          <p:nvPr>
            <p:ph type="title"/>
          </p:nvPr>
        </p:nvSpPr>
        <p:spPr>
          <a:xfrm>
            <a:off x="457200" y="166688"/>
            <a:ext cx="8077200" cy="703262"/>
          </a:xfrm>
          <a:ln/>
        </p:spPr>
        <p:txBody>
          <a:bodyPr/>
          <a:lstStyle/>
          <a:p>
            <a:pPr>
              <a:lnSpc>
                <a:spcPct val="100000"/>
              </a:lnSpc>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4000">
                <a:latin typeface="Times New Roman" panose="02020603050405020304" pitchFamily="18" charset="0"/>
              </a:rPr>
              <a:t>Example</a:t>
            </a:r>
          </a:p>
        </p:txBody>
      </p:sp>
      <p:sp>
        <p:nvSpPr>
          <p:cNvPr id="14338" name="Rectangle 2"/>
          <p:cNvSpPr>
            <a:spLocks noGrp="1" noChangeArrowheads="1"/>
          </p:cNvSpPr>
          <p:nvPr>
            <p:ph type="body" idx="1"/>
          </p:nvPr>
        </p:nvSpPr>
        <p:spPr>
          <a:xfrm>
            <a:off x="457200" y="914400"/>
            <a:ext cx="4038600" cy="5211763"/>
          </a:xfrm>
          <a:ln/>
        </p:spPr>
        <p:txBody>
          <a:bodyPr/>
          <a:lstStyle/>
          <a:p>
            <a:pPr>
              <a:lnSpc>
                <a:spcPct val="9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class Outer</a:t>
            </a:r>
          </a:p>
          <a:p>
            <a:pPr>
              <a:lnSpc>
                <a:spcPct val="9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a:t>
            </a:r>
          </a:p>
          <a:p>
            <a:pPr>
              <a:lnSpc>
                <a:spcPct val="9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int </a:t>
            </a:r>
            <a:r>
              <a:rPr lang="en-GB" altLang="en-US" sz="1800" dirty="0" err="1">
                <a:latin typeface="Times New Roman" panose="02020603050405020304" pitchFamily="18" charset="0"/>
              </a:rPr>
              <a:t>out_x</a:t>
            </a:r>
            <a:r>
              <a:rPr lang="en-GB" altLang="en-US" sz="1800" dirty="0">
                <a:latin typeface="Times New Roman" panose="02020603050405020304" pitchFamily="18" charset="0"/>
              </a:rPr>
              <a:t> = 100;</a:t>
            </a:r>
          </a:p>
          <a:p>
            <a:pPr>
              <a:lnSpc>
                <a:spcPct val="9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void test()</a:t>
            </a:r>
          </a:p>
          <a:p>
            <a:pPr>
              <a:lnSpc>
                <a:spcPct val="9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9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Inner in = new Inner();</a:t>
            </a:r>
          </a:p>
          <a:p>
            <a:pPr>
              <a:lnSpc>
                <a:spcPct val="9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r>
              <a:rPr lang="en-GB" altLang="en-US" sz="1800" dirty="0" err="1">
                <a:latin typeface="Times New Roman" panose="02020603050405020304" pitchFamily="18" charset="0"/>
              </a:rPr>
              <a:t>in.display</a:t>
            </a:r>
            <a:r>
              <a:rPr lang="en-GB" altLang="en-US" sz="1800" dirty="0">
                <a:latin typeface="Times New Roman" panose="02020603050405020304" pitchFamily="18" charset="0"/>
              </a:rPr>
              <a:t>();</a:t>
            </a:r>
          </a:p>
          <a:p>
            <a:pPr>
              <a:lnSpc>
                <a:spcPct val="9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9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class Inner</a:t>
            </a:r>
          </a:p>
          <a:p>
            <a:pPr>
              <a:lnSpc>
                <a:spcPct val="9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9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void display()</a:t>
            </a:r>
          </a:p>
          <a:p>
            <a:pPr>
              <a:lnSpc>
                <a:spcPct val="9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9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r>
              <a:rPr lang="en-GB" altLang="en-US" sz="1800" dirty="0" err="1">
                <a:latin typeface="Times New Roman" panose="02020603050405020304" pitchFamily="18" charset="0"/>
              </a:rPr>
              <a:t>System.out.println</a:t>
            </a:r>
            <a:r>
              <a:rPr lang="en-GB" altLang="en-US" sz="1800" dirty="0">
                <a:latin typeface="Times New Roman" panose="02020603050405020304" pitchFamily="18" charset="0"/>
              </a:rPr>
              <a:t>(</a:t>
            </a:r>
            <a:r>
              <a:rPr lang="en-GB" altLang="en-US" sz="1800" dirty="0" err="1">
                <a:latin typeface="Times New Roman" panose="02020603050405020304" pitchFamily="18" charset="0"/>
              </a:rPr>
              <a:t>out_x</a:t>
            </a:r>
            <a:r>
              <a:rPr lang="en-GB" altLang="en-US" sz="1800" dirty="0">
                <a:latin typeface="Times New Roman" panose="02020603050405020304" pitchFamily="18" charset="0"/>
              </a:rPr>
              <a:t>);</a:t>
            </a:r>
          </a:p>
          <a:p>
            <a:pPr>
              <a:lnSpc>
                <a:spcPct val="9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9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p>
          <a:p>
            <a:pPr>
              <a:lnSpc>
                <a:spcPct val="9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a:t>
            </a:r>
          </a:p>
        </p:txBody>
      </p:sp>
      <p:sp>
        <p:nvSpPr>
          <p:cNvPr id="14339" name="Rectangle 3"/>
          <p:cNvSpPr>
            <a:spLocks noGrp="1" noChangeArrowheads="1"/>
          </p:cNvSpPr>
          <p:nvPr>
            <p:ph type="body" idx="2"/>
          </p:nvPr>
        </p:nvSpPr>
        <p:spPr>
          <a:xfrm>
            <a:off x="4648200" y="914400"/>
            <a:ext cx="4038600" cy="5211763"/>
          </a:xfrm>
          <a:ln/>
        </p:spPr>
        <p:txBody>
          <a:bodyPr/>
          <a:lstStyle/>
          <a:p>
            <a:pPr>
              <a:lnSpc>
                <a:spcPct val="9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class </a:t>
            </a:r>
            <a:r>
              <a:rPr lang="en-GB" altLang="en-US" sz="2000" dirty="0" err="1">
                <a:latin typeface="Times New Roman" panose="02020603050405020304" pitchFamily="18" charset="0"/>
              </a:rPr>
              <a:t>Indemo</a:t>
            </a:r>
            <a:endParaRPr lang="en-GB" altLang="en-US" sz="2000" dirty="0">
              <a:latin typeface="Times New Roman" panose="02020603050405020304" pitchFamily="18" charset="0"/>
            </a:endParaRPr>
          </a:p>
          <a:p>
            <a:pPr>
              <a:lnSpc>
                <a:spcPct val="9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a:t>
            </a:r>
          </a:p>
          <a:p>
            <a:pPr>
              <a:lnSpc>
                <a:spcPct val="9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public static void main(String </a:t>
            </a:r>
            <a:r>
              <a:rPr lang="en-GB" altLang="en-US" sz="2000" dirty="0" err="1">
                <a:latin typeface="Times New Roman" panose="02020603050405020304" pitchFamily="18" charset="0"/>
              </a:rPr>
              <a:t>args</a:t>
            </a:r>
            <a:r>
              <a:rPr lang="en-GB" altLang="en-US" sz="2000" dirty="0">
                <a:latin typeface="Times New Roman" panose="02020603050405020304" pitchFamily="18" charset="0"/>
              </a:rPr>
              <a:t>[])</a:t>
            </a:r>
          </a:p>
          <a:p>
            <a:pPr>
              <a:lnSpc>
                <a:spcPct val="9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a:t>
            </a:r>
          </a:p>
          <a:p>
            <a:pPr>
              <a:lnSpc>
                <a:spcPct val="9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	Outer out = new Outer();</a:t>
            </a:r>
          </a:p>
          <a:p>
            <a:pPr>
              <a:lnSpc>
                <a:spcPct val="9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	</a:t>
            </a:r>
            <a:r>
              <a:rPr lang="en-GB" altLang="en-US" sz="2000" dirty="0" err="1">
                <a:latin typeface="Times New Roman" panose="02020603050405020304" pitchFamily="18" charset="0"/>
              </a:rPr>
              <a:t>out.test</a:t>
            </a:r>
            <a:r>
              <a:rPr lang="en-GB" altLang="en-US" sz="2000" dirty="0">
                <a:latin typeface="Times New Roman" panose="02020603050405020304" pitchFamily="18" charset="0"/>
              </a:rPr>
              <a:t>();</a:t>
            </a:r>
          </a:p>
          <a:p>
            <a:pPr>
              <a:lnSpc>
                <a:spcPct val="9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a:t>
            </a:r>
          </a:p>
          <a:p>
            <a:pPr>
              <a:lnSpc>
                <a:spcPct val="90000"/>
              </a:lnSpc>
              <a:spcBef>
                <a:spcPts val="5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000" dirty="0">
                <a:latin typeface="Times New Roman" panose="02020603050405020304" pitchFamily="18" charset="0"/>
              </a:rPr>
              <a:t>}</a:t>
            </a:r>
          </a:p>
        </p:txBody>
      </p:sp>
      <p:sp>
        <p:nvSpPr>
          <p:cNvPr id="2" name="Date Placeholder 1"/>
          <p:cNvSpPr>
            <a:spLocks noGrp="1"/>
          </p:cNvSpPr>
          <p:nvPr>
            <p:ph type="dt" idx="10"/>
          </p:nvPr>
        </p:nvSpPr>
        <p:spPr/>
        <p:txBody>
          <a:bodyPr/>
          <a:lstStyle/>
          <a:p>
            <a:fld id="{6C5A9788-35CB-4560-AB99-133153A9BCDD}" type="datetime1">
              <a:rPr lang="en-US" altLang="en-US" smtClean="0"/>
              <a:pPr/>
              <a:t>9/17/25</a:t>
            </a:fld>
            <a:endParaRPr lang="en-GB" altLang="en-US"/>
          </a:p>
        </p:txBody>
      </p:sp>
      <p:sp>
        <p:nvSpPr>
          <p:cNvPr id="3" name="Slide Number Placeholder 2"/>
          <p:cNvSpPr>
            <a:spLocks noGrp="1"/>
          </p:cNvSpPr>
          <p:nvPr>
            <p:ph type="sldNum" idx="12"/>
          </p:nvPr>
        </p:nvSpPr>
        <p:spPr/>
        <p:txBody>
          <a:bodyPr/>
          <a:lstStyle/>
          <a:p>
            <a:fld id="{DFDD96B3-7294-4DC9-8D81-64C499082E36}" type="slidenum">
              <a:rPr lang="en-GB" altLang="en-US" smtClean="0"/>
              <a:pPr/>
              <a:t>56</a:t>
            </a:fld>
            <a:endParaRPr lang="en-GB"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1"/>
          <p:cNvSpPr>
            <a:spLocks noGrp="1" noChangeArrowheads="1"/>
          </p:cNvSpPr>
          <p:nvPr>
            <p:ph type="title"/>
          </p:nvPr>
        </p:nvSpPr>
        <p:spPr>
          <a:xfrm>
            <a:off x="457200" y="166688"/>
            <a:ext cx="8077200" cy="703262"/>
          </a:xfrm>
          <a:ln/>
        </p:spPr>
        <p:txBody>
          <a:bodyPr/>
          <a:lstStyle/>
          <a:p>
            <a:pPr>
              <a:lnSpc>
                <a:spcPct val="100000"/>
              </a:lnSpc>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4000">
                <a:latin typeface="Times New Roman" panose="02020603050405020304" pitchFamily="18" charset="0"/>
              </a:rPr>
              <a:t>Example</a:t>
            </a:r>
          </a:p>
        </p:txBody>
      </p:sp>
      <p:sp>
        <p:nvSpPr>
          <p:cNvPr id="15362" name="Rectangle 2"/>
          <p:cNvSpPr>
            <a:spLocks noGrp="1" noChangeArrowheads="1"/>
          </p:cNvSpPr>
          <p:nvPr>
            <p:ph type="body" idx="1"/>
          </p:nvPr>
        </p:nvSpPr>
        <p:spPr>
          <a:xfrm>
            <a:off x="457200" y="914400"/>
            <a:ext cx="4038600" cy="5211763"/>
          </a:xfrm>
          <a:ln/>
        </p:spPr>
        <p:txBody>
          <a:bodyPr/>
          <a:lstStyle/>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class Outer</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int </a:t>
            </a:r>
            <a:r>
              <a:rPr lang="en-GB" altLang="en-US" sz="1600" dirty="0" err="1">
                <a:latin typeface="Times New Roman" panose="02020603050405020304" pitchFamily="18" charset="0"/>
              </a:rPr>
              <a:t>out_x</a:t>
            </a:r>
            <a:r>
              <a:rPr lang="en-GB" altLang="en-US" sz="1600" dirty="0">
                <a:latin typeface="Times New Roman" panose="02020603050405020304" pitchFamily="18" charset="0"/>
              </a:rPr>
              <a:t> = 100;</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void test()</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Inner in = new Inner();</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r>
              <a:rPr lang="en-GB" altLang="en-US" sz="1600" dirty="0" err="1">
                <a:latin typeface="Times New Roman" panose="02020603050405020304" pitchFamily="18" charset="0"/>
              </a:rPr>
              <a:t>in.display</a:t>
            </a:r>
            <a:r>
              <a:rPr lang="en-GB" altLang="en-US" sz="1600" dirty="0">
                <a:latin typeface="Times New Roman" panose="02020603050405020304" pitchFamily="18" charset="0"/>
              </a:rPr>
              <a:t>();</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class Inner</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	int y = 10;</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void display()</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r>
              <a:rPr lang="en-GB" altLang="en-US" sz="1600" dirty="0" err="1">
                <a:latin typeface="Times New Roman" panose="02020603050405020304" pitchFamily="18" charset="0"/>
              </a:rPr>
              <a:t>System.out.println</a:t>
            </a:r>
            <a:r>
              <a:rPr lang="en-GB" altLang="en-US" sz="1600" dirty="0">
                <a:latin typeface="Times New Roman" panose="02020603050405020304" pitchFamily="18" charset="0"/>
              </a:rPr>
              <a:t>(</a:t>
            </a:r>
            <a:r>
              <a:rPr lang="en-GB" altLang="en-US" sz="1600" dirty="0" err="1">
                <a:latin typeface="Times New Roman" panose="02020603050405020304" pitchFamily="18" charset="0"/>
              </a:rPr>
              <a:t>out_x</a:t>
            </a:r>
            <a:r>
              <a:rPr lang="en-GB" altLang="en-US" sz="1600" dirty="0">
                <a:latin typeface="Times New Roman" panose="02020603050405020304" pitchFamily="18" charset="0"/>
              </a:rPr>
              <a:t>);</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void showy()</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r>
              <a:rPr lang="en-GB" altLang="en-US" sz="1600" dirty="0" err="1">
                <a:latin typeface="Times New Roman" panose="02020603050405020304" pitchFamily="18" charset="0"/>
              </a:rPr>
              <a:t>System.out.println</a:t>
            </a:r>
            <a:r>
              <a:rPr lang="en-GB" altLang="en-US" sz="1600" dirty="0">
                <a:latin typeface="Times New Roman" panose="02020603050405020304" pitchFamily="18" charset="0"/>
              </a:rPr>
              <a:t>(y); //Error: y is not in scope here since it belongs to the Inner class.</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a:t>
            </a:r>
          </a:p>
        </p:txBody>
      </p:sp>
      <p:sp>
        <p:nvSpPr>
          <p:cNvPr id="15363" name="Rectangle 3"/>
          <p:cNvSpPr>
            <a:spLocks noGrp="1" noChangeArrowheads="1"/>
          </p:cNvSpPr>
          <p:nvPr>
            <p:ph type="body" idx="2"/>
          </p:nvPr>
        </p:nvSpPr>
        <p:spPr>
          <a:xfrm>
            <a:off x="4648200" y="914400"/>
            <a:ext cx="4038600" cy="5211763"/>
          </a:xfrm>
          <a:ln/>
        </p:spPr>
        <p:txBody>
          <a:bodyPr/>
          <a:lstStyle/>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class </a:t>
            </a:r>
            <a:r>
              <a:rPr lang="en-GB" altLang="en-US" sz="1800" dirty="0" err="1">
                <a:latin typeface="Times New Roman" panose="02020603050405020304" pitchFamily="18" charset="0"/>
              </a:rPr>
              <a:t>Indemo</a:t>
            </a:r>
            <a:endParaRPr lang="en-GB" altLang="en-US" sz="1800" dirty="0">
              <a:latin typeface="Times New Roman" panose="02020603050405020304" pitchFamily="18" charset="0"/>
            </a:endParaRP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public static void main(String </a:t>
            </a:r>
            <a:r>
              <a:rPr lang="en-GB" altLang="en-US" sz="1800" dirty="0" err="1">
                <a:latin typeface="Times New Roman" panose="02020603050405020304" pitchFamily="18" charset="0"/>
              </a:rPr>
              <a:t>args</a:t>
            </a: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Outer out = new Outer();</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r>
              <a:rPr lang="en-GB" altLang="en-US" sz="1800" dirty="0" err="1">
                <a:latin typeface="Times New Roman" panose="02020603050405020304" pitchFamily="18" charset="0"/>
              </a:rPr>
              <a:t>out.test</a:t>
            </a: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a:t>
            </a:r>
          </a:p>
        </p:txBody>
      </p:sp>
      <p:sp>
        <p:nvSpPr>
          <p:cNvPr id="2" name="Date Placeholder 1"/>
          <p:cNvSpPr>
            <a:spLocks noGrp="1"/>
          </p:cNvSpPr>
          <p:nvPr>
            <p:ph type="dt" idx="10"/>
          </p:nvPr>
        </p:nvSpPr>
        <p:spPr/>
        <p:txBody>
          <a:bodyPr/>
          <a:lstStyle/>
          <a:p>
            <a:fld id="{3C664FDD-E65C-47AF-A1BB-57C8914E561D}" type="datetime1">
              <a:rPr lang="en-US" altLang="en-US" smtClean="0"/>
              <a:pPr/>
              <a:t>9/17/25</a:t>
            </a:fld>
            <a:endParaRPr lang="en-GB" altLang="en-US"/>
          </a:p>
        </p:txBody>
      </p:sp>
      <p:sp>
        <p:nvSpPr>
          <p:cNvPr id="3" name="Slide Number Placeholder 2"/>
          <p:cNvSpPr>
            <a:spLocks noGrp="1"/>
          </p:cNvSpPr>
          <p:nvPr>
            <p:ph type="sldNum" idx="12"/>
          </p:nvPr>
        </p:nvSpPr>
        <p:spPr/>
        <p:txBody>
          <a:bodyPr/>
          <a:lstStyle/>
          <a:p>
            <a:fld id="{DFDD96B3-7294-4DC9-8D81-64C499082E36}" type="slidenum">
              <a:rPr lang="en-GB" altLang="en-US" smtClean="0"/>
              <a:pPr/>
              <a:t>57</a:t>
            </a:fld>
            <a:endParaRPr lang="en-GB"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1"/>
          <p:cNvSpPr>
            <a:spLocks noGrp="1" noChangeArrowheads="1"/>
          </p:cNvSpPr>
          <p:nvPr>
            <p:ph type="title"/>
          </p:nvPr>
        </p:nvSpPr>
        <p:spPr>
          <a:xfrm>
            <a:off x="457200" y="274638"/>
            <a:ext cx="8229600" cy="1143000"/>
          </a:xfrm>
          <a:ln/>
        </p:spPr>
        <p:txBody>
          <a:bodyPr/>
          <a:lstStyle/>
          <a:p>
            <a:pPr>
              <a:lnSpc>
                <a:spcPct val="100000"/>
              </a:lnSpc>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a:latin typeface="Times New Roman" panose="02020603050405020304" pitchFamily="18" charset="0"/>
              </a:rPr>
              <a:t>Inner Class</a:t>
            </a:r>
          </a:p>
        </p:txBody>
      </p:sp>
      <p:sp>
        <p:nvSpPr>
          <p:cNvPr id="16386" name="Rectangle 2"/>
          <p:cNvSpPr>
            <a:spLocks noGrp="1" noChangeArrowheads="1"/>
          </p:cNvSpPr>
          <p:nvPr>
            <p:ph type="body" idx="1"/>
          </p:nvPr>
        </p:nvSpPr>
        <p:spPr>
          <a:xfrm>
            <a:off x="457200" y="1600200"/>
            <a:ext cx="8229600" cy="4525963"/>
          </a:xfrm>
          <a:ln/>
        </p:spPr>
        <p:txBody>
          <a:bodyPr/>
          <a:lstStyle/>
          <a:p>
            <a:pPr>
              <a:lnSpc>
                <a:spcPct val="100000"/>
              </a:lnSpc>
              <a:spcBef>
                <a:spcPts val="6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It is possible to define inner classes within any block scope.</a:t>
            </a:r>
          </a:p>
          <a:p>
            <a:pPr>
              <a:lnSpc>
                <a:spcPct val="100000"/>
              </a:lnSpc>
              <a:spcBef>
                <a:spcPts val="600"/>
              </a:spcBef>
              <a:buFont typeface="Wingdings" panose="05000000000000000000" pitchFamily="2" charset="2"/>
              <a:buChar cha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2400">
                <a:latin typeface="Times New Roman" panose="02020603050405020304" pitchFamily="18" charset="0"/>
              </a:rPr>
              <a:t>For example, it can be defined in a block defined by a method or even within the body of a for loop.</a:t>
            </a:r>
          </a:p>
        </p:txBody>
      </p:sp>
      <p:sp>
        <p:nvSpPr>
          <p:cNvPr id="2" name="Date Placeholder 1"/>
          <p:cNvSpPr>
            <a:spLocks noGrp="1"/>
          </p:cNvSpPr>
          <p:nvPr>
            <p:ph type="dt" idx="10"/>
          </p:nvPr>
        </p:nvSpPr>
        <p:spPr/>
        <p:txBody>
          <a:bodyPr/>
          <a:lstStyle/>
          <a:p>
            <a:fld id="{93AE8569-C8A7-4E48-A16E-4DEF5609B9CD}" type="datetime1">
              <a:rPr lang="en-US" altLang="en-US" smtClean="0"/>
              <a:pPr/>
              <a:t>9/17/25</a:t>
            </a:fld>
            <a:endParaRPr lang="en-GB" altLang="en-US"/>
          </a:p>
        </p:txBody>
      </p:sp>
      <p:sp>
        <p:nvSpPr>
          <p:cNvPr id="3" name="Slide Number Placeholder 2"/>
          <p:cNvSpPr>
            <a:spLocks noGrp="1"/>
          </p:cNvSpPr>
          <p:nvPr>
            <p:ph type="sldNum" idx="12"/>
          </p:nvPr>
        </p:nvSpPr>
        <p:spPr/>
        <p:txBody>
          <a:bodyPr/>
          <a:lstStyle/>
          <a:p>
            <a:fld id="{14A5F247-8C61-4455-A097-17F3E365C121}" type="slidenum">
              <a:rPr lang="en-GB" altLang="en-US" smtClean="0"/>
              <a:pPr/>
              <a:t>58</a:t>
            </a:fld>
            <a:endParaRPr lang="en-GB"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1"/>
          <p:cNvSpPr>
            <a:spLocks noGrp="1" noChangeArrowheads="1"/>
          </p:cNvSpPr>
          <p:nvPr>
            <p:ph type="title"/>
          </p:nvPr>
        </p:nvSpPr>
        <p:spPr>
          <a:xfrm>
            <a:off x="457200" y="166688"/>
            <a:ext cx="8077200" cy="703262"/>
          </a:xfrm>
          <a:ln/>
        </p:spPr>
        <p:txBody>
          <a:bodyPr/>
          <a:lstStyle/>
          <a:p>
            <a:pPr>
              <a:lnSpc>
                <a:spcPct val="100000"/>
              </a:lnSpc>
              <a:buFont typeface="Times New Roman" panose="02020603050405020304" pitchFamily="18" charset="0"/>
              <a:buNone/>
              <a:tabLst>
                <a:tab pos="0" algn="l"/>
                <a:tab pos="914400" algn="l"/>
                <a:tab pos="1828800" algn="l"/>
                <a:tab pos="2743200" algn="l"/>
                <a:tab pos="3657600" algn="l"/>
                <a:tab pos="4572000" algn="l"/>
                <a:tab pos="5486400" algn="l"/>
                <a:tab pos="6400800" algn="l"/>
                <a:tab pos="7315200" algn="l"/>
                <a:tab pos="8229600" algn="l"/>
                <a:tab pos="9144000" algn="l"/>
                <a:tab pos="10058400" algn="l"/>
              </a:tabLst>
            </a:pPr>
            <a:r>
              <a:rPr lang="en-GB" altLang="en-US" sz="4000">
                <a:latin typeface="Times New Roman" panose="02020603050405020304" pitchFamily="18" charset="0"/>
              </a:rPr>
              <a:t>Example</a:t>
            </a:r>
          </a:p>
        </p:txBody>
      </p:sp>
      <p:sp>
        <p:nvSpPr>
          <p:cNvPr id="17410" name="Rectangle 2"/>
          <p:cNvSpPr>
            <a:spLocks noGrp="1" noChangeArrowheads="1"/>
          </p:cNvSpPr>
          <p:nvPr>
            <p:ph type="body" idx="1"/>
          </p:nvPr>
        </p:nvSpPr>
        <p:spPr>
          <a:xfrm>
            <a:off x="457200" y="914400"/>
            <a:ext cx="4038600" cy="5211763"/>
          </a:xfrm>
          <a:ln/>
        </p:spPr>
        <p:txBody>
          <a:bodyPr/>
          <a:lstStyle/>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class outer</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r>
              <a:rPr lang="en-GB" altLang="en-US" sz="1600" dirty="0" err="1">
                <a:latin typeface="Times New Roman" panose="02020603050405020304" pitchFamily="18" charset="0"/>
              </a:rPr>
              <a:t>int</a:t>
            </a:r>
            <a:r>
              <a:rPr lang="en-GB" altLang="en-US" sz="1600" dirty="0">
                <a:latin typeface="Times New Roman" panose="02020603050405020304" pitchFamily="18" charset="0"/>
              </a:rPr>
              <a:t> </a:t>
            </a:r>
            <a:r>
              <a:rPr lang="en-GB" altLang="en-US" sz="1600" dirty="0" err="1">
                <a:latin typeface="Times New Roman" panose="02020603050405020304" pitchFamily="18" charset="0"/>
              </a:rPr>
              <a:t>out_x</a:t>
            </a:r>
            <a:r>
              <a:rPr lang="en-GB" altLang="en-US" sz="1600" dirty="0">
                <a:latin typeface="Times New Roman" panose="02020603050405020304" pitchFamily="18" charset="0"/>
              </a:rPr>
              <a:t> = 100;</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void test()</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for(</a:t>
            </a:r>
            <a:r>
              <a:rPr lang="en-GB" altLang="en-US" sz="1600" dirty="0" err="1">
                <a:latin typeface="Times New Roman" panose="02020603050405020304" pitchFamily="18" charset="0"/>
              </a:rPr>
              <a:t>int</a:t>
            </a:r>
            <a:r>
              <a:rPr lang="en-GB" altLang="en-US" sz="1600" dirty="0">
                <a:latin typeface="Times New Roman" panose="02020603050405020304" pitchFamily="18" charset="0"/>
              </a:rPr>
              <a:t> </a:t>
            </a:r>
            <a:r>
              <a:rPr lang="en-GB" altLang="en-US" sz="1600" dirty="0" err="1">
                <a:latin typeface="Times New Roman" panose="02020603050405020304" pitchFamily="18" charset="0"/>
              </a:rPr>
              <a:t>i</a:t>
            </a:r>
            <a:r>
              <a:rPr lang="en-GB" altLang="en-US" sz="1600" dirty="0">
                <a:latin typeface="Times New Roman" panose="02020603050405020304" pitchFamily="18" charset="0"/>
              </a:rPr>
              <a:t>=0;i&lt;5;i++)</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class Inner</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void display()</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r>
              <a:rPr lang="en-GB" altLang="en-US" sz="1600" dirty="0" err="1">
                <a:latin typeface="Times New Roman" panose="02020603050405020304" pitchFamily="18" charset="0"/>
              </a:rPr>
              <a:t>System.out.println</a:t>
            </a:r>
            <a:r>
              <a:rPr lang="en-GB" altLang="en-US" sz="1600" dirty="0">
                <a:latin typeface="Times New Roman" panose="02020603050405020304" pitchFamily="18" charset="0"/>
              </a:rPr>
              <a:t>(</a:t>
            </a:r>
            <a:r>
              <a:rPr lang="en-GB" altLang="en-US" sz="1600" dirty="0" err="1">
                <a:latin typeface="Times New Roman" panose="02020603050405020304" pitchFamily="18" charset="0"/>
              </a:rPr>
              <a:t>out_x</a:t>
            </a:r>
            <a:r>
              <a:rPr lang="en-GB" altLang="en-US" sz="1600" dirty="0">
                <a:latin typeface="Times New Roman" panose="02020603050405020304" pitchFamily="18" charset="0"/>
              </a:rPr>
              <a:t>);</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Inner in = new Inner();</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r>
              <a:rPr lang="en-GB" altLang="en-US" sz="1600" dirty="0" err="1">
                <a:latin typeface="Times New Roman" panose="02020603050405020304" pitchFamily="18" charset="0"/>
              </a:rPr>
              <a:t>in.display</a:t>
            </a:r>
            <a:r>
              <a:rPr lang="en-GB" altLang="en-US" sz="1600" dirty="0">
                <a:latin typeface="Times New Roman" panose="02020603050405020304" pitchFamily="18" charset="0"/>
              </a:rPr>
              <a:t>();</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	</a:t>
            </a:r>
          </a:p>
          <a:p>
            <a:pPr>
              <a:lnSpc>
                <a:spcPct val="80000"/>
              </a:lnSpc>
              <a:spcBef>
                <a:spcPts val="40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600" dirty="0">
                <a:latin typeface="Times New Roman" panose="02020603050405020304" pitchFamily="18" charset="0"/>
              </a:rPr>
              <a:t>}</a:t>
            </a:r>
          </a:p>
        </p:txBody>
      </p:sp>
      <p:sp>
        <p:nvSpPr>
          <p:cNvPr id="17411" name="Rectangle 3"/>
          <p:cNvSpPr>
            <a:spLocks noGrp="1" noChangeArrowheads="1"/>
          </p:cNvSpPr>
          <p:nvPr>
            <p:ph type="body" idx="2"/>
          </p:nvPr>
        </p:nvSpPr>
        <p:spPr>
          <a:xfrm>
            <a:off x="4648200" y="914400"/>
            <a:ext cx="4038600" cy="5211763"/>
          </a:xfrm>
          <a:ln/>
        </p:spPr>
        <p:txBody>
          <a:bodyPr/>
          <a:lstStyle/>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Class </a:t>
            </a:r>
            <a:r>
              <a:rPr lang="en-GB" altLang="en-US" sz="1800" dirty="0" err="1">
                <a:latin typeface="Times New Roman" panose="02020603050405020304" pitchFamily="18" charset="0"/>
              </a:rPr>
              <a:t>indemo</a:t>
            </a:r>
            <a:endParaRPr lang="en-GB" altLang="en-US" sz="1800" dirty="0">
              <a:latin typeface="Times New Roman" panose="02020603050405020304" pitchFamily="18" charset="0"/>
            </a:endParaRP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public static void main(String </a:t>
            </a:r>
            <a:r>
              <a:rPr lang="en-GB" altLang="en-US" sz="1800" dirty="0" err="1">
                <a:latin typeface="Times New Roman" panose="02020603050405020304" pitchFamily="18" charset="0"/>
              </a:rPr>
              <a:t>args</a:t>
            </a: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outer out = new outer();</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	</a:t>
            </a:r>
            <a:r>
              <a:rPr lang="en-GB" altLang="en-US" sz="1800" dirty="0" err="1">
                <a:latin typeface="Times New Roman" panose="02020603050405020304" pitchFamily="18" charset="0"/>
              </a:rPr>
              <a:t>out.test</a:t>
            </a: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a:t>
            </a:r>
          </a:p>
          <a:p>
            <a:pPr>
              <a:lnSpc>
                <a:spcPct val="80000"/>
              </a:lnSpc>
              <a:spcBef>
                <a:spcPts val="450"/>
              </a:spcBef>
              <a:buFont typeface="Times New Roman" panose="02020603050405020304" pitchFamily="18" charset="0"/>
              <a:buNone/>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altLang="en-US" sz="1800" dirty="0">
                <a:latin typeface="Times New Roman" panose="02020603050405020304" pitchFamily="18" charset="0"/>
              </a:rPr>
              <a:t>}</a:t>
            </a:r>
          </a:p>
        </p:txBody>
      </p:sp>
      <p:sp>
        <p:nvSpPr>
          <p:cNvPr id="2" name="Date Placeholder 1"/>
          <p:cNvSpPr>
            <a:spLocks noGrp="1"/>
          </p:cNvSpPr>
          <p:nvPr>
            <p:ph type="dt" idx="10"/>
          </p:nvPr>
        </p:nvSpPr>
        <p:spPr/>
        <p:txBody>
          <a:bodyPr/>
          <a:lstStyle/>
          <a:p>
            <a:fld id="{C8B87D41-F6D3-4E63-B704-6A5C09E16AF1}" type="datetime1">
              <a:rPr lang="en-US" altLang="en-US" smtClean="0"/>
              <a:pPr/>
              <a:t>9/17/25</a:t>
            </a:fld>
            <a:endParaRPr lang="en-GB" altLang="en-US"/>
          </a:p>
        </p:txBody>
      </p:sp>
      <p:sp>
        <p:nvSpPr>
          <p:cNvPr id="3" name="Slide Number Placeholder 2"/>
          <p:cNvSpPr>
            <a:spLocks noGrp="1"/>
          </p:cNvSpPr>
          <p:nvPr>
            <p:ph type="sldNum" idx="12"/>
          </p:nvPr>
        </p:nvSpPr>
        <p:spPr/>
        <p:txBody>
          <a:bodyPr/>
          <a:lstStyle/>
          <a:p>
            <a:fld id="{DFDD96B3-7294-4DC9-8D81-64C499082E36}" type="slidenum">
              <a:rPr lang="en-GB" altLang="en-US" smtClean="0"/>
              <a:pPr/>
              <a:t>59</a:t>
            </a:fld>
            <a:endParaRPr lang="en-GB" alt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p:txBody>
          <a:bodyPr/>
          <a:lstStyle/>
          <a:p>
            <a:endParaRPr lang="en-US" altLang="en-US"/>
          </a:p>
        </p:txBody>
      </p:sp>
      <p:sp>
        <p:nvSpPr>
          <p:cNvPr id="17411" name="Rectangle 3"/>
          <p:cNvSpPr>
            <a:spLocks noGrp="1" noChangeArrowheads="1"/>
          </p:cNvSpPr>
          <p:nvPr>
            <p:ph type="body" idx="1"/>
          </p:nvPr>
        </p:nvSpPr>
        <p:spPr/>
        <p:txBody>
          <a:bodyPr/>
          <a:lstStyle/>
          <a:p>
            <a:pPr>
              <a:buFont typeface="Wingdings" panose="05000000000000000000" pitchFamily="2" charset="2"/>
              <a:buChar char="ü"/>
            </a:pPr>
            <a:r>
              <a:rPr lang="en-US" altLang="en-US" b="1" dirty="0">
                <a:latin typeface="Times New Roman" panose="02020603050405020304" pitchFamily="18" charset="0"/>
              </a:rPr>
              <a:t>Chapter 6 and 7 of the text book</a:t>
            </a:r>
          </a:p>
          <a:p>
            <a:pPr>
              <a:buFont typeface="Wingdings" panose="05000000000000000000" pitchFamily="2" charset="2"/>
              <a:buChar char="ü"/>
            </a:pPr>
            <a:r>
              <a:rPr lang="en-US" altLang="en-US" b="1" dirty="0">
                <a:latin typeface="Times New Roman" panose="02020603050405020304" pitchFamily="18" charset="0"/>
              </a:rPr>
              <a:t>Try to understand the Stack class in chapter 6 by yourself.</a:t>
            </a:r>
          </a:p>
          <a:p>
            <a:pPr>
              <a:buFontTx/>
              <a:buNone/>
            </a:pPr>
            <a:endParaRPr lang="en-US" altLang="en-US" b="1" dirty="0">
              <a:latin typeface="Times New Roman" panose="02020603050405020304" pitchFamily="18" charset="0"/>
            </a:endParaRPr>
          </a:p>
        </p:txBody>
      </p:sp>
      <p:sp>
        <p:nvSpPr>
          <p:cNvPr id="2" name="Date Placeholder 1"/>
          <p:cNvSpPr>
            <a:spLocks noGrp="1"/>
          </p:cNvSpPr>
          <p:nvPr>
            <p:ph type="dt" sz="half" idx="10"/>
          </p:nvPr>
        </p:nvSpPr>
        <p:spPr/>
        <p:txBody>
          <a:bodyPr/>
          <a:lstStyle/>
          <a:p>
            <a:fld id="{AF0A887F-B117-46B5-A992-D7EC33D28AA9}" type="datetime1">
              <a:rPr lang="en-US" altLang="en-US" smtClean="0"/>
              <a:t>9/17/25</a:t>
            </a:fld>
            <a:endParaRPr lang="en-US" altLang="en-US"/>
          </a:p>
        </p:txBody>
      </p:sp>
      <p:sp>
        <p:nvSpPr>
          <p:cNvPr id="3" name="Slide Number Placeholder 2"/>
          <p:cNvSpPr>
            <a:spLocks noGrp="1"/>
          </p:cNvSpPr>
          <p:nvPr>
            <p:ph type="sldNum" sz="quarter" idx="12"/>
          </p:nvPr>
        </p:nvSpPr>
        <p:spPr/>
        <p:txBody>
          <a:bodyPr/>
          <a:lstStyle/>
          <a:p>
            <a:fld id="{A2797038-AD64-4C97-BB0B-56363D18F42C}" type="slidenum">
              <a:rPr lang="en-US" altLang="en-US" smtClean="0"/>
              <a:pPr/>
              <a:t>60</a:t>
            </a:fld>
            <a:endParaRPr lang="en-US" altLang="en-US"/>
          </a:p>
        </p:txBody>
      </p:sp>
    </p:spTree>
    <p:extLst>
      <p:ext uri="{BB962C8B-B14F-4D97-AF65-F5344CB8AC3E}">
        <p14:creationId xmlns:p14="http://schemas.microsoft.com/office/powerpoint/2010/main" val="2674492756"/>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altLang="en-US"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1314</TotalTime>
  <Words>5900</Words>
  <Application>Microsoft Macintosh PowerPoint</Application>
  <PresentationFormat>On-screen Show (4:3)</PresentationFormat>
  <Paragraphs>1197</Paragraphs>
  <Slides>60</Slides>
  <Notes>16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60</vt:i4>
      </vt:variant>
    </vt:vector>
  </HeadingPairs>
  <TitlesOfParts>
    <vt:vector size="67" baseType="lpstr">
      <vt:lpstr>Arial</vt:lpstr>
      <vt:lpstr>Lucida Console</vt:lpstr>
      <vt:lpstr>LucidaSansTypewriter</vt:lpstr>
      <vt:lpstr>Times New Roman</vt:lpstr>
      <vt:lpstr>Verdana</vt:lpstr>
      <vt:lpstr>Wingdings</vt:lpstr>
      <vt:lpstr>Default Design</vt:lpstr>
      <vt:lpstr>Lecture 5</vt:lpstr>
      <vt:lpstr>Introducing Methods</vt:lpstr>
      <vt:lpstr>A Simple Example 1-Introducing Methods</vt:lpstr>
      <vt:lpstr>Methods</vt:lpstr>
      <vt:lpstr>A Simple Example 2-Introducing Methods</vt:lpstr>
      <vt:lpstr>Creating a Car class</vt:lpstr>
      <vt:lpstr>Car’s instance variables</vt:lpstr>
      <vt:lpstr>Instance variables </vt:lpstr>
      <vt:lpstr>Car behaviors or methods</vt:lpstr>
      <vt:lpstr>Creating a new car</vt:lpstr>
      <vt:lpstr>Constructors</vt:lpstr>
      <vt:lpstr>Parameterized Constructor</vt:lpstr>
      <vt:lpstr>Example</vt:lpstr>
      <vt:lpstr>Constructors</vt:lpstr>
      <vt:lpstr>Our Car class so far</vt:lpstr>
      <vt:lpstr>Our Car class so far</vt:lpstr>
      <vt:lpstr>Another constructor</vt:lpstr>
      <vt:lpstr>Our Car class so far</vt:lpstr>
      <vt:lpstr>Using our Car class</vt:lpstr>
      <vt:lpstr>So what does private mean?</vt:lpstr>
      <vt:lpstr>So how do we get the fuel of a Car?</vt:lpstr>
      <vt:lpstr>So how do we set the fuel of a Car?</vt:lpstr>
      <vt:lpstr>Why use all this?</vt:lpstr>
      <vt:lpstr>Back to our specific constructor</vt:lpstr>
      <vt:lpstr>Back to our specific constructor</vt:lpstr>
      <vt:lpstr>So what’s left to add to our Car class?</vt:lpstr>
      <vt:lpstr>Using the Car’s fuel</vt:lpstr>
      <vt:lpstr>Using the Car’s fuel</vt:lpstr>
      <vt:lpstr>The main() method</vt:lpstr>
      <vt:lpstr>Running a class without a main() method</vt:lpstr>
      <vt:lpstr>The this Keyword</vt:lpstr>
      <vt:lpstr>Garbage Collection</vt:lpstr>
      <vt:lpstr>The finalize () Method</vt:lpstr>
      <vt:lpstr>Parameter Passing in Java</vt:lpstr>
      <vt:lpstr>Call by Value</vt:lpstr>
      <vt:lpstr>Call by Reference</vt:lpstr>
      <vt:lpstr>Returning Objects</vt:lpstr>
      <vt:lpstr>Overloading Methods</vt:lpstr>
      <vt:lpstr>Example1-Method Overloading</vt:lpstr>
      <vt:lpstr>Example2-Method Overloading</vt:lpstr>
      <vt:lpstr>Example-Overloading Constructor</vt:lpstr>
      <vt:lpstr>Example-Array of Objects</vt:lpstr>
      <vt:lpstr>Example-Recursion</vt:lpstr>
      <vt:lpstr>Access Control</vt:lpstr>
      <vt:lpstr>Example-Access Control</vt:lpstr>
      <vt:lpstr>Static Variables</vt:lpstr>
      <vt:lpstr>Example</vt:lpstr>
      <vt:lpstr>Static Methods</vt:lpstr>
      <vt:lpstr>Example-static data and methods</vt:lpstr>
      <vt:lpstr>Example</vt:lpstr>
      <vt:lpstr>Example-using main() in the same class</vt:lpstr>
      <vt:lpstr>Example-using main() in the same class</vt:lpstr>
      <vt:lpstr>Nested Class</vt:lpstr>
      <vt:lpstr>Nested Class</vt:lpstr>
      <vt:lpstr>Inner Class</vt:lpstr>
      <vt:lpstr>Example</vt:lpstr>
      <vt:lpstr>Example</vt:lpstr>
      <vt:lpstr>Inner Class</vt:lpstr>
      <vt:lpstr>Example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Md. Shiplu Hawlader</dc:creator>
  <cp:lastModifiedBy>Fahim Arefin</cp:lastModifiedBy>
  <cp:revision>50</cp:revision>
  <cp:lastPrinted>1601-01-01T00:00:00Z</cp:lastPrinted>
  <dcterms:created xsi:type="dcterms:W3CDTF">1601-01-01T00:00:00Z</dcterms:created>
  <dcterms:modified xsi:type="dcterms:W3CDTF">2025-09-17T09:47:30Z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i4>1</vt:i4>
  </property>
</Properties>
</file>