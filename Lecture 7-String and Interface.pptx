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g687AOnBs7iVzpIDstbKwJ9c37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175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aa4e2124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8aa4e2124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aa4e2124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8aa4e2124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a4e2124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8aa4e2124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aa4e2124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9" name="Google Shape;119;g38aa4e2124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8aa4e2124c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aa4e2124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8aa4e2124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aa4e2124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8aa4e2124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aa4e2124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8aa4e2124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aa4e2124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8aa4e2124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aa4e2124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8aa4e2124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aa4e2124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8aa4e2124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aa4e2124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8aa4e2124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aa4e2124c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8aa4e2124c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aa4e2124c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8aa4e2124c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7" name="Google Shape;3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8" name="Google Shape;41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3/24/2015</a:t>
            </a:r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10341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Lecture 7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71600" y="29174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String Handling in Java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and Interfaces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a4e2124c_0_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endParaRPr/>
          </a:p>
        </p:txBody>
      </p:sp>
      <p:sp>
        <p:nvSpPr>
          <p:cNvPr id="96" name="Google Shape;96;g38aa4e2124c_0_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Similar to a class.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Consists of only abstract methods and final variables.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Any number of classes can implement an interface.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One class can implement any number of interfaces.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To implement an interface a class must define each of the method declared in the interface. Each class can also add new features.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Interfaces decouple the definition of methods from the inheritance hierarchy</a:t>
            </a:r>
            <a:endParaRPr/>
          </a:p>
        </p:txBody>
      </p:sp>
      <p:sp>
        <p:nvSpPr>
          <p:cNvPr id="98" name="Google Shape;98;g38aa4e2124c_0_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aa4e2124c_0_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Defining an Interface</a:t>
            </a:r>
            <a:endParaRPr/>
          </a:p>
        </p:txBody>
      </p:sp>
      <p:sp>
        <p:nvSpPr>
          <p:cNvPr id="104" name="Google Shape;104;g38aa4e2124c_0_13"/>
          <p:cNvSpPr txBox="1">
            <a:spLocks noGrp="1"/>
          </p:cNvSpPr>
          <p:nvPr>
            <p:ph type="body" idx="1"/>
          </p:nvPr>
        </p:nvSpPr>
        <p:spPr>
          <a:xfrm>
            <a:off x="381000" y="1600200"/>
            <a:ext cx="43434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General form of an interface: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access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interface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ret-type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method1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(parameter list);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ret-type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method2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(parameter list);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final type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var1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value;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final type static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val2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value;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05" name="Google Shape;105;g38aa4e2124c_0_13"/>
          <p:cNvSpPr txBox="1">
            <a:spLocks noGrp="1"/>
          </p:cNvSpPr>
          <p:nvPr>
            <p:ph type="body" idx="2"/>
          </p:nvPr>
        </p:nvSpPr>
        <p:spPr>
          <a:xfrm>
            <a:off x="4652963" y="1600200"/>
            <a:ext cx="4033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interface callback{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void callback (int param);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cxnSp>
        <p:nvCxnSpPr>
          <p:cNvPr id="106" name="Google Shape;106;g38aa4e2124c_0_13"/>
          <p:cNvCxnSpPr/>
          <p:nvPr/>
        </p:nvCxnSpPr>
        <p:spPr>
          <a:xfrm>
            <a:off x="1752600" y="3962400"/>
            <a:ext cx="0" cy="8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8" name="Google Shape;108;g38aa4e2124c_0_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aa4e2124c_0_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Defining an Interface</a:t>
            </a:r>
            <a:endParaRPr/>
          </a:p>
        </p:txBody>
      </p:sp>
      <p:sp>
        <p:nvSpPr>
          <p:cNvPr id="114" name="Google Shape;114;g38aa4e2124c_0_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Access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either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Variables declared inside an interface are implicitly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static.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Variables must be initialized with a constant value.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All methods and variables are implicitly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if the interface, itself, is declared as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8aa4e2124c_0_2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aa4e2124c_0_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Implementing Interfaces</a:t>
            </a:r>
            <a:endParaRPr/>
          </a:p>
        </p:txBody>
      </p:sp>
      <p:sp>
        <p:nvSpPr>
          <p:cNvPr id="123" name="Google Shape;123;g38aa4e2124c_0_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General Form: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access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class 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classname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[extends 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][implements 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[,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]] {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methods that implement an interface must be declared 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type signature of the implementing method must match exactly the type signature specified in the interface definition.</a:t>
            </a:r>
            <a:endParaRPr/>
          </a:p>
        </p:txBody>
      </p:sp>
      <p:sp>
        <p:nvSpPr>
          <p:cNvPr id="125" name="Google Shape;125;g38aa4e2124c_0_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aa4e2124c_0_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Accessing Implementations through Interface Reference</a:t>
            </a:r>
            <a:endParaRPr/>
          </a:p>
        </p:txBody>
      </p:sp>
      <p:sp>
        <p:nvSpPr>
          <p:cNvPr id="131" name="Google Shape;131;g38aa4e2124c_0_37"/>
          <p:cNvSpPr txBox="1">
            <a:spLocks noGrp="1"/>
          </p:cNvSpPr>
          <p:nvPr>
            <p:ph type="body" idx="1"/>
          </p:nvPr>
        </p:nvSpPr>
        <p:spPr>
          <a:xfrm>
            <a:off x="533400" y="1524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Interface reference is required to access the implementation.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Any instance of the class that implements the interface can be referred to by such a variable.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When a method is called through one of the reference, the correct version will be called based on the actual instance of the interface being referred to.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method to be executed is looked up dynamically at run time.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8aa4e2124c_0_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aa4e2124c_0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Example-1</a:t>
            </a:r>
            <a:endParaRPr/>
          </a:p>
        </p:txBody>
      </p:sp>
      <p:sp>
        <p:nvSpPr>
          <p:cNvPr id="139" name="Google Shape;139;g38aa4e2124c_0_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interface call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void callback(int param);	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client implements call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public void callback(int p)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System.out.println("callback called with "+p);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public class testIface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call c = new client();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c.callback(423);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1" name="Google Shape;141;g38aa4e2124c_0_4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aa4e2124c_0_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Example-2</a:t>
            </a:r>
            <a:endParaRPr/>
          </a:p>
        </p:txBody>
      </p:sp>
      <p:sp>
        <p:nvSpPr>
          <p:cNvPr id="147" name="Google Shape;147;g38aa4e2124c_0_5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44196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interface call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void callback(int param);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class client implements call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public void callback(int p)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System.out.println("callback is called with "+p);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class anotherclient implements call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public void callback(int p)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  System.out.println("p squred is "+(p*p));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8" name="Google Shape;148;g38aa4e2124c_0_51"/>
          <p:cNvSpPr txBox="1">
            <a:spLocks noGrp="1"/>
          </p:cNvSpPr>
          <p:nvPr>
            <p:ph type="body" idx="2"/>
          </p:nvPr>
        </p:nvSpPr>
        <p:spPr>
          <a:xfrm>
            <a:off x="5334000" y="1066800"/>
            <a:ext cx="38100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public class testIface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               call c = new client();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               c.callback(42);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               c=new anotherclient();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               c.callback(10);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8aa4e2124c_0_5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aa4e2124c_0_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Partial Implementation</a:t>
            </a:r>
            <a:endParaRPr/>
          </a:p>
        </p:txBody>
      </p:sp>
      <p:sp>
        <p:nvSpPr>
          <p:cNvPr id="156" name="Google Shape;156;g38aa4e2124c_0_59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5344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a class includes an interface but does not fully implement the methods defined by that interface, then that class must be declared as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abstract class temp implements call{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int a, b;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void show()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	//body of the method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Any class that inherits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temp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must implement callback() or declared abstract itself.</a:t>
            </a:r>
            <a:endParaRPr/>
          </a:p>
        </p:txBody>
      </p:sp>
      <p:sp>
        <p:nvSpPr>
          <p:cNvPr id="158" name="Google Shape;158;g38aa4e2124c_0_5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aa4e2124c_0_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Extending Interfaces</a:t>
            </a:r>
            <a:endParaRPr/>
          </a:p>
        </p:txBody>
      </p:sp>
      <p:sp>
        <p:nvSpPr>
          <p:cNvPr id="164" name="Google Shape;164;g38aa4e2124c_0_66"/>
          <p:cNvSpPr txBox="1">
            <a:spLocks noGrp="1"/>
          </p:cNvSpPr>
          <p:nvPr>
            <p:ph type="body" idx="1"/>
          </p:nvPr>
        </p:nvSpPr>
        <p:spPr>
          <a:xfrm>
            <a:off x="685800" y="990600"/>
            <a:ext cx="7924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One interface can inherit another by using the keyword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new sub interface will inherit all the member of the super interface.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Any class that will implement  the interface that inherits another interface, it must provide implementations of all methods defined within the interface inheritance chain.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General form: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interface name2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name1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//body of name2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interface ItemConstant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int code =1001;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String name =“Pen”;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</p:txBody>
      </p:sp>
      <p:sp>
        <p:nvSpPr>
          <p:cNvPr id="165" name="Google Shape;165;g38aa4e2124c_0_66"/>
          <p:cNvSpPr txBox="1"/>
          <p:nvPr/>
        </p:nvSpPr>
        <p:spPr>
          <a:xfrm>
            <a:off x="4724400" y="3581400"/>
            <a:ext cx="3810000" cy="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Item extends ItemConstant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display();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</p:txBody>
      </p:sp>
      <p:sp>
        <p:nvSpPr>
          <p:cNvPr id="166" name="Google Shape;166;g38aa4e2124c_0_66"/>
          <p:cNvSpPr txBox="1"/>
          <p:nvPr/>
        </p:nvSpPr>
        <p:spPr>
          <a:xfrm>
            <a:off x="4343400" y="5638800"/>
            <a:ext cx="426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interface cannot extend a class; it can only extend other interfaces.</a:t>
            </a:r>
            <a:endParaRPr/>
          </a:p>
        </p:txBody>
      </p:sp>
      <p:sp>
        <p:nvSpPr>
          <p:cNvPr id="168" name="Google Shape;168;g38aa4e2124c_0_6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aa4e2124c_0_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Multiple Inheritance Using Interface</a:t>
            </a:r>
            <a:endParaRPr/>
          </a:p>
        </p:txBody>
      </p:sp>
      <p:sp>
        <p:nvSpPr>
          <p:cNvPr id="174" name="Google Shape;174;g38aa4e2124c_0_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Java supports multiple inheritance through the use of interface.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Care should be taken to avoid some conflicts.</a:t>
            </a:r>
            <a:endParaRPr/>
          </a:p>
        </p:txBody>
      </p:sp>
      <p:sp>
        <p:nvSpPr>
          <p:cNvPr id="176" name="Google Shape;176;g38aa4e2124c_0_7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aa4e2124c_0_8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Example-3</a:t>
            </a:r>
            <a:endParaRPr/>
          </a:p>
        </p:txBody>
      </p:sp>
      <p:sp>
        <p:nvSpPr>
          <p:cNvPr id="182" name="Google Shape;182;g38aa4e2124c_0_82"/>
          <p:cNvSpPr txBox="1">
            <a:spLocks noGrp="1"/>
          </p:cNvSpPr>
          <p:nvPr>
            <p:ph type="body" idx="1"/>
          </p:nvPr>
        </p:nvSpPr>
        <p:spPr>
          <a:xfrm>
            <a:off x="533400" y="1066800"/>
            <a:ext cx="2895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interface test1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int val=10;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void display();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interface test2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int val=20;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void display();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83" name="Google Shape;183;g38aa4e2124c_0_82"/>
          <p:cNvSpPr txBox="1">
            <a:spLocks noGrp="1"/>
          </p:cNvSpPr>
          <p:nvPr>
            <p:ph type="body" idx="2"/>
          </p:nvPr>
        </p:nvSpPr>
        <p:spPr>
          <a:xfrm>
            <a:off x="4271963" y="1066800"/>
            <a:ext cx="4033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test3 implements test1, test2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public void display()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System.out.println(“In test3”);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System.out.println(test1.val);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System.out.println(test2.val);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/>
          </a:p>
        </p:txBody>
      </p:sp>
      <p:sp>
        <p:nvSpPr>
          <p:cNvPr id="185" name="Google Shape;185;g38aa4e2124c_0_8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aa4e2124c_0_9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Example-4</a:t>
            </a:r>
            <a:endParaRPr/>
          </a:p>
        </p:txBody>
      </p:sp>
      <p:sp>
        <p:nvSpPr>
          <p:cNvPr id="191" name="Google Shape;191;g38aa4e2124c_0_90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4033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interface test1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int val=10;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void display();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interface test2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int val=20;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void display();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interface test3 extends test1, test2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int val=50;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void display();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38aa4e2124c_0_90"/>
          <p:cNvSpPr txBox="1">
            <a:spLocks noGrp="1"/>
          </p:cNvSpPr>
          <p:nvPr>
            <p:ph type="body" idx="2"/>
          </p:nvPr>
        </p:nvSpPr>
        <p:spPr>
          <a:xfrm>
            <a:off x="4876800" y="990600"/>
            <a:ext cx="4267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test4 implements test3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int val=57;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public void display()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System.out.println(test1.val);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System.out.println(test2.val);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System.out.println(test3.val);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public class Iface_test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test4 ob = new test4();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ob.display();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94" name="Google Shape;194;g38aa4e2124c_0_9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aa4e2124c_0_9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305800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Example-5</a:t>
            </a:r>
            <a:endParaRPr/>
          </a:p>
        </p:txBody>
      </p:sp>
      <p:sp>
        <p:nvSpPr>
          <p:cNvPr id="200" name="Google Shape;200;g38aa4e2124c_0_9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3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interface test1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int val=33;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void display();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test2 implements test1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static int val=34;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public void display()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{	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System.out.println(test1.val);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}	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</p:txBody>
      </p:sp>
      <p:sp>
        <p:nvSpPr>
          <p:cNvPr id="201" name="Google Shape;201;g38aa4e2124c_0_98"/>
          <p:cNvSpPr txBox="1">
            <a:spLocks noGrp="1"/>
          </p:cNvSpPr>
          <p:nvPr>
            <p:ph type="body" idx="2"/>
          </p:nvPr>
        </p:nvSpPr>
        <p:spPr>
          <a:xfrm>
            <a:off x="4876800" y="1600200"/>
            <a:ext cx="4267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test3 extends test2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int val=35;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void show()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{	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System.out.println(test1.val);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System.out.println(test2.val);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System.out.println(val);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}	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test4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test3 ob = new test3();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ob.show();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000"/>
          </a:p>
        </p:txBody>
      </p:sp>
      <p:sp>
        <p:nvSpPr>
          <p:cNvPr id="203" name="Google Shape;203;g38aa4e2124c_0_9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String in Java</a:t>
            </a:r>
            <a:endParaRPr/>
          </a:p>
        </p:txBody>
      </p:sp>
      <p:sp>
        <p:nvSpPr>
          <p:cNvPr id="209" name="Google Shape;209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 is a sequence of characters.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Java implements strings as objects of type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String.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It belongs to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java.lang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Once a String object is created, it is not possible to change the characters that comprise the string.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When a modifiable string is needed, java provides two options: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1.java.lang.StringBuffer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2.java.lang.StringBuilder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String Constructor</a:t>
            </a:r>
            <a:endParaRPr/>
          </a:p>
        </p:txBody>
      </p:sp>
      <p:sp>
        <p:nvSpPr>
          <p:cNvPr id="217" name="Google Shape;21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String()- Example: String s = new String();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 (char chars[])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char chars[] = {‘a’, ‘b’, ’c’};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String s=new String (chars);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 startAt="3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String( char chars[], int startIndex, int numChars);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char chars[] = {‘a’, ‘b’, ’c’, ‘d’, ‘e’, ‘f’};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String s = new String (chars, 2, 3); </a:t>
            </a:r>
            <a:endParaRPr/>
          </a:p>
        </p:txBody>
      </p:sp>
      <p:sp>
        <p:nvSpPr>
          <p:cNvPr id="219" name="Google Shape;219;p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"/>
          <p:cNvSpPr txBox="1"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String Constructor</a:t>
            </a:r>
            <a:endParaRPr/>
          </a:p>
        </p:txBody>
      </p:sp>
      <p:sp>
        <p:nvSpPr>
          <p:cNvPr id="225" name="Google Shape;225;p4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4. String (String str);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char c[] = {‘j’, ‘a’, ‘v’, ‘a’};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String s1 = new String (c);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String s2 = new String (s1);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System.out.println (s1);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System.out.println(s2);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5. String ( byte asciiChars []);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 ( byte asciiChars [], int startIndex, int numChars);</a:t>
            </a:r>
            <a:endParaRPr/>
          </a:p>
        </p:txBody>
      </p:sp>
      <p:sp>
        <p:nvSpPr>
          <p:cNvPr id="227" name="Google Shape;227;p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String Constructor</a:t>
            </a:r>
            <a:endParaRPr/>
          </a:p>
        </p:txBody>
      </p:sp>
      <p:sp>
        <p:nvSpPr>
          <p:cNvPr id="233" name="Google Shape;233;p5"/>
          <p:cNvSpPr txBox="1">
            <a:spLocks noGrp="1"/>
          </p:cNvSpPr>
          <p:nvPr>
            <p:ph type="body" idx="1"/>
          </p:nvPr>
        </p:nvSpPr>
        <p:spPr>
          <a:xfrm>
            <a:off x="457200" y="12652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byte ascii [] = {65, 66, 67, 68, 69, 70};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 s1 = new String (ascii);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System.out.println ( s1);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 s2 = new String ( ascii, 2, 3);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ABCDEF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CDE </a:t>
            </a:r>
            <a:endParaRPr/>
          </a:p>
        </p:txBody>
      </p:sp>
      <p:sp>
        <p:nvSpPr>
          <p:cNvPr id="235" name="Google Shape;235;p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 txBox="1">
            <a:spLocks noGrp="1"/>
          </p:cNvSpPr>
          <p:nvPr>
            <p:ph type="body" idx="1"/>
          </p:nvPr>
        </p:nvSpPr>
        <p:spPr>
          <a:xfrm>
            <a:off x="381000" y="76200"/>
            <a:ext cx="8305800" cy="567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String Length: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 length();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char st [ ] = {‘a’, ‘b’, ‘c’};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 a = new String (st);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System.out.println ( a.length());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Creating String from String Literals: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 s1 = “abcd”;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 object is created for every string literals.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System.out.println (“abc” . length());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String Concatenation</a:t>
            </a:r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1"/>
          </p:nvPr>
        </p:nvSpPr>
        <p:spPr>
          <a:xfrm>
            <a:off x="914400" y="914400"/>
            <a:ext cx="7848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Java allows only + operator to be applied on string, which concatenates two strings.</a:t>
            </a:r>
            <a:endParaRPr/>
          </a:p>
          <a:p>
            <a:pPr marL="342900" lvl="0" indent="-1905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 age = “9”;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 s = “He is “ + age + “ years old.”;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 (s);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compiler will convert an operand to it’s string equivalent whenever the other operand of the + is an instance of String.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Example: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int age = 9;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 s = “He is “ + age + “ years old.”;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 (s);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250" name="Google Shape;250;p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Conversion using valueOf()</a:t>
            </a:r>
            <a:endParaRPr/>
          </a:p>
        </p:txBody>
      </p:sp>
      <p:sp>
        <p:nvSpPr>
          <p:cNvPr id="256" name="Google Shape;256;p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458200" cy="515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It converts data from its internal format into a human-readable format.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Static overloaded method within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String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for built-in types and for type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Object.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static String valueOf (double num)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static String valueOf( Object ob)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During concatenation operation, it is automatically called.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All of the simple types are converted into their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String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representation.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For any object valueOf() automatically calls the object’s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toString()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method.</a:t>
            </a:r>
            <a:endParaRPr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 txBox="1">
            <a:spLocks noGrp="1"/>
          </p:cNvSpPr>
          <p:nvPr>
            <p:ph type="body" idx="1"/>
          </p:nvPr>
        </p:nvSpPr>
        <p:spPr>
          <a:xfrm>
            <a:off x="0" y="1219201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is defined by Object.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Every class implements toString() because every class is subclass of Object.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General form: String toString()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returns a String object that appropriately describe any object.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class tt				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int a;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tt() { a=100;}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public String toString()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	return “a= “+a;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4648200" y="3581400"/>
            <a:ext cx="3962400" cy="3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test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static void main (String args[])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{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tt b = new tt();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System.out.println(b);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7086600" y="3367088"/>
            <a:ext cx="16002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a= 100</a:t>
            </a:r>
            <a:endParaRPr/>
          </a:p>
        </p:txBody>
      </p:sp>
      <p:sp>
        <p:nvSpPr>
          <p:cNvPr id="266" name="Google Shape;266;p9"/>
          <p:cNvSpPr txBox="1">
            <a:spLocks noGrp="1"/>
          </p:cNvSpPr>
          <p:nvPr>
            <p:ph type="title"/>
          </p:nvPr>
        </p:nvSpPr>
        <p:spPr>
          <a:xfrm>
            <a:off x="1066800" y="274638"/>
            <a:ext cx="7620000" cy="1058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toString() Method</a:t>
            </a:r>
            <a:endParaRPr/>
          </a:p>
        </p:txBody>
      </p:sp>
      <p:sp>
        <p:nvSpPr>
          <p:cNvPr id="268" name="Google Shape;268;p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0772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Character Extraction</a:t>
            </a:r>
            <a:endParaRPr/>
          </a:p>
        </p:txBody>
      </p:sp>
      <p:sp>
        <p:nvSpPr>
          <p:cNvPr id="274" name="Google Shape;274;p10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charAt ():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char ch;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ch = “abc”.charAt(1);	             ch&lt;-’b’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 startAt="2"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getChars(int sourceStart, int sourceEnd, char target [], int targetStart)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sourceStart- the beginning of the substring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sourceEnd- one past the end of the desired substring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target – destination array of characters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targetStart – index at which the substring will be copied.</a:t>
            </a:r>
            <a:endParaRPr/>
          </a:p>
        </p:txBody>
      </p:sp>
      <p:sp>
        <p:nvSpPr>
          <p:cNvPr id="276" name="Google Shape;276;p1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Character Extraction</a:t>
            </a:r>
            <a:endParaRPr/>
          </a:p>
        </p:txBody>
      </p:sp>
      <p:sp>
        <p:nvSpPr>
          <p:cNvPr id="282" name="Google Shape;28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String s = “abcdefghijklmnop”;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 start =10, end = 14;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char st [] = new char [end-start];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s.getChars (start, end, st, 0);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System.out.println (st);               st-&gt;klmn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String Comparison</a:t>
            </a:r>
            <a:endParaRPr/>
          </a:p>
        </p:txBody>
      </p:sp>
      <p:sp>
        <p:nvSpPr>
          <p:cNvPr id="290" name="Google Shape;290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equals ()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boolean equals( String str)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-str is the String object being compared with the invoking String object.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-Case sensitive.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2.  </a:t>
            </a: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equalsIgnoreCase ()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boolean equalsIgnoreCase( String str)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-str is the String object being compared with the invoking String object.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-Not case sensitive.</a:t>
            </a:r>
            <a:endParaRPr/>
          </a:p>
          <a:p>
            <a:pPr marL="533400" lvl="0" indent="-5334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292" name="Google Shape;292;p1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String Comparison</a:t>
            </a:r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body" idx="1"/>
          </p:nvPr>
        </p:nvSpPr>
        <p:spPr>
          <a:xfrm>
            <a:off x="0" y="1600200"/>
            <a:ext cx="9144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String s1 = “Hello”;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String s2 = “HELLO”;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System.out.println ( s1 + “ equals  “ +s2 + s1.equals(s2));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System.out.println ( s1 + “ equals “ +s2 + s1.equalsIgnoreCase(s2));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Hello equals HELLO false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Hello equals HELLO true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String Comparison</a:t>
            </a:r>
            <a:endParaRPr/>
          </a:p>
        </p:txBody>
      </p:sp>
      <p:sp>
        <p:nvSpPr>
          <p:cNvPr id="306" name="Google Shape;306;p14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Boolean regionMatches ( int startIndex, String str2, int str2Index, int numchars)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- compare a specifice region inside a string with another specific region in another  string.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- startIndex- specifies the beginning index of the invoking object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  str2Index- specifies the beginning index of the object str2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  numchars – specifies the number of characters to be compared.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StartsWith () and endsWith ()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Example: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“Football”. endsWith ( “ball”);           --- returns true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“Football”. startsWith (“wood”);       ----returns false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1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String Comparison</a:t>
            </a:r>
            <a:endParaRPr/>
          </a:p>
        </p:txBody>
      </p:sp>
      <p:sp>
        <p:nvSpPr>
          <p:cNvPr id="314" name="Google Shape;314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5. int compareTo (String str)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 less than 0: if invoking string is less than str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  greater than 0: if invoking string is greater than str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  0: if equal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- case sensitive.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1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equals () versus ==</a:t>
            </a:r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077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equals () method compares the characters within a String object.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== operator compares two object references to see whether they refer to the same object.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String s1 = “hello”;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String s2 = new String(s1);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System.out.println(s1 + “ equals “+s2 + “ 🡪 ”+ s1.equals(s2));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System.out.println(s1 + “ equals “+s2 + “🡪 ”+ (s1==s2));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hello equals hello 🡪 true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hello equals hello 🡪 false				</a:t>
            </a:r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Searching Strings</a:t>
            </a:r>
            <a:endParaRPr/>
          </a:p>
        </p:txBody>
      </p:sp>
      <p:sp>
        <p:nvSpPr>
          <p:cNvPr id="331" name="Google Shape;33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indexOf() – searches for the first occurrence of a character or substring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lastIndexOf() – searches for the last occurrence of a character or substring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indexOf (int ch, int startIndex);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lastIndexOf (int ch, int startIndex);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All the methods return the index at which the character or the substring is found or return -1 on failure.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1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 String</a:t>
            </a:r>
            <a:endParaRPr/>
          </a:p>
        </p:txBody>
      </p:sp>
      <p:sp>
        <p:nvSpPr>
          <p:cNvPr id="339" name="Google Shape;33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String s = “ This is a Java Program”;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s.indexOf( ‘J’);         ---10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s.indexOf( “Program”);      ---15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s.indexOf( ‘a’, 9);	  ----11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1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Modifying a String</a:t>
            </a:r>
            <a:endParaRPr/>
          </a:p>
        </p:txBody>
      </p:sp>
      <p:sp>
        <p:nvSpPr>
          <p:cNvPr id="347" name="Google Shape;347;p19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substring():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-1. String substring( int startIndex);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 2. String substring( int startIndex, int endIndex);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concat():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String concat(String str);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replace():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String replace( char original, char replacement);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trim():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String trim()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-Example: String s=“            Hello         “.trim();</a:t>
            </a:r>
            <a:endParaRPr/>
          </a:p>
        </p:txBody>
      </p:sp>
      <p:sp>
        <p:nvSpPr>
          <p:cNvPr id="349" name="Google Shape;349;p1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StringBuffer</a:t>
            </a:r>
            <a:endParaRPr/>
          </a:p>
        </p:txBody>
      </p:sp>
      <p:sp>
        <p:nvSpPr>
          <p:cNvPr id="355" name="Google Shape;355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It represents growable and writeable character sequences.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33400" lvl="0" indent="-5334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rPr lang="en-US" sz="3600" b="1" u="sng">
                <a:latin typeface="Times New Roman"/>
                <a:ea typeface="Times New Roman"/>
                <a:cs typeface="Times New Roman"/>
                <a:sym typeface="Times New Roman"/>
              </a:rPr>
              <a:t>StringBuffer Constructors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StringBuffer () – Reserves space for 16 characters.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StringBuffer ( int size)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StringBuffer (String str)– String argument is used to set the initial content and also reserves space 16 more characters.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Useful Methods</a:t>
            </a:r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length () and capacity():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StringBuffer st = new StringBuffer (“Hello”);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System.out.println(“length: “+st.length());	    //length: 5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System.out.println(“capacity: “+st.capacity()); //capacity: 21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charAt () and setCharAt():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char charAt( int position);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void setCharAt( int postion, char ch);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getChars()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void getChars( int sourceStart, int sourceEnd, char target [],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		     int targetStart)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0010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Useful Methods</a:t>
            </a:r>
            <a:endParaRPr/>
          </a:p>
        </p:txBody>
      </p:sp>
      <p:sp>
        <p:nvSpPr>
          <p:cNvPr id="371" name="Google Shape;371;p22"/>
          <p:cNvSpPr txBox="1">
            <a:spLocks noGrp="1"/>
          </p:cNvSpPr>
          <p:nvPr>
            <p:ph type="body" idx="1"/>
          </p:nvPr>
        </p:nvSpPr>
        <p:spPr>
          <a:xfrm>
            <a:off x="685800" y="1066800"/>
            <a:ext cx="7848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insert():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-It is an overloaded function.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-It calls String.valueOf() to obtain the string representation of the value it is called with.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- StringBuffer insert( int index, String str)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reverse ():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StringBuffer reverse()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StringBuffer st = new StringBuffer(“ I Java!”);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System.out.println(st.insert(2, “like ”));  //I like Java!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System.out.println(st.reverse());   //!avaJ ekil I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373" name="Google Shape;373;p2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Useful Methods</a:t>
            </a:r>
            <a:endParaRPr/>
          </a:p>
        </p:txBody>
      </p:sp>
      <p:sp>
        <p:nvSpPr>
          <p:cNvPr id="379" name="Google Shape;379;p23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delete() and deleteCharAt()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StringBuffer delete( int startIndex, int endIndex);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StringBuffer deleteCharAt( int pos);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Replace ()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StringBuffer replace(int startIndex, int endIndex, String str)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StringBuffer st = new StringBuffer(“This is a test.”);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System.out.println(st.replace(5,7, “was”)); //This was a test.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System.out.println(st.delete(4, 8));  //This a test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System.out.println(st.deleteCharAt(0));  // his a test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381" name="Google Shape;381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Useful Methods</a:t>
            </a:r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append ():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-It is an overloaded function.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-It calls String.valueOf() to obtain the string representation of the value it is called with.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 StringBuffer append(String str)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6868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special class defined by java.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All other classes are subclasses of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reference variable of type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can refer to an object of any other class.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u="sng">
                <a:latin typeface="Times New Roman"/>
                <a:ea typeface="Times New Roman"/>
                <a:cs typeface="Times New Roman"/>
                <a:sym typeface="Times New Roman"/>
              </a:rPr>
              <a:t>Important Methods defined by Object: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 clone() – creates an object that is same as the object being cloned.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Boolean equals (Object ob) – Determines whether one object is equal to another.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String toString () – Returns a string that describes the object.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		          - Automatically called when an object is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output using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println()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403" name="Google Shape;403;p26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432276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temp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int a;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public temp()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 a=10;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tst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public static void main(String args[])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 temp ob = new temp();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 System.out.println(ob.toString());             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 System.out.println(ob);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2413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413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26"/>
          <p:cNvSpPr txBox="1">
            <a:spLocks noGrp="1"/>
          </p:cNvSpPr>
          <p:nvPr>
            <p:ph type="body" idx="2"/>
          </p:nvPr>
        </p:nvSpPr>
        <p:spPr>
          <a:xfrm>
            <a:off x="4856163" y="1447800"/>
            <a:ext cx="3754437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u="sng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temp@10b62c9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temp@10b62c9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2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61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412" name="Google Shape;412;p27"/>
          <p:cNvSpPr txBox="1">
            <a:spLocks noGrp="1"/>
          </p:cNvSpPr>
          <p:nvPr>
            <p:ph type="body" idx="1"/>
          </p:nvPr>
        </p:nvSpPr>
        <p:spPr>
          <a:xfrm>
            <a:off x="817563" y="1524000"/>
            <a:ext cx="4440237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class temp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int a;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public temp()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        a=10;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	String toString()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	String t =“This Object contains an integer number”;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	return t;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class tst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public static void main(String args[])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        temp ob = new temp();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        System.out.println(ob.toString());             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        System.out.println(ob);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7"/>
          <p:cNvSpPr txBox="1">
            <a:spLocks noGrp="1"/>
          </p:cNvSpPr>
          <p:nvPr>
            <p:ph type="body" idx="2"/>
          </p:nvPr>
        </p:nvSpPr>
        <p:spPr>
          <a:xfrm>
            <a:off x="4724400" y="1524000"/>
            <a:ext cx="4419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Object contains an integer number.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Object contains an integer number.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Chapter 7, 15 and 16 of your text book</a:t>
            </a:r>
            <a:endParaRPr/>
          </a:p>
        </p:txBody>
      </p:sp>
      <p:sp>
        <p:nvSpPr>
          <p:cNvPr id="424" name="Google Shape;424;p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3202</Words>
  <Application>Microsoft Macintosh PowerPoint</Application>
  <PresentationFormat>On-screen Show (4:3)</PresentationFormat>
  <Paragraphs>556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Noto Sans Symbols</vt:lpstr>
      <vt:lpstr>Times New Roman</vt:lpstr>
      <vt:lpstr>Default Design</vt:lpstr>
      <vt:lpstr>Lecture 7</vt:lpstr>
      <vt:lpstr>Interface</vt:lpstr>
      <vt:lpstr>Defining an Interface</vt:lpstr>
      <vt:lpstr>Defining an Interface</vt:lpstr>
      <vt:lpstr>Implementing Interfaces</vt:lpstr>
      <vt:lpstr>Accessing Implementations through Interface Reference</vt:lpstr>
      <vt:lpstr>Example-1</vt:lpstr>
      <vt:lpstr>Example-2</vt:lpstr>
      <vt:lpstr>Partial Implementation</vt:lpstr>
      <vt:lpstr>Extending Interfaces</vt:lpstr>
      <vt:lpstr>Multiple Inheritance Using Interface</vt:lpstr>
      <vt:lpstr>Example-3</vt:lpstr>
      <vt:lpstr>Example-4</vt:lpstr>
      <vt:lpstr>Example-5</vt:lpstr>
      <vt:lpstr>String in Java</vt:lpstr>
      <vt:lpstr>The String Constructor</vt:lpstr>
      <vt:lpstr>The String Constructor</vt:lpstr>
      <vt:lpstr>The String Constructor</vt:lpstr>
      <vt:lpstr>PowerPoint Presentation</vt:lpstr>
      <vt:lpstr>String Concatenation</vt:lpstr>
      <vt:lpstr>Data Conversion using valueOf()</vt:lpstr>
      <vt:lpstr>toString() Method</vt:lpstr>
      <vt:lpstr>Character Extraction</vt:lpstr>
      <vt:lpstr>Character Extraction</vt:lpstr>
      <vt:lpstr>String Comparison</vt:lpstr>
      <vt:lpstr>String Comparison</vt:lpstr>
      <vt:lpstr>String Comparison</vt:lpstr>
      <vt:lpstr>String Comparison</vt:lpstr>
      <vt:lpstr> equals () versus ==</vt:lpstr>
      <vt:lpstr>Searching Strings</vt:lpstr>
      <vt:lpstr>Searching String</vt:lpstr>
      <vt:lpstr>Modifying a String</vt:lpstr>
      <vt:lpstr>StringBuffer</vt:lpstr>
      <vt:lpstr>Useful Methods</vt:lpstr>
      <vt:lpstr>Useful Methods</vt:lpstr>
      <vt:lpstr>Useful Methods</vt:lpstr>
      <vt:lpstr>Useful Methods</vt:lpstr>
      <vt:lpstr>Object</vt:lpstr>
      <vt:lpstr>Example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Md. Shiplu Hawlader</dc:creator>
  <cp:lastModifiedBy>Fahim Arefin</cp:lastModifiedBy>
  <cp:revision>1</cp:revision>
  <dcterms:created xsi:type="dcterms:W3CDTF">1601-01-01T00:00:00Z</dcterms:created>
  <dcterms:modified xsi:type="dcterms:W3CDTF">2025-09-21T05:15:31Z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