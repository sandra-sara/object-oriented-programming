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54"/>
  </p:notesMasterIdLst>
  <p:sldIdLst>
    <p:sldId id="256" r:id="rId2"/>
    <p:sldId id="258" r:id="rId3"/>
    <p:sldId id="266" r:id="rId4"/>
    <p:sldId id="259" r:id="rId5"/>
    <p:sldId id="260" r:id="rId6"/>
    <p:sldId id="261" r:id="rId7"/>
    <p:sldId id="262" r:id="rId8"/>
    <p:sldId id="263" r:id="rId9"/>
    <p:sldId id="264" r:id="rId10"/>
    <p:sldId id="267" r:id="rId11"/>
    <p:sldId id="268" r:id="rId12"/>
    <p:sldId id="269" r:id="rId13"/>
    <p:sldId id="270" r:id="rId14"/>
    <p:sldId id="271" r:id="rId15"/>
    <p:sldId id="272" r:id="rId16"/>
    <p:sldId id="273" r:id="rId17"/>
    <p:sldId id="274" r:id="rId18"/>
    <p:sldId id="275" r:id="rId19"/>
    <p:sldId id="276" r:id="rId20"/>
    <p:sldId id="280" r:id="rId21"/>
    <p:sldId id="277" r:id="rId22"/>
    <p:sldId id="278" r:id="rId23"/>
    <p:sldId id="279" r:id="rId24"/>
    <p:sldId id="281"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57" r:id="rId41"/>
    <p:sldId id="300" r:id="rId42"/>
    <p:sldId id="301" r:id="rId43"/>
    <p:sldId id="302" r:id="rId44"/>
    <p:sldId id="303" r:id="rId45"/>
    <p:sldId id="304" r:id="rId46"/>
    <p:sldId id="305" r:id="rId47"/>
    <p:sldId id="306" r:id="rId48"/>
    <p:sldId id="265" r:id="rId49"/>
    <p:sldId id="307" r:id="rId50"/>
    <p:sldId id="308" r:id="rId51"/>
    <p:sldId id="331" r:id="rId52"/>
    <p:sldId id="299" r:id="rId5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2702" autoAdjust="0"/>
  </p:normalViewPr>
  <p:slideViewPr>
    <p:cSldViewPr>
      <p:cViewPr varScale="1">
        <p:scale>
          <a:sx n="111" d="100"/>
          <a:sy n="111" d="100"/>
        </p:scale>
        <p:origin x="1872"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ltLang="en-US"/>
          </a:p>
        </p:txBody>
      </p:sp>
      <p:sp>
        <p:nvSpPr>
          <p:cNvPr id="512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endParaRPr lang="en-US" altLang="en-US"/>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lt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EFE269C8-BAD0-4F1F-A429-DBAD15B34565}" type="slidenum">
              <a:rPr lang="en-US" altLang="en-US"/>
              <a:pPr/>
              <a:t>‹#›</a:t>
            </a:fld>
            <a:endParaRPr lang="en-US" altLang="en-US"/>
          </a:p>
        </p:txBody>
      </p:sp>
    </p:spTree>
    <p:extLst>
      <p:ext uri="{BB962C8B-B14F-4D97-AF65-F5344CB8AC3E}">
        <p14:creationId xmlns:p14="http://schemas.microsoft.com/office/powerpoint/2010/main" val="65370149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FE269C8-BAD0-4F1F-A429-DBAD15B34565}" type="slidenum">
              <a:rPr lang="en-US" altLang="en-US" smtClean="0"/>
              <a:pPr/>
              <a:t>1</a:t>
            </a:fld>
            <a:endParaRPr lang="en-US" altLang="en-US"/>
          </a:p>
        </p:txBody>
      </p:sp>
    </p:spTree>
    <p:extLst>
      <p:ext uri="{BB962C8B-B14F-4D97-AF65-F5344CB8AC3E}">
        <p14:creationId xmlns:p14="http://schemas.microsoft.com/office/powerpoint/2010/main" val="10949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5EB1E5-6701-4E98-9917-32B2D6A5D6FE}" type="slidenum">
              <a:rPr lang="en-US" altLang="en-US"/>
              <a:pPr/>
              <a:t>24</a:t>
            </a:fld>
            <a:endParaRPr lang="en-US" altLang="en-US"/>
          </a:p>
        </p:txBody>
      </p:sp>
      <p:sp>
        <p:nvSpPr>
          <p:cNvPr id="31746" name="Rectangle 2"/>
          <p:cNvSpPr>
            <a:spLocks noGrp="1" noRot="1" noChangeAspect="1" noChangeArrowheads="1" noTextEdit="1"/>
          </p:cNvSpPr>
          <p:nvPr>
            <p:ph type="sldImg"/>
          </p:nvPr>
        </p:nvSpPr>
        <p:spPr>
          <a:xfrm>
            <a:off x="1143000" y="687388"/>
            <a:ext cx="4572000" cy="3429000"/>
          </a:xfrm>
          <a:ln/>
        </p:spPr>
      </p:sp>
      <p:sp>
        <p:nvSpPr>
          <p:cNvPr id="31747" name="Rectangle 3"/>
          <p:cNvSpPr>
            <a:spLocks noGrp="1" noChangeArrowheads="1"/>
          </p:cNvSpPr>
          <p:nvPr>
            <p:ph type="body" idx="1"/>
          </p:nvPr>
        </p:nvSpPr>
        <p:spPr>
          <a:xfrm>
            <a:off x="685800" y="4343400"/>
            <a:ext cx="5486400" cy="4113213"/>
          </a:xfrm>
        </p:spPr>
        <p:txBody>
          <a:bodyPr/>
          <a:lstStyle/>
          <a:p>
            <a:r>
              <a:rPr lang="en-US" altLang="en-US" dirty="0"/>
              <a:t>Each instance variable is defined without specifying an initial value. Therefore, whenever a new </a:t>
            </a:r>
            <a:r>
              <a:rPr lang="en-US" altLang="en-US" dirty="0" err="1"/>
              <a:t>ColoredRectangle</a:t>
            </a:r>
            <a:r>
              <a:rPr lang="en-US" altLang="en-US" dirty="0"/>
              <a:t> object is to be constructed, Java first initializes the new instance variables to default values. By default, numeric instance variables are initialized to 0, </a:t>
            </a:r>
            <a:r>
              <a:rPr lang="en-US" altLang="en-US" b="1" dirty="0" err="1"/>
              <a:t>boolean</a:t>
            </a:r>
            <a:r>
              <a:rPr lang="en-US" altLang="en-US" dirty="0"/>
              <a:t> instance variables are initialized to </a:t>
            </a:r>
            <a:r>
              <a:rPr lang="en-US" altLang="en-US" b="1" dirty="0"/>
              <a:t>false</a:t>
            </a:r>
            <a:r>
              <a:rPr lang="en-US" altLang="en-US" dirty="0"/>
              <a:t>, and reference-type instance variables are initialized to </a:t>
            </a:r>
            <a:r>
              <a:rPr lang="en-US" altLang="en-US" b="1" dirty="0"/>
              <a:t>null</a:t>
            </a:r>
            <a:r>
              <a:rPr lang="en-US" altLang="en-US" dirty="0"/>
              <a:t>. </a:t>
            </a:r>
          </a:p>
          <a:p>
            <a:r>
              <a:rPr lang="en-US" altLang="en-US" dirty="0"/>
              <a:t>Thus, </a:t>
            </a:r>
            <a:r>
              <a:rPr lang="en-US" altLang="en-US" i="1" dirty="0"/>
              <a:t>every</a:t>
            </a:r>
            <a:r>
              <a:rPr lang="en-US" altLang="en-US" dirty="0"/>
              <a:t> time a new </a:t>
            </a:r>
            <a:r>
              <a:rPr lang="en-US" altLang="en-US" dirty="0" err="1"/>
              <a:t>ColoredRectangle</a:t>
            </a:r>
            <a:r>
              <a:rPr lang="en-US" altLang="en-US" dirty="0"/>
              <a:t> object is to undergo construction, </a:t>
            </a:r>
            <a:r>
              <a:rPr lang="en-US" altLang="en-US" i="1" dirty="0"/>
              <a:t>new</a:t>
            </a:r>
            <a:r>
              <a:rPr lang="en-US" altLang="en-US" dirty="0"/>
              <a:t> width, height, x, y, window, and color instance variables are created and default initialized for the new object. The numeric attributes width, height, x, and y are initialized to zero and the class-type attributes window and color are initialized to </a:t>
            </a:r>
            <a:r>
              <a:rPr lang="en-US" altLang="en-US" b="1" dirty="0"/>
              <a:t>null</a:t>
            </a:r>
            <a:r>
              <a:rPr lang="en-US" altLang="en-US" dirty="0"/>
              <a:t>.</a:t>
            </a:r>
          </a:p>
          <a:p>
            <a:r>
              <a:rPr lang="en-US" altLang="en-US" dirty="0"/>
              <a:t>The instance variable definitions specify each of the variable to be </a:t>
            </a:r>
            <a:r>
              <a:rPr lang="en-US" altLang="en-US" b="1" dirty="0"/>
              <a:t>private</a:t>
            </a:r>
            <a:r>
              <a:rPr lang="en-US" altLang="en-US" dirty="0"/>
              <a:t>. This modifier indicates that direct access to the instance variables is limited to the class itself. Thus, class </a:t>
            </a:r>
            <a:r>
              <a:rPr lang="en-US" altLang="en-US" dirty="0" err="1"/>
              <a:t>ColoredRectangle</a:t>
            </a:r>
            <a:r>
              <a:rPr lang="en-US" altLang="en-US" dirty="0"/>
              <a:t> practices </a:t>
            </a:r>
            <a:r>
              <a:rPr lang="en-US" altLang="en-US" i="1" dirty="0"/>
              <a:t>information hiding</a:t>
            </a:r>
            <a:r>
              <a:rPr lang="en-US" altLang="en-US" dirty="0"/>
              <a:t> by </a:t>
            </a:r>
            <a:r>
              <a:rPr lang="en-US" altLang="en-US" i="1" dirty="0"/>
              <a:t>encapsulating</a:t>
            </a:r>
            <a:r>
              <a:rPr lang="en-US" altLang="en-US" dirty="0"/>
              <a:t> its attributes.</a:t>
            </a:r>
          </a:p>
          <a:p>
            <a:endParaRPr lang="en-US" altLang="en-US" dirty="0"/>
          </a:p>
          <a:p>
            <a:pPr algn="just"/>
            <a:r>
              <a:rPr lang="en-US" altLang="en-US" dirty="0"/>
              <a:t>Defining instance variables to be </a:t>
            </a:r>
            <a:r>
              <a:rPr lang="en-US" altLang="en-US" b="1" dirty="0"/>
              <a:t>private</a:t>
            </a:r>
            <a:r>
              <a:rPr lang="en-US" altLang="en-US" dirty="0"/>
              <a:t> is a standard practice. When attributes are </a:t>
            </a:r>
            <a:r>
              <a:rPr lang="en-US" altLang="en-US" b="1" dirty="0"/>
              <a:t>private</a:t>
            </a:r>
            <a:r>
              <a:rPr lang="en-US" altLang="en-US" dirty="0"/>
              <a:t>, other classes are forced to use the class’s interface methods to manipulate its attributes. Those interface methods normally are programmed to ensure that the requested manipulations are valid. Because the initial definition of class </a:t>
            </a:r>
            <a:r>
              <a:rPr lang="en-US" altLang="en-US" dirty="0" err="1"/>
              <a:t>ColoredRectangle</a:t>
            </a:r>
            <a:r>
              <a:rPr lang="en-US" altLang="en-US" dirty="0"/>
              <a:t> does not provide any methods to give access to the attributes, once a </a:t>
            </a:r>
            <a:r>
              <a:rPr lang="en-US" altLang="en-US" dirty="0" err="1"/>
              <a:t>ColoredRectangle</a:t>
            </a:r>
            <a:r>
              <a:rPr lang="en-US" altLang="en-US" dirty="0"/>
              <a:t> is constructed it is immutable. In Section , we introduce several </a:t>
            </a:r>
            <a:r>
              <a:rPr lang="en-US" altLang="en-US" dirty="0" err="1"/>
              <a:t>ColoredRectangle</a:t>
            </a:r>
            <a:r>
              <a:rPr lang="en-US" altLang="en-US" dirty="0"/>
              <a:t> methods for accessing and modifying the attributes of a </a:t>
            </a:r>
            <a:r>
              <a:rPr lang="en-US" altLang="en-US" dirty="0" err="1"/>
              <a:t>ColoredRectangle</a:t>
            </a:r>
            <a:r>
              <a:rPr lang="en-US" altLang="en-US" dirty="0"/>
              <a:t> object. </a:t>
            </a:r>
          </a:p>
          <a:p>
            <a:endParaRPr lang="en-US" altLang="en-US" dirty="0"/>
          </a:p>
          <a:p>
            <a:endParaRPr lang="en-US" altLang="en-US" dirty="0"/>
          </a:p>
        </p:txBody>
      </p:sp>
    </p:spTree>
    <p:extLst>
      <p:ext uri="{BB962C8B-B14F-4D97-AF65-F5344CB8AC3E}">
        <p14:creationId xmlns:p14="http://schemas.microsoft.com/office/powerpoint/2010/main" val="6313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F88B2D-8A86-4BA3-8B41-23C63E2FFD65}" type="slidenum">
              <a:rPr lang="en-US" altLang="en-US"/>
              <a:pPr/>
              <a:t>44</a:t>
            </a:fld>
            <a:endParaRPr lang="en-US" altLang="en-US"/>
          </a:p>
        </p:txBody>
      </p:sp>
      <p:sp>
        <p:nvSpPr>
          <p:cNvPr id="16386" name="Rectangle 2"/>
          <p:cNvSpPr>
            <a:spLocks noGrp="1" noRot="1" noChangeAspect="1" noChangeArrowheads="1" noTextEdit="1"/>
          </p:cNvSpPr>
          <p:nvPr>
            <p:ph type="sldImg"/>
          </p:nvPr>
        </p:nvSpPr>
        <p:spPr>
          <a:xfrm>
            <a:off x="1144588" y="685800"/>
            <a:ext cx="4572000" cy="3429000"/>
          </a:xfrm>
          <a:ln/>
        </p:spPr>
      </p:sp>
      <p:sp>
        <p:nvSpPr>
          <p:cNvPr id="16387" name="Rectangle 3"/>
          <p:cNvSpPr>
            <a:spLocks noGrp="1" noChangeArrowheads="1"/>
          </p:cNvSpPr>
          <p:nvPr>
            <p:ph type="body" idx="1"/>
          </p:nvPr>
        </p:nvSpPr>
        <p:spPr/>
        <p:txBody>
          <a:bodyPr/>
          <a:lstStyle/>
          <a:p>
            <a:r>
              <a:rPr lang="en-US" altLang="en-US"/>
              <a:t>c can only reference char arrays</a:t>
            </a:r>
          </a:p>
          <a:p>
            <a:r>
              <a:rPr lang="en-US" altLang="en-US"/>
              <a:t>v can only reference int arrays</a:t>
            </a:r>
          </a:p>
        </p:txBody>
      </p:sp>
    </p:spTree>
    <p:extLst>
      <p:ext uri="{BB962C8B-B14F-4D97-AF65-F5344CB8AC3E}">
        <p14:creationId xmlns:p14="http://schemas.microsoft.com/office/powerpoint/2010/main" val="1252844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85DD89E-9544-4806-8A0B-9C9D4A3E18CF}" type="datetime1">
              <a:rPr lang="en-US" altLang="en-US" smtClean="0"/>
              <a:pPr/>
              <a:t>9/13/25</a:t>
            </a:fld>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470AB4EF-AA5C-4569-9EDB-A50B3D1432CD}" type="slidenum">
              <a:rPr lang="en-US" altLang="en-US" smtClean="0"/>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C9405E-26D1-4651-8E12-16EA55335B68}" type="datetime1">
              <a:rPr lang="en-US" altLang="en-US" smtClean="0"/>
              <a:pPr/>
              <a:t>9/13/25</a:t>
            </a:fld>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1DF18388-3C63-406A-AB76-F21991FBD4EF}" type="slidenum">
              <a:rPr lang="en-US" altLang="en-US" smtClean="0"/>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3018EE-F528-4B41-A35C-07E2493A4694}" type="datetime1">
              <a:rPr lang="en-US" altLang="en-US" smtClean="0"/>
              <a:pPr/>
              <a:t>9/13/25</a:t>
            </a:fld>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05F25099-A07A-4488-BB8A-B01CD6EB21DB}" type="slidenum">
              <a:rPr lang="en-US" altLang="en-US" smtClean="0"/>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9C217AF-97DA-48FD-8D06-F2D9E5AAF0C9}" type="datetime1">
              <a:rPr lang="en-US" altLang="en-US" smtClean="0"/>
              <a:pPr/>
              <a:t>9/13/25</a:t>
            </a:fld>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2FB82382-93C2-4C36-A888-0CA1776CB574}" type="slidenum">
              <a:rPr lang="en-US" altLang="en-US" smtClean="0"/>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CDBA233-4582-4B96-AB4F-DC0C1A7A6F2E}" type="datetime1">
              <a:rPr lang="en-US" altLang="en-US" smtClean="0"/>
              <a:pPr/>
              <a:t>9/13/25</a:t>
            </a:fld>
            <a:endParaRPr lang="en-US" altLang="en-US"/>
          </a:p>
        </p:txBody>
      </p:sp>
      <p:sp>
        <p:nvSpPr>
          <p:cNvPr id="8" name="Footer Placeholder 7"/>
          <p:cNvSpPr>
            <a:spLocks noGrp="1"/>
          </p:cNvSpPr>
          <p:nvPr>
            <p:ph type="ftr" sz="quarter" idx="11"/>
          </p:nvPr>
        </p:nvSpPr>
        <p:spPr/>
        <p:txBody>
          <a:bodyPr/>
          <a:lstStyle/>
          <a:p>
            <a:endParaRPr lang="en-US" altLang="en-US"/>
          </a:p>
        </p:txBody>
      </p:sp>
      <p:sp>
        <p:nvSpPr>
          <p:cNvPr id="9" name="Slide Number Placeholder 8"/>
          <p:cNvSpPr>
            <a:spLocks noGrp="1"/>
          </p:cNvSpPr>
          <p:nvPr>
            <p:ph type="sldNum" sz="quarter" idx="12"/>
          </p:nvPr>
        </p:nvSpPr>
        <p:spPr/>
        <p:txBody>
          <a:bodyPr/>
          <a:lstStyle/>
          <a:p>
            <a:fld id="{52691165-7E03-414D-8DAE-2B3C7CCAD87B}" type="slidenum">
              <a:rPr lang="en-US" altLang="en-US" smtClean="0"/>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CAA716D-D1A4-4C8A-9651-F125C816FD1E}" type="datetime1">
              <a:rPr lang="en-US" altLang="en-US" smtClean="0"/>
              <a:pPr/>
              <a:t>9/13/25</a:t>
            </a:fld>
            <a:endParaRPr lang="en-US" altLang="en-US"/>
          </a:p>
        </p:txBody>
      </p:sp>
      <p:sp>
        <p:nvSpPr>
          <p:cNvPr id="4" name="Footer Placeholder 3"/>
          <p:cNvSpPr>
            <a:spLocks noGrp="1"/>
          </p:cNvSpPr>
          <p:nvPr>
            <p:ph type="ftr" sz="quarter" idx="11"/>
          </p:nvPr>
        </p:nvSpPr>
        <p:spPr/>
        <p:txBody>
          <a:bodyPr/>
          <a:lstStyle/>
          <a:p>
            <a:endParaRPr lang="en-US" altLang="en-US"/>
          </a:p>
        </p:txBody>
      </p:sp>
      <p:sp>
        <p:nvSpPr>
          <p:cNvPr id="5" name="Slide Number Placeholder 4"/>
          <p:cNvSpPr>
            <a:spLocks noGrp="1"/>
          </p:cNvSpPr>
          <p:nvPr>
            <p:ph type="sldNum" sz="quarter" idx="12"/>
          </p:nvPr>
        </p:nvSpPr>
        <p:spPr/>
        <p:txBody>
          <a:bodyPr/>
          <a:lstStyle/>
          <a:p>
            <a:fld id="{837DED2E-68C8-4E20-BCB3-1824A4B5BA93}" type="slidenum">
              <a:rPr lang="en-US" altLang="en-US" smtClean="0"/>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67C3C7-0FF3-4C4F-872B-5AC4DEDC7E52}" type="datetime1">
              <a:rPr lang="en-US" altLang="en-US" smtClean="0"/>
              <a:pPr/>
              <a:t>9/13/25</a:t>
            </a:fld>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fld id="{43EAC5F8-F6C9-4FA0-8ABF-FA649EEC9DEE}" type="slidenum">
              <a:rPr lang="en-US" altLang="en-US" smtClean="0"/>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32D030-9F27-4305-A8BA-485919D42798}" type="datetime1">
              <a:rPr lang="en-US" altLang="en-US" smtClean="0"/>
              <a:pPr/>
              <a:t>9/13/25</a:t>
            </a:fld>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A7D1AE3C-1E6A-4F87-979D-2563B7DCA648}" type="slidenum">
              <a:rPr lang="en-US" altLang="en-US" smtClean="0"/>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161863-B50E-4636-8966-7B8861F93388}" type="datetime1">
              <a:rPr lang="en-US" altLang="en-US" smtClean="0"/>
              <a:pPr/>
              <a:t>9/13/25</a:t>
            </a:fld>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C276D9CB-CA1D-4465-8994-151F54835A78}" type="slidenum">
              <a:rPr lang="en-US" altLang="en-US" smtClean="0"/>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F409F0-9E85-4973-A23B-5C65CA2F262B}" type="datetime1">
              <a:rPr lang="en-US" altLang="en-US" smtClean="0"/>
              <a:pPr/>
              <a:t>9/13/25</a:t>
            </a:fld>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E9114A52-1F86-42F7-A935-9A50D6E6E63C}" type="slidenum">
              <a:rPr lang="en-US" altLang="en-US" smtClean="0"/>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B7F8E0-544D-4680-9835-B0E4C6C4A4B5}" type="datetime1">
              <a:rPr lang="en-US" altLang="en-US" smtClean="0"/>
              <a:pPr/>
              <a:t>9/13/25</a:t>
            </a:fld>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93E02E4B-FDCB-42E0-B61D-C3253A45EAFB}" type="slidenum">
              <a:rPr lang="en-US" altLang="en-US" smtClean="0"/>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49CFC84C-B71C-4F22-9B08-A9CA5AB7F450}" type="datetime1">
              <a:rPr lang="en-US" altLang="en-US" smtClean="0"/>
              <a:pPr/>
              <a:t>9/13/25</a:t>
            </a:fld>
            <a:endParaRPr lang="en-US" alt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AF0D4B8D-7877-4FFC-B9E5-DA1CEA1792C0}" type="slidenum">
              <a:rPr lang="en-US" altLang="en-US"/>
              <a:pPr/>
              <a:t>‹#›</a:t>
            </a:fld>
            <a:endParaRPr lang="en-US" altLang="en-US"/>
          </a:p>
        </p:txBody>
      </p:sp>
    </p:spTree>
    <p:extLst>
      <p:ext uri="{BB962C8B-B14F-4D97-AF65-F5344CB8AC3E}">
        <p14:creationId xmlns:p14="http://schemas.microsoft.com/office/powerpoint/2010/main" val="492653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C35CBB-0CF3-4BD0-BF9E-8B85DDDFDBEC}" type="datetime1">
              <a:rPr lang="en-US" altLang="en-US" smtClean="0"/>
              <a:pPr/>
              <a:t>9/13/25</a:t>
            </a:fld>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76BAB7-C420-45F1-BD17-63D95ED23EE6}" type="slidenum">
              <a:rPr lang="en-US" altLang="en-US" smtClean="0"/>
              <a:pPr/>
              <a:t>‹#›</a:t>
            </a:fld>
            <a:endParaRPr lang="en-US"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 Target="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5800" y="2130425"/>
            <a:ext cx="7772400" cy="1470025"/>
          </a:xfrm>
        </p:spPr>
        <p:txBody>
          <a:bodyPr anchor="ctr"/>
          <a:lstStyle/>
          <a:p>
            <a:r>
              <a:rPr lang="en-US" altLang="en-US" sz="4400" b="1" dirty="0">
                <a:latin typeface="Times New Roman" panose="02020603050405020304" pitchFamily="18" charset="0"/>
              </a:rPr>
              <a:t>Lecture </a:t>
            </a:r>
            <a:r>
              <a:rPr lang="en-US" altLang="en-US" b="1" dirty="0">
                <a:latin typeface="Times New Roman" panose="02020603050405020304" pitchFamily="18" charset="0"/>
              </a:rPr>
              <a:t>4</a:t>
            </a:r>
            <a:endParaRPr lang="en-US" altLang="en-US" sz="4400" b="1" dirty="0">
              <a:latin typeface="Times New Roman" panose="02020603050405020304" pitchFamily="18" charset="0"/>
            </a:endParaRPr>
          </a:p>
        </p:txBody>
      </p:sp>
      <p:sp>
        <p:nvSpPr>
          <p:cNvPr id="4099" name="Rectangle 3"/>
          <p:cNvSpPr>
            <a:spLocks noGrp="1" noChangeArrowheads="1"/>
          </p:cNvSpPr>
          <p:nvPr>
            <p:ph type="subTitle" idx="1"/>
          </p:nvPr>
        </p:nvSpPr>
        <p:spPr>
          <a:xfrm>
            <a:off x="1371600" y="3886200"/>
            <a:ext cx="6400800" cy="1752600"/>
          </a:xfrm>
        </p:spPr>
        <p:txBody>
          <a:bodyPr>
            <a:normAutofit fontScale="85000" lnSpcReduction="20000"/>
          </a:bodyPr>
          <a:lstStyle/>
          <a:p>
            <a:r>
              <a:rPr lang="en-US" altLang="en-US" sz="3200" b="1" dirty="0">
                <a:latin typeface="Times New Roman" panose="02020603050405020304" pitchFamily="18" charset="0"/>
              </a:rPr>
              <a:t>Type Conversion and Casting</a:t>
            </a:r>
          </a:p>
          <a:p>
            <a:r>
              <a:rPr lang="en-US" altLang="en-US" sz="3200" b="1" dirty="0">
                <a:latin typeface="Times New Roman" panose="02020603050405020304" pitchFamily="18" charset="0"/>
              </a:rPr>
              <a:t>Introduction to Class</a:t>
            </a:r>
          </a:p>
          <a:p>
            <a:r>
              <a:rPr lang="en-US" altLang="en-US" sz="3200" b="1" dirty="0">
                <a:latin typeface="Times New Roman" panose="02020603050405020304" pitchFamily="18" charset="0"/>
              </a:rPr>
              <a:t>Import &amp; Taking input</a:t>
            </a:r>
          </a:p>
          <a:p>
            <a:r>
              <a:rPr lang="en-US" altLang="en-US" b="1" dirty="0">
                <a:latin typeface="Times New Roman" panose="02020603050405020304" pitchFamily="18" charset="0"/>
              </a:rPr>
              <a:t>Arrays</a:t>
            </a:r>
            <a:endParaRPr lang="en-US" altLang="en-US" sz="3200" b="1" dirty="0">
              <a:latin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274638"/>
            <a:ext cx="8229600" cy="563562"/>
          </a:xfrm>
        </p:spPr>
        <p:txBody>
          <a:bodyPr>
            <a:normAutofit fontScale="90000"/>
          </a:bodyPr>
          <a:lstStyle/>
          <a:p>
            <a:r>
              <a:rPr lang="en-US" altLang="en-US" sz="4000" b="1">
                <a:latin typeface="Times New Roman" panose="02020603050405020304" pitchFamily="18" charset="0"/>
              </a:rPr>
              <a:t>Automatic Type Conversion</a:t>
            </a:r>
          </a:p>
        </p:txBody>
      </p:sp>
      <p:sp>
        <p:nvSpPr>
          <p:cNvPr id="7171" name="Rectangle 3"/>
          <p:cNvSpPr>
            <a:spLocks noGrp="1" noChangeArrowheads="1"/>
          </p:cNvSpPr>
          <p:nvPr>
            <p:ph idx="1"/>
          </p:nvPr>
        </p:nvSpPr>
        <p:spPr>
          <a:xfrm>
            <a:off x="457200" y="1066800"/>
            <a:ext cx="8229600" cy="5059363"/>
          </a:xfrm>
        </p:spPr>
        <p:txBody>
          <a:bodyPr/>
          <a:lstStyle/>
          <a:p>
            <a:pPr>
              <a:buFont typeface="Wingdings" panose="05000000000000000000" pitchFamily="2" charset="2"/>
              <a:buChar char="ü"/>
            </a:pPr>
            <a:r>
              <a:rPr lang="en-US" altLang="en-US" sz="2400">
                <a:latin typeface="Times New Roman" panose="02020603050405020304" pitchFamily="18" charset="0"/>
              </a:rPr>
              <a:t>When one type of data is assigned to another type of variable, an automatic type conversion will take place if:</a:t>
            </a:r>
          </a:p>
          <a:p>
            <a:pPr>
              <a:buFont typeface="Wingdings" panose="05000000000000000000" pitchFamily="2" charset="2"/>
              <a:buNone/>
            </a:pPr>
            <a:r>
              <a:rPr lang="en-US" altLang="en-US" sz="2400">
                <a:latin typeface="Times New Roman" panose="02020603050405020304" pitchFamily="18" charset="0"/>
              </a:rPr>
              <a:t>	1. Two types are compatible.</a:t>
            </a:r>
          </a:p>
          <a:p>
            <a:pPr>
              <a:buFont typeface="Wingdings" panose="05000000000000000000" pitchFamily="2" charset="2"/>
              <a:buNone/>
            </a:pPr>
            <a:r>
              <a:rPr lang="en-US" altLang="en-US" sz="2400">
                <a:latin typeface="Times New Roman" panose="02020603050405020304" pitchFamily="18" charset="0"/>
              </a:rPr>
              <a:t>	2. The destination type is larger than the source type.</a:t>
            </a:r>
          </a:p>
          <a:p>
            <a:pPr>
              <a:buFont typeface="Wingdings" panose="05000000000000000000" pitchFamily="2" charset="2"/>
              <a:buChar char="ü"/>
            </a:pPr>
            <a:r>
              <a:rPr lang="en-US" altLang="en-US" sz="2400">
                <a:latin typeface="Times New Roman" panose="02020603050405020304" pitchFamily="18" charset="0"/>
              </a:rPr>
              <a:t>It is known as widening conversion.</a:t>
            </a:r>
          </a:p>
          <a:p>
            <a:pPr>
              <a:buFont typeface="Wingdings" panose="05000000000000000000" pitchFamily="2" charset="2"/>
              <a:buChar char="ü"/>
            </a:pPr>
            <a:r>
              <a:rPr lang="en-US" altLang="en-US" sz="2400">
                <a:latin typeface="Times New Roman" panose="02020603050405020304" pitchFamily="18" charset="0"/>
              </a:rPr>
              <a:t>The numeric types, including integer and floating point types are compatible.</a:t>
            </a:r>
          </a:p>
          <a:p>
            <a:pPr>
              <a:buFont typeface="Wingdings" panose="05000000000000000000" pitchFamily="2" charset="2"/>
              <a:buChar char="ü"/>
            </a:pPr>
            <a:r>
              <a:rPr lang="en-US" altLang="en-US" sz="2400">
                <a:latin typeface="Times New Roman" panose="02020603050405020304" pitchFamily="18" charset="0"/>
              </a:rPr>
              <a:t>Numeric types are not compatible with char or boolean.</a:t>
            </a:r>
          </a:p>
          <a:p>
            <a:pPr>
              <a:buFont typeface="Wingdings" panose="05000000000000000000" pitchFamily="2" charset="2"/>
              <a:buChar char="ü"/>
            </a:pPr>
            <a:r>
              <a:rPr lang="en-US" altLang="en-US" sz="2400">
                <a:latin typeface="Times New Roman" panose="02020603050405020304" pitchFamily="18" charset="0"/>
              </a:rPr>
              <a:t>Char and boolean are not compatible with each other.</a:t>
            </a:r>
          </a:p>
        </p:txBody>
      </p:sp>
      <p:sp>
        <p:nvSpPr>
          <p:cNvPr id="2" name="Date Placeholder 1"/>
          <p:cNvSpPr>
            <a:spLocks noGrp="1"/>
          </p:cNvSpPr>
          <p:nvPr>
            <p:ph type="dt" sz="half" idx="10"/>
          </p:nvPr>
        </p:nvSpPr>
        <p:spPr/>
        <p:txBody>
          <a:bodyPr/>
          <a:lstStyle/>
          <a:p>
            <a:fld id="{2C90CF30-B07E-4B37-BE95-71D5942FD532}"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274638"/>
            <a:ext cx="8153400" cy="639762"/>
          </a:xfrm>
        </p:spPr>
        <p:txBody>
          <a:bodyPr>
            <a:normAutofit fontScale="90000"/>
          </a:bodyPr>
          <a:lstStyle/>
          <a:p>
            <a:r>
              <a:rPr lang="en-US" altLang="en-US" sz="4000" b="1">
                <a:latin typeface="Times New Roman" panose="02020603050405020304" pitchFamily="18" charset="0"/>
              </a:rPr>
              <a:t>Automatic Type Conversion</a:t>
            </a:r>
          </a:p>
        </p:txBody>
      </p:sp>
      <p:sp>
        <p:nvSpPr>
          <p:cNvPr id="15363" name="Rectangle 3"/>
          <p:cNvSpPr>
            <a:spLocks noGrp="1" noChangeArrowheads="1"/>
          </p:cNvSpPr>
          <p:nvPr>
            <p:ph idx="1"/>
          </p:nvPr>
        </p:nvSpPr>
        <p:spPr>
          <a:xfrm>
            <a:off x="457200" y="1600200"/>
            <a:ext cx="5316538" cy="4525963"/>
          </a:xfrm>
        </p:spPr>
        <p:txBody>
          <a:bodyPr/>
          <a:lstStyle/>
          <a:p>
            <a:pPr>
              <a:buFont typeface="Wingdings" panose="05000000000000000000" pitchFamily="2" charset="2"/>
              <a:buChar char="ü"/>
            </a:pPr>
            <a:r>
              <a:rPr lang="en-US" altLang="en-US" sz="2000">
                <a:latin typeface="Times New Roman" panose="02020603050405020304" pitchFamily="18" charset="0"/>
              </a:rPr>
              <a:t>short’s variable = byte’s variable</a:t>
            </a:r>
          </a:p>
          <a:p>
            <a:pPr>
              <a:buFont typeface="Wingdings" panose="05000000000000000000" pitchFamily="2" charset="2"/>
              <a:buChar char="ü"/>
            </a:pPr>
            <a:r>
              <a:rPr lang="en-US" altLang="en-US" sz="2000">
                <a:latin typeface="Times New Roman" panose="02020603050405020304" pitchFamily="18" charset="0"/>
              </a:rPr>
              <a:t>int’s variable = byte’s variable</a:t>
            </a:r>
          </a:p>
          <a:p>
            <a:pPr>
              <a:buFont typeface="Wingdings" panose="05000000000000000000" pitchFamily="2" charset="2"/>
              <a:buChar char="ü"/>
            </a:pPr>
            <a:r>
              <a:rPr lang="en-US" altLang="en-US" sz="2000">
                <a:latin typeface="Times New Roman" panose="02020603050405020304" pitchFamily="18" charset="0"/>
              </a:rPr>
              <a:t>byte’s variable = int’s variable</a:t>
            </a:r>
          </a:p>
          <a:p>
            <a:pPr>
              <a:buFont typeface="Wingdings" panose="05000000000000000000" pitchFamily="2" charset="2"/>
              <a:buChar char="ü"/>
            </a:pPr>
            <a:r>
              <a:rPr lang="en-US" altLang="en-US" sz="2000">
                <a:latin typeface="Times New Roman" panose="02020603050405020304" pitchFamily="18" charset="0"/>
              </a:rPr>
              <a:t>float’s variable = int’s variable</a:t>
            </a:r>
          </a:p>
          <a:p>
            <a:pPr>
              <a:buFont typeface="Wingdings" panose="05000000000000000000" pitchFamily="2" charset="2"/>
              <a:buChar char="ü"/>
            </a:pPr>
            <a:r>
              <a:rPr lang="en-US" altLang="en-US" sz="2000">
                <a:latin typeface="Times New Roman" panose="02020603050405020304" pitchFamily="18" charset="0"/>
              </a:rPr>
              <a:t>int’s variable = float’s variable</a:t>
            </a:r>
          </a:p>
          <a:p>
            <a:pPr>
              <a:buFont typeface="Wingdings" panose="05000000000000000000" pitchFamily="2" charset="2"/>
              <a:buChar char="ü"/>
            </a:pPr>
            <a:r>
              <a:rPr lang="en-US" altLang="en-US" sz="2000">
                <a:latin typeface="Times New Roman" panose="02020603050405020304" pitchFamily="18" charset="0"/>
              </a:rPr>
              <a:t>double’s variable = float’s variable</a:t>
            </a:r>
          </a:p>
          <a:p>
            <a:pPr>
              <a:buFont typeface="Wingdings" panose="05000000000000000000" pitchFamily="2" charset="2"/>
              <a:buChar char="ü"/>
            </a:pPr>
            <a:r>
              <a:rPr lang="en-US" altLang="en-US" sz="2000">
                <a:latin typeface="Times New Roman" panose="02020603050405020304" pitchFamily="18" charset="0"/>
              </a:rPr>
              <a:t>float’s variable = double’s variable</a:t>
            </a:r>
          </a:p>
          <a:p>
            <a:pPr>
              <a:buFont typeface="Wingdings" panose="05000000000000000000" pitchFamily="2" charset="2"/>
              <a:buChar char="ü"/>
            </a:pPr>
            <a:r>
              <a:rPr lang="en-US" altLang="en-US" sz="2000">
                <a:latin typeface="Times New Roman" panose="02020603050405020304" pitchFamily="18" charset="0"/>
              </a:rPr>
              <a:t>char’s variable = any other variable</a:t>
            </a:r>
          </a:p>
          <a:p>
            <a:pPr>
              <a:buFont typeface="Wingdings" panose="05000000000000000000" pitchFamily="2" charset="2"/>
              <a:buChar char="ü"/>
            </a:pPr>
            <a:r>
              <a:rPr lang="en-US" altLang="en-US" sz="2000">
                <a:latin typeface="Times New Roman" panose="02020603050405020304" pitchFamily="18" charset="0"/>
              </a:rPr>
              <a:t>int’s variable = char’s variable</a:t>
            </a:r>
          </a:p>
          <a:p>
            <a:pPr>
              <a:buFont typeface="Wingdings" panose="05000000000000000000" pitchFamily="2" charset="2"/>
              <a:buChar char="ü"/>
            </a:pPr>
            <a:r>
              <a:rPr lang="en-US" altLang="en-US" sz="2000">
                <a:latin typeface="Times New Roman" panose="02020603050405020304" pitchFamily="18" charset="0"/>
              </a:rPr>
              <a:t>short’s variable = char’s variable</a:t>
            </a:r>
          </a:p>
          <a:p>
            <a:pPr>
              <a:buFont typeface="Wingdings" panose="05000000000000000000" pitchFamily="2" charset="2"/>
              <a:buChar char="ü"/>
            </a:pPr>
            <a:r>
              <a:rPr lang="en-US" altLang="en-US" sz="2000">
                <a:latin typeface="Times New Roman" panose="02020603050405020304" pitchFamily="18" charset="0"/>
              </a:rPr>
              <a:t>boolean variable = any other variable</a:t>
            </a:r>
          </a:p>
          <a:p>
            <a:pPr>
              <a:buFont typeface="Wingdings" panose="05000000000000000000" pitchFamily="2" charset="2"/>
              <a:buChar char="ü"/>
            </a:pPr>
            <a:r>
              <a:rPr lang="en-US" altLang="en-US" sz="2000">
                <a:latin typeface="Times New Roman" panose="02020603050405020304" pitchFamily="18" charset="0"/>
              </a:rPr>
              <a:t>Any other variable = boolean variable</a:t>
            </a:r>
          </a:p>
        </p:txBody>
      </p:sp>
      <p:sp>
        <p:nvSpPr>
          <p:cNvPr id="2" name="Date Placeholder 1"/>
          <p:cNvSpPr>
            <a:spLocks noGrp="1"/>
          </p:cNvSpPr>
          <p:nvPr>
            <p:ph type="dt" sz="half" idx="10"/>
          </p:nvPr>
        </p:nvSpPr>
        <p:spPr/>
        <p:txBody>
          <a:bodyPr/>
          <a:lstStyle/>
          <a:p>
            <a:fld id="{F6F501F7-829F-4D23-8D03-281E37AFD898}"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3</a:t>
            </a:fld>
            <a:endParaRPr lang="en-US" altLang="en-US"/>
          </a:p>
        </p:txBody>
      </p:sp>
      <p:sp>
        <p:nvSpPr>
          <p:cNvPr id="15364" name="Rectangle 4"/>
          <p:cNvSpPr>
            <a:spLocks noChangeArrowheads="1"/>
          </p:cNvSpPr>
          <p:nvPr/>
        </p:nvSpPr>
        <p:spPr bwMode="auto">
          <a:xfrm>
            <a:off x="6781800" y="1600200"/>
            <a:ext cx="1676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solidFill>
                  <a:schemeClr val="accent1"/>
                </a:solidFill>
                <a:latin typeface="Times New Roman" panose="02020603050405020304" pitchFamily="18" charset="0"/>
              </a:rPr>
              <a:t>ok</a:t>
            </a:r>
          </a:p>
        </p:txBody>
      </p:sp>
      <p:sp>
        <p:nvSpPr>
          <p:cNvPr id="15365" name="Rectangle 5"/>
          <p:cNvSpPr>
            <a:spLocks noChangeArrowheads="1"/>
          </p:cNvSpPr>
          <p:nvPr/>
        </p:nvSpPr>
        <p:spPr bwMode="auto">
          <a:xfrm>
            <a:off x="6781800" y="1981200"/>
            <a:ext cx="1676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solidFill>
                  <a:schemeClr val="accent1"/>
                </a:solidFill>
                <a:latin typeface="Times New Roman" panose="02020603050405020304" pitchFamily="18" charset="0"/>
              </a:rPr>
              <a:t>ok</a:t>
            </a:r>
          </a:p>
        </p:txBody>
      </p:sp>
      <p:sp>
        <p:nvSpPr>
          <p:cNvPr id="15366" name="Rectangle 6"/>
          <p:cNvSpPr>
            <a:spLocks noChangeArrowheads="1"/>
          </p:cNvSpPr>
          <p:nvPr/>
        </p:nvSpPr>
        <p:spPr bwMode="auto">
          <a:xfrm>
            <a:off x="6781800" y="2286000"/>
            <a:ext cx="1676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solidFill>
                  <a:schemeClr val="accent2"/>
                </a:solidFill>
                <a:latin typeface="Times New Roman" panose="02020603050405020304" pitchFamily="18" charset="0"/>
              </a:rPr>
              <a:t>Error</a:t>
            </a:r>
          </a:p>
        </p:txBody>
      </p:sp>
      <p:sp>
        <p:nvSpPr>
          <p:cNvPr id="15367" name="Rectangle 7"/>
          <p:cNvSpPr>
            <a:spLocks noChangeArrowheads="1"/>
          </p:cNvSpPr>
          <p:nvPr/>
        </p:nvSpPr>
        <p:spPr bwMode="auto">
          <a:xfrm>
            <a:off x="6781800" y="2667000"/>
            <a:ext cx="1676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solidFill>
                  <a:schemeClr val="accent1"/>
                </a:solidFill>
                <a:latin typeface="Times New Roman" panose="02020603050405020304" pitchFamily="18" charset="0"/>
              </a:rPr>
              <a:t>ok</a:t>
            </a:r>
          </a:p>
        </p:txBody>
      </p:sp>
      <p:sp>
        <p:nvSpPr>
          <p:cNvPr id="15368" name="Rectangle 8"/>
          <p:cNvSpPr>
            <a:spLocks noChangeArrowheads="1"/>
          </p:cNvSpPr>
          <p:nvPr/>
        </p:nvSpPr>
        <p:spPr bwMode="auto">
          <a:xfrm>
            <a:off x="6781800" y="3048000"/>
            <a:ext cx="1676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solidFill>
                  <a:schemeClr val="accent2"/>
                </a:solidFill>
                <a:latin typeface="Times New Roman" panose="02020603050405020304" pitchFamily="18" charset="0"/>
              </a:rPr>
              <a:t>Error</a:t>
            </a:r>
          </a:p>
        </p:txBody>
      </p:sp>
      <p:sp>
        <p:nvSpPr>
          <p:cNvPr id="15369" name="Rectangle 9"/>
          <p:cNvSpPr>
            <a:spLocks noChangeArrowheads="1"/>
          </p:cNvSpPr>
          <p:nvPr/>
        </p:nvSpPr>
        <p:spPr bwMode="auto">
          <a:xfrm>
            <a:off x="6781800" y="3429000"/>
            <a:ext cx="1676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solidFill>
                  <a:schemeClr val="accent1"/>
                </a:solidFill>
                <a:latin typeface="Times New Roman" panose="02020603050405020304" pitchFamily="18" charset="0"/>
              </a:rPr>
              <a:t>ok</a:t>
            </a:r>
          </a:p>
        </p:txBody>
      </p:sp>
      <p:sp>
        <p:nvSpPr>
          <p:cNvPr id="15370" name="Rectangle 10"/>
          <p:cNvSpPr>
            <a:spLocks noChangeArrowheads="1"/>
          </p:cNvSpPr>
          <p:nvPr/>
        </p:nvSpPr>
        <p:spPr bwMode="auto">
          <a:xfrm>
            <a:off x="6781800" y="3776663"/>
            <a:ext cx="1676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solidFill>
                  <a:schemeClr val="accent2"/>
                </a:solidFill>
                <a:latin typeface="Times New Roman" panose="02020603050405020304" pitchFamily="18" charset="0"/>
              </a:rPr>
              <a:t>Error</a:t>
            </a:r>
          </a:p>
        </p:txBody>
      </p:sp>
      <p:sp>
        <p:nvSpPr>
          <p:cNvPr id="15371" name="Rectangle 11"/>
          <p:cNvSpPr>
            <a:spLocks noChangeArrowheads="1"/>
          </p:cNvSpPr>
          <p:nvPr/>
        </p:nvSpPr>
        <p:spPr bwMode="auto">
          <a:xfrm>
            <a:off x="6781800" y="4114800"/>
            <a:ext cx="1676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solidFill>
                  <a:schemeClr val="accent2"/>
                </a:solidFill>
                <a:latin typeface="Times New Roman" panose="02020603050405020304" pitchFamily="18" charset="0"/>
              </a:rPr>
              <a:t>Error</a:t>
            </a:r>
          </a:p>
        </p:txBody>
      </p:sp>
      <p:sp>
        <p:nvSpPr>
          <p:cNvPr id="15372" name="Rectangle 12"/>
          <p:cNvSpPr>
            <a:spLocks noChangeArrowheads="1"/>
          </p:cNvSpPr>
          <p:nvPr/>
        </p:nvSpPr>
        <p:spPr bwMode="auto">
          <a:xfrm>
            <a:off x="6781800" y="4495800"/>
            <a:ext cx="1676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solidFill>
                  <a:schemeClr val="accent1"/>
                </a:solidFill>
                <a:latin typeface="Times New Roman" panose="02020603050405020304" pitchFamily="18" charset="0"/>
              </a:rPr>
              <a:t>ok</a:t>
            </a:r>
          </a:p>
        </p:txBody>
      </p:sp>
      <p:sp>
        <p:nvSpPr>
          <p:cNvPr id="15373" name="Line 13"/>
          <p:cNvSpPr>
            <a:spLocks noChangeShapeType="1"/>
          </p:cNvSpPr>
          <p:nvPr/>
        </p:nvSpPr>
        <p:spPr bwMode="auto">
          <a:xfrm>
            <a:off x="5257800" y="1828800"/>
            <a:ext cx="1447800" cy="0"/>
          </a:xfrm>
          <a:prstGeom prst="line">
            <a:avLst/>
          </a:prstGeom>
          <a:noFill/>
          <a:ln w="28575">
            <a:solidFill>
              <a:srgbClr val="3399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74" name="Line 14"/>
          <p:cNvSpPr>
            <a:spLocks noChangeShapeType="1"/>
          </p:cNvSpPr>
          <p:nvPr/>
        </p:nvSpPr>
        <p:spPr bwMode="auto">
          <a:xfrm>
            <a:off x="4876800" y="2209800"/>
            <a:ext cx="1828800" cy="0"/>
          </a:xfrm>
          <a:prstGeom prst="line">
            <a:avLst/>
          </a:prstGeom>
          <a:noFill/>
          <a:ln w="28575">
            <a:solidFill>
              <a:srgbClr val="3399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75" name="Line 15"/>
          <p:cNvSpPr>
            <a:spLocks noChangeShapeType="1"/>
          </p:cNvSpPr>
          <p:nvPr/>
        </p:nvSpPr>
        <p:spPr bwMode="auto">
          <a:xfrm>
            <a:off x="4876800" y="2514600"/>
            <a:ext cx="1828800" cy="0"/>
          </a:xfrm>
          <a:prstGeom prst="line">
            <a:avLst/>
          </a:prstGeom>
          <a:noFill/>
          <a:ln w="28575">
            <a:solidFill>
              <a:srgbClr val="3399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76" name="Line 16"/>
          <p:cNvSpPr>
            <a:spLocks noChangeShapeType="1"/>
          </p:cNvSpPr>
          <p:nvPr/>
        </p:nvSpPr>
        <p:spPr bwMode="auto">
          <a:xfrm>
            <a:off x="4876800" y="2895600"/>
            <a:ext cx="1828800" cy="0"/>
          </a:xfrm>
          <a:prstGeom prst="line">
            <a:avLst/>
          </a:prstGeom>
          <a:noFill/>
          <a:ln w="28575">
            <a:solidFill>
              <a:srgbClr val="3399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77" name="Line 17"/>
          <p:cNvSpPr>
            <a:spLocks noChangeShapeType="1"/>
          </p:cNvSpPr>
          <p:nvPr/>
        </p:nvSpPr>
        <p:spPr bwMode="auto">
          <a:xfrm>
            <a:off x="4876800" y="3276600"/>
            <a:ext cx="1828800" cy="0"/>
          </a:xfrm>
          <a:prstGeom prst="line">
            <a:avLst/>
          </a:prstGeom>
          <a:noFill/>
          <a:ln w="28575">
            <a:solidFill>
              <a:srgbClr val="3399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78" name="Line 18"/>
          <p:cNvSpPr>
            <a:spLocks noChangeShapeType="1"/>
          </p:cNvSpPr>
          <p:nvPr/>
        </p:nvSpPr>
        <p:spPr bwMode="auto">
          <a:xfrm>
            <a:off x="5410200" y="3657600"/>
            <a:ext cx="1295400" cy="0"/>
          </a:xfrm>
          <a:prstGeom prst="line">
            <a:avLst/>
          </a:prstGeom>
          <a:noFill/>
          <a:ln w="28575">
            <a:solidFill>
              <a:srgbClr val="3399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79" name="Line 19"/>
          <p:cNvSpPr>
            <a:spLocks noChangeShapeType="1"/>
          </p:cNvSpPr>
          <p:nvPr/>
        </p:nvSpPr>
        <p:spPr bwMode="auto">
          <a:xfrm>
            <a:off x="5410200" y="3990975"/>
            <a:ext cx="1295400" cy="0"/>
          </a:xfrm>
          <a:prstGeom prst="line">
            <a:avLst/>
          </a:prstGeom>
          <a:noFill/>
          <a:ln w="28575">
            <a:solidFill>
              <a:srgbClr val="3399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80" name="Line 20"/>
          <p:cNvSpPr>
            <a:spLocks noChangeShapeType="1"/>
          </p:cNvSpPr>
          <p:nvPr/>
        </p:nvSpPr>
        <p:spPr bwMode="auto">
          <a:xfrm>
            <a:off x="5562600" y="4343400"/>
            <a:ext cx="1143000" cy="0"/>
          </a:xfrm>
          <a:prstGeom prst="line">
            <a:avLst/>
          </a:prstGeom>
          <a:noFill/>
          <a:ln w="28575">
            <a:solidFill>
              <a:srgbClr val="3399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81" name="Line 21"/>
          <p:cNvSpPr>
            <a:spLocks noChangeShapeType="1"/>
          </p:cNvSpPr>
          <p:nvPr/>
        </p:nvSpPr>
        <p:spPr bwMode="auto">
          <a:xfrm>
            <a:off x="4953000" y="4724400"/>
            <a:ext cx="1752600" cy="0"/>
          </a:xfrm>
          <a:prstGeom prst="line">
            <a:avLst/>
          </a:prstGeom>
          <a:noFill/>
          <a:ln w="28575">
            <a:solidFill>
              <a:srgbClr val="3399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82" name="Line 22"/>
          <p:cNvSpPr>
            <a:spLocks noChangeShapeType="1"/>
          </p:cNvSpPr>
          <p:nvPr/>
        </p:nvSpPr>
        <p:spPr bwMode="auto">
          <a:xfrm>
            <a:off x="5257800" y="5105400"/>
            <a:ext cx="1447800" cy="0"/>
          </a:xfrm>
          <a:prstGeom prst="line">
            <a:avLst/>
          </a:prstGeom>
          <a:noFill/>
          <a:ln w="28575">
            <a:solidFill>
              <a:srgbClr val="3399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83" name="Line 23"/>
          <p:cNvSpPr>
            <a:spLocks noChangeShapeType="1"/>
          </p:cNvSpPr>
          <p:nvPr/>
        </p:nvSpPr>
        <p:spPr bwMode="auto">
          <a:xfrm>
            <a:off x="5791200" y="5486400"/>
            <a:ext cx="914400" cy="0"/>
          </a:xfrm>
          <a:prstGeom prst="line">
            <a:avLst/>
          </a:prstGeom>
          <a:noFill/>
          <a:ln w="28575">
            <a:solidFill>
              <a:srgbClr val="3399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84" name="Rectangle 24"/>
          <p:cNvSpPr>
            <a:spLocks noChangeArrowheads="1"/>
          </p:cNvSpPr>
          <p:nvPr/>
        </p:nvSpPr>
        <p:spPr bwMode="auto">
          <a:xfrm>
            <a:off x="6781800" y="4876800"/>
            <a:ext cx="1676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solidFill>
                  <a:schemeClr val="accent2"/>
                </a:solidFill>
                <a:latin typeface="Times New Roman" panose="02020603050405020304" pitchFamily="18" charset="0"/>
              </a:rPr>
              <a:t>Error</a:t>
            </a:r>
          </a:p>
        </p:txBody>
      </p:sp>
      <p:sp>
        <p:nvSpPr>
          <p:cNvPr id="15385" name="Rectangle 25"/>
          <p:cNvSpPr>
            <a:spLocks noChangeArrowheads="1"/>
          </p:cNvSpPr>
          <p:nvPr/>
        </p:nvSpPr>
        <p:spPr bwMode="auto">
          <a:xfrm>
            <a:off x="6781800" y="5257800"/>
            <a:ext cx="1676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solidFill>
                  <a:schemeClr val="accent2"/>
                </a:solidFill>
                <a:latin typeface="Times New Roman" panose="02020603050405020304" pitchFamily="18" charset="0"/>
              </a:rPr>
              <a:t>Error</a:t>
            </a:r>
          </a:p>
        </p:txBody>
      </p:sp>
      <p:sp>
        <p:nvSpPr>
          <p:cNvPr id="15386" name="Line 26"/>
          <p:cNvSpPr>
            <a:spLocks noChangeShapeType="1"/>
          </p:cNvSpPr>
          <p:nvPr/>
        </p:nvSpPr>
        <p:spPr bwMode="auto">
          <a:xfrm>
            <a:off x="5867400" y="5867400"/>
            <a:ext cx="838200" cy="0"/>
          </a:xfrm>
          <a:prstGeom prst="line">
            <a:avLst/>
          </a:prstGeom>
          <a:noFill/>
          <a:ln w="28575">
            <a:solidFill>
              <a:srgbClr val="3399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87" name="Rectangle 27"/>
          <p:cNvSpPr>
            <a:spLocks noChangeArrowheads="1"/>
          </p:cNvSpPr>
          <p:nvPr/>
        </p:nvSpPr>
        <p:spPr bwMode="auto">
          <a:xfrm>
            <a:off x="6781800" y="5638800"/>
            <a:ext cx="1676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solidFill>
                  <a:schemeClr val="accent2"/>
                </a:solidFill>
                <a:latin typeface="Times New Roman" panose="02020603050405020304" pitchFamily="18" charset="0"/>
              </a:rPr>
              <a:t>Error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5373"/>
                                        </p:tgtEl>
                                        <p:attrNameLst>
                                          <p:attrName>style.visibility</p:attrName>
                                        </p:attrNameLst>
                                      </p:cBhvr>
                                      <p:to>
                                        <p:strVal val="visible"/>
                                      </p:to>
                                    </p:set>
                                    <p:animEffect transition="in" filter="blinds(horizontal)">
                                      <p:cBhvr>
                                        <p:cTn id="11" dur="500"/>
                                        <p:tgtEl>
                                          <p:spTgt spid="1537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536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5374"/>
                                        </p:tgtEl>
                                        <p:attrNameLst>
                                          <p:attrName>style.visibility</p:attrName>
                                        </p:attrNameLst>
                                      </p:cBhvr>
                                      <p:to>
                                        <p:strVal val="visible"/>
                                      </p:to>
                                    </p:set>
                                    <p:animEffect transition="in" filter="blinds(horizontal)">
                                      <p:cBhvr>
                                        <p:cTn id="24" dur="500"/>
                                        <p:tgtEl>
                                          <p:spTgt spid="1537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365"/>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375"/>
                                        </p:tgtEl>
                                        <p:attrNameLst>
                                          <p:attrName>style.visibility</p:attrName>
                                        </p:attrNameLst>
                                      </p:cBhvr>
                                      <p:to>
                                        <p:strVal val="visible"/>
                                      </p:to>
                                    </p:set>
                                    <p:animEffect transition="in" filter="blinds(horizontal)">
                                      <p:cBhvr>
                                        <p:cTn id="37" dur="500"/>
                                        <p:tgtEl>
                                          <p:spTgt spid="1537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5366"/>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5376"/>
                                        </p:tgtEl>
                                        <p:attrNameLst>
                                          <p:attrName>style.visibility</p:attrName>
                                        </p:attrNameLst>
                                      </p:cBhvr>
                                      <p:to>
                                        <p:strVal val="visible"/>
                                      </p:to>
                                    </p:set>
                                    <p:animEffect transition="in" filter="blinds(horizontal)">
                                      <p:cBhvr>
                                        <p:cTn id="50" dur="500"/>
                                        <p:tgtEl>
                                          <p:spTgt spid="1537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367"/>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5377"/>
                                        </p:tgtEl>
                                        <p:attrNameLst>
                                          <p:attrName>style.visibility</p:attrName>
                                        </p:attrNameLst>
                                      </p:cBhvr>
                                      <p:to>
                                        <p:strVal val="visible"/>
                                      </p:to>
                                    </p:set>
                                    <p:animEffect transition="in" filter="blinds(horizontal)">
                                      <p:cBhvr>
                                        <p:cTn id="63" dur="500"/>
                                        <p:tgtEl>
                                          <p:spTgt spid="1537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5368"/>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5378"/>
                                        </p:tgtEl>
                                        <p:attrNameLst>
                                          <p:attrName>style.visibility</p:attrName>
                                        </p:attrNameLst>
                                      </p:cBhvr>
                                      <p:to>
                                        <p:strVal val="visible"/>
                                      </p:to>
                                    </p:set>
                                    <p:animEffect transition="in" filter="blinds(horizontal)">
                                      <p:cBhvr>
                                        <p:cTn id="76" dur="500"/>
                                        <p:tgtEl>
                                          <p:spTgt spid="1537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5369"/>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15379"/>
                                        </p:tgtEl>
                                        <p:attrNameLst>
                                          <p:attrName>style.visibility</p:attrName>
                                        </p:attrNameLst>
                                      </p:cBhvr>
                                      <p:to>
                                        <p:strVal val="visible"/>
                                      </p:to>
                                    </p:set>
                                    <p:animEffect transition="in" filter="blinds(horizontal)">
                                      <p:cBhvr>
                                        <p:cTn id="89" dur="500"/>
                                        <p:tgtEl>
                                          <p:spTgt spid="15379"/>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5370"/>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presetSubtype="0" fill="hold" nodeType="clickEffect">
                                  <p:stCondLst>
                                    <p:cond delay="0"/>
                                  </p:stCondLst>
                                  <p:childTnLst>
                                    <p:set>
                                      <p:cBhvr>
                                        <p:cTn id="97" dur="1" fill="hold">
                                          <p:stCondLst>
                                            <p:cond delay="0"/>
                                          </p:stCondLst>
                                        </p:cTn>
                                        <p:tgtEl>
                                          <p:spTgt spid="15363">
                                            <p:txEl>
                                              <p:pRg st="7" end="7"/>
                                            </p:txEl>
                                          </p:spTgt>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15380"/>
                                        </p:tgtEl>
                                        <p:attrNameLst>
                                          <p:attrName>style.visibility</p:attrName>
                                        </p:attrNameLst>
                                      </p:cBhvr>
                                      <p:to>
                                        <p:strVal val="visible"/>
                                      </p:to>
                                    </p:set>
                                    <p:animEffect transition="in" filter="blinds(horizontal)">
                                      <p:cBhvr>
                                        <p:cTn id="102" dur="500"/>
                                        <p:tgtEl>
                                          <p:spTgt spid="15380"/>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5371"/>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nodeType="clickEffect">
                                  <p:stCondLst>
                                    <p:cond delay="0"/>
                                  </p:stCondLst>
                                  <p:childTnLst>
                                    <p:set>
                                      <p:cBhvr>
                                        <p:cTn id="110" dur="1" fill="hold">
                                          <p:stCondLst>
                                            <p:cond delay="0"/>
                                          </p:stCondLst>
                                        </p:cTn>
                                        <p:tgtEl>
                                          <p:spTgt spid="15363">
                                            <p:txEl>
                                              <p:pRg st="8" end="8"/>
                                            </p:txEl>
                                          </p:spTgt>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15381"/>
                                        </p:tgtEl>
                                        <p:attrNameLst>
                                          <p:attrName>style.visibility</p:attrName>
                                        </p:attrNameLst>
                                      </p:cBhvr>
                                      <p:to>
                                        <p:strVal val="visible"/>
                                      </p:to>
                                    </p:set>
                                    <p:animEffect transition="in" filter="blinds(horizontal)">
                                      <p:cBhvr>
                                        <p:cTn id="115" dur="500"/>
                                        <p:tgtEl>
                                          <p:spTgt spid="15381"/>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15372"/>
                                        </p:tgtEl>
                                        <p:attrNameLst>
                                          <p:attrName>style.visibility</p:attrName>
                                        </p:attrNameLst>
                                      </p:cBhvr>
                                      <p:to>
                                        <p:strVal val="visible"/>
                                      </p:to>
                                    </p:se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 presetClass="entr" presetSubtype="0" fill="hold" nodeType="clickEffect">
                                  <p:stCondLst>
                                    <p:cond delay="0"/>
                                  </p:stCondLst>
                                  <p:childTnLst>
                                    <p:set>
                                      <p:cBhvr>
                                        <p:cTn id="123" dur="1" fill="hold">
                                          <p:stCondLst>
                                            <p:cond delay="0"/>
                                          </p:stCondLst>
                                        </p:cTn>
                                        <p:tgtEl>
                                          <p:spTgt spid="15363">
                                            <p:txEl>
                                              <p:pRg st="9" end="9"/>
                                            </p:txEl>
                                          </p:spTgt>
                                        </p:tgtEl>
                                        <p:attrNameLst>
                                          <p:attrName>style.visibility</p:attrName>
                                        </p:attrNameLst>
                                      </p:cBhvr>
                                      <p:to>
                                        <p:strVal val="visible"/>
                                      </p:to>
                                    </p:se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3" presetClass="entr" presetSubtype="10" fill="hold" grpId="0" nodeType="clickEffect">
                                  <p:stCondLst>
                                    <p:cond delay="0"/>
                                  </p:stCondLst>
                                  <p:childTnLst>
                                    <p:set>
                                      <p:cBhvr>
                                        <p:cTn id="127" dur="1" fill="hold">
                                          <p:stCondLst>
                                            <p:cond delay="0"/>
                                          </p:stCondLst>
                                        </p:cTn>
                                        <p:tgtEl>
                                          <p:spTgt spid="15382"/>
                                        </p:tgtEl>
                                        <p:attrNameLst>
                                          <p:attrName>style.visibility</p:attrName>
                                        </p:attrNameLst>
                                      </p:cBhvr>
                                      <p:to>
                                        <p:strVal val="visible"/>
                                      </p:to>
                                    </p:set>
                                    <p:animEffect transition="in" filter="blinds(horizontal)">
                                      <p:cBhvr>
                                        <p:cTn id="128" dur="500"/>
                                        <p:tgtEl>
                                          <p:spTgt spid="15382"/>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15384"/>
                                        </p:tgtEl>
                                        <p:attrNameLst>
                                          <p:attrName>style.visibility</p:attrName>
                                        </p:attrNameLst>
                                      </p:cBhvr>
                                      <p:to>
                                        <p:strVal val="visible"/>
                                      </p:to>
                                    </p:se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 presetClass="entr" presetSubtype="0" fill="hold" nodeType="clickEffect">
                                  <p:stCondLst>
                                    <p:cond delay="0"/>
                                  </p:stCondLst>
                                  <p:childTnLst>
                                    <p:set>
                                      <p:cBhvr>
                                        <p:cTn id="136" dur="1" fill="hold">
                                          <p:stCondLst>
                                            <p:cond delay="0"/>
                                          </p:stCondLst>
                                        </p:cTn>
                                        <p:tgtEl>
                                          <p:spTgt spid="15363">
                                            <p:txEl>
                                              <p:pRg st="10" end="10"/>
                                            </p:txEl>
                                          </p:spTgt>
                                        </p:tgtEl>
                                        <p:attrNameLst>
                                          <p:attrName>style.visibility</p:attrName>
                                        </p:attrNameLst>
                                      </p:cBhvr>
                                      <p:to>
                                        <p:strVal val="visible"/>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3" presetClass="entr" presetSubtype="10" fill="hold" grpId="0" nodeType="clickEffect">
                                  <p:stCondLst>
                                    <p:cond delay="0"/>
                                  </p:stCondLst>
                                  <p:childTnLst>
                                    <p:set>
                                      <p:cBhvr>
                                        <p:cTn id="140" dur="1" fill="hold">
                                          <p:stCondLst>
                                            <p:cond delay="0"/>
                                          </p:stCondLst>
                                        </p:cTn>
                                        <p:tgtEl>
                                          <p:spTgt spid="15383"/>
                                        </p:tgtEl>
                                        <p:attrNameLst>
                                          <p:attrName>style.visibility</p:attrName>
                                        </p:attrNameLst>
                                      </p:cBhvr>
                                      <p:to>
                                        <p:strVal val="visible"/>
                                      </p:to>
                                    </p:set>
                                    <p:animEffect transition="in" filter="blinds(horizontal)">
                                      <p:cBhvr>
                                        <p:cTn id="141" dur="500"/>
                                        <p:tgtEl>
                                          <p:spTgt spid="15383"/>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1" presetClass="entr" presetSubtype="0" fill="hold" grpId="0" nodeType="clickEffect">
                                  <p:stCondLst>
                                    <p:cond delay="0"/>
                                  </p:stCondLst>
                                  <p:childTnLst>
                                    <p:set>
                                      <p:cBhvr>
                                        <p:cTn id="145" dur="1" fill="hold">
                                          <p:stCondLst>
                                            <p:cond delay="0"/>
                                          </p:stCondLst>
                                        </p:cTn>
                                        <p:tgtEl>
                                          <p:spTgt spid="15385"/>
                                        </p:tgtEl>
                                        <p:attrNameLst>
                                          <p:attrName>style.visibility</p:attrName>
                                        </p:attrNameLst>
                                      </p:cBhvr>
                                      <p:to>
                                        <p:strVal val="visible"/>
                                      </p:to>
                                    </p:se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1" presetClass="entr" presetSubtype="0" fill="hold" nodeType="clickEffect">
                                  <p:stCondLst>
                                    <p:cond delay="0"/>
                                  </p:stCondLst>
                                  <p:childTnLst>
                                    <p:set>
                                      <p:cBhvr>
                                        <p:cTn id="149" dur="1" fill="hold">
                                          <p:stCondLst>
                                            <p:cond delay="0"/>
                                          </p:stCondLst>
                                        </p:cTn>
                                        <p:tgtEl>
                                          <p:spTgt spid="15363">
                                            <p:txEl>
                                              <p:pRg st="11" end="11"/>
                                            </p:txEl>
                                          </p:spTgt>
                                        </p:tgtEl>
                                        <p:attrNameLst>
                                          <p:attrName>style.visibility</p:attrName>
                                        </p:attrNameLst>
                                      </p:cBhvr>
                                      <p:to>
                                        <p:strVal val="visible"/>
                                      </p:to>
                                    </p:se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3" presetClass="entr" presetSubtype="10" fill="hold" grpId="0" nodeType="clickEffect">
                                  <p:stCondLst>
                                    <p:cond delay="0"/>
                                  </p:stCondLst>
                                  <p:childTnLst>
                                    <p:set>
                                      <p:cBhvr>
                                        <p:cTn id="153" dur="1" fill="hold">
                                          <p:stCondLst>
                                            <p:cond delay="0"/>
                                          </p:stCondLst>
                                        </p:cTn>
                                        <p:tgtEl>
                                          <p:spTgt spid="15386"/>
                                        </p:tgtEl>
                                        <p:attrNameLst>
                                          <p:attrName>style.visibility</p:attrName>
                                        </p:attrNameLst>
                                      </p:cBhvr>
                                      <p:to>
                                        <p:strVal val="visible"/>
                                      </p:to>
                                    </p:set>
                                    <p:animEffect transition="in" filter="blinds(horizontal)">
                                      <p:cBhvr>
                                        <p:cTn id="154" dur="500"/>
                                        <p:tgtEl>
                                          <p:spTgt spid="15386"/>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53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p:bldP spid="15365" grpId="0"/>
      <p:bldP spid="15366" grpId="0"/>
      <p:bldP spid="15367" grpId="0"/>
      <p:bldP spid="15368" grpId="0"/>
      <p:bldP spid="15369" grpId="0"/>
      <p:bldP spid="15370" grpId="0"/>
      <p:bldP spid="15371" grpId="0"/>
      <p:bldP spid="15372" grpId="0"/>
      <p:bldP spid="15373" grpId="0" animBg="1"/>
      <p:bldP spid="15374" grpId="0" animBg="1"/>
      <p:bldP spid="15375" grpId="0" animBg="1"/>
      <p:bldP spid="15376" grpId="0" animBg="1"/>
      <p:bldP spid="15377" grpId="0" animBg="1"/>
      <p:bldP spid="15378" grpId="0" animBg="1"/>
      <p:bldP spid="15379" grpId="0" animBg="1"/>
      <p:bldP spid="15380" grpId="0" animBg="1"/>
      <p:bldP spid="15381" grpId="0" animBg="1"/>
      <p:bldP spid="15382" grpId="0" animBg="1"/>
      <p:bldP spid="15383" grpId="0" animBg="1"/>
      <p:bldP spid="15384" grpId="0"/>
      <p:bldP spid="15385" grpId="0"/>
      <p:bldP spid="15386" grpId="0" animBg="1"/>
      <p:bldP spid="1538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274638"/>
            <a:ext cx="8382000" cy="639762"/>
          </a:xfrm>
        </p:spPr>
        <p:txBody>
          <a:bodyPr>
            <a:normAutofit fontScale="90000"/>
          </a:bodyPr>
          <a:lstStyle/>
          <a:p>
            <a:r>
              <a:rPr lang="en-US" altLang="en-US" sz="4000" b="1">
                <a:latin typeface="Times New Roman" panose="02020603050405020304" pitchFamily="18" charset="0"/>
              </a:rPr>
              <a:t>Casting Type</a:t>
            </a:r>
          </a:p>
        </p:txBody>
      </p:sp>
      <p:sp>
        <p:nvSpPr>
          <p:cNvPr id="8195" name="Rectangle 3"/>
          <p:cNvSpPr>
            <a:spLocks noGrp="1" noChangeArrowheads="1"/>
          </p:cNvSpPr>
          <p:nvPr>
            <p:ph idx="1"/>
          </p:nvPr>
        </p:nvSpPr>
        <p:spPr>
          <a:xfrm>
            <a:off x="381000" y="1066800"/>
            <a:ext cx="8763000" cy="5257800"/>
          </a:xfrm>
        </p:spPr>
        <p:txBody>
          <a:bodyPr/>
          <a:lstStyle/>
          <a:p>
            <a:pPr>
              <a:buFont typeface="Wingdings" panose="05000000000000000000" pitchFamily="2" charset="2"/>
              <a:buChar char="ü"/>
            </a:pPr>
            <a:r>
              <a:rPr lang="en-US" altLang="en-US" sz="2400">
                <a:latin typeface="Times New Roman" panose="02020603050405020304" pitchFamily="18" charset="0"/>
              </a:rPr>
              <a:t>Problem: assigning int value to a byte type variable.</a:t>
            </a:r>
          </a:p>
          <a:p>
            <a:pPr>
              <a:buFont typeface="Wingdings" panose="05000000000000000000" pitchFamily="2" charset="2"/>
              <a:buChar char="ü"/>
            </a:pPr>
            <a:r>
              <a:rPr lang="en-US" altLang="en-US" sz="2400">
                <a:latin typeface="Times New Roman" panose="02020603050405020304" pitchFamily="18" charset="0"/>
              </a:rPr>
              <a:t>This type of conversion is known as narrowing conversion.</a:t>
            </a:r>
          </a:p>
          <a:p>
            <a:pPr>
              <a:buFont typeface="Wingdings" panose="05000000000000000000" pitchFamily="2" charset="2"/>
              <a:buChar char="ü"/>
            </a:pPr>
            <a:r>
              <a:rPr lang="en-US" altLang="en-US" sz="2400">
                <a:latin typeface="Times New Roman" panose="02020603050405020304" pitchFamily="18" charset="0"/>
              </a:rPr>
              <a:t>A cast is simply an explicit type conversion : (target_type) value</a:t>
            </a:r>
          </a:p>
          <a:p>
            <a:pPr>
              <a:buFont typeface="Wingdings" panose="05000000000000000000" pitchFamily="2" charset="2"/>
              <a:buChar char="ü"/>
            </a:pPr>
            <a:r>
              <a:rPr lang="en-US" altLang="en-US" sz="2400">
                <a:latin typeface="Times New Roman" panose="02020603050405020304" pitchFamily="18" charset="0"/>
              </a:rPr>
              <a:t>Example:</a:t>
            </a:r>
          </a:p>
          <a:p>
            <a:pPr>
              <a:buFont typeface="Wingdings" panose="05000000000000000000" pitchFamily="2" charset="2"/>
              <a:buNone/>
            </a:pPr>
            <a:r>
              <a:rPr lang="en-US" altLang="en-US" sz="2400">
                <a:latin typeface="Times New Roman" panose="02020603050405020304" pitchFamily="18" charset="0"/>
              </a:rPr>
              <a:t>	int a;</a:t>
            </a:r>
          </a:p>
          <a:p>
            <a:pPr>
              <a:buFont typeface="Wingdings" panose="05000000000000000000" pitchFamily="2" charset="2"/>
              <a:buNone/>
            </a:pPr>
            <a:r>
              <a:rPr lang="en-US" altLang="en-US" sz="2400">
                <a:latin typeface="Times New Roman" panose="02020603050405020304" pitchFamily="18" charset="0"/>
              </a:rPr>
              <a:t>	byte b;</a:t>
            </a:r>
          </a:p>
          <a:p>
            <a:pPr>
              <a:buFont typeface="Wingdings" panose="05000000000000000000" pitchFamily="2" charset="2"/>
              <a:buNone/>
            </a:pPr>
            <a:r>
              <a:rPr lang="en-US" altLang="en-US" sz="2400">
                <a:latin typeface="Times New Roman" panose="02020603050405020304" pitchFamily="18" charset="0"/>
              </a:rPr>
              <a:t>	….</a:t>
            </a:r>
          </a:p>
          <a:p>
            <a:pPr>
              <a:buFont typeface="Wingdings" panose="05000000000000000000" pitchFamily="2" charset="2"/>
              <a:buNone/>
            </a:pPr>
            <a:r>
              <a:rPr lang="en-US" altLang="en-US" sz="2400">
                <a:latin typeface="Times New Roman" panose="02020603050405020304" pitchFamily="18" charset="0"/>
              </a:rPr>
              <a:t>	b = (byte) a;</a:t>
            </a:r>
          </a:p>
          <a:p>
            <a:pPr>
              <a:buFont typeface="Wingdings" panose="05000000000000000000" pitchFamily="2" charset="2"/>
              <a:buNone/>
            </a:pPr>
            <a:endParaRPr lang="en-US" altLang="en-US" sz="2400">
              <a:latin typeface="Times New Roman" panose="02020603050405020304" pitchFamily="18" charset="0"/>
            </a:endParaRPr>
          </a:p>
          <a:p>
            <a:pPr>
              <a:buFont typeface="Wingdings" panose="05000000000000000000" pitchFamily="2" charset="2"/>
              <a:buNone/>
            </a:pPr>
            <a:r>
              <a:rPr lang="en-US" altLang="en-US" sz="2400">
                <a:latin typeface="Times New Roman" panose="02020603050405020304" pitchFamily="18" charset="0"/>
              </a:rPr>
              <a:t>Contains the remainder of an integer division by byte’s range.</a:t>
            </a:r>
          </a:p>
        </p:txBody>
      </p:sp>
      <p:sp>
        <p:nvSpPr>
          <p:cNvPr id="2" name="Date Placeholder 1"/>
          <p:cNvSpPr>
            <a:spLocks noGrp="1"/>
          </p:cNvSpPr>
          <p:nvPr>
            <p:ph type="dt" sz="half" idx="10"/>
          </p:nvPr>
        </p:nvSpPr>
        <p:spPr/>
        <p:txBody>
          <a:bodyPr/>
          <a:lstStyle/>
          <a:p>
            <a:fld id="{082C89DB-2866-4005-B510-6CEB03CEE5E4}"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4</a:t>
            </a:fld>
            <a:endParaRPr lang="en-US" altLang="en-US"/>
          </a:p>
        </p:txBody>
      </p:sp>
      <p:sp>
        <p:nvSpPr>
          <p:cNvPr id="8196" name="Line 4"/>
          <p:cNvSpPr>
            <a:spLocks noChangeShapeType="1"/>
          </p:cNvSpPr>
          <p:nvPr/>
        </p:nvSpPr>
        <p:spPr bwMode="auto">
          <a:xfrm flipH="1">
            <a:off x="1371600" y="4495800"/>
            <a:ext cx="228600" cy="533400"/>
          </a:xfrm>
          <a:prstGeom prst="line">
            <a:avLst/>
          </a:prstGeom>
          <a:noFill/>
          <a:ln w="952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74638"/>
            <a:ext cx="8229600" cy="715962"/>
          </a:xfrm>
        </p:spPr>
        <p:txBody>
          <a:bodyPr/>
          <a:lstStyle/>
          <a:p>
            <a:r>
              <a:rPr lang="en-US" altLang="en-US" sz="4000" b="1">
                <a:latin typeface="Times New Roman" panose="02020603050405020304" pitchFamily="18" charset="0"/>
              </a:rPr>
              <a:t>Casting Type</a:t>
            </a:r>
          </a:p>
        </p:txBody>
      </p:sp>
      <p:sp>
        <p:nvSpPr>
          <p:cNvPr id="9219" name="Rectangle 3"/>
          <p:cNvSpPr>
            <a:spLocks noGrp="1" noChangeArrowheads="1"/>
          </p:cNvSpPr>
          <p:nvPr>
            <p:ph idx="1"/>
          </p:nvPr>
        </p:nvSpPr>
        <p:spPr>
          <a:xfrm>
            <a:off x="381000" y="1066800"/>
            <a:ext cx="8305800" cy="5059363"/>
          </a:xfrm>
        </p:spPr>
        <p:txBody>
          <a:bodyPr/>
          <a:lstStyle/>
          <a:p>
            <a:pPr>
              <a:lnSpc>
                <a:spcPct val="80000"/>
              </a:lnSpc>
              <a:buFontTx/>
              <a:buNone/>
            </a:pPr>
            <a:r>
              <a:rPr lang="en-US" altLang="en-US" sz="2000">
                <a:latin typeface="Times New Roman" panose="02020603050405020304" pitchFamily="18" charset="0"/>
              </a:rPr>
              <a:t>class test</a:t>
            </a:r>
          </a:p>
          <a:p>
            <a:pPr>
              <a:lnSpc>
                <a:spcPct val="80000"/>
              </a:lnSpc>
              <a:buFontTx/>
              <a:buNone/>
            </a:pPr>
            <a:r>
              <a:rPr lang="en-US" altLang="en-US" sz="2000">
                <a:latin typeface="Times New Roman" panose="02020603050405020304" pitchFamily="18" charset="0"/>
              </a:rPr>
              <a:t>{</a:t>
            </a:r>
          </a:p>
          <a:p>
            <a:pPr>
              <a:lnSpc>
                <a:spcPct val="80000"/>
              </a:lnSpc>
              <a:buFontTx/>
              <a:buNone/>
            </a:pPr>
            <a:r>
              <a:rPr lang="en-US" altLang="en-US" sz="2000">
                <a:latin typeface="Times New Roman" panose="02020603050405020304" pitchFamily="18" charset="0"/>
              </a:rPr>
              <a:t>	public static void main(String args[])</a:t>
            </a:r>
          </a:p>
          <a:p>
            <a:pPr>
              <a:lnSpc>
                <a:spcPct val="80000"/>
              </a:lnSpc>
              <a:buFontTx/>
              <a:buNone/>
            </a:pPr>
            <a:r>
              <a:rPr lang="en-US" altLang="en-US" sz="2000">
                <a:latin typeface="Times New Roman" panose="02020603050405020304" pitchFamily="18" charset="0"/>
              </a:rPr>
              <a:t>	{</a:t>
            </a:r>
          </a:p>
          <a:p>
            <a:pPr>
              <a:lnSpc>
                <a:spcPct val="80000"/>
              </a:lnSpc>
              <a:buFontTx/>
              <a:buNone/>
            </a:pPr>
            <a:r>
              <a:rPr lang="en-US" altLang="en-US" sz="2000">
                <a:latin typeface="Times New Roman" panose="02020603050405020304" pitchFamily="18" charset="0"/>
              </a:rPr>
              <a:t>		byte b;</a:t>
            </a:r>
          </a:p>
          <a:p>
            <a:pPr>
              <a:lnSpc>
                <a:spcPct val="80000"/>
              </a:lnSpc>
              <a:buFontTx/>
              <a:buNone/>
            </a:pPr>
            <a:r>
              <a:rPr lang="en-US" altLang="en-US" sz="2000">
                <a:latin typeface="Times New Roman" panose="02020603050405020304" pitchFamily="18" charset="0"/>
              </a:rPr>
              <a:t>		int i = 257;</a:t>
            </a:r>
          </a:p>
          <a:p>
            <a:pPr>
              <a:lnSpc>
                <a:spcPct val="80000"/>
              </a:lnSpc>
              <a:buFontTx/>
              <a:buNone/>
            </a:pPr>
            <a:r>
              <a:rPr lang="en-US" altLang="en-US" sz="2000">
                <a:latin typeface="Times New Roman" panose="02020603050405020304" pitchFamily="18" charset="0"/>
              </a:rPr>
              <a:t>		double d = 323.142;</a:t>
            </a:r>
          </a:p>
          <a:p>
            <a:pPr>
              <a:lnSpc>
                <a:spcPct val="80000"/>
              </a:lnSpc>
              <a:buFontTx/>
              <a:buNone/>
            </a:pPr>
            <a:r>
              <a:rPr lang="en-US" altLang="en-US" sz="2000">
                <a:latin typeface="Times New Roman" panose="02020603050405020304" pitchFamily="18" charset="0"/>
              </a:rPr>
              <a:t>		b=(byte)i;</a:t>
            </a:r>
          </a:p>
          <a:p>
            <a:pPr>
              <a:lnSpc>
                <a:spcPct val="80000"/>
              </a:lnSpc>
              <a:buFontTx/>
              <a:buNone/>
            </a:pPr>
            <a:r>
              <a:rPr lang="en-US" altLang="en-US" sz="2000">
                <a:latin typeface="Times New Roman" panose="02020603050405020304" pitchFamily="18" charset="0"/>
              </a:rPr>
              <a:t>		System.out.println (“Conversion of int to byte: ” + i +” “+ b);</a:t>
            </a:r>
          </a:p>
          <a:p>
            <a:pPr>
              <a:lnSpc>
                <a:spcPct val="80000"/>
              </a:lnSpc>
              <a:buFontTx/>
              <a:buNone/>
            </a:pPr>
            <a:r>
              <a:rPr lang="en-US" altLang="en-US" sz="2000">
                <a:latin typeface="Times New Roman" panose="02020603050405020304" pitchFamily="18" charset="0"/>
              </a:rPr>
              <a:t>		i = (int)d;</a:t>
            </a:r>
          </a:p>
          <a:p>
            <a:pPr>
              <a:lnSpc>
                <a:spcPct val="80000"/>
              </a:lnSpc>
              <a:buFontTx/>
              <a:buNone/>
            </a:pPr>
            <a:r>
              <a:rPr lang="en-US" altLang="en-US" sz="2000">
                <a:latin typeface="Times New Roman" panose="02020603050405020304" pitchFamily="18" charset="0"/>
              </a:rPr>
              <a:t>		System.out.println(“Conversion of double to int: “ +d+” “+i);</a:t>
            </a:r>
          </a:p>
          <a:p>
            <a:pPr>
              <a:lnSpc>
                <a:spcPct val="80000"/>
              </a:lnSpc>
              <a:buFontTx/>
              <a:buNone/>
            </a:pPr>
            <a:r>
              <a:rPr lang="en-US" altLang="en-US" sz="2000">
                <a:latin typeface="Times New Roman" panose="02020603050405020304" pitchFamily="18" charset="0"/>
              </a:rPr>
              <a:t>		b=(byte)d;</a:t>
            </a:r>
          </a:p>
          <a:p>
            <a:pPr>
              <a:lnSpc>
                <a:spcPct val="80000"/>
              </a:lnSpc>
              <a:buFontTx/>
              <a:buNone/>
            </a:pPr>
            <a:r>
              <a:rPr lang="en-US" altLang="en-US" sz="2000">
                <a:latin typeface="Times New Roman" panose="02020603050405020304" pitchFamily="18" charset="0"/>
              </a:rPr>
              <a:t>		System.out.println(“Conversion of double to byte: “ +d+” “+b);</a:t>
            </a:r>
          </a:p>
          <a:p>
            <a:pPr>
              <a:lnSpc>
                <a:spcPct val="80000"/>
              </a:lnSpc>
              <a:buFontTx/>
              <a:buNone/>
            </a:pPr>
            <a:r>
              <a:rPr lang="en-US" altLang="en-US" sz="2000">
                <a:latin typeface="Times New Roman" panose="02020603050405020304" pitchFamily="18" charset="0"/>
              </a:rPr>
              <a:t>	}</a:t>
            </a:r>
          </a:p>
          <a:p>
            <a:pPr>
              <a:lnSpc>
                <a:spcPct val="80000"/>
              </a:lnSpc>
              <a:buFontTx/>
              <a:buNone/>
            </a:pPr>
            <a:r>
              <a:rPr lang="en-US" altLang="en-US" sz="2000">
                <a:latin typeface="Times New Roman" panose="02020603050405020304" pitchFamily="18" charset="0"/>
              </a:rPr>
              <a:t>}</a:t>
            </a:r>
          </a:p>
        </p:txBody>
      </p:sp>
      <p:sp>
        <p:nvSpPr>
          <p:cNvPr id="2" name="Date Placeholder 1"/>
          <p:cNvSpPr>
            <a:spLocks noGrp="1"/>
          </p:cNvSpPr>
          <p:nvPr>
            <p:ph type="dt" sz="half" idx="10"/>
          </p:nvPr>
        </p:nvSpPr>
        <p:spPr/>
        <p:txBody>
          <a:bodyPr/>
          <a:lstStyle/>
          <a:p>
            <a:fld id="{973DC301-5D70-4583-A50B-35719E86ADFE}"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a:t>Casting Type</a:t>
            </a:r>
          </a:p>
        </p:txBody>
      </p:sp>
      <p:sp>
        <p:nvSpPr>
          <p:cNvPr id="10243" name="Rectangle 3"/>
          <p:cNvSpPr>
            <a:spLocks noGrp="1" noChangeArrowheads="1"/>
          </p:cNvSpPr>
          <p:nvPr>
            <p:ph idx="1"/>
          </p:nvPr>
        </p:nvSpPr>
        <p:spPr/>
        <p:txBody>
          <a:bodyPr>
            <a:normAutofit lnSpcReduction="10000"/>
          </a:bodyPr>
          <a:lstStyle/>
          <a:p>
            <a:pPr>
              <a:buFont typeface="Wingdings" panose="05000000000000000000" pitchFamily="2" charset="2"/>
              <a:buChar char="ü"/>
            </a:pPr>
            <a:r>
              <a:rPr lang="en-US" altLang="en-US" sz="2800">
                <a:latin typeface="Times New Roman" panose="02020603050405020304" pitchFamily="18" charset="0"/>
              </a:rPr>
              <a:t>Output:</a:t>
            </a:r>
          </a:p>
          <a:p>
            <a:pPr>
              <a:buFont typeface="Wingdings" panose="05000000000000000000" pitchFamily="2" charset="2"/>
              <a:buNone/>
            </a:pPr>
            <a:r>
              <a:rPr lang="en-US" altLang="en-US" sz="2800">
                <a:latin typeface="Times New Roman" panose="02020603050405020304" pitchFamily="18" charset="0"/>
              </a:rPr>
              <a:t>	Conversion of int to byte: 257  1</a:t>
            </a:r>
          </a:p>
          <a:p>
            <a:pPr>
              <a:buFont typeface="Wingdings" panose="05000000000000000000" pitchFamily="2" charset="2"/>
              <a:buNone/>
            </a:pPr>
            <a:r>
              <a:rPr lang="en-US" altLang="en-US" sz="2800">
                <a:latin typeface="Times New Roman" panose="02020603050405020304" pitchFamily="18" charset="0"/>
              </a:rPr>
              <a:t>	Conversion of double to int: 323.142  323</a:t>
            </a:r>
          </a:p>
          <a:p>
            <a:pPr>
              <a:buFont typeface="Wingdings" panose="05000000000000000000" pitchFamily="2" charset="2"/>
              <a:buNone/>
            </a:pPr>
            <a:r>
              <a:rPr lang="en-US" altLang="en-US" sz="2800">
                <a:latin typeface="Times New Roman" panose="02020603050405020304" pitchFamily="18" charset="0"/>
              </a:rPr>
              <a:t>	Conversion of double to byte: 323.142  67</a:t>
            </a:r>
          </a:p>
          <a:p>
            <a:pPr>
              <a:buFont typeface="Wingdings" panose="05000000000000000000" pitchFamily="2" charset="2"/>
              <a:buNone/>
            </a:pPr>
            <a:r>
              <a:rPr lang="en-US" altLang="en-US" sz="2800">
                <a:latin typeface="Times New Roman" panose="02020603050405020304" pitchFamily="18" charset="0"/>
              </a:rPr>
              <a:t>	</a:t>
            </a:r>
            <a:r>
              <a:rPr lang="en-US" altLang="en-US" sz="2800" b="1" u="sng">
                <a:latin typeface="Times New Roman" panose="02020603050405020304" pitchFamily="18" charset="0"/>
              </a:rPr>
              <a:t>Note:</a:t>
            </a:r>
          </a:p>
          <a:p>
            <a:pPr>
              <a:buFont typeface="Wingdings" panose="05000000000000000000" pitchFamily="2" charset="2"/>
              <a:buChar char="ü"/>
            </a:pPr>
            <a:r>
              <a:rPr lang="en-US" altLang="en-US" sz="2400">
                <a:latin typeface="Times New Roman" panose="02020603050405020304" pitchFamily="18" charset="0"/>
              </a:rPr>
              <a:t>When assigning a fractional number’s to a whole number’s variable, fractional part is truncated.</a:t>
            </a:r>
          </a:p>
          <a:p>
            <a:pPr>
              <a:buFont typeface="Wingdings" panose="05000000000000000000" pitchFamily="2" charset="2"/>
              <a:buChar char="ü"/>
            </a:pPr>
            <a:r>
              <a:rPr lang="en-US" altLang="en-US" sz="2400">
                <a:latin typeface="Times New Roman" panose="02020603050405020304" pitchFamily="18" charset="0"/>
              </a:rPr>
              <a:t>If the value of the whole number part is too large to fit into the target integer type, then that value will be reduced modulo the targest type’s range.</a:t>
            </a:r>
          </a:p>
        </p:txBody>
      </p:sp>
      <p:sp>
        <p:nvSpPr>
          <p:cNvPr id="2" name="Date Placeholder 1"/>
          <p:cNvSpPr>
            <a:spLocks noGrp="1"/>
          </p:cNvSpPr>
          <p:nvPr>
            <p:ph type="dt" sz="half" idx="10"/>
          </p:nvPr>
        </p:nvSpPr>
        <p:spPr/>
        <p:txBody>
          <a:bodyPr/>
          <a:lstStyle/>
          <a:p>
            <a:fld id="{912A0EE5-8FC5-4E35-859F-59FA3241937B}"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74638"/>
            <a:ext cx="8686800" cy="792162"/>
          </a:xfrm>
        </p:spPr>
        <p:txBody>
          <a:bodyPr/>
          <a:lstStyle/>
          <a:p>
            <a:r>
              <a:rPr lang="en-US" altLang="en-US" sz="4000">
                <a:latin typeface="Times New Roman" panose="02020603050405020304" pitchFamily="18" charset="0"/>
              </a:rPr>
              <a:t>Automatic Type Promotion in Expression</a:t>
            </a:r>
          </a:p>
        </p:txBody>
      </p:sp>
      <p:sp>
        <p:nvSpPr>
          <p:cNvPr id="11267" name="Rectangle 3"/>
          <p:cNvSpPr>
            <a:spLocks noGrp="1" noChangeArrowheads="1"/>
          </p:cNvSpPr>
          <p:nvPr>
            <p:ph idx="1"/>
          </p:nvPr>
        </p:nvSpPr>
        <p:spPr>
          <a:xfrm>
            <a:off x="457200" y="1143000"/>
            <a:ext cx="8229600" cy="4983163"/>
          </a:xfrm>
        </p:spPr>
        <p:txBody>
          <a:bodyPr/>
          <a:lstStyle/>
          <a:p>
            <a:pPr>
              <a:lnSpc>
                <a:spcPct val="90000"/>
              </a:lnSpc>
              <a:buFont typeface="Wingdings" panose="05000000000000000000" pitchFamily="2" charset="2"/>
              <a:buChar char="ü"/>
            </a:pPr>
            <a:r>
              <a:rPr lang="en-US" altLang="en-US" sz="2400">
                <a:latin typeface="Times New Roman" panose="02020603050405020304" pitchFamily="18" charset="0"/>
              </a:rPr>
              <a:t>Takes place in expression.</a:t>
            </a:r>
          </a:p>
          <a:p>
            <a:pPr>
              <a:lnSpc>
                <a:spcPct val="90000"/>
              </a:lnSpc>
              <a:buFont typeface="Wingdings" panose="05000000000000000000" pitchFamily="2" charset="2"/>
              <a:buChar char="ü"/>
            </a:pPr>
            <a:r>
              <a:rPr lang="en-US" altLang="en-US" sz="2400" b="1" u="sng">
                <a:latin typeface="Times New Roman" panose="02020603050405020304" pitchFamily="18" charset="0"/>
              </a:rPr>
              <a:t>Rules:</a:t>
            </a:r>
          </a:p>
          <a:p>
            <a:pPr>
              <a:lnSpc>
                <a:spcPct val="90000"/>
              </a:lnSpc>
              <a:buFont typeface="Wingdings" panose="05000000000000000000" pitchFamily="2" charset="2"/>
              <a:buNone/>
            </a:pPr>
            <a:r>
              <a:rPr lang="en-US" altLang="en-US" sz="2400">
                <a:latin typeface="Times New Roman" panose="02020603050405020304" pitchFamily="18" charset="0"/>
              </a:rPr>
              <a:t>	1. All byte and short values are promoted to int.</a:t>
            </a:r>
          </a:p>
          <a:p>
            <a:pPr>
              <a:lnSpc>
                <a:spcPct val="90000"/>
              </a:lnSpc>
              <a:buFont typeface="Wingdings" panose="05000000000000000000" pitchFamily="2" charset="2"/>
              <a:buNone/>
            </a:pPr>
            <a:r>
              <a:rPr lang="en-US" altLang="en-US" sz="2400">
                <a:latin typeface="Times New Roman" panose="02020603050405020304" pitchFamily="18" charset="0"/>
              </a:rPr>
              <a:t>	2. If one operand is long, the whole expression is promoted to long.</a:t>
            </a:r>
          </a:p>
          <a:p>
            <a:pPr>
              <a:lnSpc>
                <a:spcPct val="90000"/>
              </a:lnSpc>
              <a:buFont typeface="Wingdings" panose="05000000000000000000" pitchFamily="2" charset="2"/>
              <a:buNone/>
            </a:pPr>
            <a:r>
              <a:rPr lang="en-US" altLang="en-US" sz="2400">
                <a:latin typeface="Times New Roman" panose="02020603050405020304" pitchFamily="18" charset="0"/>
              </a:rPr>
              <a:t>	3.If one operand is float, the entire expression is promoted to float.</a:t>
            </a:r>
          </a:p>
          <a:p>
            <a:pPr>
              <a:lnSpc>
                <a:spcPct val="90000"/>
              </a:lnSpc>
              <a:buFont typeface="Wingdings" panose="05000000000000000000" pitchFamily="2" charset="2"/>
              <a:buNone/>
            </a:pPr>
            <a:r>
              <a:rPr lang="en-US" altLang="en-US" sz="2400">
                <a:latin typeface="Times New Roman" panose="02020603050405020304" pitchFamily="18" charset="0"/>
              </a:rPr>
              <a:t>	4. If one operand is double, the entire expression is promoted to double.</a:t>
            </a:r>
          </a:p>
        </p:txBody>
      </p:sp>
      <p:sp>
        <p:nvSpPr>
          <p:cNvPr id="2" name="Date Placeholder 1"/>
          <p:cNvSpPr>
            <a:spLocks noGrp="1"/>
          </p:cNvSpPr>
          <p:nvPr>
            <p:ph type="dt" sz="half" idx="10"/>
          </p:nvPr>
        </p:nvSpPr>
        <p:spPr/>
        <p:txBody>
          <a:bodyPr/>
          <a:lstStyle/>
          <a:p>
            <a:fld id="{4D069CC1-4D63-4D09-ABE1-C30A6FC180BF}"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274638"/>
            <a:ext cx="8458200" cy="715962"/>
          </a:xfrm>
        </p:spPr>
        <p:txBody>
          <a:bodyPr/>
          <a:lstStyle/>
          <a:p>
            <a:r>
              <a:rPr lang="en-US" altLang="en-US" sz="4000">
                <a:latin typeface="Times New Roman" panose="02020603050405020304" pitchFamily="18" charset="0"/>
              </a:rPr>
              <a:t>Automatic Type Promotion-Example</a:t>
            </a:r>
          </a:p>
        </p:txBody>
      </p:sp>
      <p:sp>
        <p:nvSpPr>
          <p:cNvPr id="12291" name="Rectangle 3"/>
          <p:cNvSpPr>
            <a:spLocks noGrp="1" noChangeArrowheads="1"/>
          </p:cNvSpPr>
          <p:nvPr>
            <p:ph idx="1"/>
          </p:nvPr>
        </p:nvSpPr>
        <p:spPr>
          <a:xfrm>
            <a:off x="457200" y="990600"/>
            <a:ext cx="8229600" cy="5135563"/>
          </a:xfrm>
        </p:spPr>
        <p:txBody>
          <a:bodyPr/>
          <a:lstStyle/>
          <a:p>
            <a:pPr marL="533400" indent="-533400">
              <a:lnSpc>
                <a:spcPct val="90000"/>
              </a:lnSpc>
              <a:buFontTx/>
              <a:buNone/>
            </a:pPr>
            <a:r>
              <a:rPr lang="en-US" altLang="en-US" sz="2400">
                <a:latin typeface="Times New Roman" panose="02020603050405020304" pitchFamily="18" charset="0"/>
              </a:rPr>
              <a:t>byte b =42;</a:t>
            </a:r>
          </a:p>
          <a:p>
            <a:pPr marL="533400" indent="-533400">
              <a:lnSpc>
                <a:spcPct val="90000"/>
              </a:lnSpc>
              <a:buFontTx/>
              <a:buNone/>
            </a:pPr>
            <a:r>
              <a:rPr lang="en-US" altLang="en-US" sz="2400">
                <a:latin typeface="Times New Roman" panose="02020603050405020304" pitchFamily="18" charset="0"/>
              </a:rPr>
              <a:t>char c=‘a’;</a:t>
            </a:r>
          </a:p>
          <a:p>
            <a:pPr marL="533400" indent="-533400">
              <a:lnSpc>
                <a:spcPct val="90000"/>
              </a:lnSpc>
              <a:buFontTx/>
              <a:buNone/>
            </a:pPr>
            <a:r>
              <a:rPr lang="en-US" altLang="en-US" sz="2400">
                <a:latin typeface="Times New Roman" panose="02020603050405020304" pitchFamily="18" charset="0"/>
              </a:rPr>
              <a:t>short s=1024;</a:t>
            </a:r>
          </a:p>
          <a:p>
            <a:pPr marL="533400" indent="-533400">
              <a:lnSpc>
                <a:spcPct val="90000"/>
              </a:lnSpc>
              <a:buFontTx/>
              <a:buNone/>
            </a:pPr>
            <a:r>
              <a:rPr lang="en-US" altLang="en-US" sz="2400">
                <a:latin typeface="Times New Roman" panose="02020603050405020304" pitchFamily="18" charset="0"/>
              </a:rPr>
              <a:t>int i=50000;</a:t>
            </a:r>
          </a:p>
          <a:p>
            <a:pPr marL="533400" indent="-533400">
              <a:lnSpc>
                <a:spcPct val="90000"/>
              </a:lnSpc>
              <a:buFontTx/>
              <a:buNone/>
            </a:pPr>
            <a:r>
              <a:rPr lang="en-US" altLang="en-US" sz="2400">
                <a:latin typeface="Times New Roman" panose="02020603050405020304" pitchFamily="18" charset="0"/>
              </a:rPr>
              <a:t>float f=5.67f;</a:t>
            </a:r>
          </a:p>
          <a:p>
            <a:pPr marL="533400" indent="-533400">
              <a:lnSpc>
                <a:spcPct val="90000"/>
              </a:lnSpc>
              <a:buFontTx/>
              <a:buNone/>
            </a:pPr>
            <a:r>
              <a:rPr lang="en-US" altLang="en-US" sz="2400">
                <a:latin typeface="Times New Roman" panose="02020603050405020304" pitchFamily="18" charset="0"/>
              </a:rPr>
              <a:t>double d=.1234;</a:t>
            </a:r>
          </a:p>
          <a:p>
            <a:pPr marL="533400" indent="-533400">
              <a:lnSpc>
                <a:spcPct val="90000"/>
              </a:lnSpc>
              <a:buFontTx/>
              <a:buNone/>
            </a:pPr>
            <a:r>
              <a:rPr lang="en-US" altLang="en-US" sz="2400">
                <a:latin typeface="Times New Roman" panose="02020603050405020304" pitchFamily="18" charset="0"/>
              </a:rPr>
              <a:t>double result = (f * b) + (i / c) – (d * s);</a:t>
            </a:r>
          </a:p>
          <a:p>
            <a:pPr marL="533400" indent="-533400">
              <a:lnSpc>
                <a:spcPct val="90000"/>
              </a:lnSpc>
              <a:buFont typeface="Wingdings" panose="05000000000000000000" pitchFamily="2" charset="2"/>
              <a:buAutoNum type="arabicPeriod"/>
            </a:pPr>
            <a:r>
              <a:rPr lang="en-US" altLang="en-US" sz="2400">
                <a:latin typeface="Times New Roman" panose="02020603050405020304" pitchFamily="18" charset="0"/>
              </a:rPr>
              <a:t>(f * b) is promoted to float.</a:t>
            </a:r>
          </a:p>
          <a:p>
            <a:pPr marL="533400" indent="-533400">
              <a:lnSpc>
                <a:spcPct val="90000"/>
              </a:lnSpc>
              <a:buFont typeface="Wingdings" panose="05000000000000000000" pitchFamily="2" charset="2"/>
              <a:buAutoNum type="arabicPeriod"/>
            </a:pPr>
            <a:r>
              <a:rPr lang="en-US" altLang="en-US" sz="2400">
                <a:latin typeface="Times New Roman" panose="02020603050405020304" pitchFamily="18" charset="0"/>
              </a:rPr>
              <a:t>(i / c) is promoted to int.</a:t>
            </a:r>
          </a:p>
          <a:p>
            <a:pPr marL="533400" indent="-533400">
              <a:lnSpc>
                <a:spcPct val="90000"/>
              </a:lnSpc>
              <a:buFont typeface="Wingdings" panose="05000000000000000000" pitchFamily="2" charset="2"/>
              <a:buAutoNum type="arabicPeriod"/>
            </a:pPr>
            <a:r>
              <a:rPr lang="en-US" altLang="en-US" sz="2400">
                <a:latin typeface="Times New Roman" panose="02020603050405020304" pitchFamily="18" charset="0"/>
              </a:rPr>
              <a:t>(d *s ) is promoted to double.</a:t>
            </a:r>
          </a:p>
          <a:p>
            <a:pPr marL="533400" indent="-533400">
              <a:lnSpc>
                <a:spcPct val="90000"/>
              </a:lnSpc>
              <a:buFont typeface="Wingdings" panose="05000000000000000000" pitchFamily="2" charset="2"/>
              <a:buAutoNum type="arabicPeriod"/>
            </a:pPr>
            <a:r>
              <a:rPr lang="en-US" altLang="en-US" sz="2400">
                <a:latin typeface="Times New Roman" panose="02020603050405020304" pitchFamily="18" charset="0"/>
              </a:rPr>
              <a:t>float + int – double = float – double = double</a:t>
            </a:r>
          </a:p>
        </p:txBody>
      </p:sp>
      <p:sp>
        <p:nvSpPr>
          <p:cNvPr id="2" name="Date Placeholder 1"/>
          <p:cNvSpPr>
            <a:spLocks noGrp="1"/>
          </p:cNvSpPr>
          <p:nvPr>
            <p:ph type="dt" sz="half" idx="10"/>
          </p:nvPr>
        </p:nvSpPr>
        <p:spPr/>
        <p:txBody>
          <a:bodyPr/>
          <a:lstStyle/>
          <a:p>
            <a:fld id="{CC61F3F7-CCFA-4B4D-996C-AFF5D5E1381B}"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0" y="274638"/>
            <a:ext cx="9144000" cy="1143000"/>
          </a:xfrm>
        </p:spPr>
        <p:txBody>
          <a:bodyPr/>
          <a:lstStyle/>
          <a:p>
            <a:r>
              <a:rPr lang="en-US" altLang="en-US" sz="4000" b="1">
                <a:latin typeface="Times New Roman" panose="02020603050405020304" pitchFamily="18" charset="0"/>
              </a:rPr>
              <a:t>Automatic Type Conversion-Example</a:t>
            </a:r>
          </a:p>
        </p:txBody>
      </p:sp>
      <p:sp>
        <p:nvSpPr>
          <p:cNvPr id="13315" name="Rectangle 3"/>
          <p:cNvSpPr>
            <a:spLocks noGrp="1" noChangeArrowheads="1"/>
          </p:cNvSpPr>
          <p:nvPr>
            <p:ph idx="1"/>
          </p:nvPr>
        </p:nvSpPr>
        <p:spPr/>
        <p:txBody>
          <a:bodyPr/>
          <a:lstStyle/>
          <a:p>
            <a:pPr marL="533400" indent="-533400">
              <a:buFont typeface="Wingdings" panose="05000000000000000000" pitchFamily="2" charset="2"/>
              <a:buAutoNum type="arabicPeriod"/>
            </a:pPr>
            <a:r>
              <a:rPr lang="en-US" altLang="en-US" sz="2800">
                <a:latin typeface="Times New Roman" panose="02020603050405020304" pitchFamily="18" charset="0"/>
              </a:rPr>
              <a:t>byte a =40, b= 50, c =100;</a:t>
            </a:r>
          </a:p>
          <a:p>
            <a:pPr marL="533400" indent="-533400">
              <a:buFont typeface="Wingdings" panose="05000000000000000000" pitchFamily="2" charset="2"/>
              <a:buNone/>
            </a:pPr>
            <a:r>
              <a:rPr lang="en-US" altLang="en-US" sz="2800">
                <a:latin typeface="Times New Roman" panose="02020603050405020304" pitchFamily="18" charset="0"/>
              </a:rPr>
              <a:t>	int d = a * b /c;</a:t>
            </a:r>
          </a:p>
          <a:p>
            <a:pPr marL="533400" indent="-533400">
              <a:buFont typeface="Wingdings" panose="05000000000000000000" pitchFamily="2" charset="2"/>
              <a:buNone/>
            </a:pPr>
            <a:endParaRPr lang="en-US" altLang="en-US" sz="2800">
              <a:latin typeface="Times New Roman" panose="02020603050405020304" pitchFamily="18" charset="0"/>
            </a:endParaRPr>
          </a:p>
          <a:p>
            <a:pPr marL="533400" indent="-533400">
              <a:buFont typeface="Wingdings" panose="05000000000000000000" pitchFamily="2" charset="2"/>
              <a:buNone/>
            </a:pPr>
            <a:r>
              <a:rPr lang="en-US" altLang="en-US" sz="2800">
                <a:latin typeface="Times New Roman" panose="02020603050405020304" pitchFamily="18" charset="0"/>
              </a:rPr>
              <a:t>2. byte b =50;</a:t>
            </a:r>
          </a:p>
          <a:p>
            <a:pPr marL="533400" indent="-533400">
              <a:buFont typeface="Wingdings" panose="05000000000000000000" pitchFamily="2" charset="2"/>
              <a:buNone/>
            </a:pPr>
            <a:r>
              <a:rPr lang="en-US" altLang="en-US" sz="2800">
                <a:latin typeface="Times New Roman" panose="02020603050405020304" pitchFamily="18" charset="0"/>
              </a:rPr>
              <a:t>    b = b * 2;  //Error</a:t>
            </a:r>
          </a:p>
          <a:p>
            <a:pPr marL="533400" indent="-533400">
              <a:buFont typeface="Wingdings" panose="05000000000000000000" pitchFamily="2" charset="2"/>
              <a:buNone/>
            </a:pPr>
            <a:endParaRPr lang="en-US" altLang="en-US" sz="2800">
              <a:latin typeface="Times New Roman" panose="02020603050405020304" pitchFamily="18" charset="0"/>
            </a:endParaRPr>
          </a:p>
          <a:p>
            <a:pPr marL="533400" indent="-533400">
              <a:buFont typeface="Wingdings" panose="05000000000000000000" pitchFamily="2" charset="2"/>
              <a:buNone/>
            </a:pPr>
            <a:r>
              <a:rPr lang="en-US" altLang="en-US" sz="2800">
                <a:latin typeface="Times New Roman" panose="02020603050405020304" pitchFamily="18" charset="0"/>
              </a:rPr>
              <a:t>3. byte b =50;</a:t>
            </a:r>
          </a:p>
          <a:p>
            <a:pPr marL="533400" indent="-533400">
              <a:buFont typeface="Wingdings" panose="05000000000000000000" pitchFamily="2" charset="2"/>
              <a:buNone/>
            </a:pPr>
            <a:r>
              <a:rPr lang="en-US" altLang="en-US" sz="2800">
                <a:latin typeface="Times New Roman" panose="02020603050405020304" pitchFamily="18" charset="0"/>
              </a:rPr>
              <a:t>    b = (cast) b * 2; </a:t>
            </a:r>
          </a:p>
          <a:p>
            <a:pPr marL="533400" indent="-533400">
              <a:buFont typeface="Wingdings" panose="05000000000000000000" pitchFamily="2" charset="2"/>
              <a:buNone/>
            </a:pPr>
            <a:endParaRPr lang="en-US" altLang="en-US" sz="2800">
              <a:latin typeface="Times New Roman" panose="02020603050405020304" pitchFamily="18" charset="0"/>
            </a:endParaRPr>
          </a:p>
        </p:txBody>
      </p:sp>
      <p:sp>
        <p:nvSpPr>
          <p:cNvPr id="2" name="Date Placeholder 1"/>
          <p:cNvSpPr>
            <a:spLocks noGrp="1"/>
          </p:cNvSpPr>
          <p:nvPr>
            <p:ph type="dt" sz="half" idx="10"/>
          </p:nvPr>
        </p:nvSpPr>
        <p:spPr/>
        <p:txBody>
          <a:bodyPr/>
          <a:lstStyle/>
          <a:p>
            <a:fld id="{E5C2F099-DB7B-43F1-A302-A480F7B25E9F}"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274638"/>
            <a:ext cx="9144000" cy="1143000"/>
          </a:xfrm>
        </p:spPr>
        <p:txBody>
          <a:bodyPr>
            <a:normAutofit fontScale="90000"/>
          </a:bodyPr>
          <a:lstStyle/>
          <a:p>
            <a:r>
              <a:rPr lang="en-US" altLang="en-US" sz="4000">
                <a:latin typeface="Times New Roman" panose="02020603050405020304" pitchFamily="18" charset="0"/>
              </a:rPr>
              <a:t>An Example of Object Oriented Programming</a:t>
            </a:r>
            <a:r>
              <a:rPr lang="en-US" altLang="en-US" sz="4000"/>
              <a:t> </a:t>
            </a:r>
          </a:p>
        </p:txBody>
      </p:sp>
      <p:sp>
        <p:nvSpPr>
          <p:cNvPr id="16387" name="Rectangle 3"/>
          <p:cNvSpPr>
            <a:spLocks noGrp="1" noChangeArrowheads="1"/>
          </p:cNvSpPr>
          <p:nvPr>
            <p:ph idx="1"/>
          </p:nvPr>
        </p:nvSpPr>
        <p:spPr/>
        <p:txBody>
          <a:bodyPr/>
          <a:lstStyle/>
          <a:p>
            <a:pPr>
              <a:buFont typeface="Wingdings" panose="05000000000000000000" pitchFamily="2" charset="2"/>
              <a:buChar char="ü"/>
            </a:pPr>
            <a:r>
              <a:rPr lang="en-US" altLang="en-US">
                <a:latin typeface="Times New Roman" panose="02020603050405020304" pitchFamily="18" charset="0"/>
              </a:rPr>
              <a:t>Colored points on the screen</a:t>
            </a:r>
          </a:p>
          <a:p>
            <a:pPr>
              <a:buFont typeface="Wingdings" panose="05000000000000000000" pitchFamily="2" charset="2"/>
              <a:buChar char="ü"/>
            </a:pPr>
            <a:r>
              <a:rPr lang="en-US" altLang="en-US">
                <a:latin typeface="Times New Roman" panose="02020603050405020304" pitchFamily="18" charset="0"/>
              </a:rPr>
              <a:t>What data goes into making one?</a:t>
            </a:r>
          </a:p>
          <a:p>
            <a:pPr lvl="1">
              <a:buFont typeface="Wingdings" panose="05000000000000000000" pitchFamily="2" charset="2"/>
              <a:buChar char="ü"/>
            </a:pPr>
            <a:r>
              <a:rPr lang="en-US" altLang="en-US">
                <a:latin typeface="Times New Roman" panose="02020603050405020304" pitchFamily="18" charset="0"/>
              </a:rPr>
              <a:t>Coordinates</a:t>
            </a:r>
          </a:p>
          <a:p>
            <a:pPr lvl="1">
              <a:buFont typeface="Wingdings" panose="05000000000000000000" pitchFamily="2" charset="2"/>
              <a:buChar char="ü"/>
            </a:pPr>
            <a:r>
              <a:rPr lang="en-US" altLang="en-US">
                <a:latin typeface="Times New Roman" panose="02020603050405020304" pitchFamily="18" charset="0"/>
              </a:rPr>
              <a:t>Color</a:t>
            </a:r>
          </a:p>
          <a:p>
            <a:pPr>
              <a:buFont typeface="Wingdings" panose="05000000000000000000" pitchFamily="2" charset="2"/>
              <a:buChar char="ü"/>
            </a:pPr>
            <a:r>
              <a:rPr lang="en-US" altLang="en-US">
                <a:latin typeface="Times New Roman" panose="02020603050405020304" pitchFamily="18" charset="0"/>
              </a:rPr>
              <a:t>What should a point be able to do?</a:t>
            </a:r>
          </a:p>
          <a:p>
            <a:pPr lvl="1">
              <a:buFont typeface="Wingdings" panose="05000000000000000000" pitchFamily="2" charset="2"/>
              <a:buChar char="ü"/>
            </a:pPr>
            <a:r>
              <a:rPr lang="en-US" altLang="en-US">
                <a:latin typeface="Times New Roman" panose="02020603050405020304" pitchFamily="18" charset="0"/>
              </a:rPr>
              <a:t>Move itself</a:t>
            </a:r>
          </a:p>
          <a:p>
            <a:pPr lvl="1">
              <a:buFont typeface="Wingdings" panose="05000000000000000000" pitchFamily="2" charset="2"/>
              <a:buChar char="ü"/>
            </a:pPr>
            <a:r>
              <a:rPr lang="en-US" altLang="en-US">
                <a:latin typeface="Times New Roman" panose="02020603050405020304" pitchFamily="18" charset="0"/>
              </a:rPr>
              <a:t>Report its position</a:t>
            </a:r>
          </a:p>
        </p:txBody>
      </p:sp>
      <p:sp>
        <p:nvSpPr>
          <p:cNvPr id="2" name="Date Placeholder 1"/>
          <p:cNvSpPr>
            <a:spLocks noGrp="1"/>
          </p:cNvSpPr>
          <p:nvPr>
            <p:ph type="dt" sz="half" idx="10"/>
          </p:nvPr>
        </p:nvSpPr>
        <p:spPr/>
        <p:txBody>
          <a:bodyPr/>
          <a:lstStyle/>
          <a:p>
            <a:fld id="{A9AF3CFD-E49B-4F74-AC56-1FAFADFE45E1}"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2600325" y="1847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17411" name="Object 3"/>
          <p:cNvGraphicFramePr>
            <a:graphicFrameLocks noChangeAspect="1"/>
          </p:cNvGraphicFramePr>
          <p:nvPr/>
        </p:nvGraphicFramePr>
        <p:xfrm>
          <a:off x="1062038" y="449263"/>
          <a:ext cx="6794500" cy="5454650"/>
        </p:xfrm>
        <a:graphic>
          <a:graphicData uri="http://schemas.openxmlformats.org/presentationml/2006/ole">
            <mc:AlternateContent xmlns:mc="http://schemas.openxmlformats.org/markup-compatibility/2006">
              <mc:Choice xmlns:v="urn:schemas-microsoft-com:vml" Requires="v">
                <p:oleObj name="Microsoft Draw Drawing" r:id="rId2" imgW="3943350" imgH="3171825" progId="">
                  <p:embed/>
                </p:oleObj>
              </mc:Choice>
              <mc:Fallback>
                <p:oleObj name="Microsoft Draw Drawing" r:id="rId2" imgW="3943350" imgH="3171825" progId="">
                  <p:embed/>
                  <p:pic>
                    <p:nvPicPr>
                      <p:cNvPr id="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038" y="449263"/>
                        <a:ext cx="6794500" cy="545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Date Placeholder 1"/>
          <p:cNvSpPr>
            <a:spLocks noGrp="1"/>
          </p:cNvSpPr>
          <p:nvPr>
            <p:ph type="dt" sz="half" idx="10"/>
          </p:nvPr>
        </p:nvSpPr>
        <p:spPr/>
        <p:txBody>
          <a:bodyPr/>
          <a:lstStyle/>
          <a:p>
            <a:fld id="{72E34EB5-708B-420A-8F87-6C1040C34321}"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b="1">
                <a:latin typeface="Times New Roman" panose="02020603050405020304" pitchFamily="18" charset="0"/>
              </a:rPr>
              <a:t>Java Terminology</a:t>
            </a:r>
          </a:p>
        </p:txBody>
      </p:sp>
      <p:sp>
        <p:nvSpPr>
          <p:cNvPr id="18435" name="Rectangle 3"/>
          <p:cNvSpPr>
            <a:spLocks noGrp="1" noChangeArrowheads="1"/>
          </p:cNvSpPr>
          <p:nvPr>
            <p:ph idx="1"/>
          </p:nvPr>
        </p:nvSpPr>
        <p:spPr>
          <a:xfrm>
            <a:off x="457200" y="1600200"/>
            <a:ext cx="5164138" cy="4525963"/>
          </a:xfrm>
        </p:spPr>
        <p:txBody>
          <a:bodyPr/>
          <a:lstStyle/>
          <a:p>
            <a:pPr>
              <a:buFont typeface="Wingdings" panose="05000000000000000000" pitchFamily="2" charset="2"/>
              <a:buChar char="ü"/>
            </a:pPr>
            <a:r>
              <a:rPr lang="en-US" altLang="en-US" sz="2800">
                <a:latin typeface="Times New Roman" panose="02020603050405020304" pitchFamily="18" charset="0"/>
              </a:rPr>
              <a:t>Each point is an </a:t>
            </a:r>
            <a:r>
              <a:rPr lang="en-US" altLang="en-US" sz="2800" i="1">
                <a:latin typeface="Times New Roman" panose="02020603050405020304" pitchFamily="18" charset="0"/>
              </a:rPr>
              <a:t>object</a:t>
            </a:r>
            <a:endParaRPr lang="en-US" altLang="en-US" sz="2800">
              <a:latin typeface="Times New Roman" panose="02020603050405020304" pitchFamily="18" charset="0"/>
            </a:endParaRPr>
          </a:p>
          <a:p>
            <a:pPr>
              <a:buFont typeface="Wingdings" panose="05000000000000000000" pitchFamily="2" charset="2"/>
              <a:buChar char="ü"/>
            </a:pPr>
            <a:r>
              <a:rPr lang="en-US" altLang="en-US" sz="2800">
                <a:latin typeface="Times New Roman" panose="02020603050405020304" pitchFamily="18" charset="0"/>
              </a:rPr>
              <a:t>Each includes three </a:t>
            </a:r>
            <a:r>
              <a:rPr lang="en-US" altLang="en-US" sz="2800" i="1">
                <a:latin typeface="Times New Roman" panose="02020603050405020304" pitchFamily="18" charset="0"/>
              </a:rPr>
              <a:t>fields</a:t>
            </a:r>
          </a:p>
          <a:p>
            <a:pPr>
              <a:buFont typeface="Wingdings" panose="05000000000000000000" pitchFamily="2" charset="2"/>
              <a:buChar char="ü"/>
            </a:pPr>
            <a:r>
              <a:rPr lang="en-US" altLang="en-US" sz="2800">
                <a:latin typeface="Times New Roman" panose="02020603050405020304" pitchFamily="18" charset="0"/>
              </a:rPr>
              <a:t>Each has three </a:t>
            </a:r>
            <a:r>
              <a:rPr lang="en-US" altLang="en-US" sz="2800" i="1">
                <a:latin typeface="Times New Roman" panose="02020603050405020304" pitchFamily="18" charset="0"/>
              </a:rPr>
              <a:t>methods</a:t>
            </a:r>
          </a:p>
          <a:p>
            <a:pPr>
              <a:buFont typeface="Wingdings" panose="05000000000000000000" pitchFamily="2" charset="2"/>
              <a:buChar char="ü"/>
            </a:pPr>
            <a:r>
              <a:rPr lang="en-US" altLang="en-US" sz="2800">
                <a:latin typeface="Times New Roman" panose="02020603050405020304" pitchFamily="18" charset="0"/>
              </a:rPr>
              <a:t>Each is an </a:t>
            </a:r>
            <a:r>
              <a:rPr lang="en-US" altLang="en-US" sz="2800" i="1">
                <a:latin typeface="Times New Roman" panose="02020603050405020304" pitchFamily="18" charset="0"/>
              </a:rPr>
              <a:t>instance</a:t>
            </a:r>
            <a:r>
              <a:rPr lang="en-US" altLang="en-US" sz="2800">
                <a:latin typeface="Times New Roman" panose="02020603050405020304" pitchFamily="18" charset="0"/>
              </a:rPr>
              <a:t> of the same </a:t>
            </a:r>
            <a:r>
              <a:rPr lang="en-US" altLang="en-US" sz="2800" i="1">
                <a:latin typeface="Times New Roman" panose="02020603050405020304" pitchFamily="18" charset="0"/>
              </a:rPr>
              <a:t>class</a:t>
            </a:r>
            <a:endParaRPr lang="en-US" altLang="en-US" sz="2800">
              <a:latin typeface="Times New Roman" panose="02020603050405020304" pitchFamily="18" charset="0"/>
            </a:endParaRPr>
          </a:p>
        </p:txBody>
      </p:sp>
      <p:sp>
        <p:nvSpPr>
          <p:cNvPr id="2" name="Date Placeholder 1"/>
          <p:cNvSpPr>
            <a:spLocks noGrp="1"/>
          </p:cNvSpPr>
          <p:nvPr>
            <p:ph type="dt" sz="half" idx="10"/>
          </p:nvPr>
        </p:nvSpPr>
        <p:spPr/>
        <p:txBody>
          <a:bodyPr/>
          <a:lstStyle/>
          <a:p>
            <a:fld id="{386A11E8-5E95-452B-A2F5-E4D5262B3BA7}"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12</a:t>
            </a:fld>
            <a:endParaRPr lang="en-US" altLang="en-US"/>
          </a:p>
        </p:txBody>
      </p:sp>
      <p:graphicFrame>
        <p:nvGraphicFramePr>
          <p:cNvPr id="18436" name="Object 4"/>
          <p:cNvGraphicFramePr>
            <a:graphicFrameLocks noChangeAspect="1"/>
          </p:cNvGraphicFramePr>
          <p:nvPr/>
        </p:nvGraphicFramePr>
        <p:xfrm>
          <a:off x="5257800" y="1752600"/>
          <a:ext cx="3641725" cy="3216275"/>
        </p:xfrm>
        <a:graphic>
          <a:graphicData uri="http://schemas.openxmlformats.org/presentationml/2006/ole">
            <mc:AlternateContent xmlns:mc="http://schemas.openxmlformats.org/markup-compatibility/2006">
              <mc:Choice xmlns:v="urn:schemas-microsoft-com:vml" Requires="v">
                <p:oleObj name="Microsoft Draw Drawing" r:id="rId2" imgW="2114550" imgH="1866900" progId="">
                  <p:embed/>
                </p:oleObj>
              </mc:Choice>
              <mc:Fallback>
                <p:oleObj name="Microsoft Draw Drawing" r:id="rId2" imgW="2114550" imgH="1866900" progId="">
                  <p:embed/>
                  <p:pic>
                    <p:nvPicPr>
                      <p:cNvPr id="0"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1752600"/>
                        <a:ext cx="3641725" cy="321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b="1">
                <a:latin typeface="Times New Roman" panose="02020603050405020304" pitchFamily="18" charset="0"/>
              </a:rPr>
              <a:t>Object-Oriented Style</a:t>
            </a:r>
          </a:p>
        </p:txBody>
      </p:sp>
      <p:sp>
        <p:nvSpPr>
          <p:cNvPr id="19459" name="Rectangle 3"/>
          <p:cNvSpPr>
            <a:spLocks noGrp="1" noChangeArrowheads="1"/>
          </p:cNvSpPr>
          <p:nvPr>
            <p:ph idx="1"/>
          </p:nvPr>
        </p:nvSpPr>
        <p:spPr/>
        <p:txBody>
          <a:bodyPr/>
          <a:lstStyle/>
          <a:p>
            <a:pPr>
              <a:buFont typeface="Wingdings" panose="05000000000000000000" pitchFamily="2" charset="2"/>
              <a:buChar char="ü"/>
            </a:pPr>
            <a:r>
              <a:rPr lang="en-US" altLang="en-US" sz="2800">
                <a:latin typeface="Times New Roman" panose="02020603050405020304" pitchFamily="18" charset="0"/>
              </a:rPr>
              <a:t>Solve problems using objects: little bundles of data that know how to do things to themselves</a:t>
            </a:r>
          </a:p>
          <a:p>
            <a:pPr>
              <a:buFont typeface="Wingdings" panose="05000000000000000000" pitchFamily="2" charset="2"/>
              <a:buNone/>
            </a:pPr>
            <a:endParaRPr lang="en-US" altLang="en-US" sz="2800">
              <a:latin typeface="Times New Roman" panose="02020603050405020304" pitchFamily="18" charset="0"/>
            </a:endParaRPr>
          </a:p>
          <a:p>
            <a:pPr>
              <a:buFont typeface="Wingdings" panose="05000000000000000000" pitchFamily="2" charset="2"/>
              <a:buChar char="ü"/>
            </a:pPr>
            <a:r>
              <a:rPr lang="en-US" altLang="en-US" sz="2800">
                <a:latin typeface="Times New Roman" panose="02020603050405020304" pitchFamily="18" charset="0"/>
              </a:rPr>
              <a:t>Not the computer knows how to move the point, but rather the point knows how to move itself</a:t>
            </a:r>
          </a:p>
          <a:p>
            <a:pPr>
              <a:buFont typeface="Wingdings" panose="05000000000000000000" pitchFamily="2" charset="2"/>
              <a:buNone/>
            </a:pPr>
            <a:endParaRPr lang="en-US" altLang="en-US" sz="2800">
              <a:latin typeface="Times New Roman" panose="02020603050405020304" pitchFamily="18" charset="0"/>
            </a:endParaRPr>
          </a:p>
          <a:p>
            <a:pPr>
              <a:buFont typeface="Wingdings" panose="05000000000000000000" pitchFamily="2" charset="2"/>
              <a:buChar char="ü"/>
            </a:pPr>
            <a:r>
              <a:rPr lang="en-US" altLang="en-US" sz="2800">
                <a:latin typeface="Times New Roman" panose="02020603050405020304" pitchFamily="18" charset="0"/>
              </a:rPr>
              <a:t>Object-oriented languages make this way of thinking and programming easier</a:t>
            </a:r>
          </a:p>
        </p:txBody>
      </p:sp>
      <p:sp>
        <p:nvSpPr>
          <p:cNvPr id="2" name="Date Placeholder 1"/>
          <p:cNvSpPr>
            <a:spLocks noGrp="1"/>
          </p:cNvSpPr>
          <p:nvPr>
            <p:ph type="dt" sz="half" idx="10"/>
          </p:nvPr>
        </p:nvSpPr>
        <p:spPr/>
        <p:txBody>
          <a:bodyPr/>
          <a:lstStyle/>
          <a:p>
            <a:fld id="{9B7C756D-110F-42EF-833F-4FC83763F9B6}"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idx="1"/>
          </p:nvPr>
        </p:nvSpPr>
        <p:spPr>
          <a:xfrm>
            <a:off x="365125" y="373063"/>
            <a:ext cx="8208963" cy="6116637"/>
          </a:xfrm>
        </p:spPr>
        <p:txBody>
          <a:bodyPr/>
          <a:lstStyle/>
          <a:p>
            <a:pPr>
              <a:lnSpc>
                <a:spcPct val="80000"/>
              </a:lnSpc>
              <a:buFontTx/>
              <a:buNone/>
            </a:pPr>
            <a:r>
              <a:rPr lang="en-US" altLang="en-US" sz="2000" b="1">
                <a:latin typeface="Times New Roman" panose="02020603050405020304" pitchFamily="18" charset="0"/>
              </a:rPr>
              <a:t>class Point {</a:t>
            </a:r>
          </a:p>
          <a:p>
            <a:pPr>
              <a:lnSpc>
                <a:spcPct val="80000"/>
              </a:lnSpc>
              <a:buFontTx/>
              <a:buNone/>
            </a:pPr>
            <a:r>
              <a:rPr lang="en-US" altLang="en-US" sz="2000" b="1">
                <a:latin typeface="Times New Roman" panose="02020603050405020304" pitchFamily="18" charset="0"/>
              </a:rPr>
              <a:t>	int xCoord;</a:t>
            </a:r>
          </a:p>
          <a:p>
            <a:pPr>
              <a:lnSpc>
                <a:spcPct val="80000"/>
              </a:lnSpc>
              <a:buFontTx/>
              <a:buNone/>
            </a:pPr>
            <a:r>
              <a:rPr lang="en-US" altLang="en-US" sz="2000" b="1">
                <a:latin typeface="Times New Roman" panose="02020603050405020304" pitchFamily="18" charset="0"/>
              </a:rPr>
              <a:t>	int yCoord;</a:t>
            </a:r>
          </a:p>
          <a:p>
            <a:pPr>
              <a:lnSpc>
                <a:spcPct val="80000"/>
              </a:lnSpc>
              <a:buFontTx/>
              <a:buNone/>
            </a:pPr>
            <a:r>
              <a:rPr lang="en-US" altLang="en-US" sz="2000" b="1">
                <a:latin typeface="Times New Roman" panose="02020603050405020304" pitchFamily="18" charset="0"/>
              </a:rPr>
              <a:t>	Point() {</a:t>
            </a:r>
          </a:p>
          <a:p>
            <a:pPr>
              <a:lnSpc>
                <a:spcPct val="80000"/>
              </a:lnSpc>
              <a:buFontTx/>
              <a:buNone/>
            </a:pPr>
            <a:r>
              <a:rPr lang="en-US" altLang="en-US" sz="2000" b="1">
                <a:latin typeface="Times New Roman" panose="02020603050405020304" pitchFamily="18" charset="0"/>
              </a:rPr>
              <a:t>		xCoord = 0;</a:t>
            </a:r>
          </a:p>
          <a:p>
            <a:pPr>
              <a:lnSpc>
                <a:spcPct val="80000"/>
              </a:lnSpc>
              <a:buFontTx/>
              <a:buNone/>
            </a:pPr>
            <a:r>
              <a:rPr lang="en-US" altLang="en-US" sz="2000" b="1">
                <a:latin typeface="Times New Roman" panose="02020603050405020304" pitchFamily="18" charset="0"/>
              </a:rPr>
              <a:t>		yCoord = 0;</a:t>
            </a:r>
          </a:p>
          <a:p>
            <a:pPr>
              <a:lnSpc>
                <a:spcPct val="80000"/>
              </a:lnSpc>
              <a:buFontTx/>
              <a:buNone/>
            </a:pPr>
            <a:r>
              <a:rPr lang="en-US" altLang="en-US" sz="2000" b="1">
                <a:latin typeface="Times New Roman" panose="02020603050405020304" pitchFamily="18" charset="0"/>
              </a:rPr>
              <a:t>	}</a:t>
            </a:r>
          </a:p>
          <a:p>
            <a:pPr>
              <a:lnSpc>
                <a:spcPct val="80000"/>
              </a:lnSpc>
              <a:buFontTx/>
              <a:buNone/>
            </a:pPr>
            <a:r>
              <a:rPr lang="en-US" altLang="en-US" sz="2000" b="1">
                <a:latin typeface="Times New Roman" panose="02020603050405020304" pitchFamily="18" charset="0"/>
              </a:rPr>
              <a:t>	int currentX() {</a:t>
            </a:r>
          </a:p>
          <a:p>
            <a:pPr>
              <a:lnSpc>
                <a:spcPct val="80000"/>
              </a:lnSpc>
              <a:buFontTx/>
              <a:buNone/>
            </a:pPr>
            <a:r>
              <a:rPr lang="en-US" altLang="en-US" sz="2000" b="1">
                <a:latin typeface="Times New Roman" panose="02020603050405020304" pitchFamily="18" charset="0"/>
              </a:rPr>
              <a:t>		return xCoord;</a:t>
            </a:r>
          </a:p>
          <a:p>
            <a:pPr>
              <a:lnSpc>
                <a:spcPct val="80000"/>
              </a:lnSpc>
              <a:buFontTx/>
              <a:buNone/>
            </a:pPr>
            <a:r>
              <a:rPr lang="en-US" altLang="en-US" sz="2000" b="1">
                <a:latin typeface="Times New Roman" panose="02020603050405020304" pitchFamily="18" charset="0"/>
              </a:rPr>
              <a:t>	}</a:t>
            </a:r>
          </a:p>
          <a:p>
            <a:pPr>
              <a:lnSpc>
                <a:spcPct val="80000"/>
              </a:lnSpc>
              <a:buFontTx/>
              <a:buNone/>
            </a:pPr>
            <a:r>
              <a:rPr lang="en-US" altLang="en-US" sz="2000" b="1">
                <a:latin typeface="Times New Roman" panose="02020603050405020304" pitchFamily="18" charset="0"/>
              </a:rPr>
              <a:t>	int currentY() {</a:t>
            </a:r>
          </a:p>
          <a:p>
            <a:pPr>
              <a:lnSpc>
                <a:spcPct val="80000"/>
              </a:lnSpc>
              <a:buFontTx/>
              <a:buNone/>
            </a:pPr>
            <a:r>
              <a:rPr lang="en-US" altLang="en-US" sz="2000" b="1">
                <a:latin typeface="Times New Roman" panose="02020603050405020304" pitchFamily="18" charset="0"/>
              </a:rPr>
              <a:t>		return yCoord;</a:t>
            </a:r>
          </a:p>
          <a:p>
            <a:pPr>
              <a:lnSpc>
                <a:spcPct val="80000"/>
              </a:lnSpc>
              <a:buFontTx/>
              <a:buNone/>
            </a:pPr>
            <a:r>
              <a:rPr lang="en-US" altLang="en-US" sz="2000" b="1">
                <a:latin typeface="Times New Roman" panose="02020603050405020304" pitchFamily="18" charset="0"/>
              </a:rPr>
              <a:t>	}</a:t>
            </a:r>
          </a:p>
          <a:p>
            <a:pPr>
              <a:lnSpc>
                <a:spcPct val="80000"/>
              </a:lnSpc>
              <a:buFontTx/>
              <a:buNone/>
            </a:pPr>
            <a:r>
              <a:rPr lang="en-US" altLang="en-US" sz="2000" b="1">
                <a:latin typeface="Times New Roman" panose="02020603050405020304" pitchFamily="18" charset="0"/>
              </a:rPr>
              <a:t>	void move (int newXCoord, int newYCoord) {</a:t>
            </a:r>
          </a:p>
          <a:p>
            <a:pPr>
              <a:lnSpc>
                <a:spcPct val="80000"/>
              </a:lnSpc>
              <a:buFontTx/>
              <a:buNone/>
            </a:pPr>
            <a:br>
              <a:rPr lang="en-US" altLang="en-US" sz="2000" b="1">
                <a:latin typeface="Times New Roman" panose="02020603050405020304" pitchFamily="18" charset="0"/>
              </a:rPr>
            </a:br>
            <a:r>
              <a:rPr lang="en-US" altLang="en-US" sz="2000" b="1">
                <a:latin typeface="Times New Roman" panose="02020603050405020304" pitchFamily="18" charset="0"/>
              </a:rPr>
              <a:t>	xCoord = newXCoord;</a:t>
            </a:r>
          </a:p>
          <a:p>
            <a:pPr>
              <a:lnSpc>
                <a:spcPct val="80000"/>
              </a:lnSpc>
              <a:buFontTx/>
              <a:buNone/>
            </a:pPr>
            <a:r>
              <a:rPr lang="en-US" altLang="en-US" sz="2000" b="1">
                <a:latin typeface="Times New Roman" panose="02020603050405020304" pitchFamily="18" charset="0"/>
              </a:rPr>
              <a:t>		yCoord = newYCoord;</a:t>
            </a:r>
          </a:p>
          <a:p>
            <a:pPr>
              <a:lnSpc>
                <a:spcPct val="80000"/>
              </a:lnSpc>
              <a:buFontTx/>
              <a:buNone/>
            </a:pPr>
            <a:endParaRPr lang="en-US" altLang="en-US" sz="2000" b="1">
              <a:latin typeface="Times New Roman" panose="02020603050405020304" pitchFamily="18" charset="0"/>
            </a:endParaRPr>
          </a:p>
          <a:p>
            <a:pPr>
              <a:lnSpc>
                <a:spcPct val="80000"/>
              </a:lnSpc>
              <a:buFontTx/>
              <a:buNone/>
            </a:pPr>
            <a:r>
              <a:rPr lang="en-US" altLang="en-US" sz="2000" b="1">
                <a:latin typeface="Times New Roman" panose="02020603050405020304" pitchFamily="18" charset="0"/>
              </a:rPr>
              <a:t>	}</a:t>
            </a:r>
          </a:p>
          <a:p>
            <a:pPr>
              <a:lnSpc>
                <a:spcPct val="80000"/>
              </a:lnSpc>
              <a:buFontTx/>
              <a:buNone/>
            </a:pPr>
            <a:r>
              <a:rPr lang="en-US" altLang="en-US" sz="2000" b="1">
                <a:latin typeface="Times New Roman" panose="02020603050405020304" pitchFamily="18" charset="0"/>
              </a:rPr>
              <a:t>}</a:t>
            </a:r>
          </a:p>
        </p:txBody>
      </p:sp>
      <p:sp>
        <p:nvSpPr>
          <p:cNvPr id="2" name="Date Placeholder 1"/>
          <p:cNvSpPr>
            <a:spLocks noGrp="1"/>
          </p:cNvSpPr>
          <p:nvPr>
            <p:ph type="dt" sz="half" idx="10"/>
          </p:nvPr>
        </p:nvSpPr>
        <p:spPr/>
        <p:txBody>
          <a:bodyPr/>
          <a:lstStyle/>
          <a:p>
            <a:fld id="{AC846192-DE76-4EE8-8145-9CFA86DCC793}"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274638"/>
            <a:ext cx="8305800" cy="563562"/>
          </a:xfrm>
        </p:spPr>
        <p:txBody>
          <a:bodyPr>
            <a:normAutofit fontScale="90000"/>
          </a:bodyPr>
          <a:lstStyle/>
          <a:p>
            <a:r>
              <a:rPr lang="en-US" altLang="en-US" sz="4000" b="1">
                <a:latin typeface="Times New Roman" panose="02020603050405020304" pitchFamily="18" charset="0"/>
              </a:rPr>
              <a:t>The General Form of a Class</a:t>
            </a:r>
          </a:p>
        </p:txBody>
      </p:sp>
      <p:sp>
        <p:nvSpPr>
          <p:cNvPr id="21507" name="Rectangle 3"/>
          <p:cNvSpPr>
            <a:spLocks noGrp="1" noChangeArrowheads="1"/>
          </p:cNvSpPr>
          <p:nvPr>
            <p:ph idx="1"/>
          </p:nvPr>
        </p:nvSpPr>
        <p:spPr>
          <a:xfrm>
            <a:off x="609600" y="990600"/>
            <a:ext cx="8534400" cy="5562600"/>
          </a:xfrm>
        </p:spPr>
        <p:txBody>
          <a:bodyPr/>
          <a:lstStyle/>
          <a:p>
            <a:pPr>
              <a:lnSpc>
                <a:spcPct val="90000"/>
              </a:lnSpc>
              <a:buFont typeface="Wingdings" panose="05000000000000000000" pitchFamily="2" charset="2"/>
              <a:buChar char="ü"/>
            </a:pPr>
            <a:r>
              <a:rPr lang="en-US" altLang="en-US" sz="2000">
                <a:latin typeface="Times New Roman" panose="02020603050405020304" pitchFamily="18" charset="0"/>
              </a:rPr>
              <a:t>A class is defined by specifying the data and the code that operate on the data.</a:t>
            </a:r>
          </a:p>
          <a:p>
            <a:pPr>
              <a:lnSpc>
                <a:spcPct val="90000"/>
              </a:lnSpc>
              <a:buFont typeface="Wingdings" panose="05000000000000000000" pitchFamily="2" charset="2"/>
              <a:buChar char="ü"/>
            </a:pPr>
            <a:r>
              <a:rPr lang="en-US" altLang="en-US" sz="2000">
                <a:latin typeface="Times New Roman" panose="02020603050405020304" pitchFamily="18" charset="0"/>
              </a:rPr>
              <a:t>The general form:</a:t>
            </a:r>
          </a:p>
          <a:p>
            <a:pPr>
              <a:lnSpc>
                <a:spcPct val="90000"/>
              </a:lnSpc>
              <a:buFont typeface="Wingdings" panose="05000000000000000000" pitchFamily="2" charset="2"/>
              <a:buNone/>
            </a:pPr>
            <a:r>
              <a:rPr lang="en-US" altLang="en-US" sz="2000">
                <a:latin typeface="Times New Roman" panose="02020603050405020304" pitchFamily="18" charset="0"/>
              </a:rPr>
              <a:t>	class </a:t>
            </a:r>
            <a:r>
              <a:rPr lang="en-US" altLang="en-US" sz="2000" i="1">
                <a:latin typeface="Times New Roman" panose="02020603050405020304" pitchFamily="18" charset="0"/>
              </a:rPr>
              <a:t>classname</a:t>
            </a:r>
            <a:r>
              <a:rPr lang="en-US" altLang="en-US" sz="2000">
                <a:latin typeface="Times New Roman" panose="02020603050405020304" pitchFamily="18" charset="0"/>
              </a:rPr>
              <a:t>{</a:t>
            </a:r>
          </a:p>
          <a:p>
            <a:pPr>
              <a:lnSpc>
                <a:spcPct val="90000"/>
              </a:lnSpc>
              <a:buFont typeface="Wingdings" panose="05000000000000000000" pitchFamily="2" charset="2"/>
              <a:buNone/>
            </a:pPr>
            <a:r>
              <a:rPr lang="en-US" altLang="en-US" sz="2000">
                <a:latin typeface="Times New Roman" panose="02020603050405020304" pitchFamily="18" charset="0"/>
              </a:rPr>
              <a:t>		type instance-variable1;</a:t>
            </a:r>
          </a:p>
          <a:p>
            <a:pPr>
              <a:lnSpc>
                <a:spcPct val="90000"/>
              </a:lnSpc>
              <a:buFont typeface="Wingdings" panose="05000000000000000000" pitchFamily="2" charset="2"/>
              <a:buNone/>
            </a:pPr>
            <a:r>
              <a:rPr lang="en-US" altLang="en-US" sz="2000">
                <a:latin typeface="Times New Roman" panose="02020603050405020304" pitchFamily="18" charset="0"/>
              </a:rPr>
              <a:t>		type instance-variable2;</a:t>
            </a:r>
          </a:p>
          <a:p>
            <a:pPr>
              <a:lnSpc>
                <a:spcPct val="90000"/>
              </a:lnSpc>
              <a:buFont typeface="Wingdings" panose="05000000000000000000" pitchFamily="2" charset="2"/>
              <a:buNone/>
            </a:pPr>
            <a:r>
              <a:rPr lang="en-US" altLang="en-US" sz="2000">
                <a:latin typeface="Times New Roman" panose="02020603050405020304" pitchFamily="18" charset="0"/>
              </a:rPr>
              <a:t>		…………</a:t>
            </a:r>
          </a:p>
          <a:p>
            <a:pPr>
              <a:lnSpc>
                <a:spcPct val="90000"/>
              </a:lnSpc>
              <a:buFont typeface="Wingdings" panose="05000000000000000000" pitchFamily="2" charset="2"/>
              <a:buNone/>
            </a:pPr>
            <a:r>
              <a:rPr lang="en-US" altLang="en-US" sz="2000">
                <a:latin typeface="Times New Roman" panose="02020603050405020304" pitchFamily="18" charset="0"/>
              </a:rPr>
              <a:t> 		type methodname1( parameter-list)</a:t>
            </a:r>
          </a:p>
          <a:p>
            <a:pPr>
              <a:lnSpc>
                <a:spcPct val="90000"/>
              </a:lnSpc>
              <a:buFont typeface="Wingdings" panose="05000000000000000000" pitchFamily="2" charset="2"/>
              <a:buNone/>
            </a:pPr>
            <a:r>
              <a:rPr lang="en-US" altLang="en-US" sz="2000">
                <a:latin typeface="Times New Roman" panose="02020603050405020304" pitchFamily="18" charset="0"/>
              </a:rPr>
              <a:t>		{</a:t>
            </a:r>
          </a:p>
          <a:p>
            <a:pPr>
              <a:lnSpc>
                <a:spcPct val="90000"/>
              </a:lnSpc>
              <a:buFont typeface="Wingdings" panose="05000000000000000000" pitchFamily="2" charset="2"/>
              <a:buNone/>
            </a:pPr>
            <a:r>
              <a:rPr lang="en-US" altLang="en-US" sz="2000">
                <a:latin typeface="Times New Roman" panose="02020603050405020304" pitchFamily="18" charset="0"/>
              </a:rPr>
              <a:t>			// body of the method</a:t>
            </a:r>
          </a:p>
          <a:p>
            <a:pPr>
              <a:lnSpc>
                <a:spcPct val="90000"/>
              </a:lnSpc>
              <a:buFont typeface="Wingdings" panose="05000000000000000000" pitchFamily="2" charset="2"/>
              <a:buNone/>
            </a:pPr>
            <a:r>
              <a:rPr lang="en-US" altLang="en-US" sz="2000">
                <a:latin typeface="Times New Roman" panose="02020603050405020304" pitchFamily="18" charset="0"/>
              </a:rPr>
              <a:t>		}</a:t>
            </a:r>
          </a:p>
          <a:p>
            <a:pPr>
              <a:lnSpc>
                <a:spcPct val="90000"/>
              </a:lnSpc>
              <a:buFont typeface="Wingdings" panose="05000000000000000000" pitchFamily="2" charset="2"/>
              <a:buNone/>
            </a:pPr>
            <a:r>
              <a:rPr lang="en-US" altLang="en-US" sz="2000">
                <a:latin typeface="Times New Roman" panose="02020603050405020304" pitchFamily="18" charset="0"/>
              </a:rPr>
              <a:t>		type methodname2( parameter-list)</a:t>
            </a:r>
          </a:p>
          <a:p>
            <a:pPr>
              <a:lnSpc>
                <a:spcPct val="90000"/>
              </a:lnSpc>
              <a:buFont typeface="Wingdings" panose="05000000000000000000" pitchFamily="2" charset="2"/>
              <a:buNone/>
            </a:pPr>
            <a:r>
              <a:rPr lang="en-US" altLang="en-US" sz="2000">
                <a:latin typeface="Times New Roman" panose="02020603050405020304" pitchFamily="18" charset="0"/>
              </a:rPr>
              <a:t>		{</a:t>
            </a:r>
          </a:p>
          <a:p>
            <a:pPr>
              <a:lnSpc>
                <a:spcPct val="90000"/>
              </a:lnSpc>
              <a:buFont typeface="Wingdings" panose="05000000000000000000" pitchFamily="2" charset="2"/>
              <a:buNone/>
            </a:pPr>
            <a:r>
              <a:rPr lang="en-US" altLang="en-US" sz="2000">
                <a:latin typeface="Times New Roman" panose="02020603050405020304" pitchFamily="18" charset="0"/>
              </a:rPr>
              <a:t>			//body of the method</a:t>
            </a:r>
          </a:p>
          <a:p>
            <a:pPr>
              <a:lnSpc>
                <a:spcPct val="90000"/>
              </a:lnSpc>
              <a:buFont typeface="Wingdings" panose="05000000000000000000" pitchFamily="2" charset="2"/>
              <a:buNone/>
            </a:pPr>
            <a:r>
              <a:rPr lang="en-US" altLang="en-US" sz="2000">
                <a:latin typeface="Times New Roman" panose="02020603050405020304" pitchFamily="18" charset="0"/>
              </a:rPr>
              <a:t>		}</a:t>
            </a:r>
          </a:p>
          <a:p>
            <a:pPr>
              <a:lnSpc>
                <a:spcPct val="90000"/>
              </a:lnSpc>
              <a:buFont typeface="Wingdings" panose="05000000000000000000" pitchFamily="2" charset="2"/>
              <a:buNone/>
            </a:pPr>
            <a:r>
              <a:rPr lang="en-US" altLang="en-US" sz="2000">
                <a:latin typeface="Times New Roman" panose="02020603050405020304" pitchFamily="18" charset="0"/>
              </a:rPr>
              <a:t>		……………………</a:t>
            </a:r>
          </a:p>
          <a:p>
            <a:pPr>
              <a:lnSpc>
                <a:spcPct val="90000"/>
              </a:lnSpc>
              <a:buFont typeface="Wingdings" panose="05000000000000000000" pitchFamily="2" charset="2"/>
              <a:buNone/>
            </a:pPr>
            <a:r>
              <a:rPr lang="en-US" altLang="en-US" sz="2000">
                <a:latin typeface="Times New Roman" panose="02020603050405020304" pitchFamily="18" charset="0"/>
              </a:rPr>
              <a:t>    }</a:t>
            </a:r>
          </a:p>
          <a:p>
            <a:pPr>
              <a:lnSpc>
                <a:spcPct val="90000"/>
              </a:lnSpc>
              <a:buFont typeface="Wingdings" panose="05000000000000000000" pitchFamily="2" charset="2"/>
              <a:buChar char="ü"/>
            </a:pPr>
            <a:endParaRPr lang="en-US" altLang="en-US" sz="2000">
              <a:latin typeface="Times New Roman" panose="02020603050405020304" pitchFamily="18" charset="0"/>
            </a:endParaRPr>
          </a:p>
        </p:txBody>
      </p:sp>
      <p:sp>
        <p:nvSpPr>
          <p:cNvPr id="2" name="Date Placeholder 1"/>
          <p:cNvSpPr>
            <a:spLocks noGrp="1"/>
          </p:cNvSpPr>
          <p:nvPr>
            <p:ph type="dt" sz="half" idx="10"/>
          </p:nvPr>
        </p:nvSpPr>
        <p:spPr/>
        <p:txBody>
          <a:bodyPr/>
          <a:lstStyle/>
          <a:p>
            <a:fld id="{73BE6B44-8558-4363-971E-5561F5F2BA6D}"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latin typeface="Times New Roman" panose="02020603050405020304" pitchFamily="18" charset="0"/>
              </a:rPr>
              <a:t>Class and Object</a:t>
            </a:r>
          </a:p>
        </p:txBody>
      </p:sp>
      <p:sp>
        <p:nvSpPr>
          <p:cNvPr id="22531" name="Rectangle 3"/>
          <p:cNvSpPr>
            <a:spLocks noGrp="1" noChangeArrowheads="1"/>
          </p:cNvSpPr>
          <p:nvPr>
            <p:ph idx="1"/>
          </p:nvPr>
        </p:nvSpPr>
        <p:spPr/>
        <p:txBody>
          <a:bodyPr/>
          <a:lstStyle/>
          <a:p>
            <a:pPr>
              <a:buFont typeface="Wingdings" panose="05000000000000000000" pitchFamily="2" charset="2"/>
              <a:buChar char="ü"/>
            </a:pPr>
            <a:r>
              <a:rPr lang="en-US" altLang="en-US" sz="2800">
                <a:latin typeface="Times New Roman" panose="02020603050405020304" pitchFamily="18" charset="0"/>
              </a:rPr>
              <a:t>A class defines a new data type. This new data type is used to create objects of that type.</a:t>
            </a:r>
          </a:p>
          <a:p>
            <a:pPr>
              <a:buFont typeface="Wingdings" panose="05000000000000000000" pitchFamily="2" charset="2"/>
              <a:buChar char="ü"/>
            </a:pPr>
            <a:r>
              <a:rPr lang="en-US" altLang="en-US" sz="2800">
                <a:latin typeface="Times New Roman" panose="02020603050405020304" pitchFamily="18" charset="0"/>
              </a:rPr>
              <a:t>A class is a template for an object and an object is an instance of a class.</a:t>
            </a:r>
          </a:p>
        </p:txBody>
      </p:sp>
      <p:sp>
        <p:nvSpPr>
          <p:cNvPr id="2" name="Date Placeholder 1"/>
          <p:cNvSpPr>
            <a:spLocks noGrp="1"/>
          </p:cNvSpPr>
          <p:nvPr>
            <p:ph type="dt" sz="half" idx="10"/>
          </p:nvPr>
        </p:nvSpPr>
        <p:spPr/>
        <p:txBody>
          <a:bodyPr/>
          <a:lstStyle/>
          <a:p>
            <a:fld id="{F7583C9A-83F2-4CD2-93AB-35BFFED2F3D3}"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16</a:t>
            </a:fld>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b="1">
                <a:latin typeface="Times New Roman" panose="02020603050405020304" pitchFamily="18" charset="0"/>
              </a:rPr>
              <a:t>Creating Objects</a:t>
            </a:r>
          </a:p>
        </p:txBody>
      </p:sp>
      <p:sp>
        <p:nvSpPr>
          <p:cNvPr id="23555" name="Rectangle 3"/>
          <p:cNvSpPr>
            <a:spLocks noGrp="1" noChangeArrowheads="1"/>
          </p:cNvSpPr>
          <p:nvPr>
            <p:ph idx="1"/>
          </p:nvPr>
        </p:nvSpPr>
        <p:spPr>
          <a:xfrm>
            <a:off x="914400" y="1600200"/>
            <a:ext cx="8001000" cy="5257800"/>
          </a:xfrm>
        </p:spPr>
        <p:txBody>
          <a:bodyPr/>
          <a:lstStyle/>
          <a:p>
            <a:pPr>
              <a:buFont typeface="Wingdings" panose="05000000000000000000" pitchFamily="2" charset="2"/>
              <a:buChar char="ü"/>
            </a:pPr>
            <a:r>
              <a:rPr lang="en-US" altLang="en-US" sz="2800">
                <a:latin typeface="Times New Roman" panose="02020603050405020304" pitchFamily="18" charset="0"/>
              </a:rPr>
              <a:t>Obtaining objects of a class is two steps process:</a:t>
            </a:r>
          </a:p>
          <a:p>
            <a:pPr>
              <a:buFont typeface="Wingdings" panose="05000000000000000000" pitchFamily="2" charset="2"/>
              <a:buNone/>
            </a:pPr>
            <a:r>
              <a:rPr lang="en-US" altLang="en-US" sz="2800">
                <a:latin typeface="Times New Roman" panose="02020603050405020304" pitchFamily="18" charset="0"/>
              </a:rPr>
              <a:t>	1. Declare a variable of the class type.</a:t>
            </a:r>
          </a:p>
          <a:p>
            <a:pPr>
              <a:buFont typeface="Wingdings" panose="05000000000000000000" pitchFamily="2" charset="2"/>
              <a:buNone/>
            </a:pPr>
            <a:r>
              <a:rPr lang="en-US" altLang="en-US" sz="2800">
                <a:latin typeface="Times New Roman" panose="02020603050405020304" pitchFamily="18" charset="0"/>
              </a:rPr>
              <a:t>	2. Acquire an actual, physical copy of the object and assign it to that variable.</a:t>
            </a:r>
          </a:p>
          <a:p>
            <a:pPr>
              <a:buFont typeface="Wingdings" panose="05000000000000000000" pitchFamily="2" charset="2"/>
              <a:buChar char="ü"/>
            </a:pPr>
            <a:r>
              <a:rPr lang="en-US" altLang="en-US" sz="2800">
                <a:latin typeface="Times New Roman" panose="02020603050405020304" pitchFamily="18" charset="0"/>
              </a:rPr>
              <a:t> To allocate a physical memory </a:t>
            </a:r>
            <a:r>
              <a:rPr lang="en-US" altLang="en-US" sz="2800" b="1">
                <a:latin typeface="Times New Roman" panose="02020603050405020304" pitchFamily="18" charset="0"/>
              </a:rPr>
              <a:t>new() </a:t>
            </a:r>
            <a:r>
              <a:rPr lang="en-US" altLang="en-US" sz="2800">
                <a:latin typeface="Times New Roman" panose="02020603050405020304" pitchFamily="18" charset="0"/>
              </a:rPr>
              <a:t>is used. It dynamically allocates memory for an object and returns a reference to it.</a:t>
            </a:r>
          </a:p>
          <a:p>
            <a:pPr>
              <a:buFont typeface="Wingdings" panose="05000000000000000000" pitchFamily="2" charset="2"/>
              <a:buChar char="ü"/>
            </a:pPr>
            <a:r>
              <a:rPr lang="en-US" altLang="en-US" sz="2800">
                <a:latin typeface="Times New Roman" panose="02020603050405020304" pitchFamily="18" charset="0"/>
              </a:rPr>
              <a:t>In Java, all class objects must be dynamically allocated.</a:t>
            </a:r>
          </a:p>
          <a:p>
            <a:pPr>
              <a:buFont typeface="Wingdings" panose="05000000000000000000" pitchFamily="2" charset="2"/>
              <a:buNone/>
            </a:pPr>
            <a:endParaRPr lang="en-US" altLang="en-US" sz="2800" b="1">
              <a:latin typeface="Times New Roman" panose="02020603050405020304" pitchFamily="18" charset="0"/>
            </a:endParaRPr>
          </a:p>
        </p:txBody>
      </p:sp>
      <p:sp>
        <p:nvSpPr>
          <p:cNvPr id="2" name="Date Placeholder 1"/>
          <p:cNvSpPr>
            <a:spLocks noGrp="1"/>
          </p:cNvSpPr>
          <p:nvPr>
            <p:ph type="dt" sz="half" idx="10"/>
          </p:nvPr>
        </p:nvSpPr>
        <p:spPr/>
        <p:txBody>
          <a:bodyPr/>
          <a:lstStyle/>
          <a:p>
            <a:fld id="{0316E17F-AC83-4C1B-8FA3-16CF02A819F4}"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17</a:t>
            </a:fld>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b="1">
                <a:latin typeface="Times New Roman" panose="02020603050405020304" pitchFamily="18" charset="0"/>
              </a:rPr>
              <a:t>A Simple Example</a:t>
            </a:r>
          </a:p>
        </p:txBody>
      </p:sp>
      <p:sp>
        <p:nvSpPr>
          <p:cNvPr id="24579" name="Rectangle 3"/>
          <p:cNvSpPr>
            <a:spLocks noGrp="1" noChangeArrowheads="1"/>
          </p:cNvSpPr>
          <p:nvPr>
            <p:ph sz="half" idx="1"/>
          </p:nvPr>
        </p:nvSpPr>
        <p:spPr>
          <a:xfrm>
            <a:off x="457200" y="1600200"/>
            <a:ext cx="4033838" cy="4525963"/>
          </a:xfrm>
        </p:spPr>
        <p:txBody>
          <a:bodyPr>
            <a:normAutofit lnSpcReduction="10000"/>
          </a:bodyPr>
          <a:lstStyle/>
          <a:p>
            <a:pPr>
              <a:lnSpc>
                <a:spcPct val="90000"/>
              </a:lnSpc>
              <a:buFontTx/>
              <a:buNone/>
            </a:pPr>
            <a:r>
              <a:rPr lang="en-US" altLang="en-US" sz="1800">
                <a:latin typeface="Times New Roman" panose="02020603050405020304" pitchFamily="18" charset="0"/>
              </a:rPr>
              <a:t>class Box</a:t>
            </a:r>
          </a:p>
          <a:p>
            <a:pPr>
              <a:lnSpc>
                <a:spcPct val="90000"/>
              </a:lnSpc>
              <a:buFontTx/>
              <a:buNone/>
            </a:pPr>
            <a:r>
              <a:rPr lang="en-US" altLang="en-US" sz="1800">
                <a:latin typeface="Times New Roman" panose="02020603050405020304" pitchFamily="18" charset="0"/>
              </a:rPr>
              <a:t>{</a:t>
            </a:r>
          </a:p>
          <a:p>
            <a:pPr>
              <a:lnSpc>
                <a:spcPct val="90000"/>
              </a:lnSpc>
              <a:buFontTx/>
              <a:buNone/>
            </a:pPr>
            <a:r>
              <a:rPr lang="en-US" altLang="en-US" sz="1800">
                <a:latin typeface="Times New Roman" panose="02020603050405020304" pitchFamily="18" charset="0"/>
              </a:rPr>
              <a:t>	double width;</a:t>
            </a:r>
          </a:p>
          <a:p>
            <a:pPr>
              <a:lnSpc>
                <a:spcPct val="90000"/>
              </a:lnSpc>
              <a:buFontTx/>
              <a:buNone/>
            </a:pPr>
            <a:r>
              <a:rPr lang="en-US" altLang="en-US" sz="1800">
                <a:latin typeface="Times New Roman" panose="02020603050405020304" pitchFamily="18" charset="0"/>
              </a:rPr>
              <a:t>	double height;</a:t>
            </a:r>
          </a:p>
          <a:p>
            <a:pPr>
              <a:lnSpc>
                <a:spcPct val="90000"/>
              </a:lnSpc>
              <a:buFontTx/>
              <a:buNone/>
            </a:pPr>
            <a:r>
              <a:rPr lang="en-US" altLang="en-US" sz="1800">
                <a:latin typeface="Times New Roman" panose="02020603050405020304" pitchFamily="18" charset="0"/>
              </a:rPr>
              <a:t>	double depth;</a:t>
            </a:r>
          </a:p>
          <a:p>
            <a:pPr>
              <a:lnSpc>
                <a:spcPct val="90000"/>
              </a:lnSpc>
              <a:buFontTx/>
              <a:buNone/>
            </a:pPr>
            <a:r>
              <a:rPr lang="en-US" altLang="en-US" sz="1800">
                <a:latin typeface="Times New Roman" panose="02020603050405020304" pitchFamily="18" charset="0"/>
              </a:rPr>
              <a:t>}</a:t>
            </a:r>
          </a:p>
        </p:txBody>
      </p:sp>
      <p:sp>
        <p:nvSpPr>
          <p:cNvPr id="24580" name="Rectangle 4"/>
          <p:cNvSpPr>
            <a:spLocks noGrp="1" noChangeArrowheads="1"/>
          </p:cNvSpPr>
          <p:nvPr>
            <p:ph sz="half" idx="2"/>
          </p:nvPr>
        </p:nvSpPr>
        <p:spPr>
          <a:xfrm>
            <a:off x="3352800" y="1600200"/>
            <a:ext cx="5334000" cy="4953000"/>
          </a:xfrm>
        </p:spPr>
        <p:txBody>
          <a:bodyPr>
            <a:normAutofit lnSpcReduction="10000"/>
          </a:bodyPr>
          <a:lstStyle/>
          <a:p>
            <a:pPr>
              <a:lnSpc>
                <a:spcPct val="90000"/>
              </a:lnSpc>
              <a:buFontTx/>
              <a:buNone/>
            </a:pPr>
            <a:r>
              <a:rPr lang="en-US" altLang="en-US" sz="1800">
                <a:latin typeface="Times New Roman" panose="02020603050405020304" pitchFamily="18" charset="0"/>
              </a:rPr>
              <a:t>class BoxDemo</a:t>
            </a:r>
          </a:p>
          <a:p>
            <a:pPr>
              <a:lnSpc>
                <a:spcPct val="90000"/>
              </a:lnSpc>
              <a:buFontTx/>
              <a:buNone/>
            </a:pPr>
            <a:r>
              <a:rPr lang="en-US" altLang="en-US" sz="1800">
                <a:latin typeface="Times New Roman" panose="02020603050405020304" pitchFamily="18" charset="0"/>
              </a:rPr>
              <a:t>{</a:t>
            </a:r>
          </a:p>
          <a:p>
            <a:pPr>
              <a:lnSpc>
                <a:spcPct val="90000"/>
              </a:lnSpc>
              <a:buFontTx/>
              <a:buNone/>
            </a:pPr>
            <a:r>
              <a:rPr lang="en-US" altLang="en-US" sz="1800">
                <a:latin typeface="Times New Roman" panose="02020603050405020304" pitchFamily="18" charset="0"/>
              </a:rPr>
              <a:t>	public static void main( String args[])</a:t>
            </a:r>
          </a:p>
          <a:p>
            <a:pPr>
              <a:lnSpc>
                <a:spcPct val="90000"/>
              </a:lnSpc>
              <a:buFontTx/>
              <a:buNone/>
            </a:pPr>
            <a:r>
              <a:rPr lang="en-US" altLang="en-US" sz="1800">
                <a:latin typeface="Times New Roman" panose="02020603050405020304" pitchFamily="18" charset="0"/>
              </a:rPr>
              <a:t>	{</a:t>
            </a:r>
          </a:p>
          <a:p>
            <a:pPr>
              <a:lnSpc>
                <a:spcPct val="90000"/>
              </a:lnSpc>
              <a:buFontTx/>
              <a:buNone/>
            </a:pPr>
            <a:r>
              <a:rPr lang="en-US" altLang="en-US" sz="1800">
                <a:latin typeface="Times New Roman" panose="02020603050405020304" pitchFamily="18" charset="0"/>
              </a:rPr>
              <a:t>		Box mybox, mybox1;</a:t>
            </a:r>
          </a:p>
          <a:p>
            <a:pPr>
              <a:lnSpc>
                <a:spcPct val="90000"/>
              </a:lnSpc>
              <a:buFontTx/>
              <a:buNone/>
            </a:pPr>
            <a:r>
              <a:rPr lang="en-US" altLang="en-US" sz="1800">
                <a:latin typeface="Times New Roman" panose="02020603050405020304" pitchFamily="18" charset="0"/>
              </a:rPr>
              <a:t>		mybox = new Box();</a:t>
            </a:r>
          </a:p>
          <a:p>
            <a:pPr>
              <a:lnSpc>
                <a:spcPct val="90000"/>
              </a:lnSpc>
              <a:buFontTx/>
              <a:buNone/>
            </a:pPr>
            <a:r>
              <a:rPr lang="en-US" altLang="en-US" sz="1800">
                <a:latin typeface="Times New Roman" panose="02020603050405020304" pitchFamily="18" charset="0"/>
              </a:rPr>
              <a:t>		mybox1 = new Box();</a:t>
            </a:r>
          </a:p>
          <a:p>
            <a:pPr>
              <a:lnSpc>
                <a:spcPct val="90000"/>
              </a:lnSpc>
              <a:buFontTx/>
              <a:buNone/>
            </a:pPr>
            <a:r>
              <a:rPr lang="en-US" altLang="en-US" sz="1800">
                <a:latin typeface="Times New Roman" panose="02020603050405020304" pitchFamily="18" charset="0"/>
              </a:rPr>
              <a:t>		</a:t>
            </a:r>
          </a:p>
          <a:p>
            <a:pPr>
              <a:lnSpc>
                <a:spcPct val="90000"/>
              </a:lnSpc>
              <a:buFontTx/>
              <a:buNone/>
            </a:pPr>
            <a:r>
              <a:rPr lang="en-US" altLang="en-US" sz="1800">
                <a:latin typeface="Times New Roman" panose="02020603050405020304" pitchFamily="18" charset="0"/>
              </a:rPr>
              <a:t>		mybox.width=10;</a:t>
            </a:r>
          </a:p>
          <a:p>
            <a:pPr>
              <a:lnSpc>
                <a:spcPct val="90000"/>
              </a:lnSpc>
              <a:buFontTx/>
              <a:buNone/>
            </a:pPr>
            <a:r>
              <a:rPr lang="en-US" altLang="en-US" sz="1800">
                <a:latin typeface="Times New Roman" panose="02020603050405020304" pitchFamily="18" charset="0"/>
              </a:rPr>
              <a:t>		mybox.height = 20;</a:t>
            </a:r>
          </a:p>
          <a:p>
            <a:pPr>
              <a:lnSpc>
                <a:spcPct val="90000"/>
              </a:lnSpc>
              <a:buFontTx/>
              <a:buNone/>
            </a:pPr>
            <a:r>
              <a:rPr lang="en-US" altLang="en-US" sz="1800">
                <a:latin typeface="Times New Roman" panose="02020603050405020304" pitchFamily="18" charset="0"/>
              </a:rPr>
              <a:t>		mybox. depth = 15;</a:t>
            </a:r>
          </a:p>
          <a:p>
            <a:pPr>
              <a:lnSpc>
                <a:spcPct val="90000"/>
              </a:lnSpc>
              <a:buFontTx/>
              <a:buNone/>
            </a:pPr>
            <a:endParaRPr lang="en-US" altLang="en-US" sz="1800">
              <a:latin typeface="Times New Roman" panose="02020603050405020304" pitchFamily="18" charset="0"/>
            </a:endParaRPr>
          </a:p>
          <a:p>
            <a:pPr>
              <a:lnSpc>
                <a:spcPct val="90000"/>
              </a:lnSpc>
              <a:buFontTx/>
              <a:buNone/>
            </a:pPr>
            <a:r>
              <a:rPr lang="en-US" altLang="en-US" sz="1800">
                <a:latin typeface="Times New Roman" panose="02020603050405020304" pitchFamily="18" charset="0"/>
              </a:rPr>
              <a:t>		mybox1.width = 10;</a:t>
            </a:r>
          </a:p>
          <a:p>
            <a:pPr>
              <a:lnSpc>
                <a:spcPct val="90000"/>
              </a:lnSpc>
              <a:buFontTx/>
              <a:buNone/>
            </a:pPr>
            <a:r>
              <a:rPr lang="en-US" altLang="en-US" sz="1800">
                <a:latin typeface="Times New Roman" panose="02020603050405020304" pitchFamily="18" charset="0"/>
              </a:rPr>
              <a:t>		mybox1.height = 25;</a:t>
            </a:r>
          </a:p>
          <a:p>
            <a:pPr>
              <a:lnSpc>
                <a:spcPct val="90000"/>
              </a:lnSpc>
              <a:buFontTx/>
              <a:buNone/>
            </a:pPr>
            <a:r>
              <a:rPr lang="en-US" altLang="en-US" sz="1800">
                <a:latin typeface="Times New Roman" panose="02020603050405020304" pitchFamily="18" charset="0"/>
              </a:rPr>
              <a:t>		mybox1.depth=5;</a:t>
            </a:r>
          </a:p>
          <a:p>
            <a:pPr>
              <a:lnSpc>
                <a:spcPct val="90000"/>
              </a:lnSpc>
              <a:buFontTx/>
              <a:buNone/>
            </a:pPr>
            <a:r>
              <a:rPr lang="en-US" altLang="en-US" sz="1800">
                <a:latin typeface="Times New Roman" panose="02020603050405020304" pitchFamily="18" charset="0"/>
              </a:rPr>
              <a:t>	}</a:t>
            </a:r>
          </a:p>
          <a:p>
            <a:pPr>
              <a:lnSpc>
                <a:spcPct val="90000"/>
              </a:lnSpc>
              <a:buFontTx/>
              <a:buNone/>
            </a:pPr>
            <a:r>
              <a:rPr lang="en-US" altLang="en-US" sz="1800">
                <a:latin typeface="Times New Roman" panose="02020603050405020304" pitchFamily="18" charset="0"/>
              </a:rPr>
              <a:t>}</a:t>
            </a:r>
          </a:p>
          <a:p>
            <a:pPr>
              <a:lnSpc>
                <a:spcPct val="90000"/>
              </a:lnSpc>
              <a:buFontTx/>
              <a:buNone/>
            </a:pPr>
            <a:endParaRPr lang="en-US" altLang="en-US" sz="2400"/>
          </a:p>
        </p:txBody>
      </p:sp>
      <p:sp>
        <p:nvSpPr>
          <p:cNvPr id="2" name="Date Placeholder 1"/>
          <p:cNvSpPr>
            <a:spLocks noGrp="1"/>
          </p:cNvSpPr>
          <p:nvPr>
            <p:ph type="dt" sz="half" idx="10"/>
          </p:nvPr>
        </p:nvSpPr>
        <p:spPr/>
        <p:txBody>
          <a:bodyPr/>
          <a:lstStyle/>
          <a:p>
            <a:fld id="{53B94721-AF33-4D46-81B0-EB57DEAF0194}"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2FB82382-93C2-4C36-A888-0CA1776CB574}" type="slidenum">
              <a:rPr lang="en-US" altLang="en-US" smtClean="0"/>
              <a:pPr/>
              <a:t>18</a:t>
            </a:fld>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a:bodyPr>
          <a:lstStyle/>
          <a:p>
            <a:r>
              <a:rPr lang="en-US" altLang="en-US">
                <a:latin typeface="Times New Roman" panose="02020603050405020304" pitchFamily="18" charset="0"/>
              </a:rPr>
              <a:t>A Simple Example- Some points</a:t>
            </a:r>
          </a:p>
        </p:txBody>
      </p:sp>
      <p:sp>
        <p:nvSpPr>
          <p:cNvPr id="25603" name="Rectangle 3"/>
          <p:cNvSpPr>
            <a:spLocks noGrp="1" noChangeArrowheads="1"/>
          </p:cNvSpPr>
          <p:nvPr>
            <p:ph idx="1"/>
          </p:nvPr>
        </p:nvSpPr>
        <p:spPr/>
        <p:txBody>
          <a:bodyPr/>
          <a:lstStyle/>
          <a:p>
            <a:pPr>
              <a:buFont typeface="Wingdings" panose="05000000000000000000" pitchFamily="2" charset="2"/>
              <a:buChar char="ü"/>
            </a:pPr>
            <a:r>
              <a:rPr lang="en-US" altLang="en-US" sz="2800">
                <a:latin typeface="Times New Roman" panose="02020603050405020304" pitchFamily="18" charset="0"/>
              </a:rPr>
              <a:t>Members are linked to an object using dot (.) operator.</a:t>
            </a:r>
          </a:p>
          <a:p>
            <a:pPr>
              <a:buFont typeface="Wingdings" panose="05000000000000000000" pitchFamily="2" charset="2"/>
              <a:buChar char="ü"/>
            </a:pPr>
            <a:r>
              <a:rPr lang="en-US" altLang="en-US" sz="2800">
                <a:latin typeface="Times New Roman" panose="02020603050405020304" pitchFamily="18" charset="0"/>
              </a:rPr>
              <a:t>Each object contains its own copy of each instance variables defined by the class.</a:t>
            </a:r>
          </a:p>
          <a:p>
            <a:pPr>
              <a:buFont typeface="Wingdings" panose="05000000000000000000" pitchFamily="2" charset="2"/>
              <a:buChar char="ü"/>
            </a:pPr>
            <a:r>
              <a:rPr lang="en-US" altLang="en-US" sz="2800">
                <a:latin typeface="Times New Roman" panose="02020603050405020304" pitchFamily="18" charset="0"/>
              </a:rPr>
              <a:t>The java compiler automatically puts each class into it’s own </a:t>
            </a:r>
            <a:r>
              <a:rPr lang="en-US" altLang="en-US" sz="2800" b="1">
                <a:latin typeface="Times New Roman" panose="02020603050405020304" pitchFamily="18" charset="0"/>
              </a:rPr>
              <a:t>.class</a:t>
            </a:r>
            <a:r>
              <a:rPr lang="en-US" altLang="en-US" sz="2800">
                <a:latin typeface="Times New Roman" panose="02020603050405020304" pitchFamily="18" charset="0"/>
              </a:rPr>
              <a:t> file.</a:t>
            </a:r>
          </a:p>
          <a:p>
            <a:pPr>
              <a:buFont typeface="Wingdings" panose="05000000000000000000" pitchFamily="2" charset="2"/>
              <a:buNone/>
            </a:pPr>
            <a:r>
              <a:rPr lang="en-US" altLang="en-US" sz="2800">
                <a:latin typeface="Times New Roman" panose="02020603050405020304" pitchFamily="18" charset="0"/>
              </a:rPr>
              <a:t>  - For this example, two .class files:</a:t>
            </a:r>
          </a:p>
          <a:p>
            <a:pPr>
              <a:buFont typeface="Wingdings" panose="05000000000000000000" pitchFamily="2" charset="2"/>
              <a:buNone/>
            </a:pPr>
            <a:r>
              <a:rPr lang="en-US" altLang="en-US" sz="2800">
                <a:latin typeface="Times New Roman" panose="02020603050405020304" pitchFamily="18" charset="0"/>
              </a:rPr>
              <a:t>	1. Box.class</a:t>
            </a:r>
          </a:p>
          <a:p>
            <a:pPr>
              <a:buFont typeface="Wingdings" panose="05000000000000000000" pitchFamily="2" charset="2"/>
              <a:buNone/>
            </a:pPr>
            <a:r>
              <a:rPr lang="en-US" altLang="en-US" sz="2800">
                <a:latin typeface="Times New Roman" panose="02020603050405020304" pitchFamily="18" charset="0"/>
              </a:rPr>
              <a:t>    2. BoxDemo.class</a:t>
            </a:r>
          </a:p>
          <a:p>
            <a:pPr>
              <a:buFont typeface="Wingdings" panose="05000000000000000000" pitchFamily="2" charset="2"/>
              <a:buChar char="ü"/>
            </a:pPr>
            <a:endParaRPr lang="en-US" altLang="en-US" sz="2800">
              <a:latin typeface="Times New Roman" panose="02020603050405020304" pitchFamily="18" charset="0"/>
            </a:endParaRPr>
          </a:p>
        </p:txBody>
      </p:sp>
      <p:sp>
        <p:nvSpPr>
          <p:cNvPr id="2" name="Date Placeholder 1"/>
          <p:cNvSpPr>
            <a:spLocks noGrp="1"/>
          </p:cNvSpPr>
          <p:nvPr>
            <p:ph type="dt" sz="half" idx="10"/>
          </p:nvPr>
        </p:nvSpPr>
        <p:spPr/>
        <p:txBody>
          <a:bodyPr/>
          <a:lstStyle/>
          <a:p>
            <a:fld id="{F5DE9453-1F6E-4A9D-B4E1-A190AEDA0500}"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19</a:t>
            </a:fld>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a:bodyPr>
          <a:lstStyle/>
          <a:p>
            <a:r>
              <a:rPr lang="en-US" altLang="en-US">
                <a:latin typeface="Times New Roman" panose="02020603050405020304" pitchFamily="18" charset="0"/>
              </a:rPr>
              <a:t>A Simple Example- Some points</a:t>
            </a:r>
          </a:p>
        </p:txBody>
      </p:sp>
      <p:sp>
        <p:nvSpPr>
          <p:cNvPr id="29699" name="Rectangle 3"/>
          <p:cNvSpPr>
            <a:spLocks noGrp="1" noChangeArrowheads="1"/>
          </p:cNvSpPr>
          <p:nvPr>
            <p:ph idx="1"/>
          </p:nvPr>
        </p:nvSpPr>
        <p:spPr/>
        <p:txBody>
          <a:bodyPr/>
          <a:lstStyle/>
          <a:p>
            <a:pPr>
              <a:buFont typeface="Wingdings" panose="05000000000000000000" pitchFamily="2" charset="2"/>
              <a:buChar char="ü"/>
            </a:pPr>
            <a:r>
              <a:rPr lang="en-US" altLang="en-US" sz="2400">
                <a:latin typeface="Times New Roman" panose="02020603050405020304" pitchFamily="18" charset="0"/>
              </a:rPr>
              <a:t>new() is used to dynamically allocate memory for an object.</a:t>
            </a:r>
          </a:p>
          <a:p>
            <a:pPr>
              <a:buFont typeface="Wingdings" panose="05000000000000000000" pitchFamily="2" charset="2"/>
              <a:buChar char="ü"/>
            </a:pPr>
            <a:endParaRPr lang="en-US" altLang="en-US" sz="2400">
              <a:latin typeface="Times New Roman" panose="02020603050405020304" pitchFamily="18" charset="0"/>
            </a:endParaRPr>
          </a:p>
        </p:txBody>
      </p:sp>
      <p:sp>
        <p:nvSpPr>
          <p:cNvPr id="2" name="Date Placeholder 1"/>
          <p:cNvSpPr>
            <a:spLocks noGrp="1"/>
          </p:cNvSpPr>
          <p:nvPr>
            <p:ph type="dt" sz="half" idx="10"/>
          </p:nvPr>
        </p:nvSpPr>
        <p:spPr/>
        <p:txBody>
          <a:bodyPr/>
          <a:lstStyle/>
          <a:p>
            <a:fld id="{8C870C21-E102-42F5-B756-993F1E3ACCCA}"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20</a:t>
            </a:fld>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b="1">
                <a:latin typeface="Times New Roman" panose="02020603050405020304" pitchFamily="18" charset="0"/>
              </a:rPr>
              <a:t>A Closer Look at New</a:t>
            </a:r>
          </a:p>
        </p:txBody>
      </p:sp>
      <p:sp>
        <p:nvSpPr>
          <p:cNvPr id="26627" name="Rectangle 3"/>
          <p:cNvSpPr>
            <a:spLocks noGrp="1" noChangeArrowheads="1"/>
          </p:cNvSpPr>
          <p:nvPr>
            <p:ph idx="1"/>
          </p:nvPr>
        </p:nvSpPr>
        <p:spPr>
          <a:xfrm>
            <a:off x="457200" y="1600200"/>
            <a:ext cx="8382000" cy="4953000"/>
          </a:xfrm>
        </p:spPr>
        <p:txBody>
          <a:bodyPr/>
          <a:lstStyle/>
          <a:p>
            <a:pPr>
              <a:buFont typeface="Wingdings" panose="05000000000000000000" pitchFamily="2" charset="2"/>
              <a:buChar char="ü"/>
            </a:pPr>
            <a:r>
              <a:rPr lang="en-US" altLang="en-US" sz="2800">
                <a:latin typeface="Times New Roman" panose="02020603050405020304" pitchFamily="18" charset="0"/>
              </a:rPr>
              <a:t>Box mybox;	</a:t>
            </a:r>
          </a:p>
          <a:p>
            <a:pPr>
              <a:buFont typeface="Wingdings" panose="05000000000000000000" pitchFamily="2" charset="2"/>
              <a:buNone/>
            </a:pPr>
            <a:r>
              <a:rPr lang="en-US" altLang="en-US" sz="2800">
                <a:latin typeface="Times New Roman" panose="02020603050405020304" pitchFamily="18" charset="0"/>
              </a:rPr>
              <a:t>	mybox = new Box();</a:t>
            </a:r>
          </a:p>
          <a:p>
            <a:pPr>
              <a:buFont typeface="Wingdings" panose="05000000000000000000" pitchFamily="2" charset="2"/>
              <a:buNone/>
            </a:pPr>
            <a:endParaRPr lang="en-US" altLang="en-US" sz="2800">
              <a:latin typeface="Times New Roman" panose="02020603050405020304" pitchFamily="18" charset="0"/>
            </a:endParaRPr>
          </a:p>
          <a:p>
            <a:pPr>
              <a:buFont typeface="Wingdings" panose="05000000000000000000" pitchFamily="2" charset="2"/>
              <a:buNone/>
            </a:pPr>
            <a:endParaRPr lang="en-US" altLang="en-US" sz="2800">
              <a:latin typeface="Times New Roman" panose="02020603050405020304" pitchFamily="18" charset="0"/>
            </a:endParaRPr>
          </a:p>
          <a:p>
            <a:pPr>
              <a:buFont typeface="Wingdings" panose="05000000000000000000" pitchFamily="2" charset="2"/>
              <a:buNone/>
            </a:pPr>
            <a:endParaRPr lang="en-US" altLang="en-US" sz="2800">
              <a:latin typeface="Times New Roman" panose="02020603050405020304" pitchFamily="18" charset="0"/>
            </a:endParaRPr>
          </a:p>
          <a:p>
            <a:pPr>
              <a:buFont typeface="Wingdings" panose="05000000000000000000" pitchFamily="2" charset="2"/>
              <a:buNone/>
            </a:pPr>
            <a:endParaRPr lang="en-US" altLang="en-US" sz="2800">
              <a:latin typeface="Times New Roman" panose="02020603050405020304" pitchFamily="18" charset="0"/>
            </a:endParaRPr>
          </a:p>
          <a:p>
            <a:pPr>
              <a:buFont typeface="Wingdings" panose="05000000000000000000" pitchFamily="2" charset="2"/>
              <a:buNone/>
            </a:pPr>
            <a:endParaRPr lang="en-US" altLang="en-US" sz="2800">
              <a:latin typeface="Times New Roman" panose="02020603050405020304" pitchFamily="18" charset="0"/>
            </a:endParaRPr>
          </a:p>
          <a:p>
            <a:pPr>
              <a:buFont typeface="Wingdings" panose="05000000000000000000" pitchFamily="2" charset="2"/>
              <a:buChar char="ü"/>
            </a:pPr>
            <a:r>
              <a:rPr lang="en-US" altLang="en-US" sz="2800">
                <a:latin typeface="Times New Roman" panose="02020603050405020304" pitchFamily="18" charset="0"/>
              </a:rPr>
              <a:t>Box b1 = new Box();</a:t>
            </a:r>
          </a:p>
          <a:p>
            <a:pPr>
              <a:buFont typeface="Wingdings" panose="05000000000000000000" pitchFamily="2" charset="2"/>
              <a:buNone/>
            </a:pPr>
            <a:r>
              <a:rPr lang="en-US" altLang="en-US" sz="2800">
                <a:latin typeface="Times New Roman" panose="02020603050405020304" pitchFamily="18" charset="0"/>
              </a:rPr>
              <a:t>	Box b2 = b1;	</a:t>
            </a:r>
          </a:p>
        </p:txBody>
      </p:sp>
      <p:sp>
        <p:nvSpPr>
          <p:cNvPr id="2" name="Date Placeholder 1"/>
          <p:cNvSpPr>
            <a:spLocks noGrp="1"/>
          </p:cNvSpPr>
          <p:nvPr>
            <p:ph type="dt" sz="half" idx="10"/>
          </p:nvPr>
        </p:nvSpPr>
        <p:spPr/>
        <p:txBody>
          <a:bodyPr/>
          <a:lstStyle/>
          <a:p>
            <a:fld id="{09AF69B5-5A19-4FFD-875E-B965B61E8E98}"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21</a:t>
            </a:fld>
            <a:endParaRPr lang="en-US" altLang="en-US"/>
          </a:p>
        </p:txBody>
      </p:sp>
      <p:sp>
        <p:nvSpPr>
          <p:cNvPr id="26628" name="Rectangle 4"/>
          <p:cNvSpPr>
            <a:spLocks noChangeArrowheads="1"/>
          </p:cNvSpPr>
          <p:nvPr/>
        </p:nvSpPr>
        <p:spPr bwMode="auto">
          <a:xfrm>
            <a:off x="4800600" y="1752600"/>
            <a:ext cx="11430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latin typeface="Times New Roman" panose="02020603050405020304" pitchFamily="18" charset="0"/>
              </a:rPr>
              <a:t>null</a:t>
            </a:r>
          </a:p>
        </p:txBody>
      </p:sp>
      <p:sp>
        <p:nvSpPr>
          <p:cNvPr id="26629" name="Text Box 5"/>
          <p:cNvSpPr txBox="1">
            <a:spLocks noChangeArrowheads="1"/>
          </p:cNvSpPr>
          <p:nvPr/>
        </p:nvSpPr>
        <p:spPr bwMode="auto">
          <a:xfrm>
            <a:off x="6248400" y="1752600"/>
            <a:ext cx="106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a:latin typeface="Times New Roman" panose="02020603050405020304" pitchFamily="18" charset="0"/>
              </a:rPr>
              <a:t>mybox</a:t>
            </a:r>
          </a:p>
        </p:txBody>
      </p:sp>
      <p:sp>
        <p:nvSpPr>
          <p:cNvPr id="26630" name="Rectangle 6"/>
          <p:cNvSpPr>
            <a:spLocks noChangeArrowheads="1"/>
          </p:cNvSpPr>
          <p:nvPr/>
        </p:nvSpPr>
        <p:spPr bwMode="auto">
          <a:xfrm>
            <a:off x="4724400" y="2514600"/>
            <a:ext cx="11430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a:latin typeface="Times New Roman" panose="02020603050405020304" pitchFamily="18" charset="0"/>
            </a:endParaRPr>
          </a:p>
        </p:txBody>
      </p:sp>
      <p:sp>
        <p:nvSpPr>
          <p:cNvPr id="26631" name="Text Box 7"/>
          <p:cNvSpPr txBox="1">
            <a:spLocks noChangeArrowheads="1"/>
          </p:cNvSpPr>
          <p:nvPr/>
        </p:nvSpPr>
        <p:spPr bwMode="auto">
          <a:xfrm>
            <a:off x="4800600" y="3138488"/>
            <a:ext cx="1066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a:latin typeface="Times New Roman" panose="02020603050405020304" pitchFamily="18" charset="0"/>
              </a:rPr>
              <a:t>mybox</a:t>
            </a:r>
          </a:p>
        </p:txBody>
      </p:sp>
      <p:sp>
        <p:nvSpPr>
          <p:cNvPr id="26632" name="Rectangle 8"/>
          <p:cNvSpPr>
            <a:spLocks noChangeArrowheads="1"/>
          </p:cNvSpPr>
          <p:nvPr/>
        </p:nvSpPr>
        <p:spPr bwMode="auto">
          <a:xfrm>
            <a:off x="6324600" y="2514600"/>
            <a:ext cx="17526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latin typeface="Times New Roman" panose="02020603050405020304" pitchFamily="18" charset="0"/>
              </a:rPr>
              <a:t>Width</a:t>
            </a:r>
          </a:p>
        </p:txBody>
      </p:sp>
      <p:sp>
        <p:nvSpPr>
          <p:cNvPr id="26633" name="Rectangle 9"/>
          <p:cNvSpPr>
            <a:spLocks noChangeArrowheads="1"/>
          </p:cNvSpPr>
          <p:nvPr/>
        </p:nvSpPr>
        <p:spPr bwMode="auto">
          <a:xfrm>
            <a:off x="6324600" y="2971800"/>
            <a:ext cx="17526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latin typeface="Times New Roman" panose="02020603050405020304" pitchFamily="18" charset="0"/>
              </a:rPr>
              <a:t>Height</a:t>
            </a:r>
          </a:p>
        </p:txBody>
      </p:sp>
      <p:sp>
        <p:nvSpPr>
          <p:cNvPr id="26634" name="Rectangle 10"/>
          <p:cNvSpPr>
            <a:spLocks noChangeArrowheads="1"/>
          </p:cNvSpPr>
          <p:nvPr/>
        </p:nvSpPr>
        <p:spPr bwMode="auto">
          <a:xfrm>
            <a:off x="6324600" y="3429000"/>
            <a:ext cx="17526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latin typeface="Times New Roman" panose="02020603050405020304" pitchFamily="18" charset="0"/>
              </a:rPr>
              <a:t>Depth</a:t>
            </a:r>
          </a:p>
        </p:txBody>
      </p:sp>
      <p:sp>
        <p:nvSpPr>
          <p:cNvPr id="26635" name="Line 11"/>
          <p:cNvSpPr>
            <a:spLocks noChangeShapeType="1"/>
          </p:cNvSpPr>
          <p:nvPr/>
        </p:nvSpPr>
        <p:spPr bwMode="auto">
          <a:xfrm>
            <a:off x="5410200" y="2743200"/>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6" name="Line 12"/>
          <p:cNvSpPr>
            <a:spLocks noChangeShapeType="1"/>
          </p:cNvSpPr>
          <p:nvPr/>
        </p:nvSpPr>
        <p:spPr bwMode="auto">
          <a:xfrm flipV="1">
            <a:off x="2514600" y="2438400"/>
            <a:ext cx="11430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7" name="Text Box 13"/>
          <p:cNvSpPr txBox="1">
            <a:spLocks noChangeArrowheads="1"/>
          </p:cNvSpPr>
          <p:nvPr/>
        </p:nvSpPr>
        <p:spPr bwMode="auto">
          <a:xfrm>
            <a:off x="1143000" y="3505200"/>
            <a:ext cx="38862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a:latin typeface="Times New Roman" panose="02020603050405020304" pitchFamily="18" charset="0"/>
              </a:rPr>
              <a:t>Call to the default constructor defined by the compiler. It initializes the instance variables to 0.</a:t>
            </a:r>
          </a:p>
        </p:txBody>
      </p:sp>
      <p:sp>
        <p:nvSpPr>
          <p:cNvPr id="26638" name="Rectangle 14"/>
          <p:cNvSpPr>
            <a:spLocks noChangeArrowheads="1"/>
          </p:cNvSpPr>
          <p:nvPr/>
        </p:nvSpPr>
        <p:spPr bwMode="auto">
          <a:xfrm>
            <a:off x="6477000" y="4724400"/>
            <a:ext cx="17526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latin typeface="Times New Roman" panose="02020603050405020304" pitchFamily="18" charset="0"/>
              </a:rPr>
              <a:t>Width</a:t>
            </a:r>
          </a:p>
        </p:txBody>
      </p:sp>
      <p:sp>
        <p:nvSpPr>
          <p:cNvPr id="26639" name="Rectangle 15"/>
          <p:cNvSpPr>
            <a:spLocks noChangeArrowheads="1"/>
          </p:cNvSpPr>
          <p:nvPr/>
        </p:nvSpPr>
        <p:spPr bwMode="auto">
          <a:xfrm>
            <a:off x="6477000" y="5181600"/>
            <a:ext cx="17526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latin typeface="Times New Roman" panose="02020603050405020304" pitchFamily="18" charset="0"/>
              </a:rPr>
              <a:t>Height</a:t>
            </a:r>
          </a:p>
        </p:txBody>
      </p:sp>
      <p:sp>
        <p:nvSpPr>
          <p:cNvPr id="26640" name="Rectangle 16"/>
          <p:cNvSpPr>
            <a:spLocks noChangeArrowheads="1"/>
          </p:cNvSpPr>
          <p:nvPr/>
        </p:nvSpPr>
        <p:spPr bwMode="auto">
          <a:xfrm>
            <a:off x="6477000" y="5638800"/>
            <a:ext cx="17526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latin typeface="Times New Roman" panose="02020603050405020304" pitchFamily="18" charset="0"/>
              </a:rPr>
              <a:t>Depth</a:t>
            </a:r>
          </a:p>
        </p:txBody>
      </p:sp>
      <p:sp>
        <p:nvSpPr>
          <p:cNvPr id="26641" name="Rectangle 17"/>
          <p:cNvSpPr>
            <a:spLocks noChangeArrowheads="1"/>
          </p:cNvSpPr>
          <p:nvPr/>
        </p:nvSpPr>
        <p:spPr bwMode="auto">
          <a:xfrm>
            <a:off x="4724400" y="4419600"/>
            <a:ext cx="11430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a:latin typeface="Times New Roman" panose="02020603050405020304" pitchFamily="18" charset="0"/>
            </a:endParaRPr>
          </a:p>
        </p:txBody>
      </p:sp>
      <p:sp>
        <p:nvSpPr>
          <p:cNvPr id="26642" name="Rectangle 18"/>
          <p:cNvSpPr>
            <a:spLocks noChangeArrowheads="1"/>
          </p:cNvSpPr>
          <p:nvPr/>
        </p:nvSpPr>
        <p:spPr bwMode="auto">
          <a:xfrm>
            <a:off x="4648200" y="5181600"/>
            <a:ext cx="11430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a:latin typeface="Times New Roman" panose="02020603050405020304" pitchFamily="18" charset="0"/>
            </a:endParaRPr>
          </a:p>
        </p:txBody>
      </p:sp>
      <p:sp>
        <p:nvSpPr>
          <p:cNvPr id="26643" name="Text Box 19"/>
          <p:cNvSpPr txBox="1">
            <a:spLocks noChangeArrowheads="1"/>
          </p:cNvSpPr>
          <p:nvPr/>
        </p:nvSpPr>
        <p:spPr bwMode="auto">
          <a:xfrm>
            <a:off x="4038600" y="44196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a:latin typeface="Times New Roman" panose="02020603050405020304" pitchFamily="18" charset="0"/>
              </a:rPr>
              <a:t>b1</a:t>
            </a:r>
          </a:p>
        </p:txBody>
      </p:sp>
      <p:sp>
        <p:nvSpPr>
          <p:cNvPr id="26644" name="Text Box 20"/>
          <p:cNvSpPr txBox="1">
            <a:spLocks noChangeArrowheads="1"/>
          </p:cNvSpPr>
          <p:nvPr/>
        </p:nvSpPr>
        <p:spPr bwMode="auto">
          <a:xfrm>
            <a:off x="4038600" y="527208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a:latin typeface="Times New Roman" panose="02020603050405020304" pitchFamily="18" charset="0"/>
              </a:rPr>
              <a:t>b2</a:t>
            </a:r>
          </a:p>
        </p:txBody>
      </p:sp>
      <p:sp>
        <p:nvSpPr>
          <p:cNvPr id="26645" name="Line 21"/>
          <p:cNvSpPr>
            <a:spLocks noChangeShapeType="1"/>
          </p:cNvSpPr>
          <p:nvPr/>
        </p:nvSpPr>
        <p:spPr bwMode="auto">
          <a:xfrm flipV="1">
            <a:off x="5486400" y="5029200"/>
            <a:ext cx="9906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46" name="Line 22"/>
          <p:cNvSpPr>
            <a:spLocks noChangeShapeType="1"/>
          </p:cNvSpPr>
          <p:nvPr/>
        </p:nvSpPr>
        <p:spPr bwMode="auto">
          <a:xfrm>
            <a:off x="5562600" y="4648200"/>
            <a:ext cx="9144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noFill/>
          <a:ln/>
        </p:spPr>
        <p:txBody>
          <a:bodyPr lIns="92075" tIns="46038" rIns="92075" bIns="46038"/>
          <a:lstStyle/>
          <a:p>
            <a:r>
              <a:rPr lang="en-US" altLang="en-US" b="1">
                <a:latin typeface="Times New Roman" panose="02020603050405020304" pitchFamily="18" charset="0"/>
              </a:rPr>
              <a:t>References</a:t>
            </a:r>
          </a:p>
        </p:txBody>
      </p:sp>
      <p:sp>
        <p:nvSpPr>
          <p:cNvPr id="27651" name="Rectangle 3"/>
          <p:cNvSpPr>
            <a:spLocks noGrp="1" noChangeArrowheads="1"/>
          </p:cNvSpPr>
          <p:nvPr>
            <p:ph idx="1"/>
          </p:nvPr>
        </p:nvSpPr>
        <p:spPr>
          <a:xfrm>
            <a:off x="457200" y="1600200"/>
            <a:ext cx="8148638" cy="4414838"/>
          </a:xfrm>
          <a:noFill/>
          <a:ln/>
        </p:spPr>
        <p:txBody>
          <a:bodyPr lIns="92075" tIns="46038" rIns="92075" bIns="46038"/>
          <a:lstStyle/>
          <a:p>
            <a:pPr>
              <a:spcBef>
                <a:spcPct val="70000"/>
              </a:spcBef>
              <a:buFont typeface="Wingdings" panose="05000000000000000000" pitchFamily="2" charset="2"/>
              <a:buChar char="ü"/>
            </a:pPr>
            <a:r>
              <a:rPr lang="en-US" altLang="en-US" sz="2800">
                <a:latin typeface="Times New Roman" panose="02020603050405020304" pitchFamily="18" charset="0"/>
              </a:rPr>
              <a:t>An reference variable holds the memory address.</a:t>
            </a:r>
          </a:p>
          <a:p>
            <a:pPr>
              <a:spcBef>
                <a:spcPct val="70000"/>
              </a:spcBef>
              <a:buFont typeface="Wingdings" panose="05000000000000000000" pitchFamily="2" charset="2"/>
              <a:buChar char="ü"/>
            </a:pPr>
            <a:r>
              <a:rPr lang="en-US" altLang="en-US" sz="2800">
                <a:latin typeface="Times New Roman" panose="02020603050405020304" pitchFamily="18" charset="0"/>
              </a:rPr>
              <a:t>It is similar to the pointer.</a:t>
            </a:r>
          </a:p>
          <a:p>
            <a:pPr>
              <a:spcBef>
                <a:spcPct val="70000"/>
              </a:spcBef>
              <a:buFont typeface="Wingdings" panose="05000000000000000000" pitchFamily="2" charset="2"/>
              <a:buChar char="ü"/>
            </a:pPr>
            <a:r>
              <a:rPr lang="en-US" altLang="en-US" sz="2800">
                <a:latin typeface="Times New Roman" panose="02020603050405020304" pitchFamily="18" charset="0"/>
              </a:rPr>
              <a:t>Key difference- cannot manipulate as pointer– It point any arbitrary memory location or it cannot be manipulate like an integer.</a:t>
            </a:r>
          </a:p>
          <a:p>
            <a:pPr>
              <a:spcBef>
                <a:spcPct val="70000"/>
              </a:spcBef>
              <a:buFont typeface="Wingdings" panose="05000000000000000000" pitchFamily="2" charset="2"/>
              <a:buChar char="ü"/>
            </a:pPr>
            <a:endParaRPr lang="en-US" altLang="en-US" sz="2800">
              <a:latin typeface="Times New Roman" panose="02020603050405020304" pitchFamily="18" charset="0"/>
            </a:endParaRPr>
          </a:p>
        </p:txBody>
      </p:sp>
      <p:sp>
        <p:nvSpPr>
          <p:cNvPr id="2" name="Date Placeholder 1"/>
          <p:cNvSpPr>
            <a:spLocks noGrp="1"/>
          </p:cNvSpPr>
          <p:nvPr>
            <p:ph type="dt" sz="half" idx="10"/>
          </p:nvPr>
        </p:nvSpPr>
        <p:spPr/>
        <p:txBody>
          <a:bodyPr/>
          <a:lstStyle/>
          <a:p>
            <a:fld id="{D3565019-E589-4C45-95CC-AF87F52B5E94}"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22</a:t>
            </a:fld>
            <a:endParaRPr lang="en-US" alt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a:latin typeface="Times New Roman" panose="02020603050405020304" pitchFamily="18" charset="0"/>
              </a:rPr>
              <a:t>The null Reference</a:t>
            </a:r>
          </a:p>
        </p:txBody>
      </p:sp>
      <p:sp>
        <p:nvSpPr>
          <p:cNvPr id="28675" name="Rectangle 3"/>
          <p:cNvSpPr>
            <a:spLocks noGrp="1" noChangeArrowheads="1"/>
          </p:cNvSpPr>
          <p:nvPr>
            <p:ph idx="1"/>
          </p:nvPr>
        </p:nvSpPr>
        <p:spPr/>
        <p:txBody>
          <a:bodyPr>
            <a:normAutofit fontScale="92500"/>
          </a:bodyPr>
          <a:lstStyle/>
          <a:p>
            <a:pPr>
              <a:lnSpc>
                <a:spcPct val="90000"/>
              </a:lnSpc>
              <a:spcBef>
                <a:spcPct val="70000"/>
              </a:spcBef>
              <a:buFont typeface="Wingdings" panose="05000000000000000000" pitchFamily="2" charset="2"/>
              <a:buChar char="ü"/>
            </a:pPr>
            <a:r>
              <a:rPr lang="en-US" altLang="en-US" sz="2400">
                <a:latin typeface="Times New Roman" panose="02020603050405020304" pitchFamily="18" charset="0"/>
              </a:rPr>
              <a:t>An object reference variable that does not currently point to an object is called a </a:t>
            </a:r>
            <a:r>
              <a:rPr lang="en-US" altLang="en-US" sz="2400" i="1">
                <a:solidFill>
                  <a:srgbClr val="0000CC"/>
                </a:solidFill>
                <a:latin typeface="Times New Roman" panose="02020603050405020304" pitchFamily="18" charset="0"/>
              </a:rPr>
              <a:t>null reference</a:t>
            </a:r>
            <a:endParaRPr lang="en-US" altLang="en-US" sz="2400">
              <a:latin typeface="Times New Roman" panose="02020603050405020304" pitchFamily="18" charset="0"/>
            </a:endParaRPr>
          </a:p>
          <a:p>
            <a:pPr>
              <a:lnSpc>
                <a:spcPct val="90000"/>
              </a:lnSpc>
              <a:spcBef>
                <a:spcPct val="70000"/>
              </a:spcBef>
              <a:buFont typeface="Wingdings" panose="05000000000000000000" pitchFamily="2" charset="2"/>
              <a:buChar char="ü"/>
            </a:pPr>
            <a:r>
              <a:rPr lang="en-US" altLang="en-US" sz="2400">
                <a:latin typeface="Times New Roman" panose="02020603050405020304" pitchFamily="18" charset="0"/>
              </a:rPr>
              <a:t>The reserved word null can be used to explicitly set a null reference:</a:t>
            </a:r>
          </a:p>
          <a:p>
            <a:pPr>
              <a:lnSpc>
                <a:spcPct val="90000"/>
              </a:lnSpc>
              <a:spcBef>
                <a:spcPct val="70000"/>
              </a:spcBef>
              <a:buFont typeface="Wingdings" panose="05000000000000000000" pitchFamily="2" charset="2"/>
              <a:buNone/>
            </a:pPr>
            <a:r>
              <a:rPr lang="en-US" altLang="en-US" sz="2400">
                <a:latin typeface="Times New Roman" panose="02020603050405020304" pitchFamily="18" charset="0"/>
              </a:rPr>
              <a:t>     	name = null;</a:t>
            </a:r>
          </a:p>
          <a:p>
            <a:pPr>
              <a:lnSpc>
                <a:spcPct val="90000"/>
              </a:lnSpc>
              <a:spcBef>
                <a:spcPct val="75000"/>
              </a:spcBef>
              <a:buFont typeface="Wingdings" panose="05000000000000000000" pitchFamily="2" charset="2"/>
              <a:buChar char="ü"/>
            </a:pPr>
            <a:r>
              <a:rPr lang="en-US" altLang="en-US" sz="2000">
                <a:latin typeface="Times New Roman" panose="02020603050405020304" pitchFamily="18" charset="0"/>
              </a:rPr>
              <a:t>An object reference variable declared at the class level (an instance variable) is automatically initialized to null</a:t>
            </a:r>
          </a:p>
          <a:p>
            <a:pPr>
              <a:lnSpc>
                <a:spcPct val="90000"/>
              </a:lnSpc>
              <a:spcBef>
                <a:spcPct val="75000"/>
              </a:spcBef>
              <a:buFont typeface="Wingdings" panose="05000000000000000000" pitchFamily="2" charset="2"/>
              <a:buChar char="ü"/>
            </a:pPr>
            <a:r>
              <a:rPr lang="en-US" altLang="en-US" sz="2000">
                <a:latin typeface="Times New Roman" panose="02020603050405020304" pitchFamily="18" charset="0"/>
              </a:rPr>
              <a:t>The programmer must carefully ensure that an object reference variable refers to a valid object before it is used</a:t>
            </a:r>
          </a:p>
          <a:p>
            <a:pPr>
              <a:lnSpc>
                <a:spcPct val="90000"/>
              </a:lnSpc>
              <a:spcBef>
                <a:spcPct val="70000"/>
              </a:spcBef>
              <a:buFont typeface="Wingdings" panose="05000000000000000000" pitchFamily="2" charset="2"/>
              <a:buNone/>
            </a:pPr>
            <a:endParaRPr lang="en-US" altLang="en-US" sz="2400">
              <a:latin typeface="Times New Roman" panose="02020603050405020304" pitchFamily="18" charset="0"/>
            </a:endParaRPr>
          </a:p>
          <a:p>
            <a:pPr>
              <a:lnSpc>
                <a:spcPct val="90000"/>
              </a:lnSpc>
              <a:spcBef>
                <a:spcPct val="70000"/>
              </a:spcBef>
              <a:buFont typeface="Wingdings" panose="05000000000000000000" pitchFamily="2" charset="2"/>
              <a:buNone/>
            </a:pPr>
            <a:r>
              <a:rPr lang="en-US" altLang="en-US" sz="2400">
                <a:latin typeface="Times New Roman" panose="02020603050405020304" pitchFamily="18" charset="0"/>
              </a:rPr>
              <a:t>	</a:t>
            </a:r>
          </a:p>
        </p:txBody>
      </p:sp>
      <p:sp>
        <p:nvSpPr>
          <p:cNvPr id="2" name="Date Placeholder 1"/>
          <p:cNvSpPr>
            <a:spLocks noGrp="1"/>
          </p:cNvSpPr>
          <p:nvPr>
            <p:ph type="dt" sz="half" idx="10"/>
          </p:nvPr>
        </p:nvSpPr>
        <p:spPr/>
        <p:txBody>
          <a:bodyPr/>
          <a:lstStyle/>
          <a:p>
            <a:fld id="{BBE1C64C-1A5E-4F16-AF87-18977BB9227E}"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23</a:t>
            </a:fld>
            <a:endParaRPr lang="en-US" alt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a:latin typeface="Times New Roman" panose="02020603050405020304" pitchFamily="18" charset="0"/>
              </a:rPr>
              <a:t>Instance variables </a:t>
            </a:r>
          </a:p>
        </p:txBody>
      </p:sp>
      <p:sp>
        <p:nvSpPr>
          <p:cNvPr id="30723" name="Rectangle 3"/>
          <p:cNvSpPr>
            <a:spLocks noGrp="1" noChangeArrowheads="1"/>
          </p:cNvSpPr>
          <p:nvPr>
            <p:ph idx="1"/>
          </p:nvPr>
        </p:nvSpPr>
        <p:spPr/>
        <p:txBody>
          <a:bodyPr/>
          <a:lstStyle/>
          <a:p>
            <a:pPr>
              <a:lnSpc>
                <a:spcPct val="90000"/>
              </a:lnSpc>
              <a:buFont typeface="Wingdings" panose="05000000000000000000" pitchFamily="2" charset="2"/>
              <a:buChar char="ü"/>
            </a:pPr>
            <a:r>
              <a:rPr lang="en-US" altLang="en-US">
                <a:latin typeface="Times New Roman" panose="02020603050405020304" pitchFamily="18" charset="0"/>
              </a:rPr>
              <a:t>Default initialization</a:t>
            </a:r>
          </a:p>
          <a:p>
            <a:pPr lvl="1">
              <a:lnSpc>
                <a:spcPct val="90000"/>
              </a:lnSpc>
              <a:buFont typeface="Wingdings" panose="05000000000000000000" pitchFamily="2" charset="2"/>
              <a:buChar char="ü"/>
            </a:pPr>
            <a:r>
              <a:rPr lang="en-US" altLang="en-US">
                <a:latin typeface="Times New Roman" panose="02020603050405020304" pitchFamily="18" charset="0"/>
              </a:rPr>
              <a:t>If the variable is within a method, Java does NOT initialize it.</a:t>
            </a:r>
          </a:p>
          <a:p>
            <a:pPr lvl="1">
              <a:lnSpc>
                <a:spcPct val="90000"/>
              </a:lnSpc>
              <a:buFont typeface="Wingdings" panose="05000000000000000000" pitchFamily="2" charset="2"/>
              <a:buChar char="ü"/>
            </a:pPr>
            <a:r>
              <a:rPr lang="en-US" altLang="en-US">
                <a:latin typeface="Times New Roman" panose="02020603050405020304" pitchFamily="18" charset="0"/>
              </a:rPr>
              <a:t>If the variable is within a class, Java initializes it as follows:</a:t>
            </a:r>
          </a:p>
          <a:p>
            <a:pPr lvl="2">
              <a:lnSpc>
                <a:spcPct val="90000"/>
              </a:lnSpc>
              <a:buFont typeface="Wingdings" panose="05000000000000000000" pitchFamily="2" charset="2"/>
              <a:buChar char="ü"/>
            </a:pPr>
            <a:r>
              <a:rPr lang="en-US" altLang="en-US">
                <a:latin typeface="Times New Roman" panose="02020603050405020304" pitchFamily="18" charset="0"/>
              </a:rPr>
              <a:t>Numeric instance variables initialized to 0</a:t>
            </a:r>
          </a:p>
          <a:p>
            <a:pPr lvl="2">
              <a:lnSpc>
                <a:spcPct val="90000"/>
              </a:lnSpc>
              <a:buFont typeface="Wingdings" panose="05000000000000000000" pitchFamily="2" charset="2"/>
              <a:buChar char="ü"/>
            </a:pPr>
            <a:r>
              <a:rPr lang="en-US" altLang="en-US">
                <a:latin typeface="Times New Roman" panose="02020603050405020304" pitchFamily="18" charset="0"/>
              </a:rPr>
              <a:t>Logical instance variables initialized to false</a:t>
            </a:r>
          </a:p>
          <a:p>
            <a:pPr lvl="2">
              <a:lnSpc>
                <a:spcPct val="90000"/>
              </a:lnSpc>
              <a:buFont typeface="Wingdings" panose="05000000000000000000" pitchFamily="2" charset="2"/>
              <a:buChar char="ü"/>
            </a:pPr>
            <a:r>
              <a:rPr lang="en-US" altLang="en-US">
                <a:latin typeface="Times New Roman" panose="02020603050405020304" pitchFamily="18" charset="0"/>
              </a:rPr>
              <a:t>Object instance variables initialized to null</a:t>
            </a:r>
          </a:p>
        </p:txBody>
      </p:sp>
      <p:sp>
        <p:nvSpPr>
          <p:cNvPr id="2" name="Date Placeholder 1"/>
          <p:cNvSpPr>
            <a:spLocks noGrp="1"/>
          </p:cNvSpPr>
          <p:nvPr>
            <p:ph type="dt" sz="half" idx="10"/>
          </p:nvPr>
        </p:nvSpPr>
        <p:spPr/>
        <p:txBody>
          <a:bodyPr/>
          <a:lstStyle/>
          <a:p>
            <a:fld id="{95E0AE46-452B-4C4A-9E75-D16679601F13}"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24</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07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072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914400" y="277813"/>
            <a:ext cx="7924800" cy="636587"/>
          </a:xfrm>
        </p:spPr>
        <p:txBody>
          <a:bodyPr>
            <a:normAutofit fontScale="90000"/>
          </a:bodyPr>
          <a:lstStyle/>
          <a:p>
            <a:r>
              <a:rPr lang="en-US" altLang="en-US" sz="4000" b="1">
                <a:latin typeface="Times New Roman" panose="02020603050405020304" pitchFamily="18" charset="0"/>
              </a:rPr>
              <a:t>Import Statement</a:t>
            </a:r>
          </a:p>
        </p:txBody>
      </p:sp>
      <p:sp>
        <p:nvSpPr>
          <p:cNvPr id="31747" name="Rectangle 3"/>
          <p:cNvSpPr>
            <a:spLocks noGrp="1" noChangeArrowheads="1"/>
          </p:cNvSpPr>
          <p:nvPr>
            <p:ph idx="1"/>
          </p:nvPr>
        </p:nvSpPr>
        <p:spPr>
          <a:xfrm>
            <a:off x="914400" y="1066800"/>
            <a:ext cx="7772400" cy="5064125"/>
          </a:xfrm>
        </p:spPr>
        <p:txBody>
          <a:bodyPr>
            <a:normAutofit lnSpcReduction="10000"/>
          </a:bodyPr>
          <a:lstStyle/>
          <a:p>
            <a:pPr>
              <a:buFont typeface="Wingdings" panose="05000000000000000000" pitchFamily="2" charset="2"/>
              <a:buChar char="ü"/>
            </a:pPr>
            <a:r>
              <a:rPr lang="en-US" altLang="en-US" sz="2400">
                <a:latin typeface="Times New Roman" panose="02020603050405020304" pitchFamily="18" charset="0"/>
              </a:rPr>
              <a:t>A java package is a collection of related classes.</a:t>
            </a:r>
          </a:p>
          <a:p>
            <a:pPr>
              <a:buFont typeface="Wingdings" panose="05000000000000000000" pitchFamily="2" charset="2"/>
              <a:buChar char="ü"/>
            </a:pPr>
            <a:r>
              <a:rPr lang="en-US" altLang="en-US" sz="2400">
                <a:latin typeface="Times New Roman" panose="02020603050405020304" pitchFamily="18" charset="0"/>
              </a:rPr>
              <a:t>In order to access the available classes in the package, the program must specify the complete dot seperated package path.</a:t>
            </a:r>
          </a:p>
          <a:p>
            <a:pPr>
              <a:buFont typeface="Wingdings" panose="05000000000000000000" pitchFamily="2" charset="2"/>
              <a:buChar char="ü"/>
            </a:pPr>
            <a:r>
              <a:rPr lang="en-US" altLang="en-US" sz="2400">
                <a:latin typeface="Times New Roman" panose="02020603050405020304" pitchFamily="18" charset="0"/>
              </a:rPr>
              <a:t>The general format:</a:t>
            </a:r>
          </a:p>
          <a:p>
            <a:pPr>
              <a:buFont typeface="Wingdings" panose="05000000000000000000" pitchFamily="2" charset="2"/>
              <a:buNone/>
            </a:pPr>
            <a:r>
              <a:rPr lang="en-US" altLang="en-US" sz="2400">
                <a:latin typeface="Times New Roman" panose="02020603050405020304" pitchFamily="18" charset="0"/>
              </a:rPr>
              <a:t>	import package-level1.[package-level2.]classname|*</a:t>
            </a:r>
          </a:p>
          <a:p>
            <a:pPr>
              <a:buFont typeface="Wingdings" panose="05000000000000000000" pitchFamily="2" charset="2"/>
              <a:buChar char="ü"/>
            </a:pPr>
            <a:r>
              <a:rPr lang="en-US" altLang="en-US" sz="2400">
                <a:latin typeface="Times New Roman" panose="02020603050405020304" pitchFamily="18" charset="0"/>
              </a:rPr>
              <a:t> Two form of import statement:</a:t>
            </a:r>
          </a:p>
          <a:p>
            <a:pPr>
              <a:buFont typeface="Wingdings" panose="05000000000000000000" pitchFamily="2" charset="2"/>
              <a:buNone/>
            </a:pPr>
            <a:r>
              <a:rPr lang="en-US" altLang="en-US" sz="2400">
                <a:latin typeface="Times New Roman" panose="02020603050405020304" pitchFamily="18" charset="0"/>
              </a:rPr>
              <a:t>	1. import.package.class;</a:t>
            </a:r>
          </a:p>
          <a:p>
            <a:pPr>
              <a:buFont typeface="Wingdings" panose="05000000000000000000" pitchFamily="2" charset="2"/>
              <a:buNone/>
            </a:pPr>
            <a:r>
              <a:rPr lang="en-US" altLang="en-US" sz="2400">
                <a:latin typeface="Times New Roman" panose="02020603050405020304" pitchFamily="18" charset="0"/>
              </a:rPr>
              <a:t>	2. import package.*;</a:t>
            </a:r>
          </a:p>
          <a:p>
            <a:pPr>
              <a:buFont typeface="Wingdings" panose="05000000000000000000" pitchFamily="2" charset="2"/>
              <a:buNone/>
            </a:pPr>
            <a:r>
              <a:rPr lang="en-US" altLang="en-US" sz="2400">
                <a:latin typeface="Times New Roman" panose="02020603050405020304" pitchFamily="18" charset="0"/>
              </a:rPr>
              <a:t>Example:</a:t>
            </a:r>
          </a:p>
          <a:p>
            <a:pPr>
              <a:buFont typeface="Wingdings" panose="05000000000000000000" pitchFamily="2" charset="2"/>
              <a:buNone/>
            </a:pPr>
            <a:r>
              <a:rPr lang="en-US" altLang="en-US" sz="2400">
                <a:latin typeface="Times New Roman" panose="02020603050405020304" pitchFamily="18" charset="0"/>
              </a:rPr>
              <a:t>import java.util.Scanner;</a:t>
            </a:r>
          </a:p>
          <a:p>
            <a:pPr>
              <a:buFont typeface="Wingdings" panose="05000000000000000000" pitchFamily="2" charset="2"/>
              <a:buNone/>
            </a:pPr>
            <a:r>
              <a:rPr lang="en-US" altLang="en-US" sz="2400">
                <a:latin typeface="Times New Roman" panose="02020603050405020304" pitchFamily="18" charset="0"/>
              </a:rPr>
              <a:t>import java.util.*;</a:t>
            </a:r>
          </a:p>
        </p:txBody>
      </p:sp>
      <p:sp>
        <p:nvSpPr>
          <p:cNvPr id="2" name="Date Placeholder 1"/>
          <p:cNvSpPr>
            <a:spLocks noGrp="1"/>
          </p:cNvSpPr>
          <p:nvPr>
            <p:ph type="dt" sz="half" idx="10"/>
          </p:nvPr>
        </p:nvSpPr>
        <p:spPr/>
        <p:txBody>
          <a:bodyPr/>
          <a:lstStyle/>
          <a:p>
            <a:fld id="{A74C6468-D084-421C-9201-D77E435AF244}"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25</a:t>
            </a:fld>
            <a:endParaRPr lang="en-US" altLang="en-US"/>
          </a:p>
        </p:txBody>
      </p:sp>
    </p:spTree>
    <p:extLst>
      <p:ext uri="{BB962C8B-B14F-4D97-AF65-F5344CB8AC3E}">
        <p14:creationId xmlns:p14="http://schemas.microsoft.com/office/powerpoint/2010/main" val="9494645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en-US" b="1">
                <a:latin typeface="Times New Roman" panose="02020603050405020304" pitchFamily="18" charset="0"/>
              </a:rPr>
              <a:t>Example</a:t>
            </a:r>
          </a:p>
        </p:txBody>
      </p:sp>
      <p:sp>
        <p:nvSpPr>
          <p:cNvPr id="32772" name="Rectangle 4"/>
          <p:cNvSpPr>
            <a:spLocks noGrp="1" noChangeArrowheads="1"/>
          </p:cNvSpPr>
          <p:nvPr>
            <p:ph sz="half" idx="1"/>
          </p:nvPr>
        </p:nvSpPr>
        <p:spPr>
          <a:xfrm>
            <a:off x="457200" y="1600200"/>
            <a:ext cx="4195763" cy="4110038"/>
          </a:xfrm>
        </p:spPr>
        <p:txBody>
          <a:bodyPr>
            <a:normAutofit lnSpcReduction="10000"/>
          </a:bodyPr>
          <a:lstStyle/>
          <a:p>
            <a:pPr>
              <a:lnSpc>
                <a:spcPct val="80000"/>
              </a:lnSpc>
              <a:buFontTx/>
              <a:buNone/>
            </a:pPr>
            <a:r>
              <a:rPr lang="en-US" altLang="en-US" sz="1600">
                <a:latin typeface="Times New Roman" panose="02020603050405020304" pitchFamily="18" charset="0"/>
              </a:rPr>
              <a:t>import java.util.Random;</a:t>
            </a:r>
          </a:p>
          <a:p>
            <a:pPr>
              <a:lnSpc>
                <a:spcPct val="80000"/>
              </a:lnSpc>
              <a:buFontTx/>
              <a:buNone/>
            </a:pPr>
            <a:endParaRPr lang="en-US" altLang="en-US" sz="1600">
              <a:latin typeface="Times New Roman" panose="02020603050405020304" pitchFamily="18" charset="0"/>
            </a:endParaRPr>
          </a:p>
          <a:p>
            <a:pPr>
              <a:lnSpc>
                <a:spcPct val="80000"/>
              </a:lnSpc>
              <a:buFontTx/>
              <a:buNone/>
            </a:pPr>
            <a:r>
              <a:rPr lang="en-US" altLang="en-US" sz="1600">
                <a:latin typeface="Times New Roman" panose="02020603050405020304" pitchFamily="18" charset="0"/>
              </a:rPr>
              <a:t>class random</a:t>
            </a:r>
          </a:p>
          <a:p>
            <a:pPr>
              <a:lnSpc>
                <a:spcPct val="80000"/>
              </a:lnSpc>
              <a:buFontTx/>
              <a:buNone/>
            </a:pPr>
            <a:r>
              <a:rPr lang="en-US" altLang="en-US" sz="1600">
                <a:latin typeface="Times New Roman" panose="02020603050405020304" pitchFamily="18" charset="0"/>
              </a:rPr>
              <a:t>{</a:t>
            </a:r>
          </a:p>
          <a:p>
            <a:pPr>
              <a:lnSpc>
                <a:spcPct val="80000"/>
              </a:lnSpc>
              <a:buFontTx/>
              <a:buNone/>
            </a:pPr>
            <a:r>
              <a:rPr lang="en-US" altLang="en-US" sz="1600">
                <a:latin typeface="Times New Roman" panose="02020603050405020304" pitchFamily="18" charset="0"/>
              </a:rPr>
              <a:t>        public static void main(String args[])</a:t>
            </a:r>
          </a:p>
          <a:p>
            <a:pPr>
              <a:lnSpc>
                <a:spcPct val="80000"/>
              </a:lnSpc>
              <a:buFontTx/>
              <a:buNone/>
            </a:pPr>
            <a:r>
              <a:rPr lang="en-US" altLang="en-US" sz="1600">
                <a:latin typeface="Times New Roman" panose="02020603050405020304" pitchFamily="18" charset="0"/>
              </a:rPr>
              <a:t>        {</a:t>
            </a:r>
          </a:p>
          <a:p>
            <a:pPr>
              <a:lnSpc>
                <a:spcPct val="80000"/>
              </a:lnSpc>
              <a:buFontTx/>
              <a:buNone/>
            </a:pPr>
            <a:r>
              <a:rPr lang="en-US" altLang="en-US" sz="1600">
                <a:latin typeface="Times New Roman" panose="02020603050405020304" pitchFamily="18" charset="0"/>
              </a:rPr>
              <a:t>                Random r = new Random();</a:t>
            </a:r>
          </a:p>
          <a:p>
            <a:pPr>
              <a:lnSpc>
                <a:spcPct val="80000"/>
              </a:lnSpc>
              <a:buFontTx/>
              <a:buNone/>
            </a:pPr>
            <a:r>
              <a:rPr lang="en-US" altLang="en-US" sz="1600">
                <a:latin typeface="Times New Roman" panose="02020603050405020304" pitchFamily="18" charset="0"/>
              </a:rPr>
              <a:t>                int i;</a:t>
            </a:r>
          </a:p>
          <a:p>
            <a:pPr>
              <a:lnSpc>
                <a:spcPct val="80000"/>
              </a:lnSpc>
              <a:buFontTx/>
              <a:buNone/>
            </a:pPr>
            <a:r>
              <a:rPr lang="en-US" altLang="en-US" sz="1600">
                <a:latin typeface="Times New Roman" panose="02020603050405020304" pitchFamily="18" charset="0"/>
              </a:rPr>
              <a:t>                float v;</a:t>
            </a:r>
          </a:p>
          <a:p>
            <a:pPr>
              <a:lnSpc>
                <a:spcPct val="80000"/>
              </a:lnSpc>
              <a:buFontTx/>
              <a:buNone/>
            </a:pPr>
            <a:endParaRPr lang="en-US" altLang="en-US" sz="1600">
              <a:latin typeface="Times New Roman" panose="02020603050405020304" pitchFamily="18" charset="0"/>
            </a:endParaRPr>
          </a:p>
          <a:p>
            <a:pPr>
              <a:lnSpc>
                <a:spcPct val="80000"/>
              </a:lnSpc>
              <a:buFontTx/>
              <a:buNone/>
            </a:pPr>
            <a:r>
              <a:rPr lang="en-US" altLang="en-US" sz="1600">
                <a:latin typeface="Times New Roman" panose="02020603050405020304" pitchFamily="18" charset="0"/>
              </a:rPr>
              <a:t>                for(i=0;i&lt;5;i++)</a:t>
            </a:r>
          </a:p>
          <a:p>
            <a:pPr>
              <a:lnSpc>
                <a:spcPct val="80000"/>
              </a:lnSpc>
              <a:buFontTx/>
              <a:buNone/>
            </a:pPr>
            <a:r>
              <a:rPr lang="en-US" altLang="en-US" sz="1600">
                <a:latin typeface="Times New Roman" panose="02020603050405020304" pitchFamily="18" charset="0"/>
              </a:rPr>
              <a:t>                {</a:t>
            </a:r>
          </a:p>
          <a:p>
            <a:pPr>
              <a:lnSpc>
                <a:spcPct val="80000"/>
              </a:lnSpc>
              <a:buFontTx/>
              <a:buNone/>
            </a:pPr>
            <a:r>
              <a:rPr lang="en-US" altLang="en-US" sz="1600">
                <a:latin typeface="Times New Roman" panose="02020603050405020304" pitchFamily="18" charset="0"/>
              </a:rPr>
              <a:t>                        v=r.nextFloat();</a:t>
            </a:r>
          </a:p>
          <a:p>
            <a:pPr>
              <a:lnSpc>
                <a:spcPct val="80000"/>
              </a:lnSpc>
              <a:buFontTx/>
              <a:buNone/>
            </a:pPr>
            <a:r>
              <a:rPr lang="en-US" altLang="en-US" sz="1600">
                <a:latin typeface="Times New Roman" panose="02020603050405020304" pitchFamily="18" charset="0"/>
              </a:rPr>
              <a:t>                        System.out.println(v);</a:t>
            </a:r>
          </a:p>
          <a:p>
            <a:pPr>
              <a:lnSpc>
                <a:spcPct val="80000"/>
              </a:lnSpc>
              <a:buFontTx/>
              <a:buNone/>
            </a:pPr>
            <a:r>
              <a:rPr lang="en-US" altLang="en-US" sz="1600">
                <a:latin typeface="Times New Roman" panose="02020603050405020304" pitchFamily="18" charset="0"/>
              </a:rPr>
              <a:t>                }</a:t>
            </a:r>
          </a:p>
          <a:p>
            <a:pPr>
              <a:lnSpc>
                <a:spcPct val="80000"/>
              </a:lnSpc>
              <a:buFontTx/>
              <a:buNone/>
            </a:pPr>
            <a:r>
              <a:rPr lang="en-US" altLang="en-US" sz="1600">
                <a:latin typeface="Times New Roman" panose="02020603050405020304" pitchFamily="18" charset="0"/>
              </a:rPr>
              <a:t>        }</a:t>
            </a:r>
          </a:p>
          <a:p>
            <a:pPr>
              <a:lnSpc>
                <a:spcPct val="80000"/>
              </a:lnSpc>
              <a:buFontTx/>
              <a:buNone/>
            </a:pPr>
            <a:r>
              <a:rPr lang="en-US" altLang="en-US" sz="1600">
                <a:latin typeface="Times New Roman" panose="02020603050405020304" pitchFamily="18" charset="0"/>
              </a:rPr>
              <a:t>}</a:t>
            </a:r>
          </a:p>
          <a:p>
            <a:pPr>
              <a:lnSpc>
                <a:spcPct val="80000"/>
              </a:lnSpc>
              <a:buFontTx/>
              <a:buNone/>
            </a:pPr>
            <a:endParaRPr lang="en-US" altLang="en-US" sz="1600">
              <a:latin typeface="Times New Roman" panose="02020603050405020304" pitchFamily="18" charset="0"/>
            </a:endParaRPr>
          </a:p>
        </p:txBody>
      </p:sp>
      <p:sp>
        <p:nvSpPr>
          <p:cNvPr id="32773" name="Rectangle 5"/>
          <p:cNvSpPr>
            <a:spLocks noGrp="1" noChangeArrowheads="1"/>
          </p:cNvSpPr>
          <p:nvPr>
            <p:ph sz="half" idx="2"/>
          </p:nvPr>
        </p:nvSpPr>
        <p:spPr>
          <a:xfrm>
            <a:off x="4652963" y="1600200"/>
            <a:ext cx="4033837" cy="4525963"/>
          </a:xfrm>
        </p:spPr>
        <p:txBody>
          <a:bodyPr>
            <a:normAutofit lnSpcReduction="10000"/>
          </a:bodyPr>
          <a:lstStyle/>
          <a:p>
            <a:pPr>
              <a:lnSpc>
                <a:spcPct val="80000"/>
              </a:lnSpc>
              <a:buFontTx/>
              <a:buNone/>
            </a:pPr>
            <a:r>
              <a:rPr lang="en-US" altLang="en-US" sz="1600" b="1" u="sng">
                <a:latin typeface="Times New Roman" panose="02020603050405020304" pitchFamily="18" charset="0"/>
              </a:rPr>
              <a:t>Output:</a:t>
            </a:r>
          </a:p>
        </p:txBody>
      </p:sp>
      <p:sp>
        <p:nvSpPr>
          <p:cNvPr id="2" name="Date Placeholder 1"/>
          <p:cNvSpPr>
            <a:spLocks noGrp="1"/>
          </p:cNvSpPr>
          <p:nvPr>
            <p:ph type="dt" sz="half" idx="10"/>
          </p:nvPr>
        </p:nvSpPr>
        <p:spPr/>
        <p:txBody>
          <a:bodyPr/>
          <a:lstStyle/>
          <a:p>
            <a:fld id="{D6977BF7-7342-49F9-A52E-F2CE99CA7922}"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2FB82382-93C2-4C36-A888-0CA1776CB574}" type="slidenum">
              <a:rPr lang="en-US" altLang="en-US" smtClean="0"/>
              <a:pPr/>
              <a:t>26</a:t>
            </a:fld>
            <a:endParaRPr lang="en-US" altLang="en-US"/>
          </a:p>
        </p:txBody>
      </p:sp>
      <p:pic>
        <p:nvPicPr>
          <p:cNvPr id="3277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2362200"/>
            <a:ext cx="3200400" cy="1622425"/>
          </a:xfrm>
          <a:prstGeom prst="rect">
            <a:avLst/>
          </a:prstGeom>
          <a:noFill/>
          <a:extLst>
            <a:ext uri="{909E8E84-426E-40DD-AFC4-6F175D3DCCD1}">
              <a14:hiddenFill xmlns:a14="http://schemas.microsoft.com/office/drawing/2010/main">
                <a:solidFill>
                  <a:srgbClr val="FFFFFF"/>
                </a:solidFill>
              </a14:hiddenFill>
            </a:ext>
          </a:extLst>
        </p:spPr>
      </p:pic>
      <p:sp>
        <p:nvSpPr>
          <p:cNvPr id="32775" name="Rectangle 7"/>
          <p:cNvSpPr>
            <a:spLocks noChangeArrowheads="1"/>
          </p:cNvSpPr>
          <p:nvPr/>
        </p:nvSpPr>
        <p:spPr bwMode="auto">
          <a:xfrm>
            <a:off x="762000" y="5257800"/>
            <a:ext cx="8077200" cy="9144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buFont typeface="Wingdings" panose="05000000000000000000" pitchFamily="2" charset="2"/>
              <a:buChar char="ü"/>
            </a:pPr>
            <a:r>
              <a:rPr lang="en-US" altLang="en-US">
                <a:latin typeface="Times New Roman" panose="02020603050405020304" pitchFamily="18" charset="0"/>
              </a:rPr>
              <a:t>java.lang in automatically imported with every java program.</a:t>
            </a:r>
          </a:p>
          <a:p>
            <a:pPr algn="ctr">
              <a:buFont typeface="Wingdings" panose="05000000000000000000" pitchFamily="2" charset="2"/>
              <a:buChar char="ü"/>
            </a:pPr>
            <a:r>
              <a:rPr lang="en-US" altLang="en-US">
                <a:latin typeface="Times New Roman" panose="02020603050405020304" pitchFamily="18" charset="0"/>
              </a:rPr>
              <a:t>System.out.println() belongs to java.lang.</a:t>
            </a:r>
          </a:p>
        </p:txBody>
      </p:sp>
    </p:spTree>
    <p:extLst>
      <p:ext uri="{BB962C8B-B14F-4D97-AF65-F5344CB8AC3E}">
        <p14:creationId xmlns:p14="http://schemas.microsoft.com/office/powerpoint/2010/main" val="1448556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274638"/>
            <a:ext cx="8229600" cy="792162"/>
          </a:xfrm>
        </p:spPr>
        <p:txBody>
          <a:bodyPr>
            <a:normAutofit/>
          </a:bodyPr>
          <a:lstStyle/>
          <a:p>
            <a:r>
              <a:rPr lang="en-US" altLang="en-US" b="1">
                <a:latin typeface="Times New Roman" panose="02020603050405020304" pitchFamily="18" charset="0"/>
              </a:rPr>
              <a:t>Predefined Stream</a:t>
            </a:r>
          </a:p>
        </p:txBody>
      </p:sp>
      <p:sp>
        <p:nvSpPr>
          <p:cNvPr id="17411" name="Rectangle 3"/>
          <p:cNvSpPr>
            <a:spLocks noGrp="1" noChangeArrowheads="1"/>
          </p:cNvSpPr>
          <p:nvPr>
            <p:ph idx="1"/>
          </p:nvPr>
        </p:nvSpPr>
        <p:spPr>
          <a:xfrm>
            <a:off x="457200" y="1371600"/>
            <a:ext cx="8382000" cy="5029200"/>
          </a:xfrm>
        </p:spPr>
        <p:txBody>
          <a:bodyPr/>
          <a:lstStyle/>
          <a:p>
            <a:pPr>
              <a:buFontTx/>
              <a:buNone/>
            </a:pPr>
            <a:r>
              <a:rPr lang="en-US" altLang="en-US" sz="2400" b="1" u="sng">
                <a:latin typeface="Times New Roman" panose="02020603050405020304" pitchFamily="18" charset="0"/>
              </a:rPr>
              <a:t>Stream:</a:t>
            </a:r>
          </a:p>
          <a:p>
            <a:pPr>
              <a:buFontTx/>
              <a:buNone/>
            </a:pPr>
            <a:r>
              <a:rPr lang="en-US" altLang="en-US" sz="2400">
                <a:latin typeface="Times New Roman" panose="02020603050405020304" pitchFamily="18" charset="0"/>
              </a:rPr>
              <a:t>-A stream is an abstraction that either produces or consumes information.</a:t>
            </a:r>
          </a:p>
          <a:p>
            <a:pPr>
              <a:buFontTx/>
              <a:buNone/>
            </a:pPr>
            <a:r>
              <a:rPr lang="en-US" altLang="en-US" sz="2400">
                <a:latin typeface="Times New Roman" panose="02020603050405020304" pitchFamily="18" charset="0"/>
              </a:rPr>
              <a:t>-It is linked to a physical device by a java I/O system.</a:t>
            </a:r>
          </a:p>
          <a:p>
            <a:pPr>
              <a:buFontTx/>
              <a:buNone/>
            </a:pPr>
            <a:r>
              <a:rPr lang="en-US" altLang="en-US" sz="2400">
                <a:latin typeface="Times New Roman" panose="02020603050405020304" pitchFamily="18" charset="0"/>
              </a:rPr>
              <a:t>-The hide the details of the physical device to which they are connected.</a:t>
            </a:r>
          </a:p>
          <a:p>
            <a:pPr>
              <a:buFontTx/>
              <a:buNone/>
            </a:pPr>
            <a:r>
              <a:rPr lang="en-US" altLang="en-US" sz="2400" b="1" u="sng">
                <a:latin typeface="Times New Roman" panose="02020603050405020304" pitchFamily="18" charset="0"/>
              </a:rPr>
              <a:t>System:</a:t>
            </a:r>
          </a:p>
          <a:p>
            <a:pPr>
              <a:buFontTx/>
              <a:buNone/>
            </a:pPr>
            <a:r>
              <a:rPr lang="en-US" altLang="en-US" sz="2400">
                <a:latin typeface="Times New Roman" panose="02020603050405020304" pitchFamily="18" charset="0"/>
              </a:rPr>
              <a:t>-System is a predefined class included in the package </a:t>
            </a:r>
            <a:r>
              <a:rPr lang="en-US" altLang="en-US" sz="2400" b="1">
                <a:latin typeface="Times New Roman" panose="02020603050405020304" pitchFamily="18" charset="0"/>
              </a:rPr>
              <a:t>java.lang. </a:t>
            </a:r>
            <a:r>
              <a:rPr lang="en-US" altLang="en-US" sz="2400">
                <a:latin typeface="Times New Roman" panose="02020603050405020304" pitchFamily="18" charset="0"/>
              </a:rPr>
              <a:t>(Imported automatically by all java programs).</a:t>
            </a:r>
          </a:p>
          <a:p>
            <a:pPr>
              <a:buFontTx/>
              <a:buNone/>
            </a:pPr>
            <a:r>
              <a:rPr lang="en-US" altLang="en-US" sz="2400">
                <a:latin typeface="Times New Roman" panose="02020603050405020304" pitchFamily="18" charset="0"/>
              </a:rPr>
              <a:t>-It includes three predefined stream variables:</a:t>
            </a:r>
          </a:p>
          <a:p>
            <a:pPr>
              <a:buFontTx/>
              <a:buNone/>
            </a:pPr>
            <a:r>
              <a:rPr lang="en-US" altLang="en-US" sz="2400">
                <a:latin typeface="Times New Roman" panose="02020603050405020304" pitchFamily="18" charset="0"/>
              </a:rPr>
              <a:t>	1. in   2. out.   3. err</a:t>
            </a:r>
            <a:endParaRPr lang="en-US" altLang="en-US" sz="2400" b="1">
              <a:latin typeface="Times New Roman" panose="02020603050405020304" pitchFamily="18" charset="0"/>
            </a:endParaRPr>
          </a:p>
        </p:txBody>
      </p:sp>
      <p:sp>
        <p:nvSpPr>
          <p:cNvPr id="2" name="Date Placeholder 1"/>
          <p:cNvSpPr>
            <a:spLocks noGrp="1"/>
          </p:cNvSpPr>
          <p:nvPr>
            <p:ph type="dt" sz="half" idx="10"/>
          </p:nvPr>
        </p:nvSpPr>
        <p:spPr/>
        <p:txBody>
          <a:bodyPr/>
          <a:lstStyle/>
          <a:p>
            <a:fld id="{CCF16F1A-40A6-4463-8C62-4CD1F169E398}"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27</a:t>
            </a:fld>
            <a:endParaRPr lang="en-US" altLang="en-US"/>
          </a:p>
        </p:txBody>
      </p:sp>
    </p:spTree>
    <p:extLst>
      <p:ext uri="{BB962C8B-B14F-4D97-AF65-F5344CB8AC3E}">
        <p14:creationId xmlns:p14="http://schemas.microsoft.com/office/powerpoint/2010/main" val="3983248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76200"/>
            <a:ext cx="8229600" cy="1143000"/>
          </a:xfrm>
        </p:spPr>
        <p:txBody>
          <a:bodyPr/>
          <a:lstStyle/>
          <a:p>
            <a:r>
              <a:rPr lang="en-US" altLang="en-US" b="1">
                <a:latin typeface="Times New Roman" panose="02020603050405020304" pitchFamily="18" charset="0"/>
              </a:rPr>
              <a:t>The Predefined Streams</a:t>
            </a:r>
          </a:p>
        </p:txBody>
      </p:sp>
      <p:sp>
        <p:nvSpPr>
          <p:cNvPr id="18435" name="Rectangle 3"/>
          <p:cNvSpPr>
            <a:spLocks noGrp="1" noChangeArrowheads="1"/>
          </p:cNvSpPr>
          <p:nvPr>
            <p:ph idx="1"/>
          </p:nvPr>
        </p:nvSpPr>
        <p:spPr>
          <a:xfrm>
            <a:off x="457200" y="1219200"/>
            <a:ext cx="8305800" cy="4800600"/>
          </a:xfrm>
        </p:spPr>
        <p:txBody>
          <a:bodyPr>
            <a:normAutofit lnSpcReduction="10000"/>
          </a:bodyPr>
          <a:lstStyle/>
          <a:p>
            <a:pPr marL="533400" indent="-533400">
              <a:lnSpc>
                <a:spcPct val="90000"/>
              </a:lnSpc>
              <a:buFont typeface="Wingdings" panose="05000000000000000000" pitchFamily="2" charset="2"/>
              <a:buAutoNum type="arabicPeriod"/>
            </a:pPr>
            <a:r>
              <a:rPr lang="en-US" altLang="en-US" sz="2400" b="1" u="sng">
                <a:latin typeface="Times New Roman" panose="02020603050405020304" pitchFamily="18" charset="0"/>
              </a:rPr>
              <a:t>System.out:</a:t>
            </a:r>
            <a:r>
              <a:rPr lang="en-US" altLang="en-US" sz="2400">
                <a:latin typeface="Times New Roman" panose="02020603050405020304" pitchFamily="18" charset="0"/>
              </a:rPr>
              <a:t> refers to the standard output stream. It is an object of type PrintStream.</a:t>
            </a:r>
          </a:p>
          <a:p>
            <a:pPr marL="533400" indent="-533400">
              <a:lnSpc>
                <a:spcPct val="90000"/>
              </a:lnSpc>
              <a:buFont typeface="Wingdings" panose="05000000000000000000" pitchFamily="2" charset="2"/>
              <a:buAutoNum type="arabicPeriod"/>
            </a:pPr>
            <a:r>
              <a:rPr lang="en-US" altLang="en-US" sz="2400" b="1" u="sng">
                <a:latin typeface="Times New Roman" panose="02020603050405020304" pitchFamily="18" charset="0"/>
              </a:rPr>
              <a:t>System.in:</a:t>
            </a:r>
            <a:r>
              <a:rPr lang="en-US" altLang="en-US" sz="2400">
                <a:latin typeface="Times New Roman" panose="02020603050405020304" pitchFamily="18" charset="0"/>
              </a:rPr>
              <a:t> refers to the standard input stream. It is an object of type InputStream.</a:t>
            </a:r>
          </a:p>
          <a:p>
            <a:pPr marL="533400" indent="-533400">
              <a:lnSpc>
                <a:spcPct val="90000"/>
              </a:lnSpc>
              <a:buFont typeface="Wingdings" panose="05000000000000000000" pitchFamily="2" charset="2"/>
              <a:buAutoNum type="arabicPeriod"/>
            </a:pPr>
            <a:r>
              <a:rPr lang="en-US" altLang="en-US" sz="2400" b="1" u="sng">
                <a:latin typeface="Times New Roman" panose="02020603050405020304" pitchFamily="18" charset="0"/>
              </a:rPr>
              <a:t>System.err: </a:t>
            </a:r>
            <a:r>
              <a:rPr lang="en-US" altLang="en-US" sz="2400">
                <a:latin typeface="Times New Roman" panose="02020603050405020304" pitchFamily="18" charset="0"/>
              </a:rPr>
              <a:t>refers to the standard error stream. It is an object of type PrintStream.</a:t>
            </a:r>
          </a:p>
          <a:p>
            <a:pPr marL="533400" indent="-533400">
              <a:lnSpc>
                <a:spcPct val="90000"/>
              </a:lnSpc>
              <a:buFont typeface="Wingdings" panose="05000000000000000000" pitchFamily="2" charset="2"/>
              <a:buNone/>
            </a:pPr>
            <a:r>
              <a:rPr lang="en-US" altLang="en-US" sz="2400">
                <a:latin typeface="Times New Roman" panose="02020603050405020304" pitchFamily="18" charset="0"/>
              </a:rPr>
              <a:t>Note: they are defined as </a:t>
            </a:r>
            <a:r>
              <a:rPr lang="en-US" altLang="en-US" sz="2400" b="1">
                <a:latin typeface="Times New Roman" panose="02020603050405020304" pitchFamily="18" charset="0"/>
              </a:rPr>
              <a:t>public</a:t>
            </a:r>
            <a:r>
              <a:rPr lang="en-US" altLang="en-US" sz="2400">
                <a:latin typeface="Times New Roman" panose="02020603050405020304" pitchFamily="18" charset="0"/>
              </a:rPr>
              <a:t> and </a:t>
            </a:r>
            <a:r>
              <a:rPr lang="en-US" altLang="en-US" sz="2400" b="1">
                <a:latin typeface="Times New Roman" panose="02020603050405020304" pitchFamily="18" charset="0"/>
              </a:rPr>
              <a:t>static</a:t>
            </a:r>
            <a:r>
              <a:rPr lang="en-US" altLang="en-US" sz="2400">
                <a:latin typeface="Times New Roman" panose="02020603050405020304" pitchFamily="18" charset="0"/>
              </a:rPr>
              <a:t>.</a:t>
            </a:r>
          </a:p>
          <a:p>
            <a:pPr marL="533400" indent="-533400">
              <a:lnSpc>
                <a:spcPct val="90000"/>
              </a:lnSpc>
              <a:buFont typeface="Wingdings" panose="05000000000000000000" pitchFamily="2" charset="2"/>
              <a:buNone/>
            </a:pPr>
            <a:endParaRPr lang="en-US" altLang="en-US" sz="2400" b="1" u="sng">
              <a:latin typeface="Times New Roman" panose="02020603050405020304" pitchFamily="18" charset="0"/>
            </a:endParaRPr>
          </a:p>
          <a:p>
            <a:pPr marL="533400" indent="-533400">
              <a:lnSpc>
                <a:spcPct val="90000"/>
              </a:lnSpc>
              <a:buFont typeface="Wingdings" panose="05000000000000000000" pitchFamily="2" charset="2"/>
              <a:buNone/>
            </a:pPr>
            <a:r>
              <a:rPr lang="en-US" altLang="en-US" sz="2400" b="1" u="sng">
                <a:latin typeface="Times New Roman" panose="02020603050405020304" pitchFamily="18" charset="0"/>
              </a:rPr>
              <a:t>InputStream:</a:t>
            </a:r>
          </a:p>
          <a:p>
            <a:pPr marL="533400" indent="-533400">
              <a:lnSpc>
                <a:spcPct val="90000"/>
              </a:lnSpc>
              <a:buFontTx/>
              <a:buChar char="-"/>
            </a:pPr>
            <a:r>
              <a:rPr lang="en-US" altLang="en-US" sz="2400">
                <a:latin typeface="Times New Roman" panose="02020603050405020304" pitchFamily="18" charset="0"/>
              </a:rPr>
              <a:t>This class in included in the package </a:t>
            </a:r>
            <a:r>
              <a:rPr lang="en-US" altLang="en-US" sz="2400" b="1">
                <a:latin typeface="Times New Roman" panose="02020603050405020304" pitchFamily="18" charset="0"/>
              </a:rPr>
              <a:t>java.io</a:t>
            </a:r>
            <a:r>
              <a:rPr lang="en-US" altLang="en-US" sz="2400">
                <a:latin typeface="Times New Roman" panose="02020603050405020304" pitchFamily="18" charset="0"/>
              </a:rPr>
              <a:t>.</a:t>
            </a:r>
          </a:p>
          <a:p>
            <a:pPr marL="533400" indent="-533400">
              <a:lnSpc>
                <a:spcPct val="90000"/>
              </a:lnSpc>
              <a:buFontTx/>
              <a:buChar char="-"/>
            </a:pPr>
            <a:r>
              <a:rPr lang="en-US" altLang="en-US" sz="2400">
                <a:latin typeface="Times New Roman" panose="02020603050405020304" pitchFamily="18" charset="0"/>
              </a:rPr>
              <a:t>It has some subclasses the handle the differences between various devices.</a:t>
            </a:r>
          </a:p>
          <a:p>
            <a:pPr marL="533400" indent="-533400">
              <a:lnSpc>
                <a:spcPct val="90000"/>
              </a:lnSpc>
              <a:buFontTx/>
              <a:buChar char="-"/>
            </a:pPr>
            <a:r>
              <a:rPr lang="en-US" altLang="en-US" sz="2400">
                <a:latin typeface="Times New Roman" panose="02020603050405020304" pitchFamily="18" charset="0"/>
              </a:rPr>
              <a:t>Includes some methods that the subclasses will implement.</a:t>
            </a:r>
          </a:p>
          <a:p>
            <a:pPr marL="533400" indent="-533400">
              <a:lnSpc>
                <a:spcPct val="90000"/>
              </a:lnSpc>
              <a:buFontTx/>
              <a:buNone/>
            </a:pPr>
            <a:endParaRPr lang="en-US" altLang="en-US" sz="2400" b="1" u="sng">
              <a:latin typeface="Times New Roman" panose="02020603050405020304" pitchFamily="18" charset="0"/>
            </a:endParaRPr>
          </a:p>
        </p:txBody>
      </p:sp>
      <p:sp>
        <p:nvSpPr>
          <p:cNvPr id="2" name="Date Placeholder 1"/>
          <p:cNvSpPr>
            <a:spLocks noGrp="1"/>
          </p:cNvSpPr>
          <p:nvPr>
            <p:ph type="dt" sz="half" idx="10"/>
          </p:nvPr>
        </p:nvSpPr>
        <p:spPr/>
        <p:txBody>
          <a:bodyPr/>
          <a:lstStyle/>
          <a:p>
            <a:fld id="{7B6D7AE5-D992-4F0B-B397-25FD9D733398}"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28</a:t>
            </a:fld>
            <a:endParaRPr lang="en-US" altLang="en-US"/>
          </a:p>
        </p:txBody>
      </p:sp>
    </p:spTree>
    <p:extLst>
      <p:ext uri="{BB962C8B-B14F-4D97-AF65-F5344CB8AC3E}">
        <p14:creationId xmlns:p14="http://schemas.microsoft.com/office/powerpoint/2010/main" val="198948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76200"/>
            <a:ext cx="8229600" cy="1143000"/>
          </a:xfrm>
        </p:spPr>
        <p:txBody>
          <a:bodyPr/>
          <a:lstStyle/>
          <a:p>
            <a:r>
              <a:rPr lang="en-US" altLang="en-US" b="1">
                <a:latin typeface="Times New Roman" panose="02020603050405020304" pitchFamily="18" charset="0"/>
              </a:rPr>
              <a:t>Scanner Class</a:t>
            </a:r>
          </a:p>
        </p:txBody>
      </p:sp>
      <p:sp>
        <p:nvSpPr>
          <p:cNvPr id="11267" name="Rectangle 3"/>
          <p:cNvSpPr>
            <a:spLocks noGrp="1" noChangeArrowheads="1"/>
          </p:cNvSpPr>
          <p:nvPr>
            <p:ph idx="1"/>
          </p:nvPr>
        </p:nvSpPr>
        <p:spPr>
          <a:xfrm>
            <a:off x="685800" y="1066800"/>
            <a:ext cx="7924800" cy="5257800"/>
          </a:xfrm>
        </p:spPr>
        <p:txBody>
          <a:bodyPr/>
          <a:lstStyle/>
          <a:p>
            <a:pPr>
              <a:buFont typeface="Wingdings" panose="05000000000000000000" pitchFamily="2" charset="2"/>
              <a:buChar char="ü"/>
            </a:pPr>
            <a:r>
              <a:rPr lang="en-US" altLang="en-US" sz="2000">
                <a:solidFill>
                  <a:schemeClr val="hlink"/>
                </a:solidFill>
                <a:latin typeface="Times New Roman" panose="02020603050405020304" pitchFamily="18" charset="0"/>
              </a:rPr>
              <a:t>Scanner class</a:t>
            </a:r>
            <a:r>
              <a:rPr lang="en-US" altLang="en-US" sz="2000">
                <a:latin typeface="Times New Roman" panose="02020603050405020304" pitchFamily="18" charset="0"/>
              </a:rPr>
              <a:t> is used to read input from the keyboard, a file, a string or any source that implements the </a:t>
            </a:r>
            <a:r>
              <a:rPr lang="en-US" altLang="en-US" sz="2000" b="1">
                <a:latin typeface="Times New Roman" panose="02020603050405020304" pitchFamily="18" charset="0"/>
              </a:rPr>
              <a:t>Readable</a:t>
            </a:r>
            <a:r>
              <a:rPr lang="en-US" altLang="en-US" sz="2000">
                <a:latin typeface="Times New Roman" panose="02020603050405020304" pitchFamily="18" charset="0"/>
              </a:rPr>
              <a:t> or </a:t>
            </a:r>
            <a:r>
              <a:rPr lang="en-US" altLang="en-US" sz="2000" b="1">
                <a:latin typeface="Times New Roman" panose="02020603050405020304" pitchFamily="18" charset="0"/>
              </a:rPr>
              <a:t>ReadByteChannel</a:t>
            </a:r>
            <a:r>
              <a:rPr lang="en-US" altLang="en-US" sz="2000">
                <a:latin typeface="Times New Roman" panose="02020603050405020304" pitchFamily="18" charset="0"/>
              </a:rPr>
              <a:t>.</a:t>
            </a:r>
          </a:p>
          <a:p>
            <a:pPr>
              <a:buFont typeface="Wingdings" panose="05000000000000000000" pitchFamily="2" charset="2"/>
              <a:buChar char="ü"/>
            </a:pPr>
            <a:r>
              <a:rPr lang="en-US" altLang="en-US" sz="2000">
                <a:latin typeface="Times New Roman" panose="02020603050405020304" pitchFamily="18" charset="0"/>
              </a:rPr>
              <a:t>Scanner can be created for a string, an InputStream, or any object that implements </a:t>
            </a:r>
            <a:r>
              <a:rPr lang="en-US" altLang="en-US" sz="2000" b="1">
                <a:latin typeface="Times New Roman" panose="02020603050405020304" pitchFamily="18" charset="0"/>
              </a:rPr>
              <a:t>Readable</a:t>
            </a:r>
            <a:r>
              <a:rPr lang="en-US" altLang="en-US" sz="2000">
                <a:latin typeface="Times New Roman" panose="02020603050405020304" pitchFamily="18" charset="0"/>
              </a:rPr>
              <a:t> or </a:t>
            </a:r>
            <a:r>
              <a:rPr lang="en-US" altLang="en-US" sz="2000" b="1">
                <a:latin typeface="Times New Roman" panose="02020603050405020304" pitchFamily="18" charset="0"/>
              </a:rPr>
              <a:t>ReadByteChannel </a:t>
            </a:r>
            <a:r>
              <a:rPr lang="en-US" altLang="en-US" sz="2000">
                <a:latin typeface="Times New Roman" panose="02020603050405020304" pitchFamily="18" charset="0"/>
              </a:rPr>
              <a:t>interface.</a:t>
            </a:r>
          </a:p>
          <a:p>
            <a:pPr>
              <a:buFont typeface="Wingdings" panose="05000000000000000000" pitchFamily="2" charset="2"/>
              <a:buChar char="ü"/>
            </a:pPr>
            <a:r>
              <a:rPr lang="en-US" altLang="en-US" sz="2000">
                <a:latin typeface="Times New Roman" panose="02020603050405020304" pitchFamily="18" charset="0"/>
              </a:rPr>
              <a:t>Scanner class is under the package of java.util</a:t>
            </a:r>
          </a:p>
          <a:p>
            <a:pPr>
              <a:buFont typeface="Wingdings" panose="05000000000000000000" pitchFamily="2" charset="2"/>
              <a:buChar char="ü"/>
            </a:pPr>
            <a:r>
              <a:rPr lang="en-US" altLang="en-US" sz="2000">
                <a:latin typeface="Times New Roman" panose="02020603050405020304" pitchFamily="18" charset="0"/>
              </a:rPr>
              <a:t>Added in J2SE 5.</a:t>
            </a:r>
          </a:p>
          <a:p>
            <a:pPr>
              <a:buFont typeface="Wingdings" panose="05000000000000000000" pitchFamily="2" charset="2"/>
              <a:buNone/>
            </a:pPr>
            <a:r>
              <a:rPr lang="en-US" altLang="en-US" sz="2000" b="1" u="sng">
                <a:latin typeface="Times New Roman" panose="02020603050405020304" pitchFamily="18" charset="0"/>
              </a:rPr>
              <a:t>Readable Interface:</a:t>
            </a:r>
          </a:p>
          <a:p>
            <a:pPr>
              <a:buFont typeface="Wingdings" panose="05000000000000000000" pitchFamily="2" charset="2"/>
              <a:buChar char="ü"/>
            </a:pPr>
            <a:r>
              <a:rPr lang="en-US" altLang="en-US" sz="2000">
                <a:latin typeface="Times New Roman" panose="02020603050405020304" pitchFamily="18" charset="0"/>
              </a:rPr>
              <a:t>It is added by J2SE.</a:t>
            </a:r>
          </a:p>
          <a:p>
            <a:pPr>
              <a:buFont typeface="Wingdings" panose="05000000000000000000" pitchFamily="2" charset="2"/>
              <a:buChar char="ü"/>
            </a:pPr>
            <a:r>
              <a:rPr lang="en-US" altLang="en-US" sz="2000">
                <a:latin typeface="Times New Roman" panose="02020603050405020304" pitchFamily="18" charset="0"/>
              </a:rPr>
              <a:t>It is included in Java.lang.</a:t>
            </a:r>
          </a:p>
          <a:p>
            <a:pPr>
              <a:buFont typeface="Wingdings" panose="05000000000000000000" pitchFamily="2" charset="2"/>
              <a:buChar char="ü"/>
            </a:pPr>
            <a:r>
              <a:rPr lang="en-US" altLang="en-US" sz="2000">
                <a:latin typeface="Times New Roman" panose="02020603050405020304" pitchFamily="18" charset="0"/>
              </a:rPr>
              <a:t>It defines one method:</a:t>
            </a:r>
          </a:p>
          <a:p>
            <a:pPr>
              <a:buFont typeface="Wingdings" panose="05000000000000000000" pitchFamily="2" charset="2"/>
              <a:buNone/>
            </a:pPr>
            <a:r>
              <a:rPr lang="en-US" altLang="en-US" sz="2000">
                <a:latin typeface="Times New Roman" panose="02020603050405020304" pitchFamily="18" charset="0"/>
              </a:rPr>
              <a:t>	int read(CharBuffer buf) throws IOException</a:t>
            </a:r>
          </a:p>
          <a:p>
            <a:pPr>
              <a:buFont typeface="Wingdings" panose="05000000000000000000" pitchFamily="2" charset="2"/>
              <a:buNone/>
            </a:pPr>
            <a:r>
              <a:rPr lang="en-US" altLang="en-US" sz="2000">
                <a:latin typeface="Times New Roman" panose="02020603050405020304" pitchFamily="18" charset="0"/>
              </a:rPr>
              <a:t>It reads characters into buf. It returns the number of characters read or -1 if an EOF is encountered.</a:t>
            </a:r>
          </a:p>
        </p:txBody>
      </p:sp>
      <p:sp>
        <p:nvSpPr>
          <p:cNvPr id="2" name="Date Placeholder 1"/>
          <p:cNvSpPr>
            <a:spLocks noGrp="1"/>
          </p:cNvSpPr>
          <p:nvPr>
            <p:ph type="dt" sz="half" idx="10"/>
          </p:nvPr>
        </p:nvSpPr>
        <p:spPr/>
        <p:txBody>
          <a:bodyPr/>
          <a:lstStyle/>
          <a:p>
            <a:fld id="{47C41204-E829-40FF-8096-CCDF0FFC504C}"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29</a:t>
            </a:fld>
            <a:endParaRPr lang="en-US" altLang="en-US"/>
          </a:p>
        </p:txBody>
      </p:sp>
    </p:spTree>
    <p:extLst>
      <p:ext uri="{BB962C8B-B14F-4D97-AF65-F5344CB8AC3E}">
        <p14:creationId xmlns:p14="http://schemas.microsoft.com/office/powerpoint/2010/main" val="3318896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a:bodyPr>
          <a:lstStyle/>
          <a:p>
            <a:r>
              <a:rPr lang="en-US" altLang="en-US" b="1">
                <a:latin typeface="Times New Roman" panose="02020603050405020304" pitchFamily="18" charset="0"/>
              </a:rPr>
              <a:t>Taking Input from the Keyboard</a:t>
            </a:r>
          </a:p>
        </p:txBody>
      </p:sp>
      <p:sp>
        <p:nvSpPr>
          <p:cNvPr id="15363" name="Rectangle 3"/>
          <p:cNvSpPr>
            <a:spLocks noGrp="1" noChangeArrowheads="1"/>
          </p:cNvSpPr>
          <p:nvPr>
            <p:ph idx="1"/>
          </p:nvPr>
        </p:nvSpPr>
        <p:spPr>
          <a:xfrm>
            <a:off x="914400" y="1600200"/>
            <a:ext cx="8001000" cy="4953000"/>
          </a:xfrm>
        </p:spPr>
        <p:txBody>
          <a:bodyPr/>
          <a:lstStyle/>
          <a:p>
            <a:pPr>
              <a:buFont typeface="Wingdings" panose="05000000000000000000" pitchFamily="2" charset="2"/>
              <a:buChar char="ü"/>
            </a:pPr>
            <a:r>
              <a:rPr lang="en-US" altLang="en-US">
                <a:latin typeface="Times New Roman" panose="02020603050405020304" pitchFamily="18" charset="0"/>
              </a:rPr>
              <a:t>First, Scanner class is connected to System.in which is an object of type InputStream.</a:t>
            </a:r>
          </a:p>
          <a:p>
            <a:pPr>
              <a:buFont typeface="Wingdings" panose="05000000000000000000" pitchFamily="2" charset="2"/>
              <a:buChar char="ü"/>
            </a:pPr>
            <a:r>
              <a:rPr lang="en-US" altLang="en-US">
                <a:latin typeface="Times New Roman" panose="02020603050405020304" pitchFamily="18" charset="0"/>
              </a:rPr>
              <a:t>Then, it uses it’s internal functions to read from System.in</a:t>
            </a:r>
          </a:p>
          <a:p>
            <a:pPr>
              <a:buFont typeface="Wingdings" panose="05000000000000000000" pitchFamily="2" charset="2"/>
              <a:buNone/>
            </a:pPr>
            <a:r>
              <a:rPr lang="en-US" altLang="en-US" b="1" u="sng">
                <a:latin typeface="Times New Roman" panose="02020603050405020304" pitchFamily="18" charset="0"/>
              </a:rPr>
              <a:t>Example:</a:t>
            </a:r>
          </a:p>
          <a:p>
            <a:pPr lvl="1">
              <a:buFont typeface="Wingdings" panose="05000000000000000000" pitchFamily="2" charset="2"/>
              <a:buNone/>
            </a:pPr>
            <a:r>
              <a:rPr lang="en-US" altLang="en-US" sz="3000">
                <a:latin typeface="Times New Roman" panose="02020603050405020304" pitchFamily="18" charset="0"/>
              </a:rPr>
              <a:t>Scanner test = new Scanner(System.in);</a:t>
            </a:r>
            <a:r>
              <a:rPr lang="en-US" altLang="en-US" sz="3000">
                <a:solidFill>
                  <a:srgbClr val="006600"/>
                </a:solidFill>
                <a:latin typeface="Times New Roman" panose="02020603050405020304" pitchFamily="18" charset="0"/>
              </a:rPr>
              <a:t> </a:t>
            </a:r>
          </a:p>
          <a:p>
            <a:pPr lvl="1">
              <a:buFont typeface="Wingdings" panose="05000000000000000000" pitchFamily="2" charset="2"/>
              <a:buChar char="ü"/>
            </a:pPr>
            <a:endParaRPr lang="en-US" altLang="en-US" sz="3200"/>
          </a:p>
        </p:txBody>
      </p:sp>
      <p:sp>
        <p:nvSpPr>
          <p:cNvPr id="2" name="Date Placeholder 1"/>
          <p:cNvSpPr>
            <a:spLocks noGrp="1"/>
          </p:cNvSpPr>
          <p:nvPr>
            <p:ph type="dt" sz="half" idx="10"/>
          </p:nvPr>
        </p:nvSpPr>
        <p:spPr/>
        <p:txBody>
          <a:bodyPr/>
          <a:lstStyle/>
          <a:p>
            <a:fld id="{0BA8BECA-1D5C-4397-A622-FEC206C85086}"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30</a:t>
            </a:fld>
            <a:endParaRPr lang="en-US" altLang="en-US"/>
          </a:p>
        </p:txBody>
      </p:sp>
      <p:sp>
        <p:nvSpPr>
          <p:cNvPr id="15364" name="Line 4"/>
          <p:cNvSpPr>
            <a:spLocks noChangeShapeType="1"/>
          </p:cNvSpPr>
          <p:nvPr/>
        </p:nvSpPr>
        <p:spPr bwMode="auto">
          <a:xfrm>
            <a:off x="4724400" y="4953000"/>
            <a:ext cx="0" cy="381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5" name="Text Box 5"/>
          <p:cNvSpPr txBox="1">
            <a:spLocks noChangeArrowheads="1"/>
          </p:cNvSpPr>
          <p:nvPr/>
        </p:nvSpPr>
        <p:spPr bwMode="auto">
          <a:xfrm>
            <a:off x="3429000" y="5486400"/>
            <a:ext cx="2667000" cy="6508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anose="02020603050405020304" pitchFamily="18" charset="0"/>
              </a:rPr>
              <a:t>Calls the constructor Scanner(InputStream)</a:t>
            </a:r>
          </a:p>
        </p:txBody>
      </p:sp>
    </p:spTree>
    <p:extLst>
      <p:ext uri="{BB962C8B-B14F-4D97-AF65-F5344CB8AC3E}">
        <p14:creationId xmlns:p14="http://schemas.microsoft.com/office/powerpoint/2010/main" val="29120911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4"/>
                                        </p:tgtEl>
                                        <p:attrNameLst>
                                          <p:attrName>style.visibility</p:attrName>
                                        </p:attrNameLst>
                                      </p:cBhvr>
                                      <p:to>
                                        <p:strVal val="visible"/>
                                      </p:to>
                                    </p:set>
                                    <p:animEffect transition="in" filter="blinds(horizontal)">
                                      <p:cBhvr>
                                        <p:cTn id="7" dur="500"/>
                                        <p:tgtEl>
                                          <p:spTgt spid="153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365"/>
                                        </p:tgtEl>
                                        <p:attrNameLst>
                                          <p:attrName>style.visibility</p:attrName>
                                        </p:attrNameLst>
                                      </p:cBhvr>
                                      <p:to>
                                        <p:strVal val="visible"/>
                                      </p:to>
                                    </p:set>
                                    <p:animEffect transition="in" filter="blinds(horizontal)">
                                      <p:cBhvr>
                                        <p:cTn id="12" dur="500"/>
                                        <p:tgtEl>
                                          <p:spTgt spid="15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animBg="1"/>
      <p:bldP spid="1536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274638"/>
            <a:ext cx="9144000" cy="1143000"/>
          </a:xfrm>
        </p:spPr>
        <p:txBody>
          <a:bodyPr>
            <a:normAutofit/>
          </a:bodyPr>
          <a:lstStyle/>
          <a:p>
            <a:r>
              <a:rPr lang="en-US" altLang="en-US" b="1">
                <a:latin typeface="Times New Roman" panose="02020603050405020304" pitchFamily="18" charset="0"/>
              </a:rPr>
              <a:t>Take an input from the keyboard-1</a:t>
            </a:r>
          </a:p>
        </p:txBody>
      </p:sp>
      <p:sp>
        <p:nvSpPr>
          <p:cNvPr id="12291" name="Rectangle 3"/>
          <p:cNvSpPr>
            <a:spLocks noGrp="1" noChangeArrowheads="1"/>
          </p:cNvSpPr>
          <p:nvPr>
            <p:ph idx="1"/>
          </p:nvPr>
        </p:nvSpPr>
        <p:spPr>
          <a:xfrm>
            <a:off x="457200" y="1371600"/>
            <a:ext cx="8229600" cy="4525963"/>
          </a:xfrm>
        </p:spPr>
        <p:txBody>
          <a:bodyPr>
            <a:normAutofit lnSpcReduction="10000"/>
          </a:bodyPr>
          <a:lstStyle/>
          <a:p>
            <a:pPr>
              <a:buFontTx/>
              <a:buNone/>
            </a:pPr>
            <a:r>
              <a:rPr lang="en-US" altLang="en-US" sz="2000">
                <a:solidFill>
                  <a:srgbClr val="006600"/>
                </a:solidFill>
                <a:latin typeface="Times New Roman" panose="02020603050405020304" pitchFamily="18" charset="0"/>
              </a:rPr>
              <a:t>import java.util.*;</a:t>
            </a:r>
          </a:p>
          <a:p>
            <a:pPr>
              <a:buFontTx/>
              <a:buNone/>
            </a:pPr>
            <a:r>
              <a:rPr lang="en-US" altLang="en-US" sz="2000">
                <a:latin typeface="Times New Roman" panose="02020603050405020304" pitchFamily="18" charset="0"/>
              </a:rPr>
              <a:t>public static void main(String[] args) {</a:t>
            </a:r>
          </a:p>
          <a:p>
            <a:pPr>
              <a:buFontTx/>
              <a:buNone/>
            </a:pPr>
            <a:r>
              <a:rPr lang="en-US" altLang="en-US" sz="2000">
                <a:latin typeface="Times New Roman" panose="02020603050405020304" pitchFamily="18" charset="0"/>
              </a:rPr>
              <a:t>	int value;</a:t>
            </a:r>
          </a:p>
          <a:p>
            <a:pPr>
              <a:buFontTx/>
              <a:buNone/>
            </a:pPr>
            <a:r>
              <a:rPr lang="en-US" altLang="en-US" sz="2000">
                <a:latin typeface="Times New Roman" panose="02020603050405020304" pitchFamily="18" charset="0"/>
              </a:rPr>
              <a:t>   System.out.print(“Enter an Integer number:"); 	</a:t>
            </a:r>
          </a:p>
          <a:p>
            <a:pPr>
              <a:buFontTx/>
              <a:buNone/>
            </a:pPr>
            <a:r>
              <a:rPr lang="en-US" altLang="en-US" sz="2000">
                <a:solidFill>
                  <a:srgbClr val="FF9900"/>
                </a:solidFill>
                <a:latin typeface="Times New Roman" panose="02020603050405020304" pitchFamily="18" charset="0"/>
              </a:rPr>
              <a:t>	</a:t>
            </a:r>
            <a:r>
              <a:rPr lang="en-US" altLang="en-US" sz="2000">
                <a:solidFill>
                  <a:srgbClr val="006600"/>
                </a:solidFill>
                <a:latin typeface="Times New Roman" panose="02020603050405020304" pitchFamily="18" charset="0"/>
              </a:rPr>
              <a:t>Scanner tmp = new Scanner(System.in);</a:t>
            </a:r>
          </a:p>
          <a:p>
            <a:pPr>
              <a:buFontTx/>
              <a:buNone/>
            </a:pPr>
            <a:r>
              <a:rPr lang="en-US" altLang="en-US" sz="2000">
                <a:solidFill>
                  <a:srgbClr val="FF9900"/>
                </a:solidFill>
                <a:latin typeface="Times New Roman" panose="02020603050405020304" pitchFamily="18" charset="0"/>
              </a:rPr>
              <a:t>	</a:t>
            </a:r>
            <a:r>
              <a:rPr lang="en-US" altLang="en-US" sz="2000">
                <a:latin typeface="Times New Roman" panose="02020603050405020304" pitchFamily="18" charset="0"/>
              </a:rPr>
              <a:t>if(</a:t>
            </a:r>
            <a:r>
              <a:rPr lang="en-US" altLang="en-US" sz="2000">
                <a:solidFill>
                  <a:srgbClr val="006600"/>
                </a:solidFill>
                <a:latin typeface="Times New Roman" panose="02020603050405020304" pitchFamily="18" charset="0"/>
              </a:rPr>
              <a:t>tmp.hasNextInt()</a:t>
            </a:r>
            <a:r>
              <a:rPr lang="en-US" altLang="en-US" sz="2000">
                <a:latin typeface="Times New Roman" panose="02020603050405020304" pitchFamily="18" charset="0"/>
              </a:rPr>
              <a:t>)</a:t>
            </a:r>
          </a:p>
          <a:p>
            <a:pPr>
              <a:buFontTx/>
              <a:buNone/>
            </a:pPr>
            <a:r>
              <a:rPr lang="en-US" altLang="en-US" sz="2000">
                <a:latin typeface="Times New Roman" panose="02020603050405020304" pitchFamily="18" charset="0"/>
              </a:rPr>
              <a:t>    {</a:t>
            </a:r>
            <a:endParaRPr lang="en-US" altLang="en-US" sz="2000">
              <a:solidFill>
                <a:srgbClr val="FF9900"/>
              </a:solidFill>
              <a:latin typeface="Times New Roman" panose="02020603050405020304" pitchFamily="18" charset="0"/>
            </a:endParaRPr>
          </a:p>
          <a:p>
            <a:pPr>
              <a:buFontTx/>
              <a:buNone/>
            </a:pPr>
            <a:r>
              <a:rPr lang="en-US" altLang="en-US" sz="2000">
                <a:solidFill>
                  <a:srgbClr val="FF9900"/>
                </a:solidFill>
                <a:latin typeface="Times New Roman" panose="02020603050405020304" pitchFamily="18" charset="0"/>
              </a:rPr>
              <a:t>		</a:t>
            </a:r>
            <a:r>
              <a:rPr lang="en-US" altLang="en-US" sz="2000">
                <a:solidFill>
                  <a:srgbClr val="006600"/>
                </a:solidFill>
                <a:latin typeface="Times New Roman" panose="02020603050405020304" pitchFamily="18" charset="0"/>
              </a:rPr>
              <a:t>value=tmp.nextInt();</a:t>
            </a:r>
            <a:r>
              <a:rPr lang="en-US" altLang="en-US" sz="2000">
                <a:solidFill>
                  <a:srgbClr val="FF9900"/>
                </a:solidFill>
                <a:latin typeface="Times New Roman" panose="02020603050405020304" pitchFamily="18" charset="0"/>
              </a:rPr>
              <a:t>	</a:t>
            </a:r>
          </a:p>
          <a:p>
            <a:pPr>
              <a:buFontTx/>
              <a:buNone/>
            </a:pPr>
            <a:r>
              <a:rPr lang="en-US" altLang="en-US" sz="2000">
                <a:latin typeface="Times New Roman" panose="02020603050405020304" pitchFamily="18" charset="0"/>
              </a:rPr>
              <a:t>	       System.out.println(“You have entered: ”+value);</a:t>
            </a:r>
          </a:p>
          <a:p>
            <a:pPr>
              <a:buFontTx/>
              <a:buNone/>
            </a:pPr>
            <a:r>
              <a:rPr lang="en-US" altLang="en-US" sz="2000">
                <a:latin typeface="Times New Roman" panose="02020603050405020304" pitchFamily="18" charset="0"/>
              </a:rPr>
              <a:t>    }</a:t>
            </a:r>
          </a:p>
          <a:p>
            <a:pPr>
              <a:buFontTx/>
              <a:buNone/>
            </a:pPr>
            <a:r>
              <a:rPr lang="en-US" altLang="en-US" sz="2000">
                <a:latin typeface="Times New Roman" panose="02020603050405020304" pitchFamily="18" charset="0"/>
              </a:rPr>
              <a:t>	else</a:t>
            </a:r>
          </a:p>
          <a:p>
            <a:pPr>
              <a:buFontTx/>
              <a:buNone/>
            </a:pPr>
            <a:r>
              <a:rPr lang="en-US" altLang="en-US" sz="2000">
                <a:latin typeface="Times New Roman" panose="02020603050405020304" pitchFamily="18" charset="0"/>
              </a:rPr>
              <a:t>		System.out.println(“Not an Integer”);</a:t>
            </a:r>
          </a:p>
          <a:p>
            <a:pPr>
              <a:buFontTx/>
              <a:buNone/>
            </a:pPr>
            <a:r>
              <a:rPr lang="en-US" altLang="en-US" sz="2000">
                <a:latin typeface="Times New Roman" panose="02020603050405020304" pitchFamily="18" charset="0"/>
              </a:rPr>
              <a:t>}	</a:t>
            </a:r>
          </a:p>
          <a:p>
            <a:pPr>
              <a:buFontTx/>
              <a:buNone/>
            </a:pPr>
            <a:endParaRPr lang="en-US" altLang="en-US" sz="2000">
              <a:latin typeface="Times New Roman" panose="02020603050405020304" pitchFamily="18" charset="0"/>
            </a:endParaRPr>
          </a:p>
        </p:txBody>
      </p:sp>
      <p:sp>
        <p:nvSpPr>
          <p:cNvPr id="2" name="Date Placeholder 1"/>
          <p:cNvSpPr>
            <a:spLocks noGrp="1"/>
          </p:cNvSpPr>
          <p:nvPr>
            <p:ph type="dt" sz="half" idx="10"/>
          </p:nvPr>
        </p:nvSpPr>
        <p:spPr/>
        <p:txBody>
          <a:bodyPr/>
          <a:lstStyle/>
          <a:p>
            <a:fld id="{DDF09E2D-986B-49E4-87DF-0502A96F0FE2}"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31</a:t>
            </a:fld>
            <a:endParaRPr lang="en-US" altLang="en-US"/>
          </a:p>
        </p:txBody>
      </p:sp>
    </p:spTree>
    <p:extLst>
      <p:ext uri="{BB962C8B-B14F-4D97-AF65-F5344CB8AC3E}">
        <p14:creationId xmlns:p14="http://schemas.microsoft.com/office/powerpoint/2010/main" val="31137079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2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274638"/>
            <a:ext cx="8229600" cy="792162"/>
          </a:xfrm>
        </p:spPr>
        <p:txBody>
          <a:bodyPr/>
          <a:lstStyle/>
          <a:p>
            <a:r>
              <a:rPr lang="en-US" altLang="en-US" sz="4000" b="1">
                <a:latin typeface="Times New Roman" panose="02020603050405020304" pitchFamily="18" charset="0"/>
              </a:rPr>
              <a:t>Taking Input from the KeyBoard-2</a:t>
            </a:r>
          </a:p>
        </p:txBody>
      </p:sp>
      <p:sp>
        <p:nvSpPr>
          <p:cNvPr id="23555" name="Rectangle 3"/>
          <p:cNvSpPr>
            <a:spLocks noGrp="1" noChangeArrowheads="1"/>
          </p:cNvSpPr>
          <p:nvPr>
            <p:ph idx="1"/>
          </p:nvPr>
        </p:nvSpPr>
        <p:spPr>
          <a:xfrm>
            <a:off x="762000" y="990600"/>
            <a:ext cx="7924800" cy="5257800"/>
          </a:xfrm>
        </p:spPr>
        <p:txBody>
          <a:bodyPr/>
          <a:lstStyle/>
          <a:p>
            <a:pPr>
              <a:lnSpc>
                <a:spcPct val="80000"/>
              </a:lnSpc>
              <a:buFontTx/>
              <a:buNone/>
            </a:pPr>
            <a:r>
              <a:rPr lang="en-US" altLang="en-US" sz="2000">
                <a:latin typeface="Times New Roman" panose="02020603050405020304" pitchFamily="18" charset="0"/>
              </a:rPr>
              <a:t>import java.util.*;</a:t>
            </a:r>
          </a:p>
          <a:p>
            <a:pPr>
              <a:lnSpc>
                <a:spcPct val="80000"/>
              </a:lnSpc>
              <a:buFontTx/>
              <a:buNone/>
            </a:pPr>
            <a:r>
              <a:rPr lang="en-US" altLang="en-US" sz="2000">
                <a:latin typeface="Times New Roman" panose="02020603050405020304" pitchFamily="18" charset="0"/>
              </a:rPr>
              <a:t>class input</a:t>
            </a:r>
          </a:p>
          <a:p>
            <a:pPr>
              <a:lnSpc>
                <a:spcPct val="80000"/>
              </a:lnSpc>
              <a:buFontTx/>
              <a:buNone/>
            </a:pPr>
            <a:r>
              <a:rPr lang="en-US" altLang="en-US" sz="2000">
                <a:latin typeface="Times New Roman" panose="02020603050405020304" pitchFamily="18" charset="0"/>
              </a:rPr>
              <a:t>{</a:t>
            </a:r>
          </a:p>
          <a:p>
            <a:pPr>
              <a:lnSpc>
                <a:spcPct val="80000"/>
              </a:lnSpc>
              <a:buFontTx/>
              <a:buNone/>
            </a:pPr>
            <a:r>
              <a:rPr lang="en-US" altLang="en-US" sz="2000">
                <a:latin typeface="Times New Roman" panose="02020603050405020304" pitchFamily="18" charset="0"/>
              </a:rPr>
              <a:t>	public static void main(String args[])</a:t>
            </a:r>
          </a:p>
          <a:p>
            <a:pPr>
              <a:lnSpc>
                <a:spcPct val="80000"/>
              </a:lnSpc>
              <a:buFontTx/>
              <a:buNone/>
            </a:pPr>
            <a:r>
              <a:rPr lang="en-US" altLang="en-US" sz="2000">
                <a:latin typeface="Times New Roman" panose="02020603050405020304" pitchFamily="18" charset="0"/>
              </a:rPr>
              <a:t>	{</a:t>
            </a:r>
          </a:p>
          <a:p>
            <a:pPr>
              <a:lnSpc>
                <a:spcPct val="80000"/>
              </a:lnSpc>
              <a:buFontTx/>
              <a:buNone/>
            </a:pPr>
            <a:r>
              <a:rPr lang="en-US" altLang="en-US" sz="2000">
                <a:latin typeface="Times New Roman" panose="02020603050405020304" pitchFamily="18" charset="0"/>
              </a:rPr>
              <a:t>		Scanner tmp = new Scanner(System.in);</a:t>
            </a:r>
          </a:p>
          <a:p>
            <a:pPr>
              <a:lnSpc>
                <a:spcPct val="80000"/>
              </a:lnSpc>
              <a:buFontTx/>
              <a:buNone/>
            </a:pPr>
            <a:r>
              <a:rPr lang="en-US" altLang="en-US" sz="2000">
                <a:latin typeface="Times New Roman" panose="02020603050405020304" pitchFamily="18" charset="0"/>
              </a:rPr>
              <a:t>		float i;</a:t>
            </a:r>
          </a:p>
          <a:p>
            <a:pPr>
              <a:lnSpc>
                <a:spcPct val="80000"/>
              </a:lnSpc>
              <a:buFontTx/>
              <a:buNone/>
            </a:pPr>
            <a:r>
              <a:rPr lang="en-US" altLang="en-US" sz="2000">
                <a:latin typeface="Times New Roman" panose="02020603050405020304" pitchFamily="18" charset="0"/>
              </a:rPr>
              <a:t>		</a:t>
            </a:r>
          </a:p>
          <a:p>
            <a:pPr>
              <a:lnSpc>
                <a:spcPct val="80000"/>
              </a:lnSpc>
              <a:buFontTx/>
              <a:buNone/>
            </a:pPr>
            <a:r>
              <a:rPr lang="en-US" altLang="en-US" sz="2000">
                <a:latin typeface="Times New Roman" panose="02020603050405020304" pitchFamily="18" charset="0"/>
              </a:rPr>
              <a:t>		while(tmp.hasNextFloat())</a:t>
            </a:r>
          </a:p>
          <a:p>
            <a:pPr>
              <a:lnSpc>
                <a:spcPct val="80000"/>
              </a:lnSpc>
              <a:buFontTx/>
              <a:buNone/>
            </a:pPr>
            <a:r>
              <a:rPr lang="en-US" altLang="en-US" sz="2000">
                <a:latin typeface="Times New Roman" panose="02020603050405020304" pitchFamily="18" charset="0"/>
              </a:rPr>
              <a:t>		{</a:t>
            </a:r>
          </a:p>
          <a:p>
            <a:pPr>
              <a:lnSpc>
                <a:spcPct val="80000"/>
              </a:lnSpc>
              <a:buFontTx/>
              <a:buNone/>
            </a:pPr>
            <a:r>
              <a:rPr lang="en-US" altLang="en-US" sz="2000">
                <a:latin typeface="Times New Roman" panose="02020603050405020304" pitchFamily="18" charset="0"/>
              </a:rPr>
              <a:t>			     i=tmp.nextFloat();</a:t>
            </a:r>
          </a:p>
          <a:p>
            <a:pPr>
              <a:lnSpc>
                <a:spcPct val="80000"/>
              </a:lnSpc>
              <a:buFontTx/>
              <a:buNone/>
            </a:pPr>
            <a:r>
              <a:rPr lang="en-US" altLang="en-US" sz="2000">
                <a:latin typeface="Times New Roman" panose="02020603050405020304" pitchFamily="18" charset="0"/>
              </a:rPr>
              <a:t>			     System.out.println("The Number: ",i);</a:t>
            </a:r>
          </a:p>
          <a:p>
            <a:pPr>
              <a:lnSpc>
                <a:spcPct val="80000"/>
              </a:lnSpc>
              <a:buFontTx/>
              <a:buNone/>
            </a:pPr>
            <a:r>
              <a:rPr lang="en-US" altLang="en-US" sz="2000">
                <a:latin typeface="Times New Roman" panose="02020603050405020304" pitchFamily="18" charset="0"/>
              </a:rPr>
              <a:t>		}</a:t>
            </a:r>
          </a:p>
          <a:p>
            <a:pPr>
              <a:lnSpc>
                <a:spcPct val="80000"/>
              </a:lnSpc>
              <a:buFontTx/>
              <a:buNone/>
            </a:pPr>
            <a:r>
              <a:rPr lang="en-US" altLang="en-US" sz="2000">
                <a:latin typeface="Times New Roman" panose="02020603050405020304" pitchFamily="18" charset="0"/>
              </a:rPr>
              <a:t>		</a:t>
            </a:r>
          </a:p>
          <a:p>
            <a:pPr>
              <a:lnSpc>
                <a:spcPct val="80000"/>
              </a:lnSpc>
              <a:buFontTx/>
              <a:buNone/>
            </a:pPr>
            <a:r>
              <a:rPr lang="en-US" altLang="en-US" sz="2000">
                <a:latin typeface="Times New Roman" panose="02020603050405020304" pitchFamily="18" charset="0"/>
              </a:rPr>
              <a:t>	}</a:t>
            </a:r>
          </a:p>
          <a:p>
            <a:pPr>
              <a:lnSpc>
                <a:spcPct val="80000"/>
              </a:lnSpc>
              <a:buFontTx/>
              <a:buNone/>
            </a:pPr>
            <a:r>
              <a:rPr lang="en-US" altLang="en-US" sz="2000">
                <a:latin typeface="Times New Roman" panose="02020603050405020304" pitchFamily="18" charset="0"/>
              </a:rPr>
              <a:t>}</a:t>
            </a:r>
          </a:p>
        </p:txBody>
      </p:sp>
      <p:sp>
        <p:nvSpPr>
          <p:cNvPr id="2" name="Date Placeholder 1"/>
          <p:cNvSpPr>
            <a:spLocks noGrp="1"/>
          </p:cNvSpPr>
          <p:nvPr>
            <p:ph type="dt" sz="half" idx="10"/>
          </p:nvPr>
        </p:nvSpPr>
        <p:spPr/>
        <p:txBody>
          <a:bodyPr/>
          <a:lstStyle/>
          <a:p>
            <a:fld id="{E33763FD-31B4-4F7D-A742-9F9E090B04B8}"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32</a:t>
            </a:fld>
            <a:endParaRPr lang="en-US" altLang="en-US"/>
          </a:p>
        </p:txBody>
      </p:sp>
    </p:spTree>
    <p:extLst>
      <p:ext uri="{BB962C8B-B14F-4D97-AF65-F5344CB8AC3E}">
        <p14:creationId xmlns:p14="http://schemas.microsoft.com/office/powerpoint/2010/main" val="2821753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274638"/>
            <a:ext cx="8153400" cy="639762"/>
          </a:xfrm>
        </p:spPr>
        <p:txBody>
          <a:bodyPr>
            <a:normAutofit fontScale="90000"/>
          </a:bodyPr>
          <a:lstStyle/>
          <a:p>
            <a:r>
              <a:rPr lang="en-US" altLang="en-US" sz="4000" b="1">
                <a:latin typeface="Times New Roman" panose="02020603050405020304" pitchFamily="18" charset="0"/>
              </a:rPr>
              <a:t>Scanning Basics</a:t>
            </a:r>
          </a:p>
        </p:txBody>
      </p:sp>
      <p:sp>
        <p:nvSpPr>
          <p:cNvPr id="21507" name="Rectangle 3"/>
          <p:cNvSpPr>
            <a:spLocks noGrp="1" noChangeArrowheads="1"/>
          </p:cNvSpPr>
          <p:nvPr>
            <p:ph idx="1"/>
          </p:nvPr>
        </p:nvSpPr>
        <p:spPr>
          <a:xfrm>
            <a:off x="457200" y="1066800"/>
            <a:ext cx="8229600" cy="4525963"/>
          </a:xfrm>
        </p:spPr>
        <p:txBody>
          <a:bodyPr/>
          <a:lstStyle/>
          <a:p>
            <a:pPr>
              <a:buFont typeface="Wingdings" panose="05000000000000000000" pitchFamily="2" charset="2"/>
              <a:buChar char="ü"/>
            </a:pPr>
            <a:r>
              <a:rPr lang="en-US" altLang="en-US" sz="2000">
                <a:latin typeface="Times New Roman" panose="02020603050405020304" pitchFamily="18" charset="0"/>
              </a:rPr>
              <a:t>A Scanner reads tokens from the underlying source.</a:t>
            </a:r>
          </a:p>
          <a:p>
            <a:pPr>
              <a:buFont typeface="Wingdings" panose="05000000000000000000" pitchFamily="2" charset="2"/>
              <a:buChar char="ü"/>
            </a:pPr>
            <a:r>
              <a:rPr lang="en-US" altLang="en-US" sz="2000">
                <a:latin typeface="Times New Roman" panose="02020603050405020304" pitchFamily="18" charset="0"/>
              </a:rPr>
              <a:t>A token is a portion of input that is delineated by a set of delimiters, which is by default whitespace.</a:t>
            </a:r>
          </a:p>
          <a:p>
            <a:pPr>
              <a:buFont typeface="Wingdings" panose="05000000000000000000" pitchFamily="2" charset="2"/>
              <a:buChar char="ü"/>
            </a:pPr>
            <a:r>
              <a:rPr lang="en-US" altLang="en-US" sz="2000">
                <a:latin typeface="Times New Roman" panose="02020603050405020304" pitchFamily="18" charset="0"/>
              </a:rPr>
              <a:t>A token is read by matching it with a particular regular expression.</a:t>
            </a:r>
          </a:p>
          <a:p>
            <a:pPr>
              <a:buFont typeface="Wingdings" panose="05000000000000000000" pitchFamily="2" charset="2"/>
              <a:buChar char="ü"/>
            </a:pPr>
            <a:r>
              <a:rPr lang="en-US" altLang="en-US" sz="2000">
                <a:latin typeface="Times New Roman" panose="02020603050405020304" pitchFamily="18" charset="0"/>
              </a:rPr>
              <a:t>Scanner follow the procedure below:</a:t>
            </a:r>
          </a:p>
          <a:p>
            <a:pPr>
              <a:buFont typeface="Wingdings" panose="05000000000000000000" pitchFamily="2" charset="2"/>
              <a:buNone/>
            </a:pPr>
            <a:r>
              <a:rPr lang="en-US" altLang="en-US" sz="2000">
                <a:latin typeface="Times New Roman" panose="02020603050405020304" pitchFamily="18" charset="0"/>
              </a:rPr>
              <a:t>	1. Determine if a specific type of input is available by calling one of the </a:t>
            </a:r>
            <a:r>
              <a:rPr lang="en-US" altLang="en-US" sz="2000" b="1">
                <a:latin typeface="Times New Roman" panose="02020603050405020304" pitchFamily="18" charset="0"/>
              </a:rPr>
              <a:t>hasNextX</a:t>
            </a:r>
            <a:r>
              <a:rPr lang="en-US" altLang="en-US" sz="2000">
                <a:latin typeface="Times New Roman" panose="02020603050405020304" pitchFamily="18" charset="0"/>
              </a:rPr>
              <a:t> methods.</a:t>
            </a:r>
          </a:p>
          <a:p>
            <a:pPr>
              <a:buFont typeface="Wingdings" panose="05000000000000000000" pitchFamily="2" charset="2"/>
              <a:buNone/>
            </a:pPr>
            <a:r>
              <a:rPr lang="en-US" altLang="en-US" sz="2000">
                <a:latin typeface="Times New Roman" panose="02020603050405020304" pitchFamily="18" charset="0"/>
              </a:rPr>
              <a:t>	2. If input is available, read it by calling one of </a:t>
            </a:r>
            <a:r>
              <a:rPr lang="en-US" altLang="en-US" sz="2000" b="1">
                <a:latin typeface="Times New Roman" panose="02020603050405020304" pitchFamily="18" charset="0"/>
              </a:rPr>
              <a:t>nextX</a:t>
            </a:r>
            <a:r>
              <a:rPr lang="en-US" altLang="en-US" sz="2000">
                <a:latin typeface="Times New Roman" panose="02020603050405020304" pitchFamily="18" charset="0"/>
              </a:rPr>
              <a:t> method.</a:t>
            </a:r>
          </a:p>
          <a:p>
            <a:pPr>
              <a:buFont typeface="Wingdings" panose="05000000000000000000" pitchFamily="2" charset="2"/>
              <a:buNone/>
            </a:pPr>
            <a:r>
              <a:rPr lang="en-US" altLang="en-US" sz="2000">
                <a:latin typeface="Times New Roman" panose="02020603050405020304" pitchFamily="18" charset="0"/>
              </a:rPr>
              <a:t>      3. Repeat the process until the input is exhausted.</a:t>
            </a:r>
          </a:p>
          <a:p>
            <a:pPr>
              <a:buFont typeface="Wingdings" panose="05000000000000000000" pitchFamily="2" charset="2"/>
              <a:buNone/>
            </a:pPr>
            <a:endParaRPr lang="en-US" altLang="en-US" sz="2000">
              <a:latin typeface="Times New Roman" panose="02020603050405020304" pitchFamily="18" charset="0"/>
            </a:endParaRPr>
          </a:p>
          <a:p>
            <a:pPr>
              <a:buFont typeface="Wingdings" panose="05000000000000000000" pitchFamily="2" charset="2"/>
              <a:buNone/>
            </a:pPr>
            <a:r>
              <a:rPr lang="en-US" altLang="en-US" sz="2000" b="1" u="sng">
                <a:latin typeface="Times New Roman" panose="02020603050405020304" pitchFamily="18" charset="0"/>
              </a:rPr>
              <a:t>Note: </a:t>
            </a:r>
            <a:r>
              <a:rPr lang="en-US" altLang="en-US" sz="2000">
                <a:latin typeface="Times New Roman" panose="02020603050405020304" pitchFamily="18" charset="0"/>
              </a:rPr>
              <a:t>if nextX() method does not find a matching token, it throws a</a:t>
            </a:r>
            <a:r>
              <a:rPr lang="en-US" altLang="en-US" sz="2000" b="1">
                <a:latin typeface="Times New Roman" panose="02020603050405020304" pitchFamily="18" charset="0"/>
              </a:rPr>
              <a:t> NoSuchElementException</a:t>
            </a:r>
            <a:r>
              <a:rPr lang="en-US" altLang="en-US" sz="2000">
                <a:latin typeface="Times New Roman" panose="02020603050405020304" pitchFamily="18" charset="0"/>
              </a:rPr>
              <a:t>.</a:t>
            </a:r>
            <a:endParaRPr lang="en-US" altLang="en-US" sz="2000" b="1" u="sng">
              <a:latin typeface="Times New Roman" panose="02020603050405020304" pitchFamily="18" charset="0"/>
            </a:endParaRPr>
          </a:p>
          <a:p>
            <a:pPr>
              <a:buFont typeface="Wingdings" panose="05000000000000000000" pitchFamily="2" charset="2"/>
              <a:buChar char="ü"/>
            </a:pPr>
            <a:endParaRPr lang="en-US" altLang="en-US" sz="2000">
              <a:latin typeface="Times New Roman" panose="02020603050405020304" pitchFamily="18" charset="0"/>
            </a:endParaRPr>
          </a:p>
        </p:txBody>
      </p:sp>
      <p:sp>
        <p:nvSpPr>
          <p:cNvPr id="2" name="Date Placeholder 1"/>
          <p:cNvSpPr>
            <a:spLocks noGrp="1"/>
          </p:cNvSpPr>
          <p:nvPr>
            <p:ph type="dt" sz="half" idx="10"/>
          </p:nvPr>
        </p:nvSpPr>
        <p:spPr/>
        <p:txBody>
          <a:bodyPr/>
          <a:lstStyle/>
          <a:p>
            <a:fld id="{6F05D0CD-359F-4E46-B06D-AAE54DADFEBB}"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33</a:t>
            </a:fld>
            <a:endParaRPr lang="en-US" altLang="en-US"/>
          </a:p>
        </p:txBody>
      </p:sp>
    </p:spTree>
    <p:extLst>
      <p:ext uri="{BB962C8B-B14F-4D97-AF65-F5344CB8AC3E}">
        <p14:creationId xmlns:p14="http://schemas.microsoft.com/office/powerpoint/2010/main" val="25959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14400" y="277813"/>
            <a:ext cx="7924800" cy="560387"/>
          </a:xfrm>
        </p:spPr>
        <p:txBody>
          <a:bodyPr>
            <a:normAutofit fontScale="90000"/>
          </a:bodyPr>
          <a:lstStyle/>
          <a:p>
            <a:r>
              <a:rPr lang="en-US" altLang="en-US" sz="3600" b="1">
                <a:latin typeface="Times New Roman" panose="02020603050405020304" pitchFamily="18" charset="0"/>
              </a:rPr>
              <a:t>Important Methods of Scanner Class</a:t>
            </a:r>
          </a:p>
        </p:txBody>
      </p:sp>
      <p:sp>
        <p:nvSpPr>
          <p:cNvPr id="13315" name="Rectangle 3"/>
          <p:cNvSpPr>
            <a:spLocks noGrp="1" noChangeArrowheads="1"/>
          </p:cNvSpPr>
          <p:nvPr>
            <p:ph idx="1"/>
          </p:nvPr>
        </p:nvSpPr>
        <p:spPr>
          <a:xfrm>
            <a:off x="152400" y="1143000"/>
            <a:ext cx="8839200" cy="5105400"/>
          </a:xfrm>
        </p:spPr>
        <p:txBody>
          <a:bodyPr/>
          <a:lstStyle/>
          <a:p>
            <a:pPr>
              <a:buFontTx/>
              <a:buNone/>
            </a:pPr>
            <a:r>
              <a:rPr lang="en-US" altLang="en-US" sz="1600">
                <a:latin typeface="Times New Roman" panose="02020603050405020304" pitchFamily="18" charset="0"/>
              </a:rPr>
              <a:t>public Scanner(InputStream in)	// Scanner(): convenience constructor for an InputStream object</a:t>
            </a:r>
          </a:p>
          <a:p>
            <a:pPr>
              <a:buFontTx/>
              <a:buNone/>
            </a:pPr>
            <a:r>
              <a:rPr lang="en-US" altLang="en-US" sz="1600">
                <a:latin typeface="Times New Roman" panose="02020603050405020304" pitchFamily="18" charset="0"/>
              </a:rPr>
              <a:t>					 </a:t>
            </a:r>
          </a:p>
          <a:p>
            <a:pPr>
              <a:buFontTx/>
              <a:buNone/>
            </a:pPr>
            <a:r>
              <a:rPr lang="en-US" altLang="en-US" sz="1600">
                <a:latin typeface="Times New Roman" panose="02020603050405020304" pitchFamily="18" charset="0"/>
              </a:rPr>
              <a:t>boolean hasNext()        //Return true if another token of any type is available to be read.</a:t>
            </a:r>
          </a:p>
          <a:p>
            <a:pPr>
              <a:buFontTx/>
              <a:buNone/>
            </a:pPr>
            <a:endParaRPr lang="en-US" altLang="en-US" sz="1600">
              <a:latin typeface="Times New Roman" panose="02020603050405020304" pitchFamily="18" charset="0"/>
            </a:endParaRPr>
          </a:p>
          <a:p>
            <a:pPr>
              <a:buFontTx/>
              <a:buNone/>
            </a:pPr>
            <a:r>
              <a:rPr lang="en-US" altLang="en-US" sz="1600">
                <a:latin typeface="Times New Roman" panose="02020603050405020304" pitchFamily="18" charset="0"/>
              </a:rPr>
              <a:t>boolean hasNextBoolean()   //Return true if a boolean value is available to read.</a:t>
            </a:r>
          </a:p>
          <a:p>
            <a:pPr>
              <a:buFontTx/>
              <a:buNone/>
            </a:pPr>
            <a:endParaRPr lang="en-US" altLang="en-US" sz="1600">
              <a:latin typeface="Times New Roman" panose="02020603050405020304" pitchFamily="18" charset="0"/>
            </a:endParaRPr>
          </a:p>
          <a:p>
            <a:pPr>
              <a:buFontTx/>
              <a:buNone/>
            </a:pPr>
            <a:r>
              <a:rPr lang="en-US" altLang="en-US" sz="1600">
                <a:latin typeface="Times New Roman" panose="02020603050405020304" pitchFamily="18" charset="0"/>
              </a:rPr>
              <a:t>boolean hasNextByte()        //Return true if a byte value is available to read.</a:t>
            </a:r>
          </a:p>
          <a:p>
            <a:pPr>
              <a:buFontTx/>
              <a:buNone/>
            </a:pPr>
            <a:endParaRPr lang="en-US" altLang="en-US" sz="1600">
              <a:latin typeface="Times New Roman" panose="02020603050405020304" pitchFamily="18" charset="0"/>
            </a:endParaRPr>
          </a:p>
          <a:p>
            <a:pPr>
              <a:buFontTx/>
              <a:buNone/>
            </a:pPr>
            <a:r>
              <a:rPr lang="en-US" altLang="en-US" sz="1600">
                <a:latin typeface="Times New Roman" panose="02020603050405020304" pitchFamily="18" charset="0"/>
              </a:rPr>
              <a:t>boolean hasNextShort()     //Return true if a byte value is available to read.</a:t>
            </a:r>
          </a:p>
          <a:p>
            <a:pPr>
              <a:buFontTx/>
              <a:buNone/>
            </a:pPr>
            <a:endParaRPr lang="en-US" altLang="en-US" sz="1600">
              <a:latin typeface="Times New Roman" panose="02020603050405020304" pitchFamily="18" charset="0"/>
            </a:endParaRPr>
          </a:p>
          <a:p>
            <a:pPr>
              <a:buFontTx/>
              <a:buNone/>
            </a:pPr>
            <a:r>
              <a:rPr lang="en-US" altLang="en-US" sz="1600">
                <a:latin typeface="Times New Roman" panose="02020603050405020304" pitchFamily="18" charset="0"/>
              </a:rPr>
              <a:t>boolean hasNextInt()        //Return true if a int value is available to read.</a:t>
            </a:r>
          </a:p>
          <a:p>
            <a:pPr>
              <a:buFontTx/>
              <a:buNone/>
            </a:pPr>
            <a:endParaRPr lang="en-US" altLang="en-US" sz="1600">
              <a:latin typeface="Times New Roman" panose="02020603050405020304" pitchFamily="18" charset="0"/>
            </a:endParaRPr>
          </a:p>
          <a:p>
            <a:pPr>
              <a:buFontTx/>
              <a:buNone/>
            </a:pPr>
            <a:r>
              <a:rPr lang="en-US" altLang="en-US" sz="1600">
                <a:latin typeface="Times New Roman" panose="02020603050405020304" pitchFamily="18" charset="0"/>
              </a:rPr>
              <a:t>boolean hasNextLong()     //Return true if a long value is available to read.</a:t>
            </a:r>
          </a:p>
          <a:p>
            <a:pPr>
              <a:buFontTx/>
              <a:buNone/>
            </a:pPr>
            <a:endParaRPr lang="en-US" altLang="en-US" sz="1600">
              <a:latin typeface="Times New Roman" panose="02020603050405020304" pitchFamily="18" charset="0"/>
            </a:endParaRPr>
          </a:p>
          <a:p>
            <a:pPr>
              <a:buFontTx/>
              <a:buNone/>
            </a:pPr>
            <a:r>
              <a:rPr lang="en-US" altLang="en-US" sz="1600">
                <a:latin typeface="Times New Roman" panose="02020603050405020304" pitchFamily="18" charset="0"/>
              </a:rPr>
              <a:t>boolean hasNextFloat()     //Return true if a float value is available to read.</a:t>
            </a:r>
          </a:p>
          <a:p>
            <a:pPr>
              <a:buFontTx/>
              <a:buNone/>
            </a:pPr>
            <a:endParaRPr lang="en-US" altLang="en-US" sz="1600">
              <a:latin typeface="Times New Roman" panose="02020603050405020304" pitchFamily="18" charset="0"/>
            </a:endParaRPr>
          </a:p>
          <a:p>
            <a:pPr>
              <a:buFontTx/>
              <a:buNone/>
            </a:pPr>
            <a:r>
              <a:rPr lang="en-US" altLang="en-US" sz="1600">
                <a:latin typeface="Times New Roman" panose="02020603050405020304" pitchFamily="18" charset="0"/>
              </a:rPr>
              <a:t>boolean hasNextDouble()     //Return true if a double value is available to read.</a:t>
            </a:r>
          </a:p>
        </p:txBody>
      </p:sp>
      <p:sp>
        <p:nvSpPr>
          <p:cNvPr id="2" name="Date Placeholder 1"/>
          <p:cNvSpPr>
            <a:spLocks noGrp="1"/>
          </p:cNvSpPr>
          <p:nvPr>
            <p:ph type="dt" sz="half" idx="10"/>
          </p:nvPr>
        </p:nvSpPr>
        <p:spPr/>
        <p:txBody>
          <a:bodyPr/>
          <a:lstStyle/>
          <a:p>
            <a:fld id="{36380656-A51D-43F4-AA92-D11B177C0F1D}"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34</a:t>
            </a:fld>
            <a:endParaRPr lang="en-US" altLang="en-US"/>
          </a:p>
        </p:txBody>
      </p:sp>
    </p:spTree>
    <p:extLst>
      <p:ext uri="{BB962C8B-B14F-4D97-AF65-F5344CB8AC3E}">
        <p14:creationId xmlns:p14="http://schemas.microsoft.com/office/powerpoint/2010/main" val="10253050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0" dur="500"/>
                                        <p:tgtEl>
                                          <p:spTgt spid="1331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5" dur="500"/>
                                        <p:tgtEl>
                                          <p:spTgt spid="1331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20" dur="500"/>
                                        <p:tgtEl>
                                          <p:spTgt spid="13315">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13315">
                                            <p:txEl>
                                              <p:pRg st="6" end="6"/>
                                            </p:txEl>
                                          </p:spTgt>
                                        </p:tgtEl>
                                        <p:attrNameLst>
                                          <p:attrName>style.visibility</p:attrName>
                                        </p:attrNameLst>
                                      </p:cBhvr>
                                      <p:to>
                                        <p:strVal val="visible"/>
                                      </p:to>
                                    </p:set>
                                    <p:animEffect transition="in" filter="blinds(horizontal)">
                                      <p:cBhvr>
                                        <p:cTn id="25" dur="500"/>
                                        <p:tgtEl>
                                          <p:spTgt spid="13315">
                                            <p:txEl>
                                              <p:pRg st="6" end="6"/>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13315">
                                            <p:txEl>
                                              <p:pRg st="8" end="8"/>
                                            </p:txEl>
                                          </p:spTgt>
                                        </p:tgtEl>
                                        <p:attrNameLst>
                                          <p:attrName>style.visibility</p:attrName>
                                        </p:attrNameLst>
                                      </p:cBhvr>
                                      <p:to>
                                        <p:strVal val="visible"/>
                                      </p:to>
                                    </p:set>
                                    <p:animEffect transition="in" filter="blinds(horizontal)">
                                      <p:cBhvr>
                                        <p:cTn id="30" dur="500"/>
                                        <p:tgtEl>
                                          <p:spTgt spid="13315">
                                            <p:txEl>
                                              <p:pRg st="8" end="8"/>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13315">
                                            <p:txEl>
                                              <p:pRg st="10" end="10"/>
                                            </p:txEl>
                                          </p:spTgt>
                                        </p:tgtEl>
                                        <p:attrNameLst>
                                          <p:attrName>style.visibility</p:attrName>
                                        </p:attrNameLst>
                                      </p:cBhvr>
                                      <p:to>
                                        <p:strVal val="visible"/>
                                      </p:to>
                                    </p:set>
                                    <p:animEffect transition="in" filter="blinds(horizontal)">
                                      <p:cBhvr>
                                        <p:cTn id="35" dur="500"/>
                                        <p:tgtEl>
                                          <p:spTgt spid="13315">
                                            <p:txEl>
                                              <p:pRg st="10" end="1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13315">
                                            <p:txEl>
                                              <p:pRg st="12" end="12"/>
                                            </p:txEl>
                                          </p:spTgt>
                                        </p:tgtEl>
                                        <p:attrNameLst>
                                          <p:attrName>style.visibility</p:attrName>
                                        </p:attrNameLst>
                                      </p:cBhvr>
                                      <p:to>
                                        <p:strVal val="visible"/>
                                      </p:to>
                                    </p:set>
                                    <p:animEffect transition="in" filter="blinds(horizontal)">
                                      <p:cBhvr>
                                        <p:cTn id="40" dur="500"/>
                                        <p:tgtEl>
                                          <p:spTgt spid="13315">
                                            <p:txEl>
                                              <p:pRg st="12" end="12"/>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13315">
                                            <p:txEl>
                                              <p:pRg st="14" end="14"/>
                                            </p:txEl>
                                          </p:spTgt>
                                        </p:tgtEl>
                                        <p:attrNameLst>
                                          <p:attrName>style.visibility</p:attrName>
                                        </p:attrNameLst>
                                      </p:cBhvr>
                                      <p:to>
                                        <p:strVal val="visible"/>
                                      </p:to>
                                    </p:set>
                                    <p:animEffect transition="in" filter="blinds(horizontal)">
                                      <p:cBhvr>
                                        <p:cTn id="45" dur="500"/>
                                        <p:tgtEl>
                                          <p:spTgt spid="13315">
                                            <p:txEl>
                                              <p:pRg st="14" end="14"/>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nodeType="clickEffect">
                                  <p:stCondLst>
                                    <p:cond delay="0"/>
                                  </p:stCondLst>
                                  <p:childTnLst>
                                    <p:set>
                                      <p:cBhvr>
                                        <p:cTn id="49" dur="1" fill="hold">
                                          <p:stCondLst>
                                            <p:cond delay="0"/>
                                          </p:stCondLst>
                                        </p:cTn>
                                        <p:tgtEl>
                                          <p:spTgt spid="13315">
                                            <p:txEl>
                                              <p:pRg st="16" end="16"/>
                                            </p:txEl>
                                          </p:spTgt>
                                        </p:tgtEl>
                                        <p:attrNameLst>
                                          <p:attrName>style.visibility</p:attrName>
                                        </p:attrNameLst>
                                      </p:cBhvr>
                                      <p:to>
                                        <p:strVal val="visible"/>
                                      </p:to>
                                    </p:set>
                                    <p:animEffect transition="in" filter="blinds(horizontal)">
                                      <p:cBhvr>
                                        <p:cTn id="50" dur="500"/>
                                        <p:tgtEl>
                                          <p:spTgt spid="13315">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sz="3600" b="1">
                <a:latin typeface="Times New Roman" panose="02020603050405020304" pitchFamily="18" charset="0"/>
              </a:rPr>
              <a:t>Important Methods of Scanner Class</a:t>
            </a:r>
          </a:p>
        </p:txBody>
      </p:sp>
      <p:sp>
        <p:nvSpPr>
          <p:cNvPr id="20483" name="Rectangle 3"/>
          <p:cNvSpPr>
            <a:spLocks noGrp="1" noChangeArrowheads="1"/>
          </p:cNvSpPr>
          <p:nvPr>
            <p:ph idx="1"/>
          </p:nvPr>
        </p:nvSpPr>
        <p:spPr/>
        <p:txBody>
          <a:bodyPr>
            <a:normAutofit lnSpcReduction="10000"/>
          </a:bodyPr>
          <a:lstStyle/>
          <a:p>
            <a:pPr>
              <a:lnSpc>
                <a:spcPct val="80000"/>
              </a:lnSpc>
              <a:buFontTx/>
              <a:buNone/>
            </a:pPr>
            <a:r>
              <a:rPr lang="en-US" altLang="en-US" sz="2000">
                <a:latin typeface="Times New Roman" panose="02020603050405020304" pitchFamily="18" charset="0"/>
              </a:rPr>
              <a:t>int nextInt() 	                   // return next token as int value.</a:t>
            </a:r>
          </a:p>
          <a:p>
            <a:pPr>
              <a:lnSpc>
                <a:spcPct val="80000"/>
              </a:lnSpc>
              <a:buFontTx/>
              <a:buNone/>
            </a:pPr>
            <a:endParaRPr lang="en-US" altLang="en-US" sz="2000">
              <a:latin typeface="Times New Roman" panose="02020603050405020304" pitchFamily="18" charset="0"/>
            </a:endParaRPr>
          </a:p>
          <a:p>
            <a:pPr>
              <a:lnSpc>
                <a:spcPct val="80000"/>
              </a:lnSpc>
              <a:buFontTx/>
              <a:buNone/>
            </a:pPr>
            <a:r>
              <a:rPr lang="en-US" altLang="en-US" sz="2000">
                <a:latin typeface="Times New Roman" panose="02020603050405020304" pitchFamily="18" charset="0"/>
              </a:rPr>
              <a:t>short nextShort()   	    // return next token as short value.</a:t>
            </a:r>
          </a:p>
          <a:p>
            <a:pPr>
              <a:lnSpc>
                <a:spcPct val="80000"/>
              </a:lnSpc>
              <a:buFontTx/>
              <a:buNone/>
            </a:pPr>
            <a:endParaRPr lang="en-US" altLang="en-US" sz="2000">
              <a:latin typeface="Times New Roman" panose="02020603050405020304" pitchFamily="18" charset="0"/>
            </a:endParaRPr>
          </a:p>
          <a:p>
            <a:pPr>
              <a:lnSpc>
                <a:spcPct val="80000"/>
              </a:lnSpc>
              <a:buFontTx/>
              <a:buNone/>
            </a:pPr>
            <a:r>
              <a:rPr lang="en-US" altLang="en-US" sz="2000">
                <a:latin typeface="Times New Roman" panose="02020603050405020304" pitchFamily="18" charset="0"/>
              </a:rPr>
              <a:t>byte nextByte()                     // return next token as byte value.</a:t>
            </a:r>
          </a:p>
          <a:p>
            <a:pPr>
              <a:lnSpc>
                <a:spcPct val="80000"/>
              </a:lnSpc>
              <a:buFontTx/>
              <a:buNone/>
            </a:pPr>
            <a:endParaRPr lang="en-US" altLang="en-US" sz="2000">
              <a:latin typeface="Times New Roman" panose="02020603050405020304" pitchFamily="18" charset="0"/>
            </a:endParaRPr>
          </a:p>
          <a:p>
            <a:pPr>
              <a:lnSpc>
                <a:spcPct val="80000"/>
              </a:lnSpc>
              <a:buFontTx/>
              <a:buNone/>
            </a:pPr>
            <a:r>
              <a:rPr lang="en-US" altLang="en-US" sz="2000">
                <a:latin typeface="Times New Roman" panose="02020603050405020304" pitchFamily="18" charset="0"/>
              </a:rPr>
              <a:t>long nextLong()	                // return next token as long value.</a:t>
            </a:r>
          </a:p>
          <a:p>
            <a:pPr>
              <a:lnSpc>
                <a:spcPct val="80000"/>
              </a:lnSpc>
              <a:buFontTx/>
              <a:buNone/>
            </a:pPr>
            <a:endParaRPr lang="en-US" altLang="en-US" sz="2000">
              <a:latin typeface="Times New Roman" panose="02020603050405020304" pitchFamily="18" charset="0"/>
            </a:endParaRPr>
          </a:p>
          <a:p>
            <a:pPr>
              <a:lnSpc>
                <a:spcPct val="80000"/>
              </a:lnSpc>
              <a:buFontTx/>
              <a:buNone/>
            </a:pPr>
            <a:r>
              <a:rPr lang="en-US" altLang="en-US" sz="2000">
                <a:latin typeface="Times New Roman" panose="02020603050405020304" pitchFamily="18" charset="0"/>
              </a:rPr>
              <a:t>double nextDouble()          // return next token as double value</a:t>
            </a:r>
          </a:p>
          <a:p>
            <a:pPr>
              <a:lnSpc>
                <a:spcPct val="80000"/>
              </a:lnSpc>
              <a:buFontTx/>
              <a:buNone/>
            </a:pPr>
            <a:endParaRPr lang="en-US" altLang="en-US" sz="2000">
              <a:latin typeface="Times New Roman" panose="02020603050405020304" pitchFamily="18" charset="0"/>
            </a:endParaRPr>
          </a:p>
          <a:p>
            <a:pPr>
              <a:lnSpc>
                <a:spcPct val="80000"/>
              </a:lnSpc>
              <a:buFontTx/>
              <a:buNone/>
            </a:pPr>
            <a:r>
              <a:rPr lang="en-US" altLang="en-US" sz="2000">
                <a:latin typeface="Times New Roman" panose="02020603050405020304" pitchFamily="18" charset="0"/>
              </a:rPr>
              <a:t>float nextFloat()	              // return next token as float value</a:t>
            </a:r>
          </a:p>
          <a:p>
            <a:pPr>
              <a:lnSpc>
                <a:spcPct val="80000"/>
              </a:lnSpc>
              <a:buFontTx/>
              <a:buNone/>
            </a:pPr>
            <a:endParaRPr lang="en-US" altLang="en-US" sz="2000">
              <a:latin typeface="Times New Roman" panose="02020603050405020304" pitchFamily="18" charset="0"/>
            </a:endParaRPr>
          </a:p>
          <a:p>
            <a:pPr>
              <a:lnSpc>
                <a:spcPct val="80000"/>
              </a:lnSpc>
              <a:buFontTx/>
              <a:buNone/>
            </a:pPr>
            <a:r>
              <a:rPr lang="en-US" altLang="en-US" sz="2000">
                <a:latin typeface="Times New Roman" panose="02020603050405020304" pitchFamily="18" charset="0"/>
              </a:rPr>
              <a:t>String next()	             //return next token of any type from the input source</a:t>
            </a:r>
          </a:p>
          <a:p>
            <a:pPr>
              <a:lnSpc>
                <a:spcPct val="80000"/>
              </a:lnSpc>
              <a:buFontTx/>
              <a:buNone/>
            </a:pPr>
            <a:endParaRPr lang="en-US" altLang="en-US" sz="2000">
              <a:latin typeface="Times New Roman" panose="02020603050405020304" pitchFamily="18" charset="0"/>
            </a:endParaRPr>
          </a:p>
          <a:p>
            <a:pPr>
              <a:lnSpc>
                <a:spcPct val="80000"/>
              </a:lnSpc>
              <a:buFontTx/>
              <a:buNone/>
            </a:pPr>
            <a:r>
              <a:rPr lang="en-US" altLang="en-US" sz="2000">
                <a:latin typeface="Times New Roman" panose="02020603050405020304" pitchFamily="18" charset="0"/>
              </a:rPr>
              <a:t>String nextLine()             // return the next line of input as a string</a:t>
            </a:r>
            <a:endParaRPr lang="en-US" altLang="en-US" sz="2000"/>
          </a:p>
        </p:txBody>
      </p:sp>
      <p:sp>
        <p:nvSpPr>
          <p:cNvPr id="2" name="Date Placeholder 1"/>
          <p:cNvSpPr>
            <a:spLocks noGrp="1"/>
          </p:cNvSpPr>
          <p:nvPr>
            <p:ph type="dt" sz="half" idx="10"/>
          </p:nvPr>
        </p:nvSpPr>
        <p:spPr/>
        <p:txBody>
          <a:bodyPr/>
          <a:lstStyle/>
          <a:p>
            <a:fld id="{E9D157FA-F8CA-47C5-A363-81D9B18259BA}"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35</a:t>
            </a:fld>
            <a:endParaRPr lang="en-US" altLang="en-US"/>
          </a:p>
        </p:txBody>
      </p:sp>
    </p:spTree>
    <p:extLst>
      <p:ext uri="{BB962C8B-B14F-4D97-AF65-F5344CB8AC3E}">
        <p14:creationId xmlns:p14="http://schemas.microsoft.com/office/powerpoint/2010/main" val="13590160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blinds(horizontal)">
                                      <p:cBhvr>
                                        <p:cTn id="7" dur="500"/>
                                        <p:tgtEl>
                                          <p:spTgt spid="204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12" dur="500"/>
                                        <p:tgtEl>
                                          <p:spTgt spid="2048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17" dur="500"/>
                                        <p:tgtEl>
                                          <p:spTgt spid="2048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0483">
                                            <p:txEl>
                                              <p:pRg st="6" end="6"/>
                                            </p:txEl>
                                          </p:spTgt>
                                        </p:tgtEl>
                                        <p:attrNameLst>
                                          <p:attrName>style.visibility</p:attrName>
                                        </p:attrNameLst>
                                      </p:cBhvr>
                                      <p:to>
                                        <p:strVal val="visible"/>
                                      </p:to>
                                    </p:set>
                                    <p:animEffect transition="in" filter="blinds(horizontal)">
                                      <p:cBhvr>
                                        <p:cTn id="22" dur="500"/>
                                        <p:tgtEl>
                                          <p:spTgt spid="20483">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0483">
                                            <p:txEl>
                                              <p:pRg st="8" end="8"/>
                                            </p:txEl>
                                          </p:spTgt>
                                        </p:tgtEl>
                                        <p:attrNameLst>
                                          <p:attrName>style.visibility</p:attrName>
                                        </p:attrNameLst>
                                      </p:cBhvr>
                                      <p:to>
                                        <p:strVal val="visible"/>
                                      </p:to>
                                    </p:set>
                                    <p:animEffect transition="in" filter="blinds(horizontal)">
                                      <p:cBhvr>
                                        <p:cTn id="27" dur="500"/>
                                        <p:tgtEl>
                                          <p:spTgt spid="20483">
                                            <p:txEl>
                                              <p:pRg st="8" end="8"/>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0483">
                                            <p:txEl>
                                              <p:pRg st="10" end="10"/>
                                            </p:txEl>
                                          </p:spTgt>
                                        </p:tgtEl>
                                        <p:attrNameLst>
                                          <p:attrName>style.visibility</p:attrName>
                                        </p:attrNameLst>
                                      </p:cBhvr>
                                      <p:to>
                                        <p:strVal val="visible"/>
                                      </p:to>
                                    </p:set>
                                    <p:animEffect transition="in" filter="blinds(horizontal)">
                                      <p:cBhvr>
                                        <p:cTn id="32" dur="500"/>
                                        <p:tgtEl>
                                          <p:spTgt spid="20483">
                                            <p:txEl>
                                              <p:pRg st="10" end="1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0483">
                                            <p:txEl>
                                              <p:pRg st="12" end="12"/>
                                            </p:txEl>
                                          </p:spTgt>
                                        </p:tgtEl>
                                        <p:attrNameLst>
                                          <p:attrName>style.visibility</p:attrName>
                                        </p:attrNameLst>
                                      </p:cBhvr>
                                      <p:to>
                                        <p:strVal val="visible"/>
                                      </p:to>
                                    </p:set>
                                    <p:animEffect transition="in" filter="blinds(horizontal)">
                                      <p:cBhvr>
                                        <p:cTn id="37" dur="500"/>
                                        <p:tgtEl>
                                          <p:spTgt spid="20483">
                                            <p:txEl>
                                              <p:pRg st="12" end="1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0483">
                                            <p:txEl>
                                              <p:pRg st="14" end="14"/>
                                            </p:txEl>
                                          </p:spTgt>
                                        </p:tgtEl>
                                        <p:attrNameLst>
                                          <p:attrName>style.visibility</p:attrName>
                                        </p:attrNameLst>
                                      </p:cBhvr>
                                      <p:to>
                                        <p:strVal val="visible"/>
                                      </p:to>
                                    </p:set>
                                    <p:animEffect transition="in" filter="blinds(horizontal)">
                                      <p:cBhvr>
                                        <p:cTn id="42" dur="500"/>
                                        <p:tgtEl>
                                          <p:spTgt spid="2048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b="1">
                <a:latin typeface="Times New Roman" panose="02020603050405020304" pitchFamily="18" charset="0"/>
              </a:rPr>
              <a:t>Taking Input from the File</a:t>
            </a:r>
          </a:p>
        </p:txBody>
      </p:sp>
      <p:sp>
        <p:nvSpPr>
          <p:cNvPr id="24579" name="Rectangle 3"/>
          <p:cNvSpPr>
            <a:spLocks noGrp="1" noChangeArrowheads="1"/>
          </p:cNvSpPr>
          <p:nvPr>
            <p:ph idx="1"/>
          </p:nvPr>
        </p:nvSpPr>
        <p:spPr/>
        <p:txBody>
          <a:bodyPr/>
          <a:lstStyle/>
          <a:p>
            <a:pPr>
              <a:buFont typeface="Wingdings" panose="05000000000000000000" pitchFamily="2" charset="2"/>
              <a:buChar char="ü"/>
            </a:pPr>
            <a:r>
              <a:rPr lang="en-US" altLang="en-US" sz="2400">
                <a:latin typeface="Times New Roman" panose="02020603050405020304" pitchFamily="18" charset="0"/>
              </a:rPr>
              <a:t>The following lines read data from a file:</a:t>
            </a:r>
          </a:p>
          <a:p>
            <a:pPr>
              <a:buFont typeface="Wingdings" panose="05000000000000000000" pitchFamily="2" charset="2"/>
              <a:buNone/>
            </a:pPr>
            <a:r>
              <a:rPr lang="en-US" altLang="en-US" sz="2400">
                <a:latin typeface="Times New Roman" panose="02020603050405020304" pitchFamily="18" charset="0"/>
              </a:rPr>
              <a:t>	FileReader fin = new FileReader(“c:\\f_input.txt”);</a:t>
            </a:r>
          </a:p>
          <a:p>
            <a:pPr>
              <a:buFont typeface="Wingdings" panose="05000000000000000000" pitchFamily="2" charset="2"/>
              <a:buNone/>
            </a:pPr>
            <a:r>
              <a:rPr lang="en-US" altLang="en-US" sz="2400">
                <a:latin typeface="Times New Roman" panose="02020603050405020304" pitchFamily="18" charset="0"/>
              </a:rPr>
              <a:t>    Scanner test = new Scanner(fin);</a:t>
            </a:r>
          </a:p>
          <a:p>
            <a:pPr>
              <a:buFont typeface="Wingdings" panose="05000000000000000000" pitchFamily="2" charset="2"/>
              <a:buNone/>
            </a:pPr>
            <a:endParaRPr lang="en-US" altLang="en-US" sz="2400">
              <a:latin typeface="Times New Roman" panose="02020603050405020304" pitchFamily="18" charset="0"/>
            </a:endParaRPr>
          </a:p>
          <a:p>
            <a:pPr>
              <a:buFont typeface="Wingdings" panose="05000000000000000000" pitchFamily="2" charset="2"/>
              <a:buNone/>
            </a:pPr>
            <a:endParaRPr lang="en-US" altLang="en-US" sz="2400">
              <a:latin typeface="Times New Roman" panose="02020603050405020304" pitchFamily="18" charset="0"/>
            </a:endParaRPr>
          </a:p>
          <a:p>
            <a:pPr>
              <a:buFont typeface="Wingdings" panose="05000000000000000000" pitchFamily="2" charset="2"/>
              <a:buNone/>
            </a:pPr>
            <a:endParaRPr lang="en-US" altLang="en-US" sz="2400">
              <a:latin typeface="Times New Roman" panose="02020603050405020304" pitchFamily="18" charset="0"/>
            </a:endParaRPr>
          </a:p>
          <a:p>
            <a:pPr>
              <a:buFont typeface="Wingdings" panose="05000000000000000000" pitchFamily="2" charset="2"/>
              <a:buNone/>
            </a:pPr>
            <a:endParaRPr lang="en-US" altLang="en-US" sz="2400">
              <a:latin typeface="Times New Roman" panose="02020603050405020304" pitchFamily="18" charset="0"/>
            </a:endParaRPr>
          </a:p>
          <a:p>
            <a:pPr>
              <a:buFont typeface="Wingdings" panose="05000000000000000000" pitchFamily="2" charset="2"/>
              <a:buChar char="ü"/>
            </a:pPr>
            <a:r>
              <a:rPr lang="en-US" altLang="en-US" sz="2400" b="1" u="sng">
                <a:latin typeface="Times New Roman" panose="02020603050405020304" pitchFamily="18" charset="0"/>
              </a:rPr>
              <a:t>FileReader:</a:t>
            </a:r>
          </a:p>
          <a:p>
            <a:pPr>
              <a:buFont typeface="Wingdings" panose="05000000000000000000" pitchFamily="2" charset="2"/>
              <a:buNone/>
            </a:pPr>
            <a:r>
              <a:rPr lang="en-US" altLang="en-US" sz="2400" b="1" u="sng">
                <a:latin typeface="Times New Roman" panose="02020603050405020304" pitchFamily="18" charset="0"/>
              </a:rPr>
              <a:t>   </a:t>
            </a:r>
            <a:r>
              <a:rPr lang="en-US" altLang="en-US" sz="2400">
                <a:latin typeface="Times New Roman" panose="02020603050405020304" pitchFamily="18" charset="0"/>
              </a:rPr>
              <a:t>- belongs to java.io package.</a:t>
            </a:r>
          </a:p>
          <a:p>
            <a:pPr>
              <a:buFont typeface="Wingdings" panose="05000000000000000000" pitchFamily="2" charset="2"/>
              <a:buNone/>
            </a:pPr>
            <a:r>
              <a:rPr lang="en-US" altLang="en-US" sz="2400">
                <a:latin typeface="Times New Roman" panose="02020603050405020304" pitchFamily="18" charset="0"/>
              </a:rPr>
              <a:t>   -It creates an object that can read the content of a file.</a:t>
            </a:r>
          </a:p>
        </p:txBody>
      </p:sp>
      <p:sp>
        <p:nvSpPr>
          <p:cNvPr id="2" name="Date Placeholder 1"/>
          <p:cNvSpPr>
            <a:spLocks noGrp="1"/>
          </p:cNvSpPr>
          <p:nvPr>
            <p:ph type="dt" sz="half" idx="10"/>
          </p:nvPr>
        </p:nvSpPr>
        <p:spPr/>
        <p:txBody>
          <a:bodyPr/>
          <a:lstStyle/>
          <a:p>
            <a:fld id="{EEC9B6A2-3FF8-4AA0-82F4-0D2F9FB50BB9}"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36</a:t>
            </a:fld>
            <a:endParaRPr lang="en-US" altLang="en-US"/>
          </a:p>
        </p:txBody>
      </p:sp>
      <p:sp>
        <p:nvSpPr>
          <p:cNvPr id="24580" name="Line 4"/>
          <p:cNvSpPr>
            <a:spLocks noChangeShapeType="1"/>
          </p:cNvSpPr>
          <p:nvPr/>
        </p:nvSpPr>
        <p:spPr bwMode="auto">
          <a:xfrm flipV="1">
            <a:off x="3581400" y="28194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1" name="Text Box 5"/>
          <p:cNvSpPr txBox="1">
            <a:spLocks noChangeArrowheads="1"/>
          </p:cNvSpPr>
          <p:nvPr/>
        </p:nvSpPr>
        <p:spPr bwMode="auto">
          <a:xfrm>
            <a:off x="2286000" y="3733800"/>
            <a:ext cx="5257800"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anose="02020603050405020304" pitchFamily="18" charset="0"/>
              </a:rPr>
              <a:t>Calls the constructor Scanner (Readable from)</a:t>
            </a:r>
          </a:p>
          <a:p>
            <a:pPr>
              <a:spcBef>
                <a:spcPct val="50000"/>
              </a:spcBef>
            </a:pPr>
            <a:r>
              <a:rPr lang="en-US" altLang="en-US">
                <a:latin typeface="Times New Roman" panose="02020603050405020304" pitchFamily="18" charset="0"/>
              </a:rPr>
              <a:t>-Creates a Scanner that uses the Readable Object</a:t>
            </a:r>
          </a:p>
        </p:txBody>
      </p:sp>
    </p:spTree>
    <p:extLst>
      <p:ext uri="{BB962C8B-B14F-4D97-AF65-F5344CB8AC3E}">
        <p14:creationId xmlns:p14="http://schemas.microsoft.com/office/powerpoint/2010/main" val="31459944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blinds(horizontal)">
                                      <p:cBhvr>
                                        <p:cTn id="7" dur="500"/>
                                        <p:tgtEl>
                                          <p:spTgt spid="245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81"/>
                                        </p:tgtEl>
                                        <p:attrNameLst>
                                          <p:attrName>style.visibility</p:attrName>
                                        </p:attrNameLst>
                                      </p:cBhvr>
                                      <p:to>
                                        <p:strVal val="visible"/>
                                      </p:to>
                                    </p:set>
                                    <p:animEffect transition="in" filter="blinds(horizontal)">
                                      <p:cBhvr>
                                        <p:cTn id="12" dur="500"/>
                                        <p:tgtEl>
                                          <p:spTgt spid="24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animBg="1"/>
      <p:bldP spid="2458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274638"/>
            <a:ext cx="8229600" cy="484187"/>
          </a:xfrm>
        </p:spPr>
        <p:txBody>
          <a:bodyPr>
            <a:normAutofit fontScale="90000"/>
          </a:bodyPr>
          <a:lstStyle/>
          <a:p>
            <a:r>
              <a:rPr lang="en-US" altLang="en-US" sz="4000" b="1">
                <a:latin typeface="Times New Roman" panose="02020603050405020304" pitchFamily="18" charset="0"/>
              </a:rPr>
              <a:t>Taking Input from the File</a:t>
            </a:r>
          </a:p>
        </p:txBody>
      </p:sp>
      <p:sp>
        <p:nvSpPr>
          <p:cNvPr id="25603" name="Rectangle 3"/>
          <p:cNvSpPr>
            <a:spLocks noGrp="1" noChangeArrowheads="1"/>
          </p:cNvSpPr>
          <p:nvPr>
            <p:ph idx="1"/>
          </p:nvPr>
        </p:nvSpPr>
        <p:spPr>
          <a:xfrm>
            <a:off x="914400" y="1143000"/>
            <a:ext cx="7772400" cy="4530725"/>
          </a:xfrm>
        </p:spPr>
        <p:txBody>
          <a:bodyPr>
            <a:normAutofit fontScale="92500" lnSpcReduction="20000"/>
          </a:bodyPr>
          <a:lstStyle/>
          <a:p>
            <a:pPr>
              <a:lnSpc>
                <a:spcPct val="80000"/>
              </a:lnSpc>
              <a:buFontTx/>
              <a:buNone/>
            </a:pPr>
            <a:r>
              <a:rPr lang="en-US" altLang="en-US" sz="1200">
                <a:solidFill>
                  <a:srgbClr val="990000"/>
                </a:solidFill>
                <a:latin typeface="Times New Roman" panose="02020603050405020304" pitchFamily="18" charset="0"/>
              </a:rPr>
              <a:t>import java.io.*;</a:t>
            </a:r>
          </a:p>
          <a:p>
            <a:pPr>
              <a:lnSpc>
                <a:spcPct val="80000"/>
              </a:lnSpc>
              <a:buFontTx/>
              <a:buNone/>
            </a:pPr>
            <a:r>
              <a:rPr lang="en-US" altLang="en-US" sz="1200">
                <a:solidFill>
                  <a:srgbClr val="990000"/>
                </a:solidFill>
                <a:latin typeface="Times New Roman" panose="02020603050405020304" pitchFamily="18" charset="0"/>
              </a:rPr>
              <a:t>import java.util.*;</a:t>
            </a:r>
          </a:p>
          <a:p>
            <a:pPr>
              <a:lnSpc>
                <a:spcPct val="80000"/>
              </a:lnSpc>
            </a:pPr>
            <a:endParaRPr lang="en-US" altLang="en-US" sz="1200">
              <a:solidFill>
                <a:srgbClr val="990000"/>
              </a:solidFill>
              <a:latin typeface="Times New Roman" panose="02020603050405020304" pitchFamily="18" charset="0"/>
            </a:endParaRPr>
          </a:p>
          <a:p>
            <a:pPr>
              <a:lnSpc>
                <a:spcPct val="80000"/>
              </a:lnSpc>
              <a:buFontTx/>
              <a:buNone/>
            </a:pPr>
            <a:r>
              <a:rPr lang="en-US" altLang="en-US" sz="1200">
                <a:latin typeface="Times New Roman" panose="02020603050405020304" pitchFamily="18" charset="0"/>
              </a:rPr>
              <a:t>class file_input</a:t>
            </a:r>
          </a:p>
          <a:p>
            <a:pPr>
              <a:lnSpc>
                <a:spcPct val="80000"/>
              </a:lnSpc>
              <a:buFontTx/>
              <a:buNone/>
            </a:pPr>
            <a:r>
              <a:rPr lang="en-US" altLang="en-US" sz="1200">
                <a:latin typeface="Times New Roman" panose="02020603050405020304" pitchFamily="18" charset="0"/>
              </a:rPr>
              <a:t>{</a:t>
            </a:r>
          </a:p>
          <a:p>
            <a:pPr>
              <a:lnSpc>
                <a:spcPct val="80000"/>
              </a:lnSpc>
              <a:buFontTx/>
              <a:buNone/>
            </a:pPr>
            <a:r>
              <a:rPr lang="en-US" altLang="en-US" sz="1200">
                <a:latin typeface="Times New Roman" panose="02020603050405020304" pitchFamily="18" charset="0"/>
              </a:rPr>
              <a:t>	public static void main(String args[]) throws IOException</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double i;</a:t>
            </a:r>
          </a:p>
          <a:p>
            <a:pPr>
              <a:lnSpc>
                <a:spcPct val="80000"/>
              </a:lnSpc>
              <a:buFontTx/>
              <a:buNone/>
            </a:pPr>
            <a:r>
              <a:rPr lang="en-US" altLang="en-US" sz="1200">
                <a:latin typeface="Times New Roman" panose="02020603050405020304" pitchFamily="18" charset="0"/>
              </a:rPr>
              <a:t>		String str;</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a:t>
            </a:r>
            <a:r>
              <a:rPr lang="en-US" altLang="en-US" sz="1200">
                <a:solidFill>
                  <a:srgbClr val="990000"/>
                </a:solidFill>
                <a:latin typeface="Times New Roman" panose="02020603050405020304" pitchFamily="18" charset="0"/>
              </a:rPr>
              <a:t>FileReader fin = new FileReader("c:\\f_input.txt");</a:t>
            </a:r>
          </a:p>
          <a:p>
            <a:pPr>
              <a:lnSpc>
                <a:spcPct val="80000"/>
              </a:lnSpc>
              <a:buFontTx/>
              <a:buNone/>
            </a:pPr>
            <a:r>
              <a:rPr lang="en-US" altLang="en-US" sz="1200">
                <a:solidFill>
                  <a:srgbClr val="990000"/>
                </a:solidFill>
                <a:latin typeface="Times New Roman" panose="02020603050405020304" pitchFamily="18" charset="0"/>
              </a:rPr>
              <a:t>		</a:t>
            </a:r>
          </a:p>
          <a:p>
            <a:pPr>
              <a:lnSpc>
                <a:spcPct val="80000"/>
              </a:lnSpc>
              <a:buFontTx/>
              <a:buNone/>
            </a:pPr>
            <a:r>
              <a:rPr lang="en-US" altLang="en-US" sz="1200">
                <a:solidFill>
                  <a:srgbClr val="990000"/>
                </a:solidFill>
                <a:latin typeface="Times New Roman" panose="02020603050405020304" pitchFamily="18" charset="0"/>
              </a:rPr>
              <a:t>		Scanner test = new Scanner(fin);</a:t>
            </a:r>
          </a:p>
          <a:p>
            <a:pPr>
              <a:lnSpc>
                <a:spcPct val="80000"/>
              </a:lnSpc>
              <a:buFontTx/>
              <a:buNone/>
            </a:pPr>
            <a:r>
              <a:rPr lang="en-US" altLang="en-US" sz="1200">
                <a:solidFill>
                  <a:srgbClr val="990000"/>
                </a:solidFill>
                <a:latin typeface="Times New Roman" panose="02020603050405020304" pitchFamily="18" charset="0"/>
              </a:rPr>
              <a:t>		</a:t>
            </a:r>
          </a:p>
          <a:p>
            <a:pPr>
              <a:lnSpc>
                <a:spcPct val="80000"/>
              </a:lnSpc>
              <a:buFontTx/>
              <a:buNone/>
            </a:pPr>
            <a:r>
              <a:rPr lang="en-US" altLang="en-US" sz="1200">
                <a:solidFill>
                  <a:srgbClr val="990000"/>
                </a:solidFill>
                <a:latin typeface="Times New Roman" panose="02020603050405020304" pitchFamily="18" charset="0"/>
              </a:rPr>
              <a:t>		while(test.hasNext())</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a:t>
            </a:r>
            <a:r>
              <a:rPr lang="en-US" altLang="en-US" sz="1200">
                <a:solidFill>
                  <a:srgbClr val="990000"/>
                </a:solidFill>
                <a:latin typeface="Times New Roman" panose="02020603050405020304" pitchFamily="18" charset="0"/>
              </a:rPr>
              <a:t>if(test.hasNextDouble())</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a:t>
            </a:r>
            <a:r>
              <a:rPr lang="en-US" altLang="en-US" sz="1200">
                <a:solidFill>
                  <a:srgbClr val="990000"/>
                </a:solidFill>
                <a:latin typeface="Times New Roman" panose="02020603050405020304" pitchFamily="18" charset="0"/>
              </a:rPr>
              <a:t>i=test.nextDouble();</a:t>
            </a:r>
          </a:p>
          <a:p>
            <a:pPr>
              <a:lnSpc>
                <a:spcPct val="80000"/>
              </a:lnSpc>
              <a:buFontTx/>
              <a:buNone/>
            </a:pPr>
            <a:r>
              <a:rPr lang="en-US" altLang="en-US" sz="1200">
                <a:latin typeface="Times New Roman" panose="02020603050405020304" pitchFamily="18" charset="0"/>
              </a:rPr>
              <a:t>				System.out.println("The number is:" + i);		</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else</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a:t>
            </a:r>
            <a:r>
              <a:rPr lang="en-US" altLang="en-US" sz="1200">
                <a:solidFill>
                  <a:srgbClr val="990000"/>
                </a:solidFill>
                <a:latin typeface="Times New Roman" panose="02020603050405020304" pitchFamily="18" charset="0"/>
              </a:rPr>
              <a:t>str = test.next();</a:t>
            </a:r>
          </a:p>
          <a:p>
            <a:pPr>
              <a:lnSpc>
                <a:spcPct val="80000"/>
              </a:lnSpc>
              <a:buFontTx/>
              <a:buNone/>
            </a:pPr>
            <a:r>
              <a:rPr lang="en-US" altLang="en-US" sz="1200">
                <a:latin typeface="Times New Roman" panose="02020603050405020304" pitchFamily="18" charset="0"/>
              </a:rPr>
              <a:t>				System.out.println(str);</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fin.close();</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a:t>
            </a:r>
          </a:p>
        </p:txBody>
      </p:sp>
      <p:sp>
        <p:nvSpPr>
          <p:cNvPr id="2" name="Date Placeholder 1"/>
          <p:cNvSpPr>
            <a:spLocks noGrp="1"/>
          </p:cNvSpPr>
          <p:nvPr>
            <p:ph type="dt" sz="half" idx="10"/>
          </p:nvPr>
        </p:nvSpPr>
        <p:spPr/>
        <p:txBody>
          <a:bodyPr/>
          <a:lstStyle/>
          <a:p>
            <a:fld id="{22D39F59-7642-47DD-9C05-DE3E565A5CDC}"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37</a:t>
            </a:fld>
            <a:endParaRPr lang="en-US" altLang="en-US"/>
          </a:p>
        </p:txBody>
      </p:sp>
    </p:spTree>
    <p:extLst>
      <p:ext uri="{BB962C8B-B14F-4D97-AF65-F5344CB8AC3E}">
        <p14:creationId xmlns:p14="http://schemas.microsoft.com/office/powerpoint/2010/main" val="32204126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10" dur="500"/>
                                        <p:tgtEl>
                                          <p:spTgt spid="2560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5603">
                                            <p:txEl>
                                              <p:pRg st="10" end="10"/>
                                            </p:txEl>
                                          </p:spTgt>
                                        </p:tgtEl>
                                        <p:attrNameLst>
                                          <p:attrName>style.visibility</p:attrName>
                                        </p:attrNameLst>
                                      </p:cBhvr>
                                      <p:to>
                                        <p:strVal val="visible"/>
                                      </p:to>
                                    </p:set>
                                    <p:animEffect transition="in" filter="blinds(horizontal)">
                                      <p:cBhvr>
                                        <p:cTn id="15" dur="500"/>
                                        <p:tgtEl>
                                          <p:spTgt spid="25603">
                                            <p:txEl>
                                              <p:pRg st="10" end="1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25603">
                                            <p:txEl>
                                              <p:pRg st="12" end="12"/>
                                            </p:txEl>
                                          </p:spTgt>
                                        </p:tgtEl>
                                        <p:attrNameLst>
                                          <p:attrName>style.visibility</p:attrName>
                                        </p:attrNameLst>
                                      </p:cBhvr>
                                      <p:to>
                                        <p:strVal val="visible"/>
                                      </p:to>
                                    </p:set>
                                    <p:animEffect transition="in" filter="blinds(horizontal)">
                                      <p:cBhvr>
                                        <p:cTn id="20" dur="500"/>
                                        <p:tgtEl>
                                          <p:spTgt spid="25603">
                                            <p:txEl>
                                              <p:pRg st="12" end="1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25603">
                                            <p:txEl>
                                              <p:pRg st="14" end="14"/>
                                            </p:txEl>
                                          </p:spTgt>
                                        </p:tgtEl>
                                        <p:attrNameLst>
                                          <p:attrName>style.visibility</p:attrName>
                                        </p:attrNameLst>
                                      </p:cBhvr>
                                      <p:to>
                                        <p:strVal val="visible"/>
                                      </p:to>
                                    </p:set>
                                    <p:animEffect transition="in" filter="blinds(horizontal)">
                                      <p:cBhvr>
                                        <p:cTn id="25" dur="500"/>
                                        <p:tgtEl>
                                          <p:spTgt spid="25603">
                                            <p:txEl>
                                              <p:pRg st="14" end="1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25603">
                                            <p:txEl>
                                              <p:pRg st="16" end="16"/>
                                            </p:txEl>
                                          </p:spTgt>
                                        </p:tgtEl>
                                        <p:attrNameLst>
                                          <p:attrName>style.visibility</p:attrName>
                                        </p:attrNameLst>
                                      </p:cBhvr>
                                      <p:to>
                                        <p:strVal val="visible"/>
                                      </p:to>
                                    </p:set>
                                    <p:animEffect transition="in" filter="blinds(horizontal)">
                                      <p:cBhvr>
                                        <p:cTn id="30" dur="500"/>
                                        <p:tgtEl>
                                          <p:spTgt spid="25603">
                                            <p:txEl>
                                              <p:pRg st="16" end="16"/>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25603">
                                            <p:txEl>
                                              <p:pRg st="18" end="18"/>
                                            </p:txEl>
                                          </p:spTgt>
                                        </p:tgtEl>
                                        <p:attrNameLst>
                                          <p:attrName>style.visibility</p:attrName>
                                        </p:attrNameLst>
                                      </p:cBhvr>
                                      <p:to>
                                        <p:strVal val="visible"/>
                                      </p:to>
                                    </p:set>
                                    <p:animEffect transition="in" filter="blinds(horizontal)">
                                      <p:cBhvr>
                                        <p:cTn id="35" dur="500"/>
                                        <p:tgtEl>
                                          <p:spTgt spid="25603">
                                            <p:txEl>
                                              <p:pRg st="18" end="18"/>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25603">
                                            <p:txEl>
                                              <p:pRg st="23" end="23"/>
                                            </p:txEl>
                                          </p:spTgt>
                                        </p:tgtEl>
                                        <p:attrNameLst>
                                          <p:attrName>style.visibility</p:attrName>
                                        </p:attrNameLst>
                                      </p:cBhvr>
                                      <p:to>
                                        <p:strVal val="visible"/>
                                      </p:to>
                                    </p:set>
                                    <p:animEffect transition="in" filter="blinds(horizontal)">
                                      <p:cBhvr>
                                        <p:cTn id="40" dur="500"/>
                                        <p:tgtEl>
                                          <p:spTgt spid="25603">
                                            <p:txEl>
                                              <p:pRg st="23" end="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b="1">
                <a:latin typeface="Times New Roman" panose="02020603050405020304" pitchFamily="18" charset="0"/>
              </a:rPr>
              <a:t>Taking Input from a File</a:t>
            </a:r>
          </a:p>
        </p:txBody>
      </p:sp>
      <p:sp>
        <p:nvSpPr>
          <p:cNvPr id="26627" name="Rectangle 3"/>
          <p:cNvSpPr>
            <a:spLocks noGrp="1" noChangeArrowheads="1"/>
          </p:cNvSpPr>
          <p:nvPr>
            <p:ph idx="1"/>
          </p:nvPr>
        </p:nvSpPr>
        <p:spPr/>
        <p:txBody>
          <a:bodyPr>
            <a:normAutofit fontScale="92500" lnSpcReduction="10000"/>
          </a:bodyPr>
          <a:lstStyle/>
          <a:p>
            <a:pPr>
              <a:buFontTx/>
              <a:buNone/>
            </a:pPr>
            <a:r>
              <a:rPr lang="en-US" altLang="en-US" sz="2400">
                <a:latin typeface="Times New Roman" panose="02020603050405020304" pitchFamily="18" charset="0"/>
              </a:rPr>
              <a:t>Suppose the file contains the following data:</a:t>
            </a:r>
          </a:p>
          <a:p>
            <a:pPr>
              <a:buFontTx/>
              <a:buNone/>
            </a:pPr>
            <a:r>
              <a:rPr lang="en-US" altLang="en-US" sz="2400">
                <a:latin typeface="Times New Roman" panose="02020603050405020304" pitchFamily="18" charset="0"/>
              </a:rPr>
              <a:t>2 3.4 5 6 7.4 9.1 10.5 done</a:t>
            </a:r>
          </a:p>
          <a:p>
            <a:pPr>
              <a:buFontTx/>
              <a:buNone/>
            </a:pPr>
            <a:r>
              <a:rPr lang="en-US" altLang="en-US" sz="2400">
                <a:latin typeface="Times New Roman" panose="02020603050405020304" pitchFamily="18" charset="0"/>
              </a:rPr>
              <a:t>Output:</a:t>
            </a:r>
          </a:p>
          <a:p>
            <a:pPr>
              <a:buFontTx/>
              <a:buNone/>
            </a:pPr>
            <a:r>
              <a:rPr lang="en-US" altLang="en-US" sz="2400">
                <a:latin typeface="Times New Roman" panose="02020603050405020304" pitchFamily="18" charset="0"/>
              </a:rPr>
              <a:t>The number is: 2.0</a:t>
            </a:r>
          </a:p>
          <a:p>
            <a:pPr>
              <a:buFontTx/>
              <a:buNone/>
            </a:pPr>
            <a:r>
              <a:rPr lang="en-US" altLang="en-US" sz="2400">
                <a:latin typeface="Times New Roman" panose="02020603050405020304" pitchFamily="18" charset="0"/>
              </a:rPr>
              <a:t>The number is: 3.4</a:t>
            </a:r>
          </a:p>
          <a:p>
            <a:pPr>
              <a:buFontTx/>
              <a:buNone/>
            </a:pPr>
            <a:r>
              <a:rPr lang="en-US" altLang="en-US" sz="2400">
                <a:latin typeface="Times New Roman" panose="02020603050405020304" pitchFamily="18" charset="0"/>
              </a:rPr>
              <a:t>The number is: 5.0</a:t>
            </a:r>
          </a:p>
          <a:p>
            <a:pPr>
              <a:buFontTx/>
              <a:buNone/>
            </a:pPr>
            <a:r>
              <a:rPr lang="en-US" altLang="en-US" sz="2400">
                <a:latin typeface="Times New Roman" panose="02020603050405020304" pitchFamily="18" charset="0"/>
              </a:rPr>
              <a:t>The number is: 6.0</a:t>
            </a:r>
          </a:p>
          <a:p>
            <a:pPr>
              <a:buFontTx/>
              <a:buNone/>
            </a:pPr>
            <a:r>
              <a:rPr lang="en-US" altLang="en-US" sz="2400">
                <a:latin typeface="Times New Roman" panose="02020603050405020304" pitchFamily="18" charset="0"/>
              </a:rPr>
              <a:t>The number is: 7.4</a:t>
            </a:r>
          </a:p>
          <a:p>
            <a:pPr>
              <a:buFontTx/>
              <a:buNone/>
            </a:pPr>
            <a:r>
              <a:rPr lang="en-US" altLang="en-US" sz="2400">
                <a:latin typeface="Times New Roman" panose="02020603050405020304" pitchFamily="18" charset="0"/>
              </a:rPr>
              <a:t>The number is: 9.1</a:t>
            </a:r>
          </a:p>
          <a:p>
            <a:pPr>
              <a:buFontTx/>
              <a:buNone/>
            </a:pPr>
            <a:r>
              <a:rPr lang="en-US" altLang="en-US" sz="2400">
                <a:latin typeface="Times New Roman" panose="02020603050405020304" pitchFamily="18" charset="0"/>
              </a:rPr>
              <a:t>The number is: 10.5</a:t>
            </a:r>
          </a:p>
          <a:p>
            <a:pPr>
              <a:buFontTx/>
              <a:buNone/>
            </a:pPr>
            <a:r>
              <a:rPr lang="en-US" altLang="en-US" sz="2400">
                <a:latin typeface="Times New Roman" panose="02020603050405020304" pitchFamily="18" charset="0"/>
              </a:rPr>
              <a:t>done</a:t>
            </a:r>
          </a:p>
          <a:p>
            <a:pPr>
              <a:buFontTx/>
              <a:buNone/>
            </a:pPr>
            <a:r>
              <a:rPr lang="en-US" altLang="en-US" sz="2400">
                <a:latin typeface="Times New Roman" panose="02020603050405020304" pitchFamily="18" charset="0"/>
              </a:rPr>
              <a:t> </a:t>
            </a:r>
          </a:p>
        </p:txBody>
      </p:sp>
      <p:sp>
        <p:nvSpPr>
          <p:cNvPr id="2" name="Date Placeholder 1"/>
          <p:cNvSpPr>
            <a:spLocks noGrp="1"/>
          </p:cNvSpPr>
          <p:nvPr>
            <p:ph type="dt" sz="half" idx="10"/>
          </p:nvPr>
        </p:nvSpPr>
        <p:spPr/>
        <p:txBody>
          <a:bodyPr/>
          <a:lstStyle/>
          <a:p>
            <a:fld id="{7367F89C-9D12-4C59-9500-F29690962671}"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38</a:t>
            </a:fld>
            <a:endParaRPr lang="en-US" altLang="en-US"/>
          </a:p>
        </p:txBody>
      </p:sp>
    </p:spTree>
    <p:extLst>
      <p:ext uri="{BB962C8B-B14F-4D97-AF65-F5344CB8AC3E}">
        <p14:creationId xmlns:p14="http://schemas.microsoft.com/office/powerpoint/2010/main" val="17538527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b="1">
                <a:latin typeface="Times New Roman" panose="02020603050405020304" pitchFamily="18" charset="0"/>
              </a:rPr>
              <a:t>Writing Data into a File</a:t>
            </a:r>
          </a:p>
        </p:txBody>
      </p:sp>
      <p:sp>
        <p:nvSpPr>
          <p:cNvPr id="28675" name="Rectangle 3"/>
          <p:cNvSpPr>
            <a:spLocks noGrp="1" noChangeArrowheads="1"/>
          </p:cNvSpPr>
          <p:nvPr>
            <p:ph idx="1"/>
          </p:nvPr>
        </p:nvSpPr>
        <p:spPr/>
        <p:txBody>
          <a:bodyPr/>
          <a:lstStyle/>
          <a:p>
            <a:pPr>
              <a:lnSpc>
                <a:spcPct val="90000"/>
              </a:lnSpc>
              <a:buFontTx/>
              <a:buNone/>
            </a:pPr>
            <a:r>
              <a:rPr lang="en-US" altLang="en-US" sz="2400">
                <a:latin typeface="Times New Roman" panose="02020603050405020304" pitchFamily="18" charset="0"/>
              </a:rPr>
              <a:t>import java.io.*;</a:t>
            </a:r>
          </a:p>
          <a:p>
            <a:pPr>
              <a:lnSpc>
                <a:spcPct val="90000"/>
              </a:lnSpc>
              <a:buFontTx/>
              <a:buNone/>
            </a:pPr>
            <a:endParaRPr lang="en-US" altLang="en-US" sz="2400">
              <a:latin typeface="Times New Roman" panose="02020603050405020304" pitchFamily="18" charset="0"/>
            </a:endParaRPr>
          </a:p>
          <a:p>
            <a:pPr>
              <a:lnSpc>
                <a:spcPct val="90000"/>
              </a:lnSpc>
              <a:buFontTx/>
              <a:buNone/>
            </a:pPr>
            <a:r>
              <a:rPr lang="en-US" altLang="en-US" sz="2400">
                <a:latin typeface="Times New Roman" panose="02020603050405020304" pitchFamily="18" charset="0"/>
              </a:rPr>
              <a:t>class test</a:t>
            </a:r>
          </a:p>
          <a:p>
            <a:pPr>
              <a:lnSpc>
                <a:spcPct val="90000"/>
              </a:lnSpc>
              <a:buFontTx/>
              <a:buNone/>
            </a:pPr>
            <a:r>
              <a:rPr lang="en-US" altLang="en-US" sz="2400">
                <a:latin typeface="Times New Roman" panose="02020603050405020304" pitchFamily="18" charset="0"/>
              </a:rPr>
              <a:t>{</a:t>
            </a:r>
          </a:p>
          <a:p>
            <a:pPr>
              <a:lnSpc>
                <a:spcPct val="90000"/>
              </a:lnSpc>
              <a:buFontTx/>
              <a:buNone/>
            </a:pPr>
            <a:r>
              <a:rPr lang="en-US" altLang="en-US" sz="2400">
                <a:latin typeface="Times New Roman" panose="02020603050405020304" pitchFamily="18" charset="0"/>
              </a:rPr>
              <a:t>	public static void main (String args[])</a:t>
            </a:r>
          </a:p>
          <a:p>
            <a:pPr>
              <a:lnSpc>
                <a:spcPct val="90000"/>
              </a:lnSpc>
              <a:buFontTx/>
              <a:buNone/>
            </a:pPr>
            <a:r>
              <a:rPr lang="en-US" altLang="en-US" sz="2400">
                <a:latin typeface="Times New Roman" panose="02020603050405020304" pitchFamily="18" charset="0"/>
              </a:rPr>
              <a:t>	{</a:t>
            </a:r>
          </a:p>
          <a:p>
            <a:pPr>
              <a:lnSpc>
                <a:spcPct val="90000"/>
              </a:lnSpc>
              <a:buFontTx/>
              <a:buNone/>
            </a:pPr>
            <a:r>
              <a:rPr lang="en-US" altLang="en-US" sz="2400">
                <a:latin typeface="Times New Roman" panose="02020603050405020304" pitchFamily="18" charset="0"/>
              </a:rPr>
              <a:t>		FileWriter fout = new FileWriter(“c:\\test1.txt”);</a:t>
            </a:r>
          </a:p>
          <a:p>
            <a:pPr>
              <a:lnSpc>
                <a:spcPct val="90000"/>
              </a:lnSpc>
              <a:buFontTx/>
              <a:buNone/>
            </a:pPr>
            <a:r>
              <a:rPr lang="en-US" altLang="en-US" sz="2400">
                <a:latin typeface="Times New Roman" panose="02020603050405020304" pitchFamily="18" charset="0"/>
              </a:rPr>
              <a:t>		fout.write(“2 3.4 5 6 7.4 9.1 10.5 done”);</a:t>
            </a:r>
          </a:p>
          <a:p>
            <a:pPr>
              <a:lnSpc>
                <a:spcPct val="90000"/>
              </a:lnSpc>
              <a:buFontTx/>
              <a:buNone/>
            </a:pPr>
            <a:r>
              <a:rPr lang="en-US" altLang="en-US" sz="2400">
                <a:latin typeface="Times New Roman" panose="02020603050405020304" pitchFamily="18" charset="0"/>
              </a:rPr>
              <a:t>		fout.close();</a:t>
            </a:r>
          </a:p>
          <a:p>
            <a:pPr>
              <a:lnSpc>
                <a:spcPct val="90000"/>
              </a:lnSpc>
              <a:buFontTx/>
              <a:buNone/>
            </a:pPr>
            <a:r>
              <a:rPr lang="en-US" altLang="en-US" sz="2400">
                <a:latin typeface="Times New Roman" panose="02020603050405020304" pitchFamily="18" charset="0"/>
              </a:rPr>
              <a:t>     }</a:t>
            </a:r>
          </a:p>
          <a:p>
            <a:pPr>
              <a:lnSpc>
                <a:spcPct val="90000"/>
              </a:lnSpc>
              <a:buFontTx/>
              <a:buNone/>
            </a:pPr>
            <a:r>
              <a:rPr lang="en-US" altLang="en-US" sz="2400">
                <a:latin typeface="Times New Roman" panose="02020603050405020304" pitchFamily="18" charset="0"/>
              </a:rPr>
              <a:t>}</a:t>
            </a:r>
          </a:p>
        </p:txBody>
      </p:sp>
      <p:sp>
        <p:nvSpPr>
          <p:cNvPr id="2" name="Date Placeholder 1"/>
          <p:cNvSpPr>
            <a:spLocks noGrp="1"/>
          </p:cNvSpPr>
          <p:nvPr>
            <p:ph type="dt" sz="half" idx="10"/>
          </p:nvPr>
        </p:nvSpPr>
        <p:spPr/>
        <p:txBody>
          <a:bodyPr/>
          <a:lstStyle/>
          <a:p>
            <a:fld id="{3798C31D-7910-452E-ABA4-F15327DBC312}"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39</a:t>
            </a:fld>
            <a:endParaRPr lang="en-US" altLang="en-US"/>
          </a:p>
        </p:txBody>
      </p:sp>
    </p:spTree>
    <p:extLst>
      <p:ext uri="{BB962C8B-B14F-4D97-AF65-F5344CB8AC3E}">
        <p14:creationId xmlns:p14="http://schemas.microsoft.com/office/powerpoint/2010/main" val="7282237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sz="4000" b="1">
                <a:latin typeface="Times New Roman" panose="02020603050405020304" pitchFamily="18" charset="0"/>
              </a:rPr>
              <a:t>One-Dimensional Array</a:t>
            </a:r>
          </a:p>
        </p:txBody>
      </p:sp>
      <p:sp>
        <p:nvSpPr>
          <p:cNvPr id="9219" name="Rectangle 3"/>
          <p:cNvSpPr>
            <a:spLocks noGrp="1" noChangeArrowheads="1"/>
          </p:cNvSpPr>
          <p:nvPr>
            <p:ph type="body" idx="1"/>
          </p:nvPr>
        </p:nvSpPr>
        <p:spPr>
          <a:xfrm>
            <a:off x="457200" y="1295400"/>
            <a:ext cx="8382000" cy="4724400"/>
          </a:xfrm>
        </p:spPr>
        <p:txBody>
          <a:bodyPr>
            <a:normAutofit lnSpcReduction="10000"/>
          </a:bodyPr>
          <a:lstStyle/>
          <a:p>
            <a:pPr>
              <a:buFont typeface="Wingdings" panose="05000000000000000000" pitchFamily="2" charset="2"/>
              <a:buChar char="ü"/>
            </a:pPr>
            <a:r>
              <a:rPr lang="en-US" altLang="en-US" sz="2400">
                <a:latin typeface="Times New Roman" panose="02020603050405020304" pitchFamily="18" charset="0"/>
              </a:rPr>
              <a:t>Creating an array is a two steps process:</a:t>
            </a:r>
          </a:p>
          <a:p>
            <a:pPr>
              <a:buFont typeface="Wingdings" panose="05000000000000000000" pitchFamily="2" charset="2"/>
              <a:buNone/>
            </a:pPr>
            <a:r>
              <a:rPr lang="en-US" altLang="en-US" sz="2400">
                <a:latin typeface="Times New Roman" panose="02020603050405020304" pitchFamily="18" charset="0"/>
              </a:rPr>
              <a:t>	1. type var_name[];</a:t>
            </a:r>
          </a:p>
          <a:p>
            <a:pPr>
              <a:buFont typeface="Wingdings" panose="05000000000000000000" pitchFamily="2" charset="2"/>
              <a:buNone/>
            </a:pPr>
            <a:r>
              <a:rPr lang="en-US" altLang="en-US" sz="2400">
                <a:latin typeface="Times New Roman" panose="02020603050405020304" pitchFamily="18" charset="0"/>
              </a:rPr>
              <a:t>     2. var_name = new type [size];</a:t>
            </a:r>
          </a:p>
          <a:p>
            <a:pPr>
              <a:buFont typeface="Wingdings" panose="05000000000000000000" pitchFamily="2" charset="2"/>
              <a:buChar char="ü"/>
            </a:pPr>
            <a:r>
              <a:rPr lang="en-US" altLang="en-US" sz="2400">
                <a:latin typeface="Times New Roman" panose="02020603050405020304" pitchFamily="18" charset="0"/>
              </a:rPr>
              <a:t>Example: int month_days [];</a:t>
            </a:r>
          </a:p>
          <a:p>
            <a:pPr>
              <a:buFont typeface="Wingdings" panose="05000000000000000000" pitchFamily="2" charset="2"/>
              <a:buNone/>
            </a:pPr>
            <a:r>
              <a:rPr lang="en-US" altLang="en-US" sz="2400">
                <a:latin typeface="Times New Roman" panose="02020603050405020304" pitchFamily="18" charset="0"/>
              </a:rPr>
              <a:t>                    month_days = new int [12];</a:t>
            </a:r>
          </a:p>
          <a:p>
            <a:pPr>
              <a:buFont typeface="Wingdings" panose="05000000000000000000" pitchFamily="2" charset="2"/>
              <a:buNone/>
            </a:pPr>
            <a:r>
              <a:rPr lang="en-US" altLang="en-US" sz="2400">
                <a:latin typeface="Times New Roman" panose="02020603050405020304" pitchFamily="18" charset="0"/>
              </a:rPr>
              <a:t>     - first line declares </a:t>
            </a:r>
            <a:r>
              <a:rPr lang="en-US" altLang="en-US" sz="2400" i="1">
                <a:latin typeface="Times New Roman" panose="02020603050405020304" pitchFamily="18" charset="0"/>
              </a:rPr>
              <a:t>month_days</a:t>
            </a:r>
            <a:r>
              <a:rPr lang="en-US" altLang="en-US" sz="2400">
                <a:latin typeface="Times New Roman" panose="02020603050405020304" pitchFamily="18" charset="0"/>
              </a:rPr>
              <a:t> as an array variable, no array actually exists.</a:t>
            </a:r>
          </a:p>
          <a:p>
            <a:pPr>
              <a:buFont typeface="Wingdings" panose="05000000000000000000" pitchFamily="2" charset="2"/>
              <a:buNone/>
            </a:pPr>
            <a:r>
              <a:rPr lang="en-US" altLang="en-US" sz="2400">
                <a:latin typeface="Times New Roman" panose="02020603050405020304" pitchFamily="18" charset="0"/>
              </a:rPr>
              <a:t>     - Actual, physical array of integers, is allocated using </a:t>
            </a:r>
            <a:r>
              <a:rPr lang="en-US" altLang="en-US" sz="2400" b="1">
                <a:latin typeface="Times New Roman" panose="02020603050405020304" pitchFamily="18" charset="0"/>
              </a:rPr>
              <a:t>new</a:t>
            </a:r>
          </a:p>
          <a:p>
            <a:pPr>
              <a:buFont typeface="Wingdings" panose="05000000000000000000" pitchFamily="2" charset="2"/>
              <a:buNone/>
            </a:pPr>
            <a:r>
              <a:rPr lang="en-US" altLang="en-US" sz="2400" b="1">
                <a:latin typeface="Times New Roman" panose="02020603050405020304" pitchFamily="18" charset="0"/>
              </a:rPr>
              <a:t>	   </a:t>
            </a:r>
            <a:r>
              <a:rPr lang="en-US" altLang="en-US" sz="2400">
                <a:latin typeface="Times New Roman" panose="02020603050405020304" pitchFamily="18" charset="0"/>
              </a:rPr>
              <a:t>and assign it to </a:t>
            </a:r>
            <a:r>
              <a:rPr lang="en-US" altLang="en-US" sz="2400" i="1">
                <a:latin typeface="Times New Roman" panose="02020603050405020304" pitchFamily="18" charset="0"/>
              </a:rPr>
              <a:t>month_days</a:t>
            </a:r>
            <a:r>
              <a:rPr lang="en-US" altLang="en-US" sz="2400">
                <a:latin typeface="Times New Roman" panose="02020603050405020304" pitchFamily="18" charset="0"/>
              </a:rPr>
              <a:t>.</a:t>
            </a:r>
          </a:p>
          <a:p>
            <a:pPr>
              <a:buFont typeface="Wingdings" panose="05000000000000000000" pitchFamily="2" charset="2"/>
              <a:buNone/>
            </a:pPr>
            <a:r>
              <a:rPr lang="en-US" altLang="en-US" sz="2400">
                <a:latin typeface="Times New Roman" panose="02020603050405020304" pitchFamily="18" charset="0"/>
              </a:rPr>
              <a:t>     -The elements of array are automatically initialized to 0.</a:t>
            </a:r>
          </a:p>
          <a:p>
            <a:pPr>
              <a:buFont typeface="Wingdings" panose="05000000000000000000" pitchFamily="2" charset="2"/>
              <a:buChar char="ü"/>
            </a:pPr>
            <a:r>
              <a:rPr lang="en-US" altLang="en-US" sz="2400">
                <a:latin typeface="Times New Roman" panose="02020603050405020304" pitchFamily="18" charset="0"/>
              </a:rPr>
              <a:t>int month_days [] = new int[12];</a:t>
            </a:r>
          </a:p>
        </p:txBody>
      </p:sp>
      <p:sp>
        <p:nvSpPr>
          <p:cNvPr id="2" name="Date Placeholder 1"/>
          <p:cNvSpPr>
            <a:spLocks noGrp="1"/>
          </p:cNvSpPr>
          <p:nvPr>
            <p:ph type="dt" sz="half" idx="10"/>
          </p:nvPr>
        </p:nvSpPr>
        <p:spPr/>
        <p:txBody>
          <a:bodyPr/>
          <a:lstStyle/>
          <a:p>
            <a:fld id="{62559E26-B1B5-44F1-91EE-DBFC6EFFD623}"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40</a:t>
            </a:fld>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274638"/>
            <a:ext cx="8382000" cy="792162"/>
          </a:xfrm>
        </p:spPr>
        <p:txBody>
          <a:bodyPr/>
          <a:lstStyle/>
          <a:p>
            <a:r>
              <a:rPr lang="en-US" altLang="en-US" sz="4000" b="1">
                <a:latin typeface="Times New Roman" panose="02020603050405020304" pitchFamily="18" charset="0"/>
              </a:rPr>
              <a:t>One-Dimensional Array</a:t>
            </a:r>
          </a:p>
        </p:txBody>
      </p:sp>
      <p:sp>
        <p:nvSpPr>
          <p:cNvPr id="10243" name="Rectangle 3"/>
          <p:cNvSpPr>
            <a:spLocks noGrp="1" noChangeArrowheads="1"/>
          </p:cNvSpPr>
          <p:nvPr>
            <p:ph type="body" idx="1"/>
          </p:nvPr>
        </p:nvSpPr>
        <p:spPr>
          <a:xfrm>
            <a:off x="457200" y="1143000"/>
            <a:ext cx="8229600" cy="4983163"/>
          </a:xfrm>
        </p:spPr>
        <p:txBody>
          <a:bodyPr/>
          <a:lstStyle/>
          <a:p>
            <a:pPr>
              <a:buFont typeface="Wingdings" panose="05000000000000000000" pitchFamily="2" charset="2"/>
              <a:buChar char="ü"/>
            </a:pPr>
            <a:r>
              <a:rPr lang="en-US" altLang="en-US" sz="2400">
                <a:latin typeface="Times New Roman" panose="02020603050405020304" pitchFamily="18" charset="0"/>
              </a:rPr>
              <a:t>Once array is created, a specific element in the array can be accessed by specifying it’s index within square brackets.</a:t>
            </a:r>
          </a:p>
          <a:p>
            <a:pPr>
              <a:buFont typeface="Wingdings" panose="05000000000000000000" pitchFamily="2" charset="2"/>
              <a:buNone/>
            </a:pPr>
            <a:r>
              <a:rPr lang="en-US" altLang="en-US" sz="2400">
                <a:latin typeface="Times New Roman" panose="02020603050405020304" pitchFamily="18" charset="0"/>
              </a:rPr>
              <a:t>     Example: month_days[0]=31;</a:t>
            </a:r>
          </a:p>
          <a:p>
            <a:pPr>
              <a:buFont typeface="Wingdings" panose="05000000000000000000" pitchFamily="2" charset="2"/>
              <a:buNone/>
            </a:pPr>
            <a:r>
              <a:rPr lang="en-US" altLang="en-US" sz="2400">
                <a:latin typeface="Times New Roman" panose="02020603050405020304" pitchFamily="18" charset="0"/>
              </a:rPr>
              <a:t>		         month_days[1]=28;</a:t>
            </a:r>
          </a:p>
          <a:p>
            <a:pPr>
              <a:buFont typeface="Wingdings" panose="05000000000000000000" pitchFamily="2" charset="2"/>
              <a:buChar char="ü"/>
            </a:pPr>
            <a:r>
              <a:rPr lang="en-US" altLang="en-US" sz="2400">
                <a:latin typeface="Times New Roman" panose="02020603050405020304" pitchFamily="18" charset="0"/>
              </a:rPr>
              <a:t>Arrays can be initialized when they are declared.</a:t>
            </a:r>
          </a:p>
          <a:p>
            <a:pPr>
              <a:buFont typeface="Wingdings" panose="05000000000000000000" pitchFamily="2" charset="2"/>
              <a:buNone/>
            </a:pPr>
            <a:r>
              <a:rPr lang="en-US" altLang="en-US" sz="2400">
                <a:latin typeface="Times New Roman" panose="02020603050405020304" pitchFamily="18" charset="0"/>
              </a:rPr>
              <a:t>	Example:</a:t>
            </a:r>
          </a:p>
          <a:p>
            <a:pPr>
              <a:buFont typeface="Wingdings" panose="05000000000000000000" pitchFamily="2" charset="2"/>
              <a:buNone/>
            </a:pPr>
            <a:r>
              <a:rPr lang="en-US" altLang="en-US" sz="2400">
                <a:latin typeface="Times New Roman" panose="02020603050405020304" pitchFamily="18" charset="0"/>
              </a:rPr>
              <a:t>	int month_days[] = {31, 28, 31, 30, 31, 30, 31, 31, 30, 31,   </a:t>
            </a:r>
          </a:p>
          <a:p>
            <a:pPr>
              <a:buFont typeface="Wingdings" panose="05000000000000000000" pitchFamily="2" charset="2"/>
              <a:buNone/>
            </a:pPr>
            <a:r>
              <a:rPr lang="en-US" altLang="en-US" sz="2400">
                <a:latin typeface="Times New Roman" panose="02020603050405020304" pitchFamily="18" charset="0"/>
              </a:rPr>
              <a:t>                                     30, 31};</a:t>
            </a:r>
          </a:p>
        </p:txBody>
      </p:sp>
      <p:sp>
        <p:nvSpPr>
          <p:cNvPr id="2" name="Date Placeholder 1"/>
          <p:cNvSpPr>
            <a:spLocks noGrp="1"/>
          </p:cNvSpPr>
          <p:nvPr>
            <p:ph type="dt" sz="half" idx="10"/>
          </p:nvPr>
        </p:nvSpPr>
        <p:spPr/>
        <p:txBody>
          <a:bodyPr/>
          <a:lstStyle/>
          <a:p>
            <a:fld id="{A7D71E88-5F5F-48BE-B03D-CE0042A9DA42}"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41</a:t>
            </a:fld>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sz="3600" b="1">
                <a:latin typeface="Times New Roman" panose="02020603050405020304" pitchFamily="18" charset="0"/>
              </a:rPr>
              <a:t>Features of Java to Manipulate Array</a:t>
            </a:r>
          </a:p>
        </p:txBody>
      </p:sp>
      <p:sp>
        <p:nvSpPr>
          <p:cNvPr id="11267" name="Rectangle 3"/>
          <p:cNvSpPr>
            <a:spLocks noGrp="1" noChangeArrowheads="1"/>
          </p:cNvSpPr>
          <p:nvPr>
            <p:ph type="body" idx="1"/>
          </p:nvPr>
        </p:nvSpPr>
        <p:spPr/>
        <p:txBody>
          <a:bodyPr/>
          <a:lstStyle/>
          <a:p>
            <a:pPr>
              <a:buFont typeface="Wingdings" panose="05000000000000000000" pitchFamily="2" charset="2"/>
              <a:buChar char="ü"/>
            </a:pPr>
            <a:r>
              <a:rPr lang="en-US" altLang="en-US" sz="2400">
                <a:latin typeface="Times New Roman" panose="02020603050405020304" pitchFamily="18" charset="0"/>
              </a:rPr>
              <a:t>All arrays are dynamically allocated.</a:t>
            </a:r>
          </a:p>
          <a:p>
            <a:pPr>
              <a:buFont typeface="Wingdings" panose="05000000000000000000" pitchFamily="2" charset="2"/>
              <a:buChar char="ü"/>
            </a:pPr>
            <a:r>
              <a:rPr lang="en-US" altLang="en-US" sz="2400">
                <a:latin typeface="Times New Roman" panose="02020603050405020304" pitchFamily="18" charset="0"/>
              </a:rPr>
              <a:t>Size of the array can be specified at the runtime.</a:t>
            </a:r>
          </a:p>
          <a:p>
            <a:pPr>
              <a:buFont typeface="Wingdings" panose="05000000000000000000" pitchFamily="2" charset="2"/>
              <a:buChar char="ü"/>
            </a:pPr>
            <a:r>
              <a:rPr lang="en-US" altLang="en-US" sz="2400">
                <a:latin typeface="Times New Roman" panose="02020603050405020304" pitchFamily="18" charset="0"/>
              </a:rPr>
              <a:t>Index type is integer and the index range must be 0 to n-1, where n is the number of elements.</a:t>
            </a:r>
          </a:p>
          <a:p>
            <a:pPr>
              <a:buFont typeface="Wingdings" panose="05000000000000000000" pitchFamily="2" charset="2"/>
              <a:buChar char="ü"/>
            </a:pPr>
            <a:r>
              <a:rPr lang="en-US" altLang="en-US" sz="2400">
                <a:latin typeface="Times New Roman" panose="02020603050405020304" pitchFamily="18" charset="0"/>
              </a:rPr>
              <a:t>Java runtime system will check to be sure that all array indexes are in the correct range. Incorrect reference will generate ArrayIndexOutofBoundsException.</a:t>
            </a:r>
          </a:p>
          <a:p>
            <a:pPr>
              <a:buFont typeface="Wingdings" panose="05000000000000000000" pitchFamily="2" charset="2"/>
              <a:buChar char="ü"/>
            </a:pPr>
            <a:endParaRPr lang="en-US" altLang="en-US" sz="2400">
              <a:latin typeface="Times New Roman" panose="02020603050405020304" pitchFamily="18" charset="0"/>
            </a:endParaRPr>
          </a:p>
        </p:txBody>
      </p:sp>
      <p:sp>
        <p:nvSpPr>
          <p:cNvPr id="2" name="Date Placeholder 1"/>
          <p:cNvSpPr>
            <a:spLocks noGrp="1"/>
          </p:cNvSpPr>
          <p:nvPr>
            <p:ph type="dt" sz="half" idx="10"/>
          </p:nvPr>
        </p:nvSpPr>
        <p:spPr/>
        <p:txBody>
          <a:bodyPr/>
          <a:lstStyle/>
          <a:p>
            <a:fld id="{66A96258-939F-42F6-9944-6E576C98BAB2}"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42</a:t>
            </a:fld>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274638"/>
            <a:ext cx="8305800" cy="639762"/>
          </a:xfrm>
        </p:spPr>
        <p:txBody>
          <a:bodyPr>
            <a:normAutofit fontScale="90000"/>
          </a:bodyPr>
          <a:lstStyle/>
          <a:p>
            <a:r>
              <a:rPr lang="en-US" altLang="en-US" sz="4000" b="1">
                <a:latin typeface="Times New Roman" panose="02020603050405020304" pitchFamily="18" charset="0"/>
              </a:rPr>
              <a:t>Example</a:t>
            </a:r>
          </a:p>
        </p:txBody>
      </p:sp>
      <p:sp>
        <p:nvSpPr>
          <p:cNvPr id="12291" name="Rectangle 3"/>
          <p:cNvSpPr>
            <a:spLocks noGrp="1" noChangeArrowheads="1"/>
          </p:cNvSpPr>
          <p:nvPr>
            <p:ph type="body" idx="1"/>
          </p:nvPr>
        </p:nvSpPr>
        <p:spPr>
          <a:xfrm>
            <a:off x="685800" y="1066800"/>
            <a:ext cx="7848600" cy="4953000"/>
          </a:xfrm>
        </p:spPr>
        <p:txBody>
          <a:bodyPr>
            <a:normAutofit lnSpcReduction="10000"/>
          </a:bodyPr>
          <a:lstStyle/>
          <a:p>
            <a:pPr>
              <a:lnSpc>
                <a:spcPct val="80000"/>
              </a:lnSpc>
              <a:buFontTx/>
              <a:buNone/>
            </a:pPr>
            <a:r>
              <a:rPr lang="en-US" altLang="en-US" sz="1200">
                <a:latin typeface="Times New Roman" panose="02020603050405020304" pitchFamily="18" charset="0"/>
              </a:rPr>
              <a:t>import java.util.Scanner;</a:t>
            </a:r>
          </a:p>
          <a:p>
            <a:pPr>
              <a:lnSpc>
                <a:spcPct val="80000"/>
              </a:lnSpc>
            </a:pPr>
            <a:endParaRPr lang="en-US" altLang="en-US" sz="1200">
              <a:latin typeface="Times New Roman" panose="02020603050405020304" pitchFamily="18" charset="0"/>
            </a:endParaRPr>
          </a:p>
          <a:p>
            <a:pPr>
              <a:lnSpc>
                <a:spcPct val="80000"/>
              </a:lnSpc>
              <a:buFontTx/>
              <a:buNone/>
            </a:pPr>
            <a:r>
              <a:rPr lang="en-US" altLang="en-US" sz="1200">
                <a:latin typeface="Times New Roman" panose="02020603050405020304" pitchFamily="18" charset="0"/>
              </a:rPr>
              <a:t>class array_avg</a:t>
            </a:r>
          </a:p>
          <a:p>
            <a:pPr>
              <a:lnSpc>
                <a:spcPct val="80000"/>
              </a:lnSpc>
              <a:buFontTx/>
              <a:buNone/>
            </a:pPr>
            <a:r>
              <a:rPr lang="en-US" altLang="en-US" sz="1200">
                <a:latin typeface="Times New Roman" panose="02020603050405020304" pitchFamily="18" charset="0"/>
              </a:rPr>
              <a:t>{</a:t>
            </a:r>
          </a:p>
          <a:p>
            <a:pPr>
              <a:lnSpc>
                <a:spcPct val="80000"/>
              </a:lnSpc>
              <a:buFontTx/>
              <a:buNone/>
            </a:pPr>
            <a:r>
              <a:rPr lang="en-US" altLang="en-US" sz="1200">
                <a:latin typeface="Times New Roman" panose="02020603050405020304" pitchFamily="18" charset="0"/>
              </a:rPr>
              <a:t>	public static void main(String args[])</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int i,sum=0;</a:t>
            </a:r>
          </a:p>
          <a:p>
            <a:pPr>
              <a:lnSpc>
                <a:spcPct val="80000"/>
              </a:lnSpc>
              <a:buFontTx/>
              <a:buNone/>
            </a:pPr>
            <a:r>
              <a:rPr lang="en-US" altLang="en-US" sz="1200">
                <a:latin typeface="Times New Roman" panose="02020603050405020304" pitchFamily="18" charset="0"/>
              </a:rPr>
              <a:t>		float avg;</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int a[] = new int[5];</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Scanner test=new Scanner(System.in);</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System.out.println("Enter the input:");</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for(i=0;i&lt;5;i++)</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if(test.hasNextInt())</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a[i]=test.nextInt();</a:t>
            </a:r>
          </a:p>
          <a:p>
            <a:pPr>
              <a:lnSpc>
                <a:spcPct val="80000"/>
              </a:lnSpc>
              <a:buFontTx/>
              <a:buNone/>
            </a:pPr>
            <a:r>
              <a:rPr lang="en-US" altLang="en-US" sz="1200">
                <a:latin typeface="Times New Roman" panose="02020603050405020304" pitchFamily="18" charset="0"/>
              </a:rPr>
              <a:t>				sum=sum+a[i];</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avg=sum/5;</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System.out.println("The average value is: " + avg);</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	}</a:t>
            </a:r>
          </a:p>
          <a:p>
            <a:pPr>
              <a:lnSpc>
                <a:spcPct val="80000"/>
              </a:lnSpc>
              <a:buFontTx/>
              <a:buNone/>
            </a:pPr>
            <a:r>
              <a:rPr lang="en-US" altLang="en-US" sz="1200">
                <a:latin typeface="Times New Roman" panose="02020603050405020304" pitchFamily="18" charset="0"/>
              </a:rPr>
              <a:t>}</a:t>
            </a:r>
          </a:p>
        </p:txBody>
      </p:sp>
      <p:sp>
        <p:nvSpPr>
          <p:cNvPr id="2" name="Date Placeholder 1"/>
          <p:cNvSpPr>
            <a:spLocks noGrp="1"/>
          </p:cNvSpPr>
          <p:nvPr>
            <p:ph type="dt" sz="half" idx="10"/>
          </p:nvPr>
        </p:nvSpPr>
        <p:spPr/>
        <p:txBody>
          <a:bodyPr/>
          <a:lstStyle/>
          <a:p>
            <a:fld id="{CF5478FF-D117-4CEB-AA06-658FB5FA9421}"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43</a:t>
            </a:fld>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b="1">
                <a:latin typeface="Times New Roman" panose="02020603050405020304" pitchFamily="18" charset="0"/>
              </a:rPr>
              <a:t>Array in Java</a:t>
            </a:r>
          </a:p>
        </p:txBody>
      </p:sp>
      <p:sp>
        <p:nvSpPr>
          <p:cNvPr id="14339" name="Rectangle 3"/>
          <p:cNvSpPr>
            <a:spLocks noGrp="1" noChangeArrowheads="1"/>
          </p:cNvSpPr>
          <p:nvPr>
            <p:ph type="body" idx="1"/>
          </p:nvPr>
        </p:nvSpPr>
        <p:spPr>
          <a:xfrm>
            <a:off x="304800" y="1219200"/>
            <a:ext cx="8534400" cy="5410200"/>
          </a:xfrm>
        </p:spPr>
        <p:txBody>
          <a:bodyPr/>
          <a:lstStyle/>
          <a:p>
            <a:pPr>
              <a:buFontTx/>
              <a:buNone/>
            </a:pPr>
            <a:r>
              <a:rPr lang="en-US" altLang="en-US" sz="2000">
                <a:latin typeface="Times New Roman" panose="02020603050405020304" pitchFamily="18" charset="0"/>
              </a:rPr>
              <a:t>int a[];</a:t>
            </a:r>
          </a:p>
          <a:p>
            <a:pPr>
              <a:buFontTx/>
              <a:buNone/>
            </a:pPr>
            <a:r>
              <a:rPr lang="en-US" altLang="en-US" sz="2000">
                <a:latin typeface="Times New Roman" panose="02020603050405020304" pitchFamily="18" charset="0"/>
              </a:rPr>
              <a:t>int b[] = null;</a:t>
            </a:r>
          </a:p>
          <a:p>
            <a:pPr>
              <a:buFontTx/>
              <a:buNone/>
            </a:pPr>
            <a:r>
              <a:rPr lang="en-US" altLang="en-US" sz="2000">
                <a:latin typeface="Times New Roman" panose="02020603050405020304" pitchFamily="18" charset="0"/>
              </a:rPr>
              <a:t>int c[] = new int[5];</a:t>
            </a:r>
          </a:p>
          <a:p>
            <a:pPr>
              <a:buFontTx/>
              <a:buNone/>
            </a:pPr>
            <a:r>
              <a:rPr lang="en-US" altLang="en-US" sz="2000">
                <a:latin typeface="Times New Roman" panose="02020603050405020304" pitchFamily="18" charset="0"/>
              </a:rPr>
              <a:t>int d[] = { 1, 2, 3, 4, 5 };</a:t>
            </a:r>
          </a:p>
          <a:p>
            <a:pPr>
              <a:buFontTx/>
              <a:buNone/>
            </a:pPr>
            <a:r>
              <a:rPr lang="en-US" altLang="en-US" sz="2000">
                <a:latin typeface="Times New Roman" panose="02020603050405020304" pitchFamily="18" charset="0"/>
              </a:rPr>
              <a:t>a = c;</a:t>
            </a:r>
          </a:p>
          <a:p>
            <a:pPr>
              <a:buFontTx/>
              <a:buNone/>
            </a:pPr>
            <a:r>
              <a:rPr lang="en-US" altLang="en-US" sz="2000">
                <a:latin typeface="Times New Roman" panose="02020603050405020304" pitchFamily="18" charset="0"/>
              </a:rPr>
              <a:t>d = c;</a:t>
            </a:r>
          </a:p>
        </p:txBody>
      </p:sp>
      <p:grpSp>
        <p:nvGrpSpPr>
          <p:cNvPr id="14340" name="Group 4"/>
          <p:cNvGrpSpPr>
            <a:grpSpLocks/>
          </p:cNvGrpSpPr>
          <p:nvPr/>
        </p:nvGrpSpPr>
        <p:grpSpPr bwMode="auto">
          <a:xfrm>
            <a:off x="3276600" y="5486400"/>
            <a:ext cx="4826000" cy="528638"/>
            <a:chOff x="2356" y="2960"/>
            <a:chExt cx="3040" cy="333"/>
          </a:xfrm>
        </p:grpSpPr>
        <p:sp>
          <p:nvSpPr>
            <p:cNvPr id="14341" name="Rectangle 5"/>
            <p:cNvSpPr>
              <a:spLocks noChangeArrowheads="1"/>
            </p:cNvSpPr>
            <p:nvPr/>
          </p:nvSpPr>
          <p:spPr bwMode="auto">
            <a:xfrm>
              <a:off x="2356" y="3005"/>
              <a:ext cx="575" cy="288"/>
            </a:xfrm>
            <a:prstGeom prst="rect">
              <a:avLst/>
            </a:prstGeom>
            <a:solidFill>
              <a:srgbClr val="C6C6FF"/>
            </a:solidFill>
            <a:ln w="6350">
              <a:solidFill>
                <a:srgbClr val="000000"/>
              </a:solidFill>
              <a:miter lim="800000"/>
              <a:headEnd/>
              <a:tailEnd/>
            </a:ln>
          </p:spPr>
          <p:txBody>
            <a:bodyPr/>
            <a:lstStyle/>
            <a:p>
              <a:endParaRPr lang="en-US"/>
            </a:p>
          </p:txBody>
        </p:sp>
        <p:sp>
          <p:nvSpPr>
            <p:cNvPr id="14342" name="Rectangle 6"/>
            <p:cNvSpPr>
              <a:spLocks noChangeArrowheads="1"/>
            </p:cNvSpPr>
            <p:nvPr/>
          </p:nvSpPr>
          <p:spPr bwMode="auto">
            <a:xfrm>
              <a:off x="2605" y="3081"/>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00"/>
                  </a:solidFill>
                  <a:latin typeface="LucidaSansTypewriter" charset="0"/>
                </a:rPr>
                <a:t>1</a:t>
              </a:r>
              <a:endParaRPr lang="en-US" altLang="en-US" b="1">
                <a:latin typeface="Verdana" panose="020B0604030504040204" pitchFamily="34" charset="0"/>
              </a:endParaRPr>
            </a:p>
          </p:txBody>
        </p:sp>
        <p:sp>
          <p:nvSpPr>
            <p:cNvPr id="14343" name="Rectangle 7"/>
            <p:cNvSpPr>
              <a:spLocks noChangeArrowheads="1"/>
            </p:cNvSpPr>
            <p:nvPr/>
          </p:nvSpPr>
          <p:spPr bwMode="auto">
            <a:xfrm>
              <a:off x="2931" y="3005"/>
              <a:ext cx="576" cy="288"/>
            </a:xfrm>
            <a:prstGeom prst="rect">
              <a:avLst/>
            </a:prstGeom>
            <a:solidFill>
              <a:srgbClr val="C6C6FF"/>
            </a:solidFill>
            <a:ln w="6350">
              <a:solidFill>
                <a:srgbClr val="000000"/>
              </a:solidFill>
              <a:miter lim="800000"/>
              <a:headEnd/>
              <a:tailEnd/>
            </a:ln>
          </p:spPr>
          <p:txBody>
            <a:bodyPr/>
            <a:lstStyle/>
            <a:p>
              <a:endParaRPr lang="en-US"/>
            </a:p>
          </p:txBody>
        </p:sp>
        <p:sp>
          <p:nvSpPr>
            <p:cNvPr id="14344" name="Rectangle 8"/>
            <p:cNvSpPr>
              <a:spLocks noChangeArrowheads="1"/>
            </p:cNvSpPr>
            <p:nvPr/>
          </p:nvSpPr>
          <p:spPr bwMode="auto">
            <a:xfrm>
              <a:off x="3104" y="3081"/>
              <a:ext cx="1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00"/>
                  </a:solidFill>
                  <a:latin typeface="LucidaSansTypewriter" charset="0"/>
                </a:rPr>
                <a:t>  2</a:t>
              </a:r>
              <a:endParaRPr lang="en-US" altLang="en-US" b="1">
                <a:latin typeface="Verdana" panose="020B0604030504040204" pitchFamily="34" charset="0"/>
              </a:endParaRPr>
            </a:p>
          </p:txBody>
        </p:sp>
        <p:sp>
          <p:nvSpPr>
            <p:cNvPr id="14345" name="Rectangle 9"/>
            <p:cNvSpPr>
              <a:spLocks noChangeArrowheads="1"/>
            </p:cNvSpPr>
            <p:nvPr/>
          </p:nvSpPr>
          <p:spPr bwMode="auto">
            <a:xfrm>
              <a:off x="3507" y="3005"/>
              <a:ext cx="575" cy="288"/>
            </a:xfrm>
            <a:prstGeom prst="rect">
              <a:avLst/>
            </a:prstGeom>
            <a:solidFill>
              <a:srgbClr val="C6C6FF"/>
            </a:solidFill>
            <a:ln w="6350">
              <a:solidFill>
                <a:srgbClr val="000000"/>
              </a:solidFill>
              <a:miter lim="800000"/>
              <a:headEnd/>
              <a:tailEnd/>
            </a:ln>
          </p:spPr>
          <p:txBody>
            <a:bodyPr/>
            <a:lstStyle/>
            <a:p>
              <a:endParaRPr lang="en-US"/>
            </a:p>
          </p:txBody>
        </p:sp>
        <p:sp>
          <p:nvSpPr>
            <p:cNvPr id="14346" name="Rectangle 10"/>
            <p:cNvSpPr>
              <a:spLocks noChangeArrowheads="1"/>
            </p:cNvSpPr>
            <p:nvPr/>
          </p:nvSpPr>
          <p:spPr bwMode="auto">
            <a:xfrm>
              <a:off x="3756" y="3081"/>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00"/>
                  </a:solidFill>
                  <a:latin typeface="LucidaSansTypewriter" charset="0"/>
                </a:rPr>
                <a:t>3</a:t>
              </a:r>
              <a:endParaRPr lang="en-US" altLang="en-US" b="1">
                <a:latin typeface="Verdana" panose="020B0604030504040204" pitchFamily="34" charset="0"/>
              </a:endParaRPr>
            </a:p>
          </p:txBody>
        </p:sp>
        <p:sp>
          <p:nvSpPr>
            <p:cNvPr id="14347" name="Rectangle 11"/>
            <p:cNvSpPr>
              <a:spLocks noChangeArrowheads="1"/>
            </p:cNvSpPr>
            <p:nvPr/>
          </p:nvSpPr>
          <p:spPr bwMode="auto">
            <a:xfrm>
              <a:off x="4082" y="3005"/>
              <a:ext cx="576" cy="288"/>
            </a:xfrm>
            <a:prstGeom prst="rect">
              <a:avLst/>
            </a:prstGeom>
            <a:solidFill>
              <a:srgbClr val="C6C6FF"/>
            </a:solidFill>
            <a:ln w="6350">
              <a:solidFill>
                <a:srgbClr val="000000"/>
              </a:solidFill>
              <a:miter lim="800000"/>
              <a:headEnd/>
              <a:tailEnd/>
            </a:ln>
          </p:spPr>
          <p:txBody>
            <a:bodyPr/>
            <a:lstStyle/>
            <a:p>
              <a:endParaRPr lang="en-US"/>
            </a:p>
          </p:txBody>
        </p:sp>
        <p:sp>
          <p:nvSpPr>
            <p:cNvPr id="14348" name="Rectangle 12"/>
            <p:cNvSpPr>
              <a:spLocks noChangeArrowheads="1"/>
            </p:cNvSpPr>
            <p:nvPr/>
          </p:nvSpPr>
          <p:spPr bwMode="auto">
            <a:xfrm>
              <a:off x="4332" y="3081"/>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00"/>
                  </a:solidFill>
                  <a:latin typeface="LucidaSansTypewriter" charset="0"/>
                </a:rPr>
                <a:t>4</a:t>
              </a:r>
              <a:endParaRPr lang="en-US" altLang="en-US" b="1">
                <a:latin typeface="Verdana" panose="020B0604030504040204" pitchFamily="34" charset="0"/>
              </a:endParaRPr>
            </a:p>
          </p:txBody>
        </p:sp>
        <p:sp>
          <p:nvSpPr>
            <p:cNvPr id="14349" name="Rectangle 13"/>
            <p:cNvSpPr>
              <a:spLocks noChangeArrowheads="1"/>
            </p:cNvSpPr>
            <p:nvPr/>
          </p:nvSpPr>
          <p:spPr bwMode="auto">
            <a:xfrm>
              <a:off x="4658" y="3005"/>
              <a:ext cx="575" cy="288"/>
            </a:xfrm>
            <a:prstGeom prst="rect">
              <a:avLst/>
            </a:prstGeom>
            <a:solidFill>
              <a:srgbClr val="C6C6FF"/>
            </a:solidFill>
            <a:ln w="6350">
              <a:solidFill>
                <a:srgbClr val="000000"/>
              </a:solidFill>
              <a:miter lim="800000"/>
              <a:headEnd/>
              <a:tailEnd/>
            </a:ln>
          </p:spPr>
          <p:txBody>
            <a:bodyPr/>
            <a:lstStyle/>
            <a:p>
              <a:endParaRPr lang="en-US"/>
            </a:p>
          </p:txBody>
        </p:sp>
        <p:sp>
          <p:nvSpPr>
            <p:cNvPr id="14350" name="Rectangle 14"/>
            <p:cNvSpPr>
              <a:spLocks noChangeArrowheads="1"/>
            </p:cNvSpPr>
            <p:nvPr/>
          </p:nvSpPr>
          <p:spPr bwMode="auto">
            <a:xfrm>
              <a:off x="4907" y="3081"/>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00"/>
                  </a:solidFill>
                  <a:latin typeface="LucidaSansTypewriter" charset="0"/>
                </a:rPr>
                <a:t>5</a:t>
              </a:r>
              <a:endParaRPr lang="en-US" altLang="en-US" b="1">
                <a:latin typeface="Verdana" panose="020B0604030504040204" pitchFamily="34" charset="0"/>
              </a:endParaRPr>
            </a:p>
          </p:txBody>
        </p:sp>
        <p:sp>
          <p:nvSpPr>
            <p:cNvPr id="14351" name="Text Box 15"/>
            <p:cNvSpPr txBox="1">
              <a:spLocks noChangeArrowheads="1"/>
            </p:cNvSpPr>
            <p:nvPr/>
          </p:nvSpPr>
          <p:spPr bwMode="auto">
            <a:xfrm>
              <a:off x="5280" y="2960"/>
              <a:ext cx="1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en-US" altLang="en-US" sz="2000" b="1">
                <a:latin typeface="Verdana" panose="020B0604030504040204" pitchFamily="34" charset="0"/>
              </a:endParaRPr>
            </a:p>
          </p:txBody>
        </p:sp>
      </p:grpSp>
      <p:grpSp>
        <p:nvGrpSpPr>
          <p:cNvPr id="14352" name="Group 16"/>
          <p:cNvGrpSpPr>
            <a:grpSpLocks/>
          </p:cNvGrpSpPr>
          <p:nvPr/>
        </p:nvGrpSpPr>
        <p:grpSpPr bwMode="auto">
          <a:xfrm>
            <a:off x="3276600" y="4576763"/>
            <a:ext cx="4826000" cy="528637"/>
            <a:chOff x="2356" y="2960"/>
            <a:chExt cx="3040" cy="333"/>
          </a:xfrm>
        </p:grpSpPr>
        <p:sp>
          <p:nvSpPr>
            <p:cNvPr id="14353" name="Rectangle 17"/>
            <p:cNvSpPr>
              <a:spLocks noChangeArrowheads="1"/>
            </p:cNvSpPr>
            <p:nvPr/>
          </p:nvSpPr>
          <p:spPr bwMode="auto">
            <a:xfrm>
              <a:off x="2356" y="3005"/>
              <a:ext cx="575" cy="288"/>
            </a:xfrm>
            <a:prstGeom prst="rect">
              <a:avLst/>
            </a:prstGeom>
            <a:solidFill>
              <a:srgbClr val="C6C6FF"/>
            </a:solidFill>
            <a:ln w="6350">
              <a:solidFill>
                <a:srgbClr val="000000"/>
              </a:solidFill>
              <a:miter lim="800000"/>
              <a:headEnd/>
              <a:tailEnd/>
            </a:ln>
          </p:spPr>
          <p:txBody>
            <a:bodyPr/>
            <a:lstStyle/>
            <a:p>
              <a:endParaRPr lang="en-US"/>
            </a:p>
          </p:txBody>
        </p:sp>
        <p:sp>
          <p:nvSpPr>
            <p:cNvPr id="14354" name="Rectangle 18"/>
            <p:cNvSpPr>
              <a:spLocks noChangeArrowheads="1"/>
            </p:cNvSpPr>
            <p:nvPr/>
          </p:nvSpPr>
          <p:spPr bwMode="auto">
            <a:xfrm>
              <a:off x="2605" y="3081"/>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00"/>
                  </a:solidFill>
                  <a:latin typeface="LucidaSansTypewriter" charset="0"/>
                </a:rPr>
                <a:t>0</a:t>
              </a:r>
              <a:endParaRPr lang="en-US" altLang="en-US" b="1">
                <a:latin typeface="Verdana" panose="020B0604030504040204" pitchFamily="34" charset="0"/>
              </a:endParaRPr>
            </a:p>
          </p:txBody>
        </p:sp>
        <p:sp>
          <p:nvSpPr>
            <p:cNvPr id="14355" name="Rectangle 19"/>
            <p:cNvSpPr>
              <a:spLocks noChangeArrowheads="1"/>
            </p:cNvSpPr>
            <p:nvPr/>
          </p:nvSpPr>
          <p:spPr bwMode="auto">
            <a:xfrm>
              <a:off x="2931" y="3005"/>
              <a:ext cx="576" cy="288"/>
            </a:xfrm>
            <a:prstGeom prst="rect">
              <a:avLst/>
            </a:prstGeom>
            <a:solidFill>
              <a:srgbClr val="C6C6FF"/>
            </a:solidFill>
            <a:ln w="6350">
              <a:solidFill>
                <a:srgbClr val="000000"/>
              </a:solidFill>
              <a:miter lim="800000"/>
              <a:headEnd/>
              <a:tailEnd/>
            </a:ln>
          </p:spPr>
          <p:txBody>
            <a:bodyPr/>
            <a:lstStyle/>
            <a:p>
              <a:endParaRPr lang="en-US"/>
            </a:p>
          </p:txBody>
        </p:sp>
        <p:sp>
          <p:nvSpPr>
            <p:cNvPr id="14356" name="Rectangle 20"/>
            <p:cNvSpPr>
              <a:spLocks noChangeArrowheads="1"/>
            </p:cNvSpPr>
            <p:nvPr/>
          </p:nvSpPr>
          <p:spPr bwMode="auto">
            <a:xfrm>
              <a:off x="3104" y="3081"/>
              <a:ext cx="1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00"/>
                  </a:solidFill>
                  <a:latin typeface="LucidaSansTypewriter" charset="0"/>
                </a:rPr>
                <a:t>  0</a:t>
              </a:r>
              <a:endParaRPr lang="en-US" altLang="en-US" b="1">
                <a:latin typeface="Verdana" panose="020B0604030504040204" pitchFamily="34" charset="0"/>
              </a:endParaRPr>
            </a:p>
          </p:txBody>
        </p:sp>
        <p:sp>
          <p:nvSpPr>
            <p:cNvPr id="14357" name="Rectangle 21"/>
            <p:cNvSpPr>
              <a:spLocks noChangeArrowheads="1"/>
            </p:cNvSpPr>
            <p:nvPr/>
          </p:nvSpPr>
          <p:spPr bwMode="auto">
            <a:xfrm>
              <a:off x="3507" y="3005"/>
              <a:ext cx="575" cy="288"/>
            </a:xfrm>
            <a:prstGeom prst="rect">
              <a:avLst/>
            </a:prstGeom>
            <a:solidFill>
              <a:srgbClr val="C6C6FF"/>
            </a:solidFill>
            <a:ln w="6350">
              <a:solidFill>
                <a:srgbClr val="000000"/>
              </a:solidFill>
              <a:miter lim="800000"/>
              <a:headEnd/>
              <a:tailEnd/>
            </a:ln>
          </p:spPr>
          <p:txBody>
            <a:bodyPr/>
            <a:lstStyle/>
            <a:p>
              <a:endParaRPr lang="en-US"/>
            </a:p>
          </p:txBody>
        </p:sp>
        <p:sp>
          <p:nvSpPr>
            <p:cNvPr id="14358" name="Rectangle 22"/>
            <p:cNvSpPr>
              <a:spLocks noChangeArrowheads="1"/>
            </p:cNvSpPr>
            <p:nvPr/>
          </p:nvSpPr>
          <p:spPr bwMode="auto">
            <a:xfrm>
              <a:off x="3756" y="3081"/>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00"/>
                  </a:solidFill>
                  <a:latin typeface="LucidaSansTypewriter" charset="0"/>
                </a:rPr>
                <a:t>0</a:t>
              </a:r>
              <a:endParaRPr lang="en-US" altLang="en-US" b="1">
                <a:latin typeface="Verdana" panose="020B0604030504040204" pitchFamily="34" charset="0"/>
              </a:endParaRPr>
            </a:p>
          </p:txBody>
        </p:sp>
        <p:sp>
          <p:nvSpPr>
            <p:cNvPr id="14359" name="Rectangle 23"/>
            <p:cNvSpPr>
              <a:spLocks noChangeArrowheads="1"/>
            </p:cNvSpPr>
            <p:nvPr/>
          </p:nvSpPr>
          <p:spPr bwMode="auto">
            <a:xfrm>
              <a:off x="4082" y="3005"/>
              <a:ext cx="576" cy="288"/>
            </a:xfrm>
            <a:prstGeom prst="rect">
              <a:avLst/>
            </a:prstGeom>
            <a:solidFill>
              <a:srgbClr val="C6C6FF"/>
            </a:solidFill>
            <a:ln w="6350">
              <a:solidFill>
                <a:srgbClr val="000000"/>
              </a:solidFill>
              <a:miter lim="800000"/>
              <a:headEnd/>
              <a:tailEnd/>
            </a:ln>
          </p:spPr>
          <p:txBody>
            <a:bodyPr/>
            <a:lstStyle/>
            <a:p>
              <a:endParaRPr lang="en-US"/>
            </a:p>
          </p:txBody>
        </p:sp>
        <p:sp>
          <p:nvSpPr>
            <p:cNvPr id="14360" name="Rectangle 24"/>
            <p:cNvSpPr>
              <a:spLocks noChangeArrowheads="1"/>
            </p:cNvSpPr>
            <p:nvPr/>
          </p:nvSpPr>
          <p:spPr bwMode="auto">
            <a:xfrm>
              <a:off x="4332" y="3081"/>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00"/>
                  </a:solidFill>
                  <a:latin typeface="LucidaSansTypewriter" charset="0"/>
                </a:rPr>
                <a:t>0</a:t>
              </a:r>
              <a:endParaRPr lang="en-US" altLang="en-US" b="1">
                <a:latin typeface="Verdana" panose="020B0604030504040204" pitchFamily="34" charset="0"/>
              </a:endParaRPr>
            </a:p>
          </p:txBody>
        </p:sp>
        <p:sp>
          <p:nvSpPr>
            <p:cNvPr id="14361" name="Rectangle 25"/>
            <p:cNvSpPr>
              <a:spLocks noChangeArrowheads="1"/>
            </p:cNvSpPr>
            <p:nvPr/>
          </p:nvSpPr>
          <p:spPr bwMode="auto">
            <a:xfrm>
              <a:off x="4658" y="3005"/>
              <a:ext cx="575" cy="288"/>
            </a:xfrm>
            <a:prstGeom prst="rect">
              <a:avLst/>
            </a:prstGeom>
            <a:solidFill>
              <a:srgbClr val="C6C6FF"/>
            </a:solidFill>
            <a:ln w="6350">
              <a:solidFill>
                <a:srgbClr val="000000"/>
              </a:solidFill>
              <a:miter lim="800000"/>
              <a:headEnd/>
              <a:tailEnd/>
            </a:ln>
          </p:spPr>
          <p:txBody>
            <a:bodyPr/>
            <a:lstStyle/>
            <a:p>
              <a:endParaRPr lang="en-US"/>
            </a:p>
          </p:txBody>
        </p:sp>
        <p:sp>
          <p:nvSpPr>
            <p:cNvPr id="14362" name="Rectangle 26"/>
            <p:cNvSpPr>
              <a:spLocks noChangeArrowheads="1"/>
            </p:cNvSpPr>
            <p:nvPr/>
          </p:nvSpPr>
          <p:spPr bwMode="auto">
            <a:xfrm>
              <a:off x="4907" y="3081"/>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00"/>
                  </a:solidFill>
                  <a:latin typeface="LucidaSansTypewriter" charset="0"/>
                </a:rPr>
                <a:t>0</a:t>
              </a:r>
              <a:endParaRPr lang="en-US" altLang="en-US" b="1">
                <a:latin typeface="Verdana" panose="020B0604030504040204" pitchFamily="34" charset="0"/>
              </a:endParaRPr>
            </a:p>
          </p:txBody>
        </p:sp>
        <p:sp>
          <p:nvSpPr>
            <p:cNvPr id="14363" name="Text Box 27"/>
            <p:cNvSpPr txBox="1">
              <a:spLocks noChangeArrowheads="1"/>
            </p:cNvSpPr>
            <p:nvPr/>
          </p:nvSpPr>
          <p:spPr bwMode="auto">
            <a:xfrm>
              <a:off x="5280" y="2960"/>
              <a:ext cx="1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en-US" altLang="en-US" sz="2000" b="1">
                <a:latin typeface="Verdana" panose="020B0604030504040204" pitchFamily="34" charset="0"/>
              </a:endParaRPr>
            </a:p>
          </p:txBody>
        </p:sp>
      </p:grpSp>
      <p:grpSp>
        <p:nvGrpSpPr>
          <p:cNvPr id="14364" name="Group 28"/>
          <p:cNvGrpSpPr>
            <a:grpSpLocks/>
          </p:cNvGrpSpPr>
          <p:nvPr/>
        </p:nvGrpSpPr>
        <p:grpSpPr bwMode="auto">
          <a:xfrm>
            <a:off x="533400" y="3581400"/>
            <a:ext cx="1600200" cy="457200"/>
            <a:chOff x="720" y="2688"/>
            <a:chExt cx="1008" cy="288"/>
          </a:xfrm>
        </p:grpSpPr>
        <p:sp>
          <p:nvSpPr>
            <p:cNvPr id="14365" name="Rectangle 29"/>
            <p:cNvSpPr>
              <a:spLocks noChangeArrowheads="1"/>
            </p:cNvSpPr>
            <p:nvPr/>
          </p:nvSpPr>
          <p:spPr bwMode="auto">
            <a:xfrm>
              <a:off x="864" y="2688"/>
              <a:ext cx="864" cy="288"/>
            </a:xfrm>
            <a:prstGeom prst="rect">
              <a:avLst/>
            </a:prstGeom>
            <a:solidFill>
              <a:srgbClr val="C6C6FF"/>
            </a:solidFill>
            <a:ln w="6350">
              <a:solidFill>
                <a:srgbClr val="000000"/>
              </a:solidFill>
              <a:miter lim="800000"/>
              <a:headEnd/>
              <a:tailEnd/>
            </a:ln>
          </p:spPr>
          <p:txBody>
            <a:bodyPr/>
            <a:lstStyle/>
            <a:p>
              <a:r>
                <a:rPr lang="en-US" altLang="en-US"/>
                <a:t>      null</a:t>
              </a:r>
            </a:p>
          </p:txBody>
        </p:sp>
        <p:sp>
          <p:nvSpPr>
            <p:cNvPr id="14366" name="Rectangle 30"/>
            <p:cNvSpPr>
              <a:spLocks noChangeArrowheads="1"/>
            </p:cNvSpPr>
            <p:nvPr/>
          </p:nvSpPr>
          <p:spPr bwMode="auto">
            <a:xfrm>
              <a:off x="720" y="2736"/>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FF"/>
                  </a:solidFill>
                  <a:latin typeface="LucidaSansTypewriter" charset="0"/>
                </a:rPr>
                <a:t>a</a:t>
              </a:r>
              <a:endParaRPr lang="en-US" altLang="en-US" b="1">
                <a:solidFill>
                  <a:srgbClr val="0000FF"/>
                </a:solidFill>
                <a:latin typeface="Verdana" panose="020B0604030504040204" pitchFamily="34" charset="0"/>
              </a:endParaRPr>
            </a:p>
          </p:txBody>
        </p:sp>
      </p:grpSp>
      <p:sp>
        <p:nvSpPr>
          <p:cNvPr id="14367" name="Rectangle 31"/>
          <p:cNvSpPr>
            <a:spLocks noChangeArrowheads="1"/>
          </p:cNvSpPr>
          <p:nvPr/>
        </p:nvSpPr>
        <p:spPr bwMode="auto">
          <a:xfrm>
            <a:off x="1981200" y="3997325"/>
            <a:ext cx="682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00"/>
                </a:solidFill>
                <a:latin typeface="LucidaSansTypewriter" charset="0"/>
              </a:rPr>
              <a:t>-</a:t>
            </a:r>
            <a:endParaRPr lang="en-US" altLang="en-US" b="1">
              <a:latin typeface="Verdana" panose="020B0604030504040204" pitchFamily="34" charset="0"/>
            </a:endParaRPr>
          </a:p>
        </p:txBody>
      </p:sp>
      <p:grpSp>
        <p:nvGrpSpPr>
          <p:cNvPr id="14368" name="Group 32"/>
          <p:cNvGrpSpPr>
            <a:grpSpLocks/>
          </p:cNvGrpSpPr>
          <p:nvPr/>
        </p:nvGrpSpPr>
        <p:grpSpPr bwMode="auto">
          <a:xfrm>
            <a:off x="533400" y="4191000"/>
            <a:ext cx="1600200" cy="457200"/>
            <a:chOff x="720" y="2544"/>
            <a:chExt cx="1008" cy="288"/>
          </a:xfrm>
        </p:grpSpPr>
        <p:sp>
          <p:nvSpPr>
            <p:cNvPr id="14369" name="Rectangle 33"/>
            <p:cNvSpPr>
              <a:spLocks noChangeArrowheads="1"/>
            </p:cNvSpPr>
            <p:nvPr/>
          </p:nvSpPr>
          <p:spPr bwMode="auto">
            <a:xfrm>
              <a:off x="864" y="2544"/>
              <a:ext cx="864" cy="288"/>
            </a:xfrm>
            <a:prstGeom prst="rect">
              <a:avLst/>
            </a:prstGeom>
            <a:solidFill>
              <a:srgbClr val="C6C6FF"/>
            </a:solidFill>
            <a:ln w="6350">
              <a:solidFill>
                <a:srgbClr val="000000"/>
              </a:solidFill>
              <a:miter lim="800000"/>
              <a:headEnd/>
              <a:tailEnd/>
            </a:ln>
          </p:spPr>
          <p:txBody>
            <a:bodyPr/>
            <a:lstStyle/>
            <a:p>
              <a:endParaRPr lang="en-US"/>
            </a:p>
          </p:txBody>
        </p:sp>
        <p:sp>
          <p:nvSpPr>
            <p:cNvPr id="14370" name="Rectangle 34"/>
            <p:cNvSpPr>
              <a:spLocks noChangeArrowheads="1"/>
            </p:cNvSpPr>
            <p:nvPr/>
          </p:nvSpPr>
          <p:spPr bwMode="auto">
            <a:xfrm>
              <a:off x="720" y="2592"/>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FF"/>
                  </a:solidFill>
                  <a:latin typeface="LucidaSansTypewriter" charset="0"/>
                </a:rPr>
                <a:t>b</a:t>
              </a:r>
              <a:endParaRPr lang="en-US" altLang="en-US" b="1">
                <a:solidFill>
                  <a:srgbClr val="0000FF"/>
                </a:solidFill>
                <a:latin typeface="Verdana" panose="020B0604030504040204" pitchFamily="34" charset="0"/>
              </a:endParaRPr>
            </a:p>
          </p:txBody>
        </p:sp>
        <p:sp>
          <p:nvSpPr>
            <p:cNvPr id="14371" name="Rectangle 35"/>
            <p:cNvSpPr>
              <a:spLocks noChangeArrowheads="1"/>
            </p:cNvSpPr>
            <p:nvPr/>
          </p:nvSpPr>
          <p:spPr bwMode="auto">
            <a:xfrm>
              <a:off x="1248" y="2614"/>
              <a:ext cx="19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00"/>
                  </a:solidFill>
                  <a:latin typeface="LucidaSansTypewriter" charset="0"/>
                </a:rPr>
                <a:t>null</a:t>
              </a:r>
              <a:endParaRPr lang="en-US" altLang="en-US" b="1">
                <a:latin typeface="LucidaSansTypewriter" charset="0"/>
              </a:endParaRPr>
            </a:p>
          </p:txBody>
        </p:sp>
      </p:grpSp>
      <p:grpSp>
        <p:nvGrpSpPr>
          <p:cNvPr id="14372" name="Group 36"/>
          <p:cNvGrpSpPr>
            <a:grpSpLocks/>
          </p:cNvGrpSpPr>
          <p:nvPr/>
        </p:nvGrpSpPr>
        <p:grpSpPr bwMode="auto">
          <a:xfrm>
            <a:off x="533400" y="4800600"/>
            <a:ext cx="1600200" cy="457200"/>
            <a:chOff x="720" y="2544"/>
            <a:chExt cx="1008" cy="288"/>
          </a:xfrm>
        </p:grpSpPr>
        <p:sp>
          <p:nvSpPr>
            <p:cNvPr id="14373" name="Rectangle 37"/>
            <p:cNvSpPr>
              <a:spLocks noChangeArrowheads="1"/>
            </p:cNvSpPr>
            <p:nvPr/>
          </p:nvSpPr>
          <p:spPr bwMode="auto">
            <a:xfrm>
              <a:off x="864" y="2544"/>
              <a:ext cx="864" cy="288"/>
            </a:xfrm>
            <a:prstGeom prst="rect">
              <a:avLst/>
            </a:prstGeom>
            <a:solidFill>
              <a:srgbClr val="C6C6FF"/>
            </a:solidFill>
            <a:ln w="6350">
              <a:solidFill>
                <a:srgbClr val="000000"/>
              </a:solidFill>
              <a:miter lim="800000"/>
              <a:headEnd/>
              <a:tailEnd/>
            </a:ln>
          </p:spPr>
          <p:txBody>
            <a:bodyPr/>
            <a:lstStyle/>
            <a:p>
              <a:endParaRPr lang="en-US"/>
            </a:p>
          </p:txBody>
        </p:sp>
        <p:sp>
          <p:nvSpPr>
            <p:cNvPr id="14374" name="Rectangle 38"/>
            <p:cNvSpPr>
              <a:spLocks noChangeArrowheads="1"/>
            </p:cNvSpPr>
            <p:nvPr/>
          </p:nvSpPr>
          <p:spPr bwMode="auto">
            <a:xfrm>
              <a:off x="720" y="2592"/>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FF"/>
                  </a:solidFill>
                  <a:latin typeface="LucidaSansTypewriter" charset="0"/>
                </a:rPr>
                <a:t>c</a:t>
              </a:r>
              <a:endParaRPr lang="en-US" altLang="en-US" b="1">
                <a:solidFill>
                  <a:srgbClr val="0000FF"/>
                </a:solidFill>
                <a:latin typeface="Verdana" panose="020B0604030504040204" pitchFamily="34" charset="0"/>
              </a:endParaRPr>
            </a:p>
          </p:txBody>
        </p:sp>
        <p:sp>
          <p:nvSpPr>
            <p:cNvPr id="14375" name="Rectangle 39"/>
            <p:cNvSpPr>
              <a:spLocks noChangeArrowheads="1"/>
            </p:cNvSpPr>
            <p:nvPr/>
          </p:nvSpPr>
          <p:spPr bwMode="auto">
            <a:xfrm>
              <a:off x="1248" y="261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endParaRPr lang="en-US" altLang="en-US" b="1">
                <a:latin typeface="Verdana" panose="020B0604030504040204" pitchFamily="34" charset="0"/>
              </a:endParaRPr>
            </a:p>
          </p:txBody>
        </p:sp>
      </p:grpSp>
      <p:grpSp>
        <p:nvGrpSpPr>
          <p:cNvPr id="14376" name="Group 40"/>
          <p:cNvGrpSpPr>
            <a:grpSpLocks/>
          </p:cNvGrpSpPr>
          <p:nvPr/>
        </p:nvGrpSpPr>
        <p:grpSpPr bwMode="auto">
          <a:xfrm>
            <a:off x="533400" y="5562600"/>
            <a:ext cx="1600200" cy="457200"/>
            <a:chOff x="720" y="2544"/>
            <a:chExt cx="1008" cy="288"/>
          </a:xfrm>
        </p:grpSpPr>
        <p:sp>
          <p:nvSpPr>
            <p:cNvPr id="14377" name="Rectangle 41"/>
            <p:cNvSpPr>
              <a:spLocks noChangeArrowheads="1"/>
            </p:cNvSpPr>
            <p:nvPr/>
          </p:nvSpPr>
          <p:spPr bwMode="auto">
            <a:xfrm>
              <a:off x="864" y="2544"/>
              <a:ext cx="864" cy="288"/>
            </a:xfrm>
            <a:prstGeom prst="rect">
              <a:avLst/>
            </a:prstGeom>
            <a:solidFill>
              <a:srgbClr val="C6C6FF"/>
            </a:solidFill>
            <a:ln w="6350">
              <a:solidFill>
                <a:srgbClr val="000000"/>
              </a:solidFill>
              <a:miter lim="800000"/>
              <a:headEnd/>
              <a:tailEnd/>
            </a:ln>
          </p:spPr>
          <p:txBody>
            <a:bodyPr/>
            <a:lstStyle/>
            <a:p>
              <a:endParaRPr lang="en-US"/>
            </a:p>
          </p:txBody>
        </p:sp>
        <p:sp>
          <p:nvSpPr>
            <p:cNvPr id="14378" name="Rectangle 42"/>
            <p:cNvSpPr>
              <a:spLocks noChangeArrowheads="1"/>
            </p:cNvSpPr>
            <p:nvPr/>
          </p:nvSpPr>
          <p:spPr bwMode="auto">
            <a:xfrm>
              <a:off x="720" y="2592"/>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600">
                  <a:solidFill>
                    <a:srgbClr val="0000FF"/>
                  </a:solidFill>
                  <a:latin typeface="LucidaSansTypewriter" charset="0"/>
                </a:rPr>
                <a:t>d</a:t>
              </a:r>
              <a:endParaRPr lang="en-US" altLang="en-US" b="1">
                <a:solidFill>
                  <a:srgbClr val="0000FF"/>
                </a:solidFill>
                <a:latin typeface="Verdana" panose="020B0604030504040204" pitchFamily="34" charset="0"/>
              </a:endParaRPr>
            </a:p>
          </p:txBody>
        </p:sp>
        <p:sp>
          <p:nvSpPr>
            <p:cNvPr id="14379" name="Rectangle 43"/>
            <p:cNvSpPr>
              <a:spLocks noChangeArrowheads="1"/>
            </p:cNvSpPr>
            <p:nvPr/>
          </p:nvSpPr>
          <p:spPr bwMode="auto">
            <a:xfrm>
              <a:off x="1248" y="261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endParaRPr lang="en-US" altLang="en-US" b="1">
                <a:latin typeface="Verdana" panose="020B0604030504040204" pitchFamily="34" charset="0"/>
              </a:endParaRPr>
            </a:p>
          </p:txBody>
        </p:sp>
      </p:grpSp>
      <p:sp>
        <p:nvSpPr>
          <p:cNvPr id="14380" name="Line 44"/>
          <p:cNvSpPr>
            <a:spLocks noChangeShapeType="1"/>
          </p:cNvSpPr>
          <p:nvPr/>
        </p:nvSpPr>
        <p:spPr bwMode="auto">
          <a:xfrm>
            <a:off x="1981200" y="4953000"/>
            <a:ext cx="1295400" cy="0"/>
          </a:xfrm>
          <a:prstGeom prst="line">
            <a:avLst/>
          </a:prstGeom>
          <a:noFill/>
          <a:ln w="381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4381" name="Line 45"/>
          <p:cNvSpPr>
            <a:spLocks noChangeShapeType="1"/>
          </p:cNvSpPr>
          <p:nvPr/>
        </p:nvSpPr>
        <p:spPr bwMode="auto">
          <a:xfrm>
            <a:off x="1981200" y="5715000"/>
            <a:ext cx="1295400" cy="0"/>
          </a:xfrm>
          <a:prstGeom prst="line">
            <a:avLst/>
          </a:prstGeom>
          <a:noFill/>
          <a:ln w="381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4382" name="Line 46"/>
          <p:cNvSpPr>
            <a:spLocks noChangeShapeType="1"/>
          </p:cNvSpPr>
          <p:nvPr/>
        </p:nvSpPr>
        <p:spPr bwMode="auto">
          <a:xfrm>
            <a:off x="3048000" y="3886200"/>
            <a:ext cx="609600" cy="914400"/>
          </a:xfrm>
          <a:prstGeom prst="line">
            <a:avLst/>
          </a:prstGeom>
          <a:noFill/>
          <a:ln w="381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4383" name="Line 47"/>
          <p:cNvSpPr>
            <a:spLocks noChangeShapeType="1"/>
          </p:cNvSpPr>
          <p:nvPr/>
        </p:nvSpPr>
        <p:spPr bwMode="auto">
          <a:xfrm>
            <a:off x="2057400" y="3886200"/>
            <a:ext cx="990600" cy="0"/>
          </a:xfrm>
          <a:prstGeom prst="line">
            <a:avLst/>
          </a:prstGeom>
          <a:noFill/>
          <a:ln w="38100">
            <a:solidFill>
              <a:srgbClr val="FF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4384" name="Line 48"/>
          <p:cNvSpPr>
            <a:spLocks noChangeShapeType="1"/>
          </p:cNvSpPr>
          <p:nvPr/>
        </p:nvSpPr>
        <p:spPr bwMode="auto">
          <a:xfrm flipV="1">
            <a:off x="1981200" y="5181600"/>
            <a:ext cx="1295400" cy="533400"/>
          </a:xfrm>
          <a:prstGeom prst="line">
            <a:avLst/>
          </a:prstGeom>
          <a:noFill/>
          <a:ln w="381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4385" name="Rectangle 49"/>
          <p:cNvSpPr>
            <a:spLocks noChangeArrowheads="1"/>
          </p:cNvSpPr>
          <p:nvPr/>
        </p:nvSpPr>
        <p:spPr bwMode="auto">
          <a:xfrm>
            <a:off x="381000" y="1219200"/>
            <a:ext cx="82296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buFontTx/>
              <a:buNone/>
            </a:pPr>
            <a:endParaRPr lang="en-US" altLang="en-US">
              <a:solidFill>
                <a:srgbClr val="FFFF00"/>
              </a:solidFill>
            </a:endParaRPr>
          </a:p>
          <a:p>
            <a:pPr lvl="2">
              <a:buFontTx/>
              <a:buNone/>
            </a:pPr>
            <a:r>
              <a:rPr lang="en-US" altLang="en-US">
                <a:solidFill>
                  <a:srgbClr val="0000FF"/>
                </a:solidFill>
                <a:latin typeface="Times New Roman" panose="02020603050405020304" pitchFamily="18" charset="0"/>
              </a:rPr>
              <a:t>				</a:t>
            </a:r>
          </a:p>
        </p:txBody>
      </p:sp>
      <p:sp>
        <p:nvSpPr>
          <p:cNvPr id="2" name="Date Placeholder 1"/>
          <p:cNvSpPr>
            <a:spLocks noGrp="1"/>
          </p:cNvSpPr>
          <p:nvPr>
            <p:ph type="dt" sz="half" idx="10"/>
          </p:nvPr>
        </p:nvSpPr>
        <p:spPr/>
        <p:txBody>
          <a:bodyPr/>
          <a:lstStyle/>
          <a:p>
            <a:fld id="{935EB353-B9A7-4317-83DA-A93A745AA27C}"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44</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8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36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36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nodeType="clickEffect">
                                  <p:stCondLst>
                                    <p:cond delay="0"/>
                                  </p:stCondLst>
                                  <p:childTnLst>
                                    <p:set>
                                      <p:cBhvr>
                                        <p:cTn id="16" dur="1" fill="hold">
                                          <p:stCondLst>
                                            <p:cond delay="0"/>
                                          </p:stCondLst>
                                        </p:cTn>
                                        <p:tgtEl>
                                          <p:spTgt spid="14385">
                                            <p:txEl>
                                              <p:pRg st="1" end="1"/>
                                            </p:txEl>
                                          </p:spTgt>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436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43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38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352"/>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437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38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340"/>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14367"/>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1438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382"/>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14381"/>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14384"/>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0" presetClass="exit" presetSubtype="0" fill="hold" nodeType="clickEffect">
                                  <p:stCondLst>
                                    <p:cond delay="0"/>
                                  </p:stCondLst>
                                  <p:childTnLst>
                                    <p:animEffect transition="out" filter="fade">
                                      <p:cBhvr>
                                        <p:cTn id="54" dur="2000"/>
                                        <p:tgtEl>
                                          <p:spTgt spid="14340"/>
                                        </p:tgtEl>
                                      </p:cBhvr>
                                    </p:animEffect>
                                    <p:set>
                                      <p:cBhvr>
                                        <p:cTn id="55" dur="1" fill="hold">
                                          <p:stCondLst>
                                            <p:cond delay="1999"/>
                                          </p:stCondLst>
                                        </p:cTn>
                                        <p:tgtEl>
                                          <p:spTgt spid="143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67" grpId="0"/>
      <p:bldP spid="14367" grpId="1"/>
      <p:bldP spid="14380" grpId="0" animBg="1"/>
      <p:bldP spid="14381" grpId="0" animBg="1"/>
      <p:bldP spid="14381" grpId="1" animBg="1"/>
      <p:bldP spid="14382" grpId="0" animBg="1"/>
      <p:bldP spid="14383" grpId="0" animBg="1"/>
      <p:bldP spid="1438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74638"/>
            <a:ext cx="8382000" cy="868362"/>
          </a:xfrm>
        </p:spPr>
        <p:txBody>
          <a:bodyPr/>
          <a:lstStyle/>
          <a:p>
            <a:r>
              <a:rPr lang="en-US" altLang="en-US" b="1">
                <a:latin typeface="Times New Roman" panose="02020603050405020304" pitchFamily="18" charset="0"/>
              </a:rPr>
              <a:t>Multi-Dimensional Arrays</a:t>
            </a:r>
          </a:p>
        </p:txBody>
      </p:sp>
      <p:sp>
        <p:nvSpPr>
          <p:cNvPr id="13315" name="Rectangle 3"/>
          <p:cNvSpPr>
            <a:spLocks noGrp="1" noChangeArrowheads="1"/>
          </p:cNvSpPr>
          <p:nvPr>
            <p:ph type="body" sz="half" idx="1"/>
          </p:nvPr>
        </p:nvSpPr>
        <p:spPr>
          <a:xfrm>
            <a:off x="457200" y="1295400"/>
            <a:ext cx="7504113" cy="989013"/>
          </a:xfrm>
        </p:spPr>
        <p:txBody>
          <a:bodyPr/>
          <a:lstStyle/>
          <a:p>
            <a:pPr>
              <a:buFont typeface="Wingdings" panose="05000000000000000000" pitchFamily="2" charset="2"/>
              <a:buChar char="ü"/>
            </a:pPr>
            <a:r>
              <a:rPr lang="en-US" altLang="en-US" sz="2400">
                <a:latin typeface="Times New Roman" panose="02020603050405020304" pitchFamily="18" charset="0"/>
              </a:rPr>
              <a:t>A two-dimensional array can be declared as </a:t>
            </a:r>
          </a:p>
          <a:p>
            <a:pPr>
              <a:buFont typeface="Wingdings" panose="05000000000000000000" pitchFamily="2" charset="2"/>
              <a:buNone/>
            </a:pPr>
            <a:r>
              <a:rPr lang="en-US" altLang="en-US" sz="2400">
                <a:latin typeface="Times New Roman" panose="02020603050405020304" pitchFamily="18" charset="0"/>
              </a:rPr>
              <a:t>	int twoD [] [] = new int[4][5];</a:t>
            </a:r>
          </a:p>
          <a:p>
            <a:pPr>
              <a:buFont typeface="Wingdings" panose="05000000000000000000" pitchFamily="2" charset="2"/>
              <a:buNone/>
            </a:pPr>
            <a:endParaRPr lang="en-US" altLang="en-US" sz="2400">
              <a:latin typeface="Times New Roman" panose="02020603050405020304" pitchFamily="18" charset="0"/>
            </a:endParaRPr>
          </a:p>
        </p:txBody>
      </p:sp>
      <p:graphicFrame>
        <p:nvGraphicFramePr>
          <p:cNvPr id="13381" name="Group 69"/>
          <p:cNvGraphicFramePr>
            <a:graphicFrameLocks noGrp="1"/>
          </p:cNvGraphicFramePr>
          <p:nvPr>
            <p:ph sz="half" idx="2"/>
          </p:nvPr>
        </p:nvGraphicFramePr>
        <p:xfrm>
          <a:off x="990600" y="2819400"/>
          <a:ext cx="5638800" cy="3276601"/>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7950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gridCol w="1409700">
                  <a:extLst>
                    <a:ext uri="{9D8B030D-6E8A-4147-A177-3AD203B41FA5}">
                      <a16:colId xmlns:a16="http://schemas.microsoft.com/office/drawing/2014/main" val="20004"/>
                    </a:ext>
                  </a:extLst>
                </a:gridCol>
              </a:tblGrid>
              <a:tr h="760413">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[0][4]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3820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[1][4]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3978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[2][4]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3820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[3][4]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3369" name="Line 57"/>
          <p:cNvSpPr>
            <a:spLocks noChangeShapeType="1"/>
          </p:cNvSpPr>
          <p:nvPr/>
        </p:nvSpPr>
        <p:spPr bwMode="auto">
          <a:xfrm>
            <a:off x="5867400" y="31242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70" name="Line 58"/>
          <p:cNvSpPr>
            <a:spLocks noChangeShapeType="1"/>
          </p:cNvSpPr>
          <p:nvPr/>
        </p:nvSpPr>
        <p:spPr bwMode="auto">
          <a:xfrm>
            <a:off x="5867400" y="3352800"/>
            <a:ext cx="1066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71" name="Text Box 59"/>
          <p:cNvSpPr txBox="1">
            <a:spLocks noChangeArrowheads="1"/>
          </p:cNvSpPr>
          <p:nvPr/>
        </p:nvSpPr>
        <p:spPr bwMode="auto">
          <a:xfrm>
            <a:off x="7162800" y="3200400"/>
            <a:ext cx="2057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anose="02020603050405020304" pitchFamily="18" charset="0"/>
              </a:rPr>
              <a:t>Represents row</a:t>
            </a:r>
          </a:p>
        </p:txBody>
      </p:sp>
      <p:sp>
        <p:nvSpPr>
          <p:cNvPr id="13372" name="Line 60"/>
          <p:cNvSpPr>
            <a:spLocks noChangeShapeType="1"/>
          </p:cNvSpPr>
          <p:nvPr/>
        </p:nvSpPr>
        <p:spPr bwMode="auto">
          <a:xfrm flipV="1">
            <a:off x="4800600" y="2590800"/>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74" name="Line 62"/>
          <p:cNvSpPr>
            <a:spLocks noChangeShapeType="1"/>
          </p:cNvSpPr>
          <p:nvPr/>
        </p:nvSpPr>
        <p:spPr bwMode="auto">
          <a:xfrm>
            <a:off x="4800600" y="2590800"/>
            <a:ext cx="1752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75" name="Text Box 63"/>
          <p:cNvSpPr txBox="1">
            <a:spLocks noChangeArrowheads="1"/>
          </p:cNvSpPr>
          <p:nvPr/>
        </p:nvSpPr>
        <p:spPr bwMode="auto">
          <a:xfrm>
            <a:off x="6705600" y="1981200"/>
            <a:ext cx="2209800"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latin typeface="Times New Roman" panose="02020603050405020304" pitchFamily="18" charset="0"/>
            </a:endParaRPr>
          </a:p>
          <a:p>
            <a:pPr>
              <a:spcBef>
                <a:spcPct val="50000"/>
              </a:spcBef>
            </a:pPr>
            <a:r>
              <a:rPr lang="en-US" altLang="en-US">
                <a:latin typeface="Times New Roman" panose="02020603050405020304" pitchFamily="18" charset="0"/>
              </a:rPr>
              <a:t>Represents column</a:t>
            </a:r>
          </a:p>
        </p:txBody>
      </p:sp>
      <p:sp>
        <p:nvSpPr>
          <p:cNvPr id="2" name="Date Placeholder 1"/>
          <p:cNvSpPr>
            <a:spLocks noGrp="1"/>
          </p:cNvSpPr>
          <p:nvPr>
            <p:ph type="dt" sz="half" idx="10"/>
          </p:nvPr>
        </p:nvSpPr>
        <p:spPr/>
        <p:txBody>
          <a:bodyPr/>
          <a:lstStyle/>
          <a:p>
            <a:fld id="{34546A98-9086-49C6-8EC2-DF6A0397095C}"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AF0D4B8D-7877-4FFC-B9E5-DA1CEA1792C0}" type="slidenum">
              <a:rPr lang="en-US" altLang="en-US" smtClean="0"/>
              <a:pPr/>
              <a:t>45</a:t>
            </a:fld>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914400" y="0"/>
            <a:ext cx="7696200" cy="914400"/>
          </a:xfrm>
        </p:spPr>
        <p:txBody>
          <a:bodyPr/>
          <a:lstStyle/>
          <a:p>
            <a:r>
              <a:rPr lang="en-US" altLang="en-US">
                <a:latin typeface="Times New Roman" panose="02020603050405020304" pitchFamily="18" charset="0"/>
              </a:rPr>
              <a:t>Example</a:t>
            </a:r>
          </a:p>
        </p:txBody>
      </p:sp>
      <p:sp>
        <p:nvSpPr>
          <p:cNvPr id="19459" name="Rectangle 3"/>
          <p:cNvSpPr>
            <a:spLocks noGrp="1" noChangeArrowheads="1"/>
          </p:cNvSpPr>
          <p:nvPr>
            <p:ph type="body" idx="1"/>
          </p:nvPr>
        </p:nvSpPr>
        <p:spPr>
          <a:xfrm>
            <a:off x="457200" y="990600"/>
            <a:ext cx="8229600" cy="4525963"/>
          </a:xfrm>
        </p:spPr>
        <p:txBody>
          <a:bodyPr>
            <a:normAutofit fontScale="85000" lnSpcReduction="20000"/>
          </a:bodyPr>
          <a:lstStyle/>
          <a:p>
            <a:pPr>
              <a:lnSpc>
                <a:spcPct val="80000"/>
              </a:lnSpc>
              <a:buFontTx/>
              <a:buNone/>
            </a:pPr>
            <a:r>
              <a:rPr lang="en-US" altLang="en-US" sz="1200">
                <a:latin typeface="Times New Roman" panose="02020603050405020304" pitchFamily="18" charset="0"/>
              </a:rPr>
              <a:t>	</a:t>
            </a:r>
            <a:r>
              <a:rPr lang="en-US" altLang="en-US" sz="1800">
                <a:latin typeface="Times New Roman" panose="02020603050405020304" pitchFamily="18" charset="0"/>
              </a:rPr>
              <a:t>	</a:t>
            </a:r>
            <a:r>
              <a:rPr lang="en-US" altLang="en-US" sz="1600" b="1">
                <a:latin typeface="Times New Roman" panose="02020603050405020304" pitchFamily="18" charset="0"/>
              </a:rPr>
              <a:t>int tmp[][] = new int[3][3];</a:t>
            </a:r>
          </a:p>
          <a:p>
            <a:pPr>
              <a:lnSpc>
                <a:spcPct val="80000"/>
              </a:lnSpc>
              <a:buFontTx/>
              <a:buNone/>
            </a:pPr>
            <a:r>
              <a:rPr lang="en-US" altLang="en-US" sz="1600" b="1">
                <a:latin typeface="Times New Roman" panose="02020603050405020304" pitchFamily="18" charset="0"/>
              </a:rPr>
              <a:t>		int i,j;</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600" b="1">
                <a:latin typeface="Times New Roman" panose="02020603050405020304" pitchFamily="18" charset="0"/>
              </a:rPr>
              <a:t>		Scanner test=new Scanner(System.in);</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600" b="1">
                <a:latin typeface="Times New Roman" panose="02020603050405020304" pitchFamily="18" charset="0"/>
              </a:rPr>
              <a:t>		for(i=0;i&lt;3;i++)</a:t>
            </a:r>
          </a:p>
          <a:p>
            <a:pPr>
              <a:lnSpc>
                <a:spcPct val="80000"/>
              </a:lnSpc>
              <a:buFontTx/>
              <a:buNone/>
            </a:pPr>
            <a:r>
              <a:rPr lang="en-US" altLang="en-US" sz="1600" b="1">
                <a:latin typeface="Times New Roman" panose="02020603050405020304" pitchFamily="18" charset="0"/>
              </a:rPr>
              <a:t>			for(j=0;j&lt;3;j++)</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600" b="1">
                <a:latin typeface="Times New Roman" panose="02020603050405020304" pitchFamily="18" charset="0"/>
              </a:rPr>
              <a:t>				System.out.print("Enter Input:");</a:t>
            </a:r>
          </a:p>
          <a:p>
            <a:pPr>
              <a:lnSpc>
                <a:spcPct val="80000"/>
              </a:lnSpc>
              <a:buFontTx/>
              <a:buNone/>
            </a:pPr>
            <a:r>
              <a:rPr lang="en-US" altLang="en-US" sz="1600" b="1">
                <a:latin typeface="Times New Roman" panose="02020603050405020304" pitchFamily="18" charset="0"/>
              </a:rPr>
              <a:t>				if(test.hasNextInt())</a:t>
            </a:r>
          </a:p>
          <a:p>
            <a:pPr>
              <a:lnSpc>
                <a:spcPct val="80000"/>
              </a:lnSpc>
              <a:buFontTx/>
              <a:buNone/>
            </a:pPr>
            <a:r>
              <a:rPr lang="en-US" altLang="en-US" sz="1600" b="1">
                <a:latin typeface="Times New Roman" panose="02020603050405020304" pitchFamily="18" charset="0"/>
              </a:rPr>
              <a:t>					tmp[i][j]=test.nextInt();	</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600" b="1">
                <a:latin typeface="Times New Roman" panose="02020603050405020304" pitchFamily="18" charset="0"/>
              </a:rPr>
              <a:t>		for(i=0;i&lt;3;i++)</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600" b="1">
                <a:latin typeface="Times New Roman" panose="02020603050405020304" pitchFamily="18" charset="0"/>
              </a:rPr>
              <a:t>			for(j=0;j&lt;3;j++)</a:t>
            </a:r>
          </a:p>
          <a:p>
            <a:pPr>
              <a:lnSpc>
                <a:spcPct val="80000"/>
              </a:lnSpc>
              <a:buFontTx/>
              <a:buNone/>
            </a:pPr>
            <a:r>
              <a:rPr lang="en-US" altLang="en-US" sz="1600" b="1">
                <a:latin typeface="Times New Roman" panose="02020603050405020304" pitchFamily="18" charset="0"/>
              </a:rPr>
              <a:t>				System.out.print(tmp[i][j] + " ");</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600" b="1">
                <a:latin typeface="Times New Roman" panose="02020603050405020304" pitchFamily="18" charset="0"/>
              </a:rPr>
              <a:t>			System.out.println();</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800" b="1">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	</a:t>
            </a:r>
          </a:p>
        </p:txBody>
      </p:sp>
      <p:sp>
        <p:nvSpPr>
          <p:cNvPr id="2" name="Date Placeholder 1"/>
          <p:cNvSpPr>
            <a:spLocks noGrp="1"/>
          </p:cNvSpPr>
          <p:nvPr>
            <p:ph type="dt" sz="half" idx="10"/>
          </p:nvPr>
        </p:nvSpPr>
        <p:spPr/>
        <p:txBody>
          <a:bodyPr/>
          <a:lstStyle/>
          <a:p>
            <a:fld id="{F30AC16C-D553-4B88-A715-E42F5D16E061}"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46</a:t>
            </a:fld>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b="1">
                <a:latin typeface="Times New Roman" panose="02020603050405020304" pitchFamily="18" charset="0"/>
              </a:rPr>
              <a:t>Multi-dimensional Array</a:t>
            </a:r>
          </a:p>
        </p:txBody>
      </p:sp>
      <p:sp>
        <p:nvSpPr>
          <p:cNvPr id="20483" name="Rectangle 3"/>
          <p:cNvSpPr>
            <a:spLocks noGrp="1" noChangeArrowheads="1"/>
          </p:cNvSpPr>
          <p:nvPr>
            <p:ph type="body" idx="1"/>
          </p:nvPr>
        </p:nvSpPr>
        <p:spPr/>
        <p:txBody>
          <a:bodyPr/>
          <a:lstStyle/>
          <a:p>
            <a:pPr>
              <a:buFont typeface="Wingdings" panose="05000000000000000000" pitchFamily="2" charset="2"/>
              <a:buChar char="ü"/>
            </a:pPr>
            <a:r>
              <a:rPr lang="en-US" altLang="en-US" sz="2800">
                <a:latin typeface="Times New Roman" panose="02020603050405020304" pitchFamily="18" charset="0"/>
              </a:rPr>
              <a:t>int twoD [][] = new int[4][];</a:t>
            </a:r>
          </a:p>
          <a:p>
            <a:pPr>
              <a:buFont typeface="Wingdings" panose="05000000000000000000" pitchFamily="2" charset="2"/>
              <a:buNone/>
            </a:pPr>
            <a:r>
              <a:rPr lang="en-US" altLang="en-US" sz="2800">
                <a:latin typeface="Times New Roman" panose="02020603050405020304" pitchFamily="18" charset="0"/>
              </a:rPr>
              <a:t>	twoD[0] = new int[5];</a:t>
            </a:r>
          </a:p>
          <a:p>
            <a:pPr>
              <a:buFont typeface="Wingdings" panose="05000000000000000000" pitchFamily="2" charset="2"/>
              <a:buNone/>
            </a:pPr>
            <a:r>
              <a:rPr lang="en-US" altLang="en-US" sz="2800">
                <a:latin typeface="Times New Roman" panose="02020603050405020304" pitchFamily="18" charset="0"/>
              </a:rPr>
              <a:t>    twoD[1] = new int[4];</a:t>
            </a:r>
          </a:p>
          <a:p>
            <a:pPr>
              <a:buFont typeface="Wingdings" panose="05000000000000000000" pitchFamily="2" charset="2"/>
              <a:buNone/>
            </a:pPr>
            <a:r>
              <a:rPr lang="en-US" altLang="en-US" sz="2800">
                <a:latin typeface="Times New Roman" panose="02020603050405020304" pitchFamily="18" charset="0"/>
              </a:rPr>
              <a:t>    twoD[2] = new int[3];</a:t>
            </a:r>
          </a:p>
          <a:p>
            <a:pPr>
              <a:buFont typeface="Wingdings" panose="05000000000000000000" pitchFamily="2" charset="2"/>
              <a:buChar char="ü"/>
            </a:pPr>
            <a:r>
              <a:rPr lang="en-US" altLang="en-US" sz="2800">
                <a:latin typeface="Times New Roman" panose="02020603050405020304" pitchFamily="18" charset="0"/>
              </a:rPr>
              <a:t>int m [][]={{1,2},{2,3}};</a:t>
            </a:r>
          </a:p>
        </p:txBody>
      </p:sp>
      <p:sp>
        <p:nvSpPr>
          <p:cNvPr id="2" name="Date Placeholder 1"/>
          <p:cNvSpPr>
            <a:spLocks noGrp="1"/>
          </p:cNvSpPr>
          <p:nvPr>
            <p:ph type="dt" sz="half" idx="10"/>
          </p:nvPr>
        </p:nvSpPr>
        <p:spPr/>
        <p:txBody>
          <a:bodyPr/>
          <a:lstStyle/>
          <a:p>
            <a:fld id="{C83E650B-35C3-4952-AB3F-A48EC7968A1B}"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47</a:t>
            </a:fld>
            <a:endParaRPr lang="en-US"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274638"/>
            <a:ext cx="8305800" cy="639762"/>
          </a:xfrm>
        </p:spPr>
        <p:txBody>
          <a:bodyPr>
            <a:normAutofit fontScale="90000"/>
          </a:bodyPr>
          <a:lstStyle/>
          <a:p>
            <a:r>
              <a:rPr lang="en-US" altLang="en-US" sz="4000" b="1">
                <a:latin typeface="Times New Roman" panose="02020603050405020304" pitchFamily="18" charset="0"/>
              </a:rPr>
              <a:t>Example</a:t>
            </a:r>
          </a:p>
        </p:txBody>
      </p:sp>
      <p:sp>
        <p:nvSpPr>
          <p:cNvPr id="21507" name="Rectangle 3"/>
          <p:cNvSpPr>
            <a:spLocks noGrp="1" noChangeArrowheads="1"/>
          </p:cNvSpPr>
          <p:nvPr>
            <p:ph type="body" idx="1"/>
          </p:nvPr>
        </p:nvSpPr>
        <p:spPr>
          <a:xfrm>
            <a:off x="457200" y="1295400"/>
            <a:ext cx="8229600" cy="4525963"/>
          </a:xfrm>
        </p:spPr>
        <p:txBody>
          <a:bodyPr>
            <a:normAutofit lnSpcReduction="10000"/>
          </a:bodyPr>
          <a:lstStyle/>
          <a:p>
            <a:pPr>
              <a:lnSpc>
                <a:spcPct val="80000"/>
              </a:lnSpc>
              <a:buFontTx/>
              <a:buNone/>
            </a:pPr>
            <a:r>
              <a:rPr lang="en-US" altLang="en-US" sz="1800" b="1">
                <a:latin typeface="Times New Roman" panose="02020603050405020304" pitchFamily="18" charset="0"/>
              </a:rPr>
              <a:t>int a[][]=new int[3][];</a:t>
            </a:r>
          </a:p>
          <a:p>
            <a:pPr>
              <a:lnSpc>
                <a:spcPct val="80000"/>
              </a:lnSpc>
              <a:buFontTx/>
              <a:buNone/>
            </a:pPr>
            <a:r>
              <a:rPr lang="en-US" altLang="en-US" sz="1800" b="1">
                <a:latin typeface="Times New Roman" panose="02020603050405020304" pitchFamily="18" charset="0"/>
              </a:rPr>
              <a:t>a[0]=new int[1];</a:t>
            </a:r>
          </a:p>
          <a:p>
            <a:pPr>
              <a:lnSpc>
                <a:spcPct val="80000"/>
              </a:lnSpc>
              <a:buFontTx/>
              <a:buNone/>
            </a:pPr>
            <a:r>
              <a:rPr lang="en-US" altLang="en-US" sz="1800" b="1">
                <a:latin typeface="Times New Roman" panose="02020603050405020304" pitchFamily="18" charset="0"/>
              </a:rPr>
              <a:t>a[1]=new int[2];</a:t>
            </a:r>
          </a:p>
          <a:p>
            <a:pPr>
              <a:lnSpc>
                <a:spcPct val="80000"/>
              </a:lnSpc>
              <a:buFontTx/>
              <a:buNone/>
            </a:pPr>
            <a:r>
              <a:rPr lang="en-US" altLang="en-US" sz="1800" b="1">
                <a:latin typeface="Times New Roman" panose="02020603050405020304" pitchFamily="18" charset="0"/>
              </a:rPr>
              <a:t>a[2]=new int[3];</a:t>
            </a:r>
          </a:p>
          <a:p>
            <a:pPr>
              <a:lnSpc>
                <a:spcPct val="80000"/>
              </a:lnSpc>
              <a:buFontTx/>
              <a:buNone/>
            </a:pPr>
            <a:endParaRPr lang="en-US" altLang="en-US" sz="1800" b="1">
              <a:latin typeface="Times New Roman" panose="02020603050405020304" pitchFamily="18" charset="0"/>
            </a:endParaRPr>
          </a:p>
          <a:p>
            <a:pPr>
              <a:lnSpc>
                <a:spcPct val="80000"/>
              </a:lnSpc>
              <a:buFontTx/>
              <a:buNone/>
            </a:pPr>
            <a:r>
              <a:rPr lang="en-US" altLang="en-US" sz="1800" b="1">
                <a:latin typeface="Times New Roman" panose="02020603050405020304" pitchFamily="18" charset="0"/>
              </a:rPr>
              <a:t>int i,j,k=0;</a:t>
            </a:r>
          </a:p>
          <a:p>
            <a:pPr>
              <a:lnSpc>
                <a:spcPct val="80000"/>
              </a:lnSpc>
              <a:buFontTx/>
              <a:buNone/>
            </a:pPr>
            <a:r>
              <a:rPr lang="en-US" altLang="en-US" sz="1800" b="1">
                <a:latin typeface="Times New Roman" panose="02020603050405020304" pitchFamily="18" charset="0"/>
              </a:rPr>
              <a:t>for(i=0;i&lt;3;i++)</a:t>
            </a:r>
          </a:p>
          <a:p>
            <a:pPr>
              <a:lnSpc>
                <a:spcPct val="80000"/>
              </a:lnSpc>
              <a:buFontTx/>
              <a:buNone/>
            </a:pPr>
            <a:r>
              <a:rPr lang="en-US" altLang="en-US" sz="1800" b="1">
                <a:latin typeface="Times New Roman" panose="02020603050405020304" pitchFamily="18" charset="0"/>
              </a:rPr>
              <a:t>    for(j=0;j&lt;i+1;j++)</a:t>
            </a:r>
          </a:p>
          <a:p>
            <a:pPr>
              <a:lnSpc>
                <a:spcPct val="80000"/>
              </a:lnSpc>
              <a:buFontTx/>
              <a:buNone/>
            </a:pPr>
            <a:r>
              <a:rPr lang="en-US" altLang="en-US" sz="1800" b="1">
                <a:latin typeface="Times New Roman" panose="02020603050405020304" pitchFamily="18" charset="0"/>
              </a:rPr>
              <a:t>    {</a:t>
            </a:r>
          </a:p>
          <a:p>
            <a:pPr>
              <a:lnSpc>
                <a:spcPct val="80000"/>
              </a:lnSpc>
              <a:buFontTx/>
              <a:buNone/>
            </a:pPr>
            <a:r>
              <a:rPr lang="en-US" altLang="en-US" sz="1800" b="1">
                <a:latin typeface="Times New Roman" panose="02020603050405020304" pitchFamily="18" charset="0"/>
              </a:rPr>
              <a:t>		a[i][j]=k;</a:t>
            </a:r>
          </a:p>
          <a:p>
            <a:pPr>
              <a:lnSpc>
                <a:spcPct val="80000"/>
              </a:lnSpc>
              <a:buFontTx/>
              <a:buNone/>
            </a:pPr>
            <a:r>
              <a:rPr lang="en-US" altLang="en-US" sz="1800" b="1">
                <a:latin typeface="Times New Roman" panose="02020603050405020304" pitchFamily="18" charset="0"/>
              </a:rPr>
              <a:t>		k++;</a:t>
            </a:r>
          </a:p>
          <a:p>
            <a:pPr>
              <a:lnSpc>
                <a:spcPct val="80000"/>
              </a:lnSpc>
              <a:buFontTx/>
              <a:buNone/>
            </a:pPr>
            <a:r>
              <a:rPr lang="en-US" altLang="en-US" sz="1800" b="1">
                <a:latin typeface="Times New Roman" panose="02020603050405020304" pitchFamily="18" charset="0"/>
              </a:rPr>
              <a:t>    }</a:t>
            </a:r>
          </a:p>
          <a:p>
            <a:pPr>
              <a:lnSpc>
                <a:spcPct val="80000"/>
              </a:lnSpc>
              <a:buFontTx/>
              <a:buNone/>
            </a:pPr>
            <a:r>
              <a:rPr lang="en-US" altLang="en-US" sz="1800" b="1">
                <a:latin typeface="Times New Roman" panose="02020603050405020304" pitchFamily="18" charset="0"/>
              </a:rPr>
              <a:t>for(i=0;i&lt;3;i++)</a:t>
            </a:r>
          </a:p>
          <a:p>
            <a:pPr>
              <a:lnSpc>
                <a:spcPct val="80000"/>
              </a:lnSpc>
              <a:buFontTx/>
              <a:buNone/>
            </a:pPr>
            <a:r>
              <a:rPr lang="en-US" altLang="en-US" sz="1800" b="1">
                <a:latin typeface="Times New Roman" panose="02020603050405020304" pitchFamily="18" charset="0"/>
              </a:rPr>
              <a:t>{</a:t>
            </a:r>
          </a:p>
          <a:p>
            <a:pPr>
              <a:lnSpc>
                <a:spcPct val="80000"/>
              </a:lnSpc>
              <a:buFontTx/>
              <a:buNone/>
            </a:pPr>
            <a:r>
              <a:rPr lang="en-US" altLang="en-US" sz="1800" b="1">
                <a:latin typeface="Times New Roman" panose="02020603050405020304" pitchFamily="18" charset="0"/>
              </a:rPr>
              <a:t>    for(j=0;j&lt;i+1;j++)</a:t>
            </a:r>
          </a:p>
          <a:p>
            <a:pPr>
              <a:lnSpc>
                <a:spcPct val="80000"/>
              </a:lnSpc>
              <a:buFontTx/>
              <a:buNone/>
            </a:pPr>
            <a:r>
              <a:rPr lang="en-US" altLang="en-US" sz="1800" b="1">
                <a:latin typeface="Times New Roman" panose="02020603050405020304" pitchFamily="18" charset="0"/>
              </a:rPr>
              <a:t>		System.out.print(a[i][j]+” “);</a:t>
            </a:r>
          </a:p>
          <a:p>
            <a:pPr>
              <a:lnSpc>
                <a:spcPct val="80000"/>
              </a:lnSpc>
              <a:buFontTx/>
              <a:buNone/>
            </a:pPr>
            <a:r>
              <a:rPr lang="en-US" altLang="en-US" sz="1800" b="1">
                <a:latin typeface="Times New Roman" panose="02020603050405020304" pitchFamily="18" charset="0"/>
              </a:rPr>
              <a:t>    System.out.println();</a:t>
            </a:r>
          </a:p>
          <a:p>
            <a:pPr>
              <a:lnSpc>
                <a:spcPct val="80000"/>
              </a:lnSpc>
              <a:buFontTx/>
              <a:buNone/>
            </a:pPr>
            <a:r>
              <a:rPr lang="en-US" altLang="en-US" sz="1800" b="1">
                <a:latin typeface="Times New Roman" panose="02020603050405020304" pitchFamily="18" charset="0"/>
              </a:rPr>
              <a:t>}</a:t>
            </a:r>
          </a:p>
          <a:p>
            <a:pPr>
              <a:lnSpc>
                <a:spcPct val="80000"/>
              </a:lnSpc>
              <a:buFontTx/>
              <a:buNone/>
            </a:pPr>
            <a:endParaRPr lang="en-US" altLang="en-US" sz="1800" b="1">
              <a:latin typeface="Times New Roman" panose="02020603050405020304" pitchFamily="18" charset="0"/>
            </a:endParaRPr>
          </a:p>
        </p:txBody>
      </p:sp>
      <p:sp>
        <p:nvSpPr>
          <p:cNvPr id="21508" name="Text Box 4"/>
          <p:cNvSpPr txBox="1">
            <a:spLocks noChangeArrowheads="1"/>
          </p:cNvSpPr>
          <p:nvPr/>
        </p:nvSpPr>
        <p:spPr bwMode="auto">
          <a:xfrm>
            <a:off x="4648200" y="2819400"/>
            <a:ext cx="2590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sp>
        <p:nvSpPr>
          <p:cNvPr id="21509" name="Text Box 5"/>
          <p:cNvSpPr txBox="1">
            <a:spLocks noChangeArrowheads="1"/>
          </p:cNvSpPr>
          <p:nvPr/>
        </p:nvSpPr>
        <p:spPr bwMode="auto">
          <a:xfrm>
            <a:off x="5410200" y="2819400"/>
            <a:ext cx="2057400"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b="1" u="sng">
                <a:latin typeface="Times New Roman" panose="02020603050405020304" pitchFamily="18" charset="0"/>
              </a:rPr>
              <a:t>Output:</a:t>
            </a:r>
          </a:p>
          <a:p>
            <a:r>
              <a:rPr lang="en-US" altLang="en-US" sz="2000" b="1">
                <a:latin typeface="Times New Roman" panose="02020603050405020304" pitchFamily="18" charset="0"/>
              </a:rPr>
              <a:t>0</a:t>
            </a:r>
          </a:p>
          <a:p>
            <a:r>
              <a:rPr lang="en-US" altLang="en-US" sz="2000" b="1">
                <a:latin typeface="Times New Roman" panose="02020603050405020304" pitchFamily="18" charset="0"/>
              </a:rPr>
              <a:t>1 2</a:t>
            </a:r>
          </a:p>
          <a:p>
            <a:r>
              <a:rPr lang="en-US" altLang="en-US" sz="2000" b="1">
                <a:latin typeface="Times New Roman" panose="02020603050405020304" pitchFamily="18" charset="0"/>
              </a:rPr>
              <a:t>3 4 5</a:t>
            </a:r>
          </a:p>
          <a:p>
            <a:pPr>
              <a:spcBef>
                <a:spcPct val="50000"/>
              </a:spcBef>
            </a:pPr>
            <a:endParaRPr lang="en-US" altLang="en-US" sz="2000">
              <a:latin typeface="Times New Roman" panose="02020603050405020304" pitchFamily="18" charset="0"/>
            </a:endParaRPr>
          </a:p>
        </p:txBody>
      </p:sp>
      <p:sp>
        <p:nvSpPr>
          <p:cNvPr id="2" name="Date Placeholder 1"/>
          <p:cNvSpPr>
            <a:spLocks noGrp="1"/>
          </p:cNvSpPr>
          <p:nvPr>
            <p:ph type="dt" sz="half" idx="10"/>
          </p:nvPr>
        </p:nvSpPr>
        <p:spPr/>
        <p:txBody>
          <a:bodyPr/>
          <a:lstStyle/>
          <a:p>
            <a:fld id="{B8056306-39F8-4F68-A84D-9114EE548DD5}"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48</a:t>
            </a:fld>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fontScale="90000"/>
          </a:bodyPr>
          <a:lstStyle/>
          <a:p>
            <a:r>
              <a:rPr lang="en-US" altLang="en-US" sz="4000" b="1">
                <a:latin typeface="Times New Roman" panose="02020603050405020304" pitchFamily="18" charset="0"/>
              </a:rPr>
              <a:t>Alternative Array Declaration Syntax</a:t>
            </a:r>
          </a:p>
        </p:txBody>
      </p:sp>
      <p:sp>
        <p:nvSpPr>
          <p:cNvPr id="30723" name="Rectangle 3"/>
          <p:cNvSpPr>
            <a:spLocks noGrp="1" noChangeArrowheads="1"/>
          </p:cNvSpPr>
          <p:nvPr>
            <p:ph type="body" idx="1"/>
          </p:nvPr>
        </p:nvSpPr>
        <p:spPr/>
        <p:txBody>
          <a:bodyPr/>
          <a:lstStyle/>
          <a:p>
            <a:pPr>
              <a:buFont typeface="Wingdings" panose="05000000000000000000" pitchFamily="2" charset="2"/>
              <a:buChar char="ü"/>
            </a:pPr>
            <a:r>
              <a:rPr lang="en-US" altLang="en-US">
                <a:latin typeface="Times New Roman" panose="02020603050405020304" pitchFamily="18" charset="0"/>
              </a:rPr>
              <a:t>Type [] var_name;</a:t>
            </a:r>
          </a:p>
          <a:p>
            <a:pPr>
              <a:buFont typeface="Wingdings" panose="05000000000000000000" pitchFamily="2" charset="2"/>
              <a:buChar char="ü"/>
            </a:pPr>
            <a:r>
              <a:rPr lang="en-US" altLang="en-US">
                <a:latin typeface="Times New Roman" panose="02020603050405020304" pitchFamily="18" charset="0"/>
              </a:rPr>
              <a:t>Example: int [] a = new int[3];</a:t>
            </a:r>
          </a:p>
          <a:p>
            <a:pPr>
              <a:buFont typeface="Wingdings" panose="05000000000000000000" pitchFamily="2" charset="2"/>
              <a:buChar char="ü"/>
            </a:pPr>
            <a:r>
              <a:rPr lang="en-US" altLang="en-US">
                <a:latin typeface="Times New Roman" panose="02020603050405020304" pitchFamily="18" charset="0"/>
              </a:rPr>
              <a:t>int [] num1, num2, num3;</a:t>
            </a:r>
          </a:p>
          <a:p>
            <a:pPr>
              <a:buFont typeface="Wingdings" panose="05000000000000000000" pitchFamily="2" charset="2"/>
              <a:buNone/>
            </a:pPr>
            <a:r>
              <a:rPr lang="en-US" altLang="en-US">
                <a:latin typeface="Times New Roman" panose="02020603050405020304" pitchFamily="18" charset="0"/>
              </a:rPr>
              <a:t>	same as</a:t>
            </a:r>
          </a:p>
          <a:p>
            <a:pPr>
              <a:buFont typeface="Wingdings" panose="05000000000000000000" pitchFamily="2" charset="2"/>
              <a:buNone/>
            </a:pPr>
            <a:r>
              <a:rPr lang="en-US" altLang="en-US">
                <a:latin typeface="Times New Roman" panose="02020603050405020304" pitchFamily="18" charset="0"/>
              </a:rPr>
              <a:t>   int num1[], num2[], num3[]; </a:t>
            </a:r>
          </a:p>
        </p:txBody>
      </p:sp>
      <p:sp>
        <p:nvSpPr>
          <p:cNvPr id="2" name="Date Placeholder 1"/>
          <p:cNvSpPr>
            <a:spLocks noGrp="1"/>
          </p:cNvSpPr>
          <p:nvPr>
            <p:ph type="dt" sz="half" idx="10"/>
          </p:nvPr>
        </p:nvSpPr>
        <p:spPr/>
        <p:txBody>
          <a:bodyPr/>
          <a:lstStyle/>
          <a:p>
            <a:fld id="{F38DFB48-D347-44E3-B449-72AD3B596F17}"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49</a:t>
            </a:fld>
            <a:endParaRPr lang="en-US"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b="1">
                <a:latin typeface="Times New Roman" panose="02020603050405020304" pitchFamily="18" charset="0"/>
              </a:rPr>
              <a:t>Array as an Object</a:t>
            </a:r>
          </a:p>
        </p:txBody>
      </p:sp>
      <p:sp>
        <p:nvSpPr>
          <p:cNvPr id="31747" name="Rectangle 3"/>
          <p:cNvSpPr>
            <a:spLocks noGrp="1" noChangeArrowheads="1"/>
          </p:cNvSpPr>
          <p:nvPr>
            <p:ph type="body" idx="1"/>
          </p:nvPr>
        </p:nvSpPr>
        <p:spPr/>
        <p:txBody>
          <a:bodyPr>
            <a:normAutofit lnSpcReduction="10000"/>
          </a:bodyPr>
          <a:lstStyle/>
          <a:p>
            <a:pPr>
              <a:buFont typeface="Wingdings" panose="05000000000000000000" pitchFamily="2" charset="2"/>
              <a:buChar char="ü"/>
            </a:pPr>
            <a:r>
              <a:rPr lang="en-US" altLang="en-US" sz="2800">
                <a:latin typeface="Times New Roman" panose="02020603050405020304" pitchFamily="18" charset="0"/>
              </a:rPr>
              <a:t>An array is implemented as an object.</a:t>
            </a:r>
          </a:p>
          <a:p>
            <a:pPr>
              <a:buFont typeface="Wingdings" panose="05000000000000000000" pitchFamily="2" charset="2"/>
              <a:buChar char="ü"/>
            </a:pPr>
            <a:r>
              <a:rPr lang="en-US" altLang="en-US" sz="2800">
                <a:latin typeface="Times New Roman" panose="02020603050405020304" pitchFamily="18" charset="0"/>
              </a:rPr>
              <a:t>It has a special attribute: </a:t>
            </a:r>
            <a:r>
              <a:rPr lang="en-US" altLang="en-US" sz="2800" b="1">
                <a:latin typeface="Times New Roman" panose="02020603050405020304" pitchFamily="18" charset="0"/>
              </a:rPr>
              <a:t>length</a:t>
            </a:r>
            <a:r>
              <a:rPr lang="en-US" altLang="en-US" sz="2800">
                <a:latin typeface="Times New Roman" panose="02020603050405020304" pitchFamily="18" charset="0"/>
              </a:rPr>
              <a:t> instance variable.</a:t>
            </a:r>
          </a:p>
          <a:p>
            <a:pPr>
              <a:buFont typeface="Wingdings" panose="05000000000000000000" pitchFamily="2" charset="2"/>
              <a:buChar char="ü"/>
            </a:pPr>
            <a:r>
              <a:rPr lang="en-US" altLang="en-US" sz="2800">
                <a:latin typeface="Times New Roman" panose="02020603050405020304" pitchFamily="18" charset="0"/>
              </a:rPr>
              <a:t>Example:</a:t>
            </a:r>
          </a:p>
          <a:p>
            <a:pPr>
              <a:buFont typeface="Wingdings" panose="05000000000000000000" pitchFamily="2" charset="2"/>
              <a:buNone/>
            </a:pPr>
            <a:r>
              <a:rPr lang="en-US" altLang="en-US" sz="2800">
                <a:latin typeface="Times New Roman" panose="02020603050405020304" pitchFamily="18" charset="0"/>
              </a:rPr>
              <a:t>	int a1[] = new int[10];</a:t>
            </a:r>
          </a:p>
          <a:p>
            <a:pPr>
              <a:buFont typeface="Wingdings" panose="05000000000000000000" pitchFamily="2" charset="2"/>
              <a:buNone/>
            </a:pPr>
            <a:r>
              <a:rPr lang="en-US" altLang="en-US" sz="2800">
                <a:latin typeface="Times New Roman" panose="02020603050405020304" pitchFamily="18" charset="0"/>
              </a:rPr>
              <a:t>	int a2[] = {3, 5, 7, 9, 11, 13, 15, 17};</a:t>
            </a:r>
          </a:p>
          <a:p>
            <a:pPr>
              <a:buFont typeface="Wingdings" panose="05000000000000000000" pitchFamily="2" charset="2"/>
              <a:buNone/>
            </a:pPr>
            <a:r>
              <a:rPr lang="en-US" altLang="en-US" sz="2800">
                <a:latin typeface="Times New Roman" panose="02020603050405020304" pitchFamily="18" charset="0"/>
              </a:rPr>
              <a:t>    int a3[] = {4, 3, 2, 1};</a:t>
            </a:r>
          </a:p>
          <a:p>
            <a:pPr>
              <a:buFont typeface="Wingdings" panose="05000000000000000000" pitchFamily="2" charset="2"/>
              <a:buNone/>
            </a:pPr>
            <a:r>
              <a:rPr lang="en-US" altLang="en-US" sz="2800">
                <a:latin typeface="Times New Roman" panose="02020603050405020304" pitchFamily="18" charset="0"/>
              </a:rPr>
              <a:t>    System.out.println(“length of a1 is: ”+a1.length);</a:t>
            </a:r>
          </a:p>
          <a:p>
            <a:pPr>
              <a:buFont typeface="Wingdings" panose="05000000000000000000" pitchFamily="2" charset="2"/>
              <a:buNone/>
            </a:pPr>
            <a:r>
              <a:rPr lang="en-US" altLang="en-US" sz="2800">
                <a:latin typeface="Times New Roman" panose="02020603050405020304" pitchFamily="18" charset="0"/>
              </a:rPr>
              <a:t>    System.out.println(“length of a2 is: ”+a2.length);</a:t>
            </a:r>
          </a:p>
          <a:p>
            <a:pPr>
              <a:buFont typeface="Wingdings" panose="05000000000000000000" pitchFamily="2" charset="2"/>
              <a:buNone/>
            </a:pPr>
            <a:r>
              <a:rPr lang="en-US" altLang="en-US" sz="2800">
                <a:latin typeface="Times New Roman" panose="02020603050405020304" pitchFamily="18" charset="0"/>
              </a:rPr>
              <a:t>    System.out.println(“length of a3 is: ”+a3.length);</a:t>
            </a:r>
          </a:p>
        </p:txBody>
      </p:sp>
      <p:sp>
        <p:nvSpPr>
          <p:cNvPr id="2" name="Date Placeholder 1"/>
          <p:cNvSpPr>
            <a:spLocks noGrp="1"/>
          </p:cNvSpPr>
          <p:nvPr>
            <p:ph type="dt" sz="half" idx="10"/>
          </p:nvPr>
        </p:nvSpPr>
        <p:spPr/>
        <p:txBody>
          <a:bodyPr/>
          <a:lstStyle/>
          <a:p>
            <a:fld id="{45F4A089-911D-4C09-968A-3F2F3C6F6306}"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50</a:t>
            </a:fld>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1"/>
          </p:nvPr>
        </p:nvSpPr>
        <p:spPr/>
        <p:txBody>
          <a:bodyPr>
            <a:noAutofit/>
          </a:bodyPr>
          <a:lstStyle/>
          <a:p>
            <a:pPr>
              <a:buFontTx/>
              <a:buNone/>
            </a:pPr>
            <a:r>
              <a:rPr lang="en-US" altLang="en-US" dirty="0">
                <a:latin typeface="Times New Roman" panose="02020603050405020304" pitchFamily="18" charset="0"/>
                <a:cs typeface="Times New Roman" panose="02020603050405020304" pitchFamily="18" charset="0"/>
              </a:rPr>
              <a:t>Chapter 3 – Type casting, Array</a:t>
            </a:r>
          </a:p>
          <a:p>
            <a:pPr>
              <a:buFontTx/>
              <a:buNone/>
            </a:pPr>
            <a:r>
              <a:rPr lang="en-US" altLang="en-US" dirty="0">
                <a:latin typeface="Times New Roman" panose="02020603050405020304" pitchFamily="18" charset="0"/>
                <a:cs typeface="Times New Roman" panose="02020603050405020304" pitchFamily="18" charset="0"/>
              </a:rPr>
              <a:t>Chapter 6 - Class</a:t>
            </a:r>
          </a:p>
          <a:p>
            <a:pPr>
              <a:buFontTx/>
              <a:buNone/>
            </a:pPr>
            <a:r>
              <a:rPr lang="en-US" altLang="en-US" dirty="0">
                <a:latin typeface="Times New Roman" panose="02020603050405020304" pitchFamily="18" charset="0"/>
                <a:cs typeface="Times New Roman" panose="02020603050405020304" pitchFamily="18" charset="0"/>
              </a:rPr>
              <a:t>Chapter 18—Scanner Class </a:t>
            </a:r>
          </a:p>
          <a:p>
            <a:pPr>
              <a:buFontTx/>
              <a:buNone/>
            </a:pPr>
            <a:r>
              <a:rPr lang="en-US" altLang="en-US" dirty="0">
                <a:latin typeface="Times New Roman" panose="02020603050405020304" pitchFamily="18" charset="0"/>
                <a:cs typeface="Times New Roman" panose="02020603050405020304" pitchFamily="18" charset="0"/>
              </a:rPr>
              <a:t>Chapter 9- Importing Packages </a:t>
            </a:r>
          </a:p>
          <a:p>
            <a:pPr>
              <a:buFontTx/>
              <a:buNone/>
            </a:pPr>
            <a:r>
              <a:rPr lang="en-US" altLang="en-US" dirty="0">
                <a:latin typeface="Times New Roman" panose="02020603050405020304" pitchFamily="18" charset="0"/>
                <a:cs typeface="Times New Roman" panose="02020603050405020304" pitchFamily="18" charset="0"/>
              </a:rPr>
              <a:t>Chapter 16- Math Library </a:t>
            </a:r>
          </a:p>
          <a:p>
            <a:pPr>
              <a:buFontTx/>
              <a:buNone/>
            </a:pPr>
            <a:endParaRPr lang="en-US" altLang="en-US" dirty="0">
              <a:latin typeface="Times New Roman" panose="02020603050405020304" pitchFamily="18" charset="0"/>
              <a:cs typeface="Times New Roman" panose="02020603050405020304" pitchFamily="18" charset="0"/>
            </a:endParaRPr>
          </a:p>
          <a:p>
            <a:pPr>
              <a:buFontTx/>
              <a:buNone/>
            </a:pPr>
            <a:endParaRPr lang="en-US" altLang="en-US" dirty="0">
              <a:latin typeface="Times New Roman" panose="02020603050405020304" pitchFamily="18" charset="0"/>
              <a:cs typeface="Times New Roman" panose="02020603050405020304" pitchFamily="18" charset="0"/>
            </a:endParaRPr>
          </a:p>
          <a:p>
            <a:pPr lvl="1">
              <a:buFontTx/>
              <a:buNone/>
            </a:pPr>
            <a:endParaRPr lang="en-US" altLang="en-US" sz="3200" b="1"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6EDC2A4F-CCFC-4315-A417-91B6482747A2}"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51</a:t>
            </a:fld>
            <a:endParaRPr lang="en-US" altLang="en-US"/>
          </a:p>
        </p:txBody>
      </p:sp>
      <p:sp>
        <p:nvSpPr>
          <p:cNvPr id="4" name="Rectangle 2">
            <a:extLst>
              <a:ext uri="{FF2B5EF4-FFF2-40B4-BE49-F238E27FC236}">
                <a16:creationId xmlns:a16="http://schemas.microsoft.com/office/drawing/2014/main" id="{5090F9C4-D5D8-8667-2B76-CD9FD2DB5B27}"/>
              </a:ext>
            </a:extLst>
          </p:cNvPr>
          <p:cNvSpPr>
            <a:spLocks noGrp="1" noChangeArrowheads="1"/>
          </p:cNvSpPr>
          <p:nvPr>
            <p:ph type="title"/>
          </p:nvPr>
        </p:nvSpPr>
        <p:spPr>
          <a:xfrm>
            <a:off x="457200" y="274638"/>
            <a:ext cx="8686800" cy="563562"/>
          </a:xfrm>
        </p:spPr>
        <p:txBody>
          <a:bodyPr>
            <a:normAutofit fontScale="90000"/>
          </a:bodyPr>
          <a:lstStyle/>
          <a:p>
            <a:r>
              <a:rPr lang="en-US" altLang="en-US" sz="4000" b="1" dirty="0">
                <a:latin typeface="Times New Roman" panose="02020603050405020304" pitchFamily="18" charset="0"/>
              </a:rPr>
              <a:t>References</a:t>
            </a:r>
          </a:p>
        </p:txBody>
      </p:sp>
    </p:spTree>
    <p:extLst>
      <p:ext uri="{BB962C8B-B14F-4D97-AF65-F5344CB8AC3E}">
        <p14:creationId xmlns:p14="http://schemas.microsoft.com/office/powerpoint/2010/main" val="39493395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b="1" dirty="0">
                <a:latin typeface="Times New Roman" panose="02020603050405020304" pitchFamily="18" charset="0"/>
              </a:rPr>
              <a:t>Homework (Math Library)</a:t>
            </a:r>
          </a:p>
        </p:txBody>
      </p:sp>
      <p:sp>
        <p:nvSpPr>
          <p:cNvPr id="35843" name="Rectangle 3"/>
          <p:cNvSpPr>
            <a:spLocks noGrp="1" noChangeArrowheads="1"/>
          </p:cNvSpPr>
          <p:nvPr>
            <p:ph idx="1"/>
          </p:nvPr>
        </p:nvSpPr>
        <p:spPr/>
        <p:txBody>
          <a:bodyPr>
            <a:normAutofit lnSpcReduction="10000"/>
          </a:bodyPr>
          <a:lstStyle/>
          <a:p>
            <a:pPr>
              <a:lnSpc>
                <a:spcPct val="90000"/>
              </a:lnSpc>
              <a:buFont typeface="Wingdings" panose="05000000000000000000" pitchFamily="2" charset="2"/>
              <a:buChar char="ü"/>
            </a:pPr>
            <a:r>
              <a:rPr lang="en-US" altLang="en-US" sz="2400">
                <a:latin typeface="Times New Roman" panose="02020603050405020304" pitchFamily="18" charset="0"/>
              </a:rPr>
              <a:t>Suppose you are given the following</a:t>
            </a:r>
          </a:p>
          <a:p>
            <a:pPr lvl="1">
              <a:lnSpc>
                <a:spcPct val="90000"/>
              </a:lnSpc>
              <a:buFont typeface="Wingdings" panose="05000000000000000000" pitchFamily="2" charset="2"/>
              <a:buChar char="ü"/>
            </a:pPr>
            <a:r>
              <a:rPr lang="en-US" altLang="en-US" sz="2200">
                <a:solidFill>
                  <a:srgbClr val="990000"/>
                </a:solidFill>
                <a:latin typeface="Times New Roman" panose="02020603050405020304" pitchFamily="18" charset="0"/>
              </a:rPr>
              <a:t>double a=56.34, b=6.58334, c=-34.4265;</a:t>
            </a:r>
          </a:p>
          <a:p>
            <a:pPr>
              <a:lnSpc>
                <a:spcPct val="90000"/>
              </a:lnSpc>
              <a:buFont typeface="Wingdings" panose="05000000000000000000" pitchFamily="2" charset="2"/>
              <a:buChar char="ü"/>
            </a:pPr>
            <a:r>
              <a:rPr lang="en-US" altLang="en-US" sz="2400">
                <a:latin typeface="Times New Roman" panose="02020603050405020304" pitchFamily="18" charset="0"/>
              </a:rPr>
              <a:t>Calculate the following value:</a:t>
            </a:r>
            <a:endParaRPr lang="en-US" altLang="en-US" sz="2600">
              <a:latin typeface="Times New Roman" panose="02020603050405020304" pitchFamily="18" charset="0"/>
            </a:endParaRPr>
          </a:p>
          <a:p>
            <a:pPr lvl="1">
              <a:lnSpc>
                <a:spcPct val="90000"/>
              </a:lnSpc>
              <a:buFont typeface="Wingdings" panose="05000000000000000000" pitchFamily="2" charset="2"/>
              <a:buChar char="ü"/>
            </a:pPr>
            <a:r>
              <a:rPr lang="en-US" altLang="en-US" sz="2200">
                <a:latin typeface="Times New Roman" panose="02020603050405020304" pitchFamily="18" charset="0"/>
              </a:rPr>
              <a:t>Print a </a:t>
            </a:r>
            <a:r>
              <a:rPr lang="en-US" altLang="en-US" sz="2200">
                <a:solidFill>
                  <a:srgbClr val="FF9900"/>
                </a:solidFill>
                <a:latin typeface="Times New Roman" panose="02020603050405020304" pitchFamily="18" charset="0"/>
              </a:rPr>
              <a:t>random number</a:t>
            </a:r>
            <a:r>
              <a:rPr lang="en-US" altLang="en-US" sz="2200">
                <a:latin typeface="Times New Roman" panose="02020603050405020304" pitchFamily="18" charset="0"/>
              </a:rPr>
              <a:t>.</a:t>
            </a:r>
          </a:p>
          <a:p>
            <a:pPr lvl="1">
              <a:lnSpc>
                <a:spcPct val="90000"/>
              </a:lnSpc>
              <a:buFont typeface="Wingdings" panose="05000000000000000000" pitchFamily="2" charset="2"/>
              <a:buChar char="ü"/>
            </a:pPr>
            <a:r>
              <a:rPr lang="en-US" altLang="en-US" sz="2200">
                <a:latin typeface="Times New Roman" panose="02020603050405020304" pitchFamily="18" charset="0"/>
              </a:rPr>
              <a:t>Find the </a:t>
            </a:r>
            <a:r>
              <a:rPr lang="en-US" altLang="en-US" sz="2200">
                <a:solidFill>
                  <a:srgbClr val="FF9900"/>
                </a:solidFill>
                <a:latin typeface="Times New Roman" panose="02020603050405020304" pitchFamily="18" charset="0"/>
              </a:rPr>
              <a:t>absolute value</a:t>
            </a:r>
            <a:r>
              <a:rPr lang="en-US" altLang="en-US" sz="2200">
                <a:latin typeface="Times New Roman" panose="02020603050405020304" pitchFamily="18" charset="0"/>
              </a:rPr>
              <a:t> of the variable </a:t>
            </a:r>
            <a:r>
              <a:rPr lang="en-US" altLang="en-US" sz="2200">
                <a:solidFill>
                  <a:schemeClr val="accent1"/>
                </a:solidFill>
                <a:latin typeface="Times New Roman" panose="02020603050405020304" pitchFamily="18" charset="0"/>
              </a:rPr>
              <a:t>c</a:t>
            </a:r>
          </a:p>
          <a:p>
            <a:pPr lvl="1">
              <a:lnSpc>
                <a:spcPct val="90000"/>
              </a:lnSpc>
              <a:buFont typeface="Wingdings" panose="05000000000000000000" pitchFamily="2" charset="2"/>
              <a:buChar char="ü"/>
            </a:pPr>
            <a:r>
              <a:rPr lang="en-US" altLang="en-US" sz="2200">
                <a:latin typeface="Times New Roman" panose="02020603050405020304" pitchFamily="18" charset="0"/>
              </a:rPr>
              <a:t>Find the </a:t>
            </a:r>
            <a:r>
              <a:rPr lang="en-US" altLang="en-US" sz="2200">
                <a:solidFill>
                  <a:srgbClr val="FF9900"/>
                </a:solidFill>
                <a:latin typeface="Times New Roman" panose="02020603050405020304" pitchFamily="18" charset="0"/>
              </a:rPr>
              <a:t>square root</a:t>
            </a:r>
            <a:r>
              <a:rPr lang="en-US" altLang="en-US" sz="2200">
                <a:latin typeface="Times New Roman" panose="02020603050405020304" pitchFamily="18" charset="0"/>
              </a:rPr>
              <a:t> of </a:t>
            </a:r>
            <a:r>
              <a:rPr lang="en-US" altLang="en-US" sz="2200">
                <a:solidFill>
                  <a:srgbClr val="990000"/>
                </a:solidFill>
                <a:latin typeface="Times New Roman" panose="02020603050405020304" pitchFamily="18" charset="0"/>
              </a:rPr>
              <a:t>a</a:t>
            </a:r>
          </a:p>
          <a:p>
            <a:pPr lvl="1">
              <a:lnSpc>
                <a:spcPct val="90000"/>
              </a:lnSpc>
              <a:buFont typeface="Wingdings" panose="05000000000000000000" pitchFamily="2" charset="2"/>
              <a:buChar char="ü"/>
            </a:pPr>
            <a:r>
              <a:rPr lang="en-US" altLang="en-US" sz="2200">
                <a:latin typeface="Times New Roman" panose="02020603050405020304" pitchFamily="18" charset="0"/>
              </a:rPr>
              <a:t>Find the </a:t>
            </a:r>
            <a:r>
              <a:rPr lang="en-US" altLang="en-US" sz="2200">
                <a:solidFill>
                  <a:srgbClr val="FF9900"/>
                </a:solidFill>
                <a:latin typeface="Times New Roman" panose="02020603050405020304" pitchFamily="18" charset="0"/>
              </a:rPr>
              <a:t>maximum value</a:t>
            </a:r>
            <a:r>
              <a:rPr lang="en-US" altLang="en-US" sz="2200">
                <a:latin typeface="Times New Roman" panose="02020603050405020304" pitchFamily="18" charset="0"/>
              </a:rPr>
              <a:t> between </a:t>
            </a:r>
            <a:r>
              <a:rPr lang="en-US" altLang="en-US" sz="2200">
                <a:solidFill>
                  <a:schemeClr val="accent1"/>
                </a:solidFill>
                <a:latin typeface="Times New Roman" panose="02020603050405020304" pitchFamily="18" charset="0"/>
              </a:rPr>
              <a:t>a</a:t>
            </a:r>
            <a:r>
              <a:rPr lang="en-US" altLang="en-US" sz="2200">
                <a:latin typeface="Times New Roman" panose="02020603050405020304" pitchFamily="18" charset="0"/>
              </a:rPr>
              <a:t> and </a:t>
            </a:r>
            <a:r>
              <a:rPr lang="en-US" altLang="en-US" sz="2200">
                <a:solidFill>
                  <a:schemeClr val="accent1"/>
                </a:solidFill>
                <a:latin typeface="Times New Roman" panose="02020603050405020304" pitchFamily="18" charset="0"/>
              </a:rPr>
              <a:t>b</a:t>
            </a:r>
          </a:p>
          <a:p>
            <a:pPr lvl="1">
              <a:lnSpc>
                <a:spcPct val="90000"/>
              </a:lnSpc>
              <a:buFont typeface="Wingdings" panose="05000000000000000000" pitchFamily="2" charset="2"/>
              <a:buChar char="ü"/>
            </a:pPr>
            <a:r>
              <a:rPr lang="en-US" altLang="en-US" sz="2200">
                <a:latin typeface="Times New Roman" panose="02020603050405020304" pitchFamily="18" charset="0"/>
              </a:rPr>
              <a:t>Calculate the value </a:t>
            </a:r>
            <a:r>
              <a:rPr lang="en-US" altLang="en-US" sz="2200">
                <a:solidFill>
                  <a:srgbClr val="990000"/>
                </a:solidFill>
                <a:latin typeface="Times New Roman" panose="02020603050405020304" pitchFamily="18" charset="0"/>
              </a:rPr>
              <a:t>a</a:t>
            </a:r>
            <a:r>
              <a:rPr lang="en-US" altLang="en-US" sz="2200" baseline="30000">
                <a:solidFill>
                  <a:srgbClr val="990000"/>
                </a:solidFill>
                <a:latin typeface="Times New Roman" panose="02020603050405020304" pitchFamily="18" charset="0"/>
              </a:rPr>
              <a:t>b</a:t>
            </a:r>
          </a:p>
          <a:p>
            <a:pPr lvl="1">
              <a:lnSpc>
                <a:spcPct val="90000"/>
              </a:lnSpc>
              <a:buFont typeface="Wingdings" panose="05000000000000000000" pitchFamily="2" charset="2"/>
              <a:buChar char="ü"/>
            </a:pPr>
            <a:r>
              <a:rPr lang="en-US" altLang="en-US" sz="2200">
                <a:solidFill>
                  <a:srgbClr val="FF9900"/>
                </a:solidFill>
                <a:latin typeface="Times New Roman" panose="02020603050405020304" pitchFamily="18" charset="0"/>
              </a:rPr>
              <a:t>Round</a:t>
            </a:r>
            <a:r>
              <a:rPr lang="en-US" altLang="en-US" sz="2200">
                <a:latin typeface="Times New Roman" panose="02020603050405020304" pitchFamily="18" charset="0"/>
              </a:rPr>
              <a:t> the number </a:t>
            </a:r>
            <a:r>
              <a:rPr lang="en-US" altLang="en-US" sz="2200">
                <a:solidFill>
                  <a:srgbClr val="990000"/>
                </a:solidFill>
                <a:latin typeface="Times New Roman" panose="02020603050405020304" pitchFamily="18" charset="0"/>
              </a:rPr>
              <a:t>a</a:t>
            </a:r>
          </a:p>
          <a:p>
            <a:pPr lvl="1">
              <a:lnSpc>
                <a:spcPct val="90000"/>
              </a:lnSpc>
              <a:buFont typeface="Wingdings" panose="05000000000000000000" pitchFamily="2" charset="2"/>
              <a:buChar char="ü"/>
            </a:pPr>
            <a:r>
              <a:rPr lang="en-US" altLang="en-US" sz="2200">
                <a:latin typeface="Times New Roman" panose="02020603050405020304" pitchFamily="18" charset="0"/>
              </a:rPr>
              <a:t>Calculate the value of </a:t>
            </a:r>
            <a:r>
              <a:rPr lang="en-US" altLang="en-US" sz="2200">
                <a:solidFill>
                  <a:srgbClr val="990000"/>
                </a:solidFill>
                <a:latin typeface="Times New Roman" panose="02020603050405020304" pitchFamily="18" charset="0"/>
              </a:rPr>
              <a:t>√(a</a:t>
            </a:r>
            <a:r>
              <a:rPr lang="en-US" altLang="en-US" sz="2200" baseline="30000">
                <a:solidFill>
                  <a:srgbClr val="990000"/>
                </a:solidFill>
                <a:latin typeface="Times New Roman" panose="02020603050405020304" pitchFamily="18" charset="0"/>
              </a:rPr>
              <a:t>2</a:t>
            </a:r>
            <a:r>
              <a:rPr lang="en-US" altLang="en-US" sz="2200">
                <a:solidFill>
                  <a:srgbClr val="990000"/>
                </a:solidFill>
                <a:latin typeface="Times New Roman" panose="02020603050405020304" pitchFamily="18" charset="0"/>
              </a:rPr>
              <a:t>+b</a:t>
            </a:r>
            <a:r>
              <a:rPr lang="en-US" altLang="en-US" sz="2200" baseline="30000">
                <a:solidFill>
                  <a:srgbClr val="990000"/>
                </a:solidFill>
                <a:latin typeface="Times New Roman" panose="02020603050405020304" pitchFamily="18" charset="0"/>
              </a:rPr>
              <a:t>2</a:t>
            </a:r>
            <a:r>
              <a:rPr lang="en-US" altLang="en-US" sz="2200">
                <a:solidFill>
                  <a:srgbClr val="990000"/>
                </a:solidFill>
                <a:latin typeface="Times New Roman" panose="02020603050405020304" pitchFamily="18" charset="0"/>
              </a:rPr>
              <a:t>)</a:t>
            </a:r>
          </a:p>
          <a:p>
            <a:pPr lvl="1">
              <a:lnSpc>
                <a:spcPct val="90000"/>
              </a:lnSpc>
              <a:buFont typeface="Wingdings" panose="05000000000000000000" pitchFamily="2" charset="2"/>
              <a:buChar char="ü"/>
            </a:pPr>
            <a:r>
              <a:rPr lang="en-US" altLang="en-US" sz="2200">
                <a:latin typeface="Times New Roman" panose="02020603050405020304" pitchFamily="18" charset="0"/>
              </a:rPr>
              <a:t>Find the </a:t>
            </a:r>
            <a:r>
              <a:rPr lang="en-US" altLang="en-US" sz="2200">
                <a:solidFill>
                  <a:srgbClr val="FF9900"/>
                </a:solidFill>
                <a:latin typeface="Times New Roman" panose="02020603050405020304" pitchFamily="18" charset="0"/>
              </a:rPr>
              <a:t>floor</a:t>
            </a:r>
            <a:r>
              <a:rPr lang="en-US" altLang="en-US" sz="2200">
                <a:latin typeface="Times New Roman" panose="02020603050405020304" pitchFamily="18" charset="0"/>
              </a:rPr>
              <a:t>, </a:t>
            </a:r>
            <a:r>
              <a:rPr lang="en-US" altLang="en-US" sz="2200">
                <a:solidFill>
                  <a:srgbClr val="FF9900"/>
                </a:solidFill>
                <a:latin typeface="Times New Roman" panose="02020603050405020304" pitchFamily="18" charset="0"/>
              </a:rPr>
              <a:t>ceil</a:t>
            </a:r>
            <a:r>
              <a:rPr lang="en-US" altLang="en-US" sz="2200">
                <a:latin typeface="Times New Roman" panose="02020603050405020304" pitchFamily="18" charset="0"/>
              </a:rPr>
              <a:t> and </a:t>
            </a:r>
            <a:r>
              <a:rPr lang="en-US" altLang="en-US" sz="2200">
                <a:solidFill>
                  <a:srgbClr val="FF9900"/>
                </a:solidFill>
                <a:latin typeface="Times New Roman" panose="02020603050405020304" pitchFamily="18" charset="0"/>
              </a:rPr>
              <a:t>round</a:t>
            </a:r>
            <a:r>
              <a:rPr lang="en-US" altLang="en-US" sz="2200">
                <a:latin typeface="Times New Roman" panose="02020603050405020304" pitchFamily="18" charset="0"/>
              </a:rPr>
              <a:t> value of </a:t>
            </a:r>
            <a:r>
              <a:rPr lang="en-US" altLang="en-US" sz="2200">
                <a:solidFill>
                  <a:schemeClr val="accent1"/>
                </a:solidFill>
                <a:latin typeface="Times New Roman" panose="02020603050405020304" pitchFamily="18" charset="0"/>
              </a:rPr>
              <a:t>b</a:t>
            </a:r>
            <a:r>
              <a:rPr lang="en-US" altLang="en-US" sz="2200">
                <a:latin typeface="Times New Roman" panose="02020603050405020304" pitchFamily="18" charset="0"/>
              </a:rPr>
              <a:t> and </a:t>
            </a:r>
            <a:r>
              <a:rPr lang="en-US" altLang="en-US" sz="2200">
                <a:solidFill>
                  <a:schemeClr val="accent1"/>
                </a:solidFill>
                <a:latin typeface="Times New Roman" panose="02020603050405020304" pitchFamily="18" charset="0"/>
              </a:rPr>
              <a:t>c</a:t>
            </a:r>
          </a:p>
          <a:p>
            <a:pPr lvl="1">
              <a:lnSpc>
                <a:spcPct val="90000"/>
              </a:lnSpc>
              <a:buFont typeface="Wingdings" panose="05000000000000000000" pitchFamily="2" charset="2"/>
              <a:buChar char="ü"/>
            </a:pPr>
            <a:r>
              <a:rPr lang="en-US" altLang="en-US" sz="2200">
                <a:latin typeface="Times New Roman" panose="02020603050405020304" pitchFamily="18" charset="0"/>
              </a:rPr>
              <a:t>Find the </a:t>
            </a:r>
            <a:r>
              <a:rPr lang="en-US" altLang="en-US" sz="2200">
                <a:solidFill>
                  <a:srgbClr val="FF9900"/>
                </a:solidFill>
                <a:latin typeface="Times New Roman" panose="02020603050405020304" pitchFamily="18" charset="0"/>
              </a:rPr>
              <a:t>radian value</a:t>
            </a:r>
            <a:r>
              <a:rPr lang="en-US" altLang="en-US" sz="2200">
                <a:latin typeface="Times New Roman" panose="02020603050405020304" pitchFamily="18" charset="0"/>
              </a:rPr>
              <a:t> of </a:t>
            </a:r>
            <a:r>
              <a:rPr lang="en-US" altLang="en-US" sz="2200">
                <a:solidFill>
                  <a:srgbClr val="990000"/>
                </a:solidFill>
                <a:latin typeface="Times New Roman" panose="02020603050405020304" pitchFamily="18" charset="0"/>
              </a:rPr>
              <a:t>a</a:t>
            </a:r>
            <a:r>
              <a:rPr lang="en-US" altLang="en-US" sz="2200">
                <a:latin typeface="Times New Roman" panose="02020603050405020304" pitchFamily="18" charset="0"/>
              </a:rPr>
              <a:t>.</a:t>
            </a:r>
          </a:p>
          <a:p>
            <a:pPr lvl="1">
              <a:lnSpc>
                <a:spcPct val="90000"/>
              </a:lnSpc>
              <a:buFont typeface="Wingdings" panose="05000000000000000000" pitchFamily="2" charset="2"/>
              <a:buChar char="ü"/>
            </a:pPr>
            <a:r>
              <a:rPr lang="en-US" altLang="en-US" sz="2200">
                <a:latin typeface="Times New Roman" panose="02020603050405020304" pitchFamily="18" charset="0"/>
              </a:rPr>
              <a:t>Find the </a:t>
            </a:r>
            <a:r>
              <a:rPr lang="en-US" altLang="en-US" sz="2200">
                <a:solidFill>
                  <a:srgbClr val="FF9900"/>
                </a:solidFill>
                <a:latin typeface="Times New Roman" panose="02020603050405020304" pitchFamily="18" charset="0"/>
              </a:rPr>
              <a:t>sin</a:t>
            </a:r>
            <a:r>
              <a:rPr lang="en-US" altLang="en-US" sz="2200">
                <a:latin typeface="Times New Roman" panose="02020603050405020304" pitchFamily="18" charset="0"/>
              </a:rPr>
              <a:t> value of </a:t>
            </a:r>
            <a:r>
              <a:rPr lang="en-US" altLang="en-US" sz="2200">
                <a:solidFill>
                  <a:srgbClr val="990000"/>
                </a:solidFill>
                <a:latin typeface="Times New Roman" panose="02020603050405020304" pitchFamily="18" charset="0"/>
              </a:rPr>
              <a:t>a</a:t>
            </a:r>
            <a:r>
              <a:rPr lang="en-US" altLang="en-US" sz="2200">
                <a:latin typeface="Times New Roman" panose="02020603050405020304" pitchFamily="18" charset="0"/>
              </a:rPr>
              <a:t> where </a:t>
            </a:r>
            <a:r>
              <a:rPr lang="en-US" altLang="en-US" sz="2200">
                <a:solidFill>
                  <a:srgbClr val="990000"/>
                </a:solidFill>
                <a:latin typeface="Times New Roman" panose="02020603050405020304" pitchFamily="18" charset="0"/>
              </a:rPr>
              <a:t>a</a:t>
            </a:r>
            <a:r>
              <a:rPr lang="en-US" altLang="en-US" sz="2200">
                <a:latin typeface="Times New Roman" panose="02020603050405020304" pitchFamily="18" charset="0"/>
              </a:rPr>
              <a:t> represents the degree</a:t>
            </a:r>
          </a:p>
          <a:p>
            <a:pPr lvl="1">
              <a:lnSpc>
                <a:spcPct val="90000"/>
              </a:lnSpc>
            </a:pPr>
            <a:endParaRPr lang="en-US" altLang="en-US" sz="2200">
              <a:latin typeface="Times New Roman" panose="02020603050405020304" pitchFamily="18" charset="0"/>
            </a:endParaRPr>
          </a:p>
        </p:txBody>
      </p:sp>
      <p:sp>
        <p:nvSpPr>
          <p:cNvPr id="2" name="Date Placeholder 1"/>
          <p:cNvSpPr>
            <a:spLocks noGrp="1"/>
          </p:cNvSpPr>
          <p:nvPr>
            <p:ph type="dt" sz="half" idx="10"/>
          </p:nvPr>
        </p:nvSpPr>
        <p:spPr/>
        <p:txBody>
          <a:bodyPr/>
          <a:lstStyle/>
          <a:p>
            <a:fld id="{A2C495C3-050E-426E-A74F-F97969193331}" type="datetime1">
              <a:rPr lang="en-US" altLang="en-US" smtClean="0"/>
              <a:pPr/>
              <a:t>9/13/25</a:t>
            </a:fld>
            <a:endParaRPr lang="en-US" altLang="en-US"/>
          </a:p>
        </p:txBody>
      </p:sp>
      <p:sp>
        <p:nvSpPr>
          <p:cNvPr id="3" name="Slide Number Placeholder 2"/>
          <p:cNvSpPr>
            <a:spLocks noGrp="1"/>
          </p:cNvSpPr>
          <p:nvPr>
            <p:ph type="sldNum" sz="quarter" idx="12"/>
          </p:nvPr>
        </p:nvSpPr>
        <p:spPr/>
        <p:txBody>
          <a:bodyPr/>
          <a:lstStyle/>
          <a:p>
            <a:fld id="{1DF18388-3C63-406A-AB76-F21991FBD4EF}" type="slidenum">
              <a:rPr lang="en-US" altLang="en-US" smtClean="0"/>
              <a:pPr/>
              <a:t>52</a:t>
            </a:fld>
            <a:endParaRPr lang="en-US" altLang="en-US"/>
          </a:p>
        </p:txBody>
      </p:sp>
      <p:sp>
        <p:nvSpPr>
          <p:cNvPr id="35844" name="Rectangle 4">
            <a:hlinkClick r:id="rId2" action="ppaction://hlinksldjump"/>
          </p:cNvPr>
          <p:cNvSpPr>
            <a:spLocks noChangeArrowheads="1"/>
          </p:cNvSpPr>
          <p:nvPr/>
        </p:nvSpPr>
        <p:spPr bwMode="auto">
          <a:xfrm>
            <a:off x="8534400" y="914400"/>
            <a:ext cx="457200" cy="457200"/>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 name="TextBox 4">
            <a:extLst>
              <a:ext uri="{FF2B5EF4-FFF2-40B4-BE49-F238E27FC236}">
                <a16:creationId xmlns:a16="http://schemas.microsoft.com/office/drawing/2014/main" id="{D1AA959F-22E4-FE39-8B1E-B19AE6345475}"/>
              </a:ext>
            </a:extLst>
          </p:cNvPr>
          <p:cNvSpPr txBox="1"/>
          <p:nvPr/>
        </p:nvSpPr>
        <p:spPr>
          <a:xfrm>
            <a:off x="2286000" y="3247227"/>
            <a:ext cx="4572000" cy="369332"/>
          </a:xfrm>
          <a:prstGeom prst="rect">
            <a:avLst/>
          </a:prstGeom>
          <a:noFill/>
        </p:spPr>
        <p:txBody>
          <a:bodyPr wrap="square">
            <a:spAutoFit/>
          </a:bodyPr>
          <a:lstStyle/>
          <a:p>
            <a:r>
              <a:rPr lang="en-US" b="0" dirty="0">
                <a:effectLst/>
              </a:rPr>
              <a:t> </a:t>
            </a:r>
            <a:endParaRPr lang="en-US" dirty="0"/>
          </a:p>
        </p:txBody>
      </p:sp>
    </p:spTree>
    <p:extLst>
      <p:ext uri="{BB962C8B-B14F-4D97-AF65-F5344CB8AC3E}">
        <p14:creationId xmlns:p14="http://schemas.microsoft.com/office/powerpoint/2010/main" val="2040545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169</TotalTime>
  <Words>4687</Words>
  <Application>Microsoft Macintosh PowerPoint</Application>
  <PresentationFormat>On-screen Show (4:3)</PresentationFormat>
  <Paragraphs>761</Paragraphs>
  <Slides>52</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0" baseType="lpstr">
      <vt:lpstr>Arial</vt:lpstr>
      <vt:lpstr>Calibri</vt:lpstr>
      <vt:lpstr>LucidaSansTypewriter</vt:lpstr>
      <vt:lpstr>Times New Roman</vt:lpstr>
      <vt:lpstr>Verdana</vt:lpstr>
      <vt:lpstr>Wingdings</vt:lpstr>
      <vt:lpstr>Office Theme</vt:lpstr>
      <vt:lpstr>Microsoft Draw Drawing</vt:lpstr>
      <vt:lpstr>Lecture 4</vt:lpstr>
      <vt:lpstr>Automatic Type Conversion</vt:lpstr>
      <vt:lpstr>Automatic Type Conversion</vt:lpstr>
      <vt:lpstr>Casting Type</vt:lpstr>
      <vt:lpstr>Casting Type</vt:lpstr>
      <vt:lpstr>Casting Type</vt:lpstr>
      <vt:lpstr>Automatic Type Promotion in Expression</vt:lpstr>
      <vt:lpstr>Automatic Type Promotion-Example</vt:lpstr>
      <vt:lpstr>Automatic Type Conversion-Example</vt:lpstr>
      <vt:lpstr>An Example of Object Oriented Programming </vt:lpstr>
      <vt:lpstr>PowerPoint Presentation</vt:lpstr>
      <vt:lpstr>Java Terminology</vt:lpstr>
      <vt:lpstr>Object-Oriented Style</vt:lpstr>
      <vt:lpstr>PowerPoint Presentation</vt:lpstr>
      <vt:lpstr>The General Form of a Class</vt:lpstr>
      <vt:lpstr>Class and Object</vt:lpstr>
      <vt:lpstr>Creating Objects</vt:lpstr>
      <vt:lpstr>A Simple Example</vt:lpstr>
      <vt:lpstr>A Simple Example- Some points</vt:lpstr>
      <vt:lpstr>A Simple Example- Some points</vt:lpstr>
      <vt:lpstr>A Closer Look at New</vt:lpstr>
      <vt:lpstr>References</vt:lpstr>
      <vt:lpstr>The null Reference</vt:lpstr>
      <vt:lpstr>Instance variables </vt:lpstr>
      <vt:lpstr>Import Statement</vt:lpstr>
      <vt:lpstr>Example</vt:lpstr>
      <vt:lpstr>Predefined Stream</vt:lpstr>
      <vt:lpstr>The Predefined Streams</vt:lpstr>
      <vt:lpstr>Scanner Class</vt:lpstr>
      <vt:lpstr>Taking Input from the Keyboard</vt:lpstr>
      <vt:lpstr>Take an input from the keyboard-1</vt:lpstr>
      <vt:lpstr>Taking Input from the KeyBoard-2</vt:lpstr>
      <vt:lpstr>Scanning Basics</vt:lpstr>
      <vt:lpstr>Important Methods of Scanner Class</vt:lpstr>
      <vt:lpstr>Important Methods of Scanner Class</vt:lpstr>
      <vt:lpstr>Taking Input from the File</vt:lpstr>
      <vt:lpstr>Taking Input from the File</vt:lpstr>
      <vt:lpstr>Taking Input from a File</vt:lpstr>
      <vt:lpstr>Writing Data into a File</vt:lpstr>
      <vt:lpstr>One-Dimensional Array</vt:lpstr>
      <vt:lpstr>One-Dimensional Array</vt:lpstr>
      <vt:lpstr>Features of Java to Manipulate Array</vt:lpstr>
      <vt:lpstr>Example</vt:lpstr>
      <vt:lpstr>Array in Java</vt:lpstr>
      <vt:lpstr>Multi-Dimensional Arrays</vt:lpstr>
      <vt:lpstr>Example</vt:lpstr>
      <vt:lpstr>Multi-dimensional Array</vt:lpstr>
      <vt:lpstr>Example</vt:lpstr>
      <vt:lpstr>Alternative Array Declaration Syntax</vt:lpstr>
      <vt:lpstr>Array as an Object</vt:lpstr>
      <vt:lpstr>References</vt:lpstr>
      <vt:lpstr>Homework (Math Library)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Alina Zaman</dc:creator>
  <cp:lastModifiedBy>Fahim Arefin</cp:lastModifiedBy>
  <cp:revision>37</cp:revision>
  <cp:lastPrinted>1601-01-01T00:00:00Z</cp:lastPrinted>
  <dcterms:created xsi:type="dcterms:W3CDTF">1601-01-01T00:00:00Z</dcterms:created>
  <dcterms:modified xsi:type="dcterms:W3CDTF">2025-09-13T16:46:48Z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