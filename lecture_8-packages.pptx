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G/wWEjM3Y3kTLw6aw/v/p9ZDt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823CC5-71D4-4074-9F95-C7D909A2135D}">
  <a:tblStyle styleId="{1D823CC5-71D4-4074-9F95-C7D909A213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 snapToGrid="0">
      <p:cViewPr varScale="1">
        <p:scale>
          <a:sx n="113" d="100"/>
          <a:sy n="113" d="100"/>
        </p:scale>
        <p:origin x="179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57" name="Google Shape;2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65" name="Google Shape;2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73" name="Google Shape;2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81" name="Google Shape;28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89" name="Google Shape;28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97" name="Google Shape;29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Lecture 8</a:t>
            </a:r>
            <a:endParaRPr sz="4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Times New Roman"/>
              <a:buNone/>
            </a:pPr>
            <a:r>
              <a:rPr lang="en-US" sz="6600" b="1">
                <a:latin typeface="Times New Roman"/>
                <a:ea typeface="Times New Roman"/>
                <a:cs typeface="Times New Roman"/>
                <a:sym typeface="Times New Roman"/>
              </a:rPr>
              <a:t>Package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Packages	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Provides a mechanism for grouping a variety of classes and / or interfaces together.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Grouping is based on functionality.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rPr lang="en-US" sz="3600" b="1" u="sng"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classes contained in the packages of other programs can be reused.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 packages, classes can be unique compared with classes in other packages.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Packages provides a way to hide classes.</a:t>
            </a: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Packages</a:t>
            </a:r>
            <a:endParaRPr/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381000" y="1066800"/>
            <a:ext cx="8305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Two types of packages: 1. Java API packages 2. User defined packages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u="sng" dirty="0">
                <a:latin typeface="Times New Roman"/>
                <a:ea typeface="Times New Roman"/>
                <a:cs typeface="Times New Roman"/>
                <a:sym typeface="Times New Roman"/>
              </a:rPr>
              <a:t>Java API Packages: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large number of classes grouped into different packages based on functionality. Examples: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	1.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java.lang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  2.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java.util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	3.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java.io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	4.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java.awt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	5.java.net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	6.java.applet etc.</a:t>
            </a:r>
            <a:endParaRPr dirty="0"/>
          </a:p>
        </p:txBody>
      </p:sp>
      <p:sp>
        <p:nvSpPr>
          <p:cNvPr id="104" name="Google Shape;104;p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Package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838200" y="1371600"/>
            <a:ext cx="3962400" cy="480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43000" y="1905000"/>
            <a:ext cx="3276600" cy="396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676400" y="2438400"/>
            <a:ext cx="1905000" cy="4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676400" y="3124200"/>
            <a:ext cx="1905000" cy="4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Graphics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676400" y="4953000"/>
            <a:ext cx="1905000" cy="4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</a:t>
            </a:r>
            <a:endParaRPr/>
          </a:p>
        </p:txBody>
      </p:sp>
      <p:cxnSp>
        <p:nvCxnSpPr>
          <p:cNvPr id="115" name="Google Shape;115;p4"/>
          <p:cNvCxnSpPr/>
          <p:nvPr/>
        </p:nvCxnSpPr>
        <p:spPr>
          <a:xfrm>
            <a:off x="2514600" y="3657600"/>
            <a:ext cx="0" cy="114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116" name="Google Shape;116;p4"/>
          <p:cNvSpPr txBox="1"/>
          <p:nvPr/>
        </p:nvSpPr>
        <p:spPr>
          <a:xfrm>
            <a:off x="762000" y="1066800"/>
            <a:ext cx="18288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1219200" y="1600200"/>
            <a:ext cx="2057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awt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5410200" y="1371600"/>
            <a:ext cx="3200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containing awt package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5486400" y="2528888"/>
            <a:ext cx="32004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containing classes</a:t>
            </a:r>
            <a:endParaRPr/>
          </a:p>
        </p:txBody>
      </p:sp>
      <p:cxnSp>
        <p:nvCxnSpPr>
          <p:cNvPr id="120" name="Google Shape;120;p4"/>
          <p:cNvCxnSpPr/>
          <p:nvPr/>
        </p:nvCxnSpPr>
        <p:spPr>
          <a:xfrm rot="10800000">
            <a:off x="4800600" y="1524000"/>
            <a:ext cx="68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4"/>
          <p:cNvCxnSpPr/>
          <p:nvPr/>
        </p:nvCxnSpPr>
        <p:spPr>
          <a:xfrm rot="10800000">
            <a:off x="4267200" y="2743200"/>
            <a:ext cx="129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Accessing Classes in a Package</a:t>
            </a: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Fully Qualified class name: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Example:java.awt.Color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 startAt="2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import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packagename.classname;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Example: import java.awt.Color;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        or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import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packagename.*;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Example: import java.awt.*;</a:t>
            </a:r>
            <a:endParaRPr/>
          </a:p>
          <a:p>
            <a:pPr marL="533400" lvl="0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Import statement must appear at the top of the file, before any class declaration.</a:t>
            </a:r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153400" cy="71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Creating Your Own Package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03383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Declare the package at the beginning of a file using the form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package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i="1">
                <a:latin typeface="Times New Roman"/>
                <a:ea typeface="Times New Roman"/>
                <a:cs typeface="Times New Roman"/>
                <a:sym typeface="Times New Roman"/>
              </a:rPr>
              <a:t>packagename;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2.    Define the class that is to be put in the package and declare it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AutoNum type="arabicPeriod" startAt="3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Create a subdirectory under the directory where the main source files are stored.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AutoNum type="arabicPeriod" startAt="3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Store the listing as classname.java in the subdirectory created.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AutoNum type="arabicPeriod" startAt="3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Compile the file. This creates .class file in the subdirectory.</a:t>
            </a:r>
            <a:endParaRPr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2"/>
          </p:nvPr>
        </p:nvSpPr>
        <p:spPr>
          <a:xfrm>
            <a:off x="4652963" y="1143000"/>
            <a:ext cx="4033837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package </a:t>
            </a:r>
            <a:r>
              <a:rPr lang="en-US" sz="2800" dirty="0" err="1">
                <a:latin typeface="Times New Roman"/>
                <a:ea typeface="Times New Roman"/>
                <a:cs typeface="Times New Roman"/>
                <a:sym typeface="Times New Roman"/>
              </a:rPr>
              <a:t>firstPackage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public class </a:t>
            </a:r>
            <a:r>
              <a:rPr lang="en-US" sz="2800" dirty="0" err="1">
                <a:latin typeface="Times New Roman"/>
                <a:ea typeface="Times New Roman"/>
                <a:cs typeface="Times New Roman"/>
                <a:sym typeface="Times New Roman"/>
              </a:rPr>
              <a:t>FirstClass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	//Body of the class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137" name="Google Shape;137;p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Example1-Package</a:t>
            </a:r>
            <a:endParaRPr/>
          </a:p>
        </p:txBody>
      </p:sp>
      <p:sp>
        <p:nvSpPr>
          <p:cNvPr id="143" name="Google Shape;143;p7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4033838" cy="312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package p1;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 class ClassA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public void displayA( 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System.out.println(“Class A”);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"/>
          <p:cNvSpPr txBox="1">
            <a:spLocks noGrp="1"/>
          </p:cNvSpPr>
          <p:nvPr>
            <p:ph type="body" idx="2"/>
          </p:nvPr>
        </p:nvSpPr>
        <p:spPr>
          <a:xfrm>
            <a:off x="4876800" y="914400"/>
            <a:ext cx="42672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import p1.*;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testclass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str[])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ClassA obA=new ClassA();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obA.displayA();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304800" y="4191000"/>
            <a:ext cx="4038600" cy="119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file – </a:t>
            </a:r>
            <a:r>
              <a:rPr lang="en-US" sz="1800" b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ClassA.java</a:t>
            </a:r>
            <a:endParaRPr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Subdirectory-p1</a:t>
            </a:r>
            <a:endParaRPr dirty="0"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ClassA.java</a:t>
            </a:r>
            <a:r>
              <a:rPr lang="en-US" sz="18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b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ClassA.class</a:t>
            </a:r>
            <a:r>
              <a:rPr lang="en-US" sz="1800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-&gt;p1</a:t>
            </a:r>
            <a:endParaRPr dirty="0"/>
          </a:p>
        </p:txBody>
      </p:sp>
      <p:sp>
        <p:nvSpPr>
          <p:cNvPr id="146" name="Google Shape;146;p7"/>
          <p:cNvSpPr txBox="1"/>
          <p:nvPr/>
        </p:nvSpPr>
        <p:spPr>
          <a:xfrm>
            <a:off x="5181600" y="4572000"/>
            <a:ext cx="3581400" cy="1328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file-testclass.java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testclass.java and testclass.class-&gt;in a directory of which </a:t>
            </a:r>
            <a:r>
              <a:rPr lang="en-US" sz="1800" b="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</a:t>
            </a:r>
            <a:r>
              <a:rPr lang="en-US" sz="1800" b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subdirectory.</a:t>
            </a:r>
            <a:endParaRPr/>
          </a:p>
        </p:txBody>
      </p:sp>
      <p:sp>
        <p:nvSpPr>
          <p:cNvPr id="147" name="Google Shape;147;p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Creating Packages</a:t>
            </a: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Consider the following declaration: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	package </a:t>
            </a:r>
            <a:r>
              <a:rPr lang="en-US" sz="2800" dirty="0" err="1">
                <a:latin typeface="Times New Roman"/>
                <a:ea typeface="Times New Roman"/>
                <a:cs typeface="Times New Roman"/>
                <a:sym typeface="Times New Roman"/>
              </a:rPr>
              <a:t>firstPackage.secondPackage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342900">
              <a:spcBef>
                <a:spcPts val="560"/>
              </a:spcBef>
              <a:buSzPts val="2800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	This package is stored in following subdirectory structure </a:t>
            </a:r>
            <a:r>
              <a:rPr lang="en-US" sz="2800" dirty="0" err="1"/>
              <a:t>firstPackage</a:t>
            </a:r>
            <a:r>
              <a:rPr lang="en-US" sz="2800" dirty="0"/>
              <a:t>/</a:t>
            </a:r>
            <a:r>
              <a:rPr lang="en-US" sz="2800" dirty="0" err="1"/>
              <a:t>secondPackage</a:t>
            </a:r>
            <a:endParaRPr lang="en-US" sz="2800" dirty="0"/>
          </a:p>
          <a:p>
            <a:pPr marL="342900">
              <a:spcBef>
                <a:spcPts val="560"/>
              </a:spcBef>
              <a:buSzPts val="2800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Only one of the classes may be declared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public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and that class name with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.java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extension is the source file name.</a:t>
            </a:r>
          </a:p>
          <a:p>
            <a:pPr marL="342900" lvl="0">
              <a:spcBef>
                <a:spcPts val="560"/>
              </a:spcBef>
              <a:buSzPts val="2800"/>
              <a:buFont typeface="Noto Sans Symbols"/>
              <a:buChar char="✔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 java package can contain more than one class definitions that can be declared as public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Example2-Package</a:t>
            </a:r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403383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package p2;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 class ClassB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protected int m =10;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public void displayB()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System.out.println(“Class B”);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System.out.println(“m= “+m);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body" idx="2"/>
          </p:nvPr>
        </p:nvSpPr>
        <p:spPr>
          <a:xfrm>
            <a:off x="4876800" y="990600"/>
            <a:ext cx="42672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import p1.*;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import p2.*;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class PackageTest2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str[])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ClassA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obA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=new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ClassA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ClassB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obB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=new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ClassB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obA.displayA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obB.displayB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</p:txBody>
      </p:sp>
      <p:sp>
        <p:nvSpPr>
          <p:cNvPr id="163" name="Google Shape;163;p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077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 3- Package</a:t>
            </a: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403383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import p2.ClassB;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ClassC extends ClassB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int n=20;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void displayC()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System.out.println(“Class C”);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System.out.println(“m= “+m);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System.out.println(“n= “+n);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70" name="Google Shape;170;p10"/>
          <p:cNvSpPr txBox="1">
            <a:spLocks noGrp="1"/>
          </p:cNvSpPr>
          <p:nvPr>
            <p:ph type="body" idx="2"/>
          </p:nvPr>
        </p:nvSpPr>
        <p:spPr>
          <a:xfrm>
            <a:off x="4419600" y="1066800"/>
            <a:ext cx="4724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PackageTest3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ClassC obC = new ClassC();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obC.displayB();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obC.displayC();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Package</a:t>
            </a:r>
            <a:endParaRPr/>
          </a:p>
        </p:txBody>
      </p:sp>
      <p:sp>
        <p:nvSpPr>
          <p:cNvPr id="177" name="Google Shape;177;p11"/>
          <p:cNvSpPr txBox="1">
            <a:spLocks noGrp="1"/>
          </p:cNvSpPr>
          <p:nvPr>
            <p:ph type="body" idx="1"/>
          </p:nvPr>
        </p:nvSpPr>
        <p:spPr>
          <a:xfrm>
            <a:off x="914400" y="990600"/>
            <a:ext cx="38862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package p1;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 class Teacher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{………….}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 class Student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{……………..}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package p2;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 class Courses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{………..}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 class Student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{………………..}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import p1.*;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import p2.*;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Student student1; //Error</a:t>
            </a:r>
            <a:endParaRPr/>
          </a:p>
        </p:txBody>
      </p:sp>
      <p:sp>
        <p:nvSpPr>
          <p:cNvPr id="178" name="Google Shape;178;p11"/>
          <p:cNvSpPr txBox="1">
            <a:spLocks noGrp="1"/>
          </p:cNvSpPr>
          <p:nvPr>
            <p:ph type="body" idx="2"/>
          </p:nvPr>
        </p:nvSpPr>
        <p:spPr>
          <a:xfrm>
            <a:off x="4652963" y="990600"/>
            <a:ext cx="4033837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u="sng">
                <a:latin typeface="Times New Roman"/>
                <a:ea typeface="Times New Roman"/>
                <a:cs typeface="Times New Roman"/>
                <a:sym typeface="Times New Roman"/>
              </a:rPr>
              <a:t>Correct Code: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import p1.*;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import p2.*;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p1.Student student1;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p2.Student student2;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Default Package</a:t>
            </a:r>
            <a:endParaRPr/>
          </a:p>
        </p:txBody>
      </p:sp>
      <p:sp>
        <p:nvSpPr>
          <p:cNvPr id="186" name="Google Shape;186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a source file does not begin with the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package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statement, the classes contained in the source file reside in the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default package</a:t>
            </a:r>
            <a:endParaRPr/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java compiler automatically looks in the default package to find classes.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Finding Packages</a:t>
            </a:r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Two ways: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1.By default, java runtime system uses current directory as starting point and search all the subdirectories for the package.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2.Specify a directory path using CLASSPATH environmental variable.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CLASSPATH Environment Variable</a:t>
            </a:r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compiler and runtime interpreter know how to find standard packages such as 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java.lang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java.util</a:t>
            </a:r>
            <a:endParaRPr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CLASSPATH environment variable is used to direct the compiler and interpreter to where programmer defined imported packages can be found</a:t>
            </a:r>
            <a:endParaRPr/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CLASSPATH environment variable is an ordered list of directories and files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8686800" cy="117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CLASSPATH Environment Variable</a:t>
            </a:r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To set the CLASSPATH variable we use the following command: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set CLASSPATH=c:\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Java compiler and interpreter searches the user defined packages from the above directory.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To clear the previous setting we use: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set CLASSPATH= </a:t>
            </a:r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3820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Adding a Class to a Package</a:t>
            </a:r>
            <a:endParaRPr/>
          </a:p>
        </p:txBody>
      </p:sp>
      <p:sp>
        <p:nvSpPr>
          <p:cNvPr id="244" name="Google Shape;244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148638" cy="167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Every java source file can contain only class declared as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public.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name of the source file should be same as the name of the public class with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.java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extension.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838200" y="3733800"/>
            <a:ext cx="2971800" cy="201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p1;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ClassA{ ……………}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file : ClassA.java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Subdirectory: p1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4572000" y="3733800"/>
            <a:ext cx="3429000" cy="201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p1;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ClassB{…………}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file: ClassB.java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Subdirectory:p1</a:t>
            </a:r>
            <a:endParaRPr/>
          </a:p>
        </p:txBody>
      </p:sp>
      <p:sp>
        <p:nvSpPr>
          <p:cNvPr id="247" name="Google Shape;247;p1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Adding a Class to a Package</a:t>
            </a:r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Decide the name of the package.</a:t>
            </a:r>
            <a:endParaRPr/>
          </a:p>
          <a:p>
            <a:pPr marL="0" lvl="0" indent="-2032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Create the subdirectory with this name under the directory where the main source file is located.</a:t>
            </a:r>
            <a:endParaRPr/>
          </a:p>
          <a:p>
            <a:pPr marL="0" lvl="0" indent="-2032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Create classes to be placed in the package in separate source files and declare the package statement</a:t>
            </a:r>
            <a:endParaRPr/>
          </a:p>
          <a:p>
            <a:pPr marL="114300" lvl="1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		package packagename;</a:t>
            </a:r>
            <a:endParaRPr/>
          </a:p>
          <a:p>
            <a:pPr marL="114300" lvl="1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4. Compile each source file. When completed the package will contain .class files of the source files.</a:t>
            </a:r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>
            <a:spLocks noGrp="1"/>
          </p:cNvSpPr>
          <p:nvPr>
            <p:ph type="title" idx="4294967295"/>
          </p:nvPr>
        </p:nvSpPr>
        <p:spPr>
          <a:xfrm>
            <a:off x="0" y="-2286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public/package/private scope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1"/>
          <p:cNvSpPr txBox="1">
            <a:spLocks noGrp="1"/>
          </p:cNvSpPr>
          <p:nvPr>
            <p:ph type="body" idx="4294967295"/>
          </p:nvPr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r>
              <a:rPr lang="en-US" sz="28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concerned with the visibility of program elements such as classes and members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Class members (methods or instance fields) can be defined with public, package (default), private or protected scope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class has two levels of visibility: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scope means it is visible outside its containing package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- default scope means it is visible only inside the package. (package scope/ friendly scope)</a:t>
            </a:r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685800" y="1143000"/>
            <a:ext cx="76962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class member with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public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scope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means it is visible anywhere its class is visible</a:t>
            </a:r>
            <a:endParaRPr dirty="0"/>
          </a:p>
          <a:p>
            <a:pPr marL="342900" lvl="0" indent="-34290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class member with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scope</a:t>
            </a:r>
            <a:r>
              <a:rPr lang="en-US" sz="2400" i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means it is visible only within its encapsulating class</a:t>
            </a:r>
            <a:endParaRPr dirty="0"/>
          </a:p>
          <a:p>
            <a:pPr marL="342900" lvl="0" indent="-34290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class/class member with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package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scope means it is visible only inside its containing package</a:t>
            </a:r>
            <a:endParaRPr dirty="0"/>
          </a:p>
          <a:p>
            <a:pPr marL="342900">
              <a:spcBef>
                <a:spcPts val="1920"/>
              </a:spcBef>
              <a:buSzPts val="2400"/>
              <a:buFont typeface="Noto Sans Symbols"/>
              <a:buChar char="✔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class member with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protected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scope means it is visible every where except the non-subclasses in other package. So protected members are visible in the same package and also in subclasses outside the package</a:t>
            </a:r>
          </a:p>
          <a:p>
            <a:pPr marL="342900">
              <a:spcBef>
                <a:spcPts val="1920"/>
              </a:spcBef>
              <a:buSzPts val="2400"/>
              <a:buFont typeface="Noto Sans Symbols"/>
              <a:buChar char="✔"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2"/>
          <p:cNvSpPr txBox="1"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public/package/private scope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 1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1905000" y="1600200"/>
            <a:ext cx="510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my_package;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		// package scope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// A’s public &amp; private members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class B		// public scope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// B’s public and private members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/>
          <p:nvPr/>
        </p:nvSpPr>
        <p:spPr>
          <a:xfrm>
            <a:off x="1066800" y="1752600"/>
            <a:ext cx="7467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my_package;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// D’s public &amp; private members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// Class D ‘knows’ about classes A and B 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private B b;		// OK – class B has public scope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private A a;		// OK – class A has package scope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Example-2</a:t>
            </a:r>
            <a:endParaRPr/>
          </a:p>
        </p:txBody>
      </p:sp>
      <p:sp>
        <p:nvSpPr>
          <p:cNvPr id="286" name="Google Shape;286;p2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/>
          <p:nvPr/>
        </p:nvSpPr>
        <p:spPr>
          <a:xfrm>
            <a:off x="1066800" y="1905000"/>
            <a:ext cx="762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another_package;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my_package.*;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// C’s public &amp; private members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// class C ‘knows’ about class B 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private B b;		// OK – class B has public scope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3058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Example-3</a:t>
            </a:r>
            <a:endParaRPr/>
          </a:p>
        </p:txBody>
      </p:sp>
      <p:sp>
        <p:nvSpPr>
          <p:cNvPr id="294" name="Google Shape;294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7391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Example 4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1143000" y="781755"/>
            <a:ext cx="76962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</a:t>
            </a:r>
            <a:r>
              <a:rPr lang="en-US" sz="2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my_package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int get() { return data; }		// package scope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public A(int d) { data=d;}		// public scope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private int data;					// private scope		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endParaRPr sz="23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void f()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	A a=new A(d);		// OK A has package scope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	int d=</a:t>
            </a:r>
            <a:r>
              <a:rPr lang="en-US" sz="2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a.get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();		// OK – get() has package scope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	int d1=</a:t>
            </a:r>
            <a:r>
              <a:rPr lang="en-US" sz="2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a.data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		// Error! – data is private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	</a:t>
            </a:r>
            <a:endParaRPr dirty="0"/>
          </a:p>
          <a:p>
            <a:pPr marL="342900" marR="0" lvl="0" indent="-342900" algn="l" rtl="0">
              <a:lnSpc>
                <a:spcPct val="7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725"/>
              <a:buFont typeface="Noto Sans Symbols"/>
              <a:buNone/>
            </a:pPr>
            <a:endParaRPr sz="23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>
            <a:spLocks noGrp="1"/>
          </p:cNvSpPr>
          <p:nvPr>
            <p:ph type="title"/>
          </p:nvPr>
        </p:nvSpPr>
        <p:spPr>
          <a:xfrm>
            <a:off x="457200" y="-76200"/>
            <a:ext cx="8229600" cy="56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Levels of Access Control</a:t>
            </a:r>
            <a:endParaRPr/>
          </a:p>
        </p:txBody>
      </p:sp>
      <p:graphicFrame>
        <p:nvGraphicFramePr>
          <p:cNvPr id="308" name="Google Shape;308;p27"/>
          <p:cNvGraphicFramePr/>
          <p:nvPr>
            <p:extLst>
              <p:ext uri="{D42A27DB-BD31-4B8C-83A1-F6EECF244321}">
                <p14:modId xmlns:p14="http://schemas.microsoft.com/office/powerpoint/2010/main" val="4152401872"/>
              </p:ext>
            </p:extLst>
          </p:nvPr>
        </p:nvGraphicFramePr>
        <p:xfrm>
          <a:off x="609600" y="685800"/>
          <a:ext cx="8077200" cy="5294375"/>
        </p:xfrm>
        <a:graphic>
          <a:graphicData uri="http://schemas.openxmlformats.org/drawingml/2006/table">
            <a:tbl>
              <a:tblPr>
                <a:noFill/>
                <a:tableStyleId>{1D823CC5-71D4-4074-9F95-C7D909A2135D}</a:tableStyleId>
              </a:tblPr>
              <a:tblGrid>
                <a:gridCol w="136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protected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Subclass in the same package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 class in the same package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Subclass in other packages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Non-subclass in other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9" name="Google Shape;309;p2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Chapter 9 of Herbert Schieldt’s book</a:t>
            </a:r>
            <a:endParaRPr/>
          </a:p>
        </p:txBody>
      </p:sp>
      <p:sp>
        <p:nvSpPr>
          <p:cNvPr id="315" name="Google Shape;315;p2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1594</Words>
  <Application>Microsoft Macintosh PowerPoint</Application>
  <PresentationFormat>On-screen Show (4:3)</PresentationFormat>
  <Paragraphs>316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Noto Sans Symbols</vt:lpstr>
      <vt:lpstr>Times New Roman</vt:lpstr>
      <vt:lpstr>Default Design</vt:lpstr>
      <vt:lpstr>Lecture 8</vt:lpstr>
      <vt:lpstr>Packages </vt:lpstr>
      <vt:lpstr>Packages</vt:lpstr>
      <vt:lpstr>Package</vt:lpstr>
      <vt:lpstr>Accessing Classes in a Package</vt:lpstr>
      <vt:lpstr>Creating Your Own Package</vt:lpstr>
      <vt:lpstr>Example1-Package</vt:lpstr>
      <vt:lpstr>Creating Packages</vt:lpstr>
      <vt:lpstr>Example2-Package</vt:lpstr>
      <vt:lpstr>Example 3- Package</vt:lpstr>
      <vt:lpstr>Package</vt:lpstr>
      <vt:lpstr>Default Package</vt:lpstr>
      <vt:lpstr>Finding Packages</vt:lpstr>
      <vt:lpstr>CLASSPATH Environment Variable</vt:lpstr>
      <vt:lpstr>CLASSPATH Environment Variable</vt:lpstr>
      <vt:lpstr>Adding a Class to a Package</vt:lpstr>
      <vt:lpstr>Adding a Class to a Package</vt:lpstr>
      <vt:lpstr>public/package/private scope</vt:lpstr>
      <vt:lpstr>public/package/private scope</vt:lpstr>
      <vt:lpstr>Example 1</vt:lpstr>
      <vt:lpstr>Example-2</vt:lpstr>
      <vt:lpstr>Example-3</vt:lpstr>
      <vt:lpstr>Example 4</vt:lpstr>
      <vt:lpstr>Levels of Access Control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Md. Shiplu Hawlader</dc:creator>
  <cp:lastModifiedBy>Fahim Arefin</cp:lastModifiedBy>
  <cp:revision>2</cp:revision>
  <dcterms:created xsi:type="dcterms:W3CDTF">1601-01-01T00:00:00Z</dcterms:created>
  <dcterms:modified xsi:type="dcterms:W3CDTF">2025-09-22T12:54:29Z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