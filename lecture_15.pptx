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57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69" autoAdjust="0"/>
    <p:restoredTop sz="90974"/>
  </p:normalViewPr>
  <p:slideViewPr>
    <p:cSldViewPr>
      <p:cViewPr varScale="1">
        <p:scale>
          <a:sx n="110" d="100"/>
          <a:sy n="110" d="100"/>
        </p:scale>
        <p:origin x="192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0.xml"/><Relationship Id="rId13" Type="http://schemas.openxmlformats.org/officeDocument/2006/relationships/slide" Target="slides/slide16.xml"/><Relationship Id="rId3" Type="http://schemas.openxmlformats.org/officeDocument/2006/relationships/slide" Target="slides/slide5.xml"/><Relationship Id="rId7" Type="http://schemas.openxmlformats.org/officeDocument/2006/relationships/slide" Target="slides/slide9.xml"/><Relationship Id="rId12" Type="http://schemas.openxmlformats.org/officeDocument/2006/relationships/slide" Target="slides/slide15.xml"/><Relationship Id="rId2" Type="http://schemas.openxmlformats.org/officeDocument/2006/relationships/slide" Target="slides/slide4.xml"/><Relationship Id="rId1" Type="http://schemas.openxmlformats.org/officeDocument/2006/relationships/slide" Target="slides/slide3.xml"/><Relationship Id="rId6" Type="http://schemas.openxmlformats.org/officeDocument/2006/relationships/slide" Target="slides/slide8.xml"/><Relationship Id="rId11" Type="http://schemas.openxmlformats.org/officeDocument/2006/relationships/slide" Target="slides/slide13.xml"/><Relationship Id="rId5" Type="http://schemas.openxmlformats.org/officeDocument/2006/relationships/slide" Target="slides/slide7.xml"/><Relationship Id="rId10" Type="http://schemas.openxmlformats.org/officeDocument/2006/relationships/slide" Target="slides/slide12.xml"/><Relationship Id="rId4" Type="http://schemas.openxmlformats.org/officeDocument/2006/relationships/slide" Target="slides/slide6.xml"/><Relationship Id="rId9" Type="http://schemas.openxmlformats.org/officeDocument/2006/relationships/slide" Target="slides/slide11.xml"/><Relationship Id="rId14" Type="http://schemas.openxmlformats.org/officeDocument/2006/relationships/slide" Target="slides/slide1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50CF381-41D3-4A06-98C2-8D1B4F6B69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85185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0CF381-41D3-4A06-98C2-8D1B4F6B69C6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248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36734E-88D1-4C61-8846-A7D3582C46EA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7888"/>
          </a:xfrm>
          <a:prstGeom prst="rect">
            <a:avLst/>
          </a:prstGeom>
          <a:solidFill>
            <a:srgbClr val="FFFFFF"/>
          </a:solidFill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1813"/>
            <a:ext cx="5029200" cy="41163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5737" tIns="42116" rIns="85737" bIns="42116"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50369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F195A9-7E26-4E9A-B758-D2872530BEEA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7888"/>
          </a:xfrm>
          <a:prstGeom prst="rect">
            <a:avLst/>
          </a:prstGeom>
          <a:solidFill>
            <a:srgbClr val="FFFFFF"/>
          </a:solidFill>
          <a:ln cap="flat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1813"/>
            <a:ext cx="5029200" cy="41163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85737" tIns="42116" rIns="85737" bIns="42116"/>
          <a:lstStyle/>
          <a:p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84765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14/01/2009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92689A-621A-4025-AFA3-627F5D67D3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614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14/01/2009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0E143D-D5B8-4FC8-B842-CE79115C11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8818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14/01/2009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2C9AB1-342B-453A-87FF-4542421657A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1918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14/01/2009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A447E7-C429-4977-8741-04B13A75C92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239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14/01/2009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D8AC3E-7BF9-4047-A129-87CDBC4BB7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8992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14/01/2009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7001B6-B6DA-42D0-90D8-FC14719D6B6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1452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14/01/2009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0ED143-2153-4C0F-9B1E-DECF60B160C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347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14/01/2009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3CD6CF-2568-4FDF-848B-E5DB5369BA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6460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14/01/2009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5D4AC5-C62D-4216-9062-72B3A3E03A9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012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14/01/2009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4F9238-7AEE-4D94-8332-6D26DD14DBF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7638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14/01/2009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ED40F0-8F47-45FA-A18C-E7D0EB2DDD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1396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r>
              <a:rPr lang="en-US" altLang="en-US"/>
              <a:t>14/01/2009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AC34982-917E-4021-A0E6-57EA4ECF68B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8" name="Rectangle 512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28650" y="451381"/>
            <a:ext cx="7884414" cy="4066540"/>
          </a:xfrm>
        </p:spPr>
        <p:txBody>
          <a:bodyPr anchor="b">
            <a:normAutofit/>
          </a:bodyPr>
          <a:lstStyle/>
          <a:p>
            <a:pPr algn="l"/>
            <a:r>
              <a:rPr lang="en-US" altLang="en-US" sz="5700"/>
              <a:t>Lecture 15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28649" y="4983276"/>
            <a:ext cx="7884414" cy="1126680"/>
          </a:xfrm>
        </p:spPr>
        <p:txBody>
          <a:bodyPr>
            <a:normAutofit/>
          </a:bodyPr>
          <a:lstStyle/>
          <a:p>
            <a:pPr algn="l"/>
            <a:r>
              <a:rPr lang="en-US" altLang="en-US"/>
              <a:t>Network Programming and Java Socket</a:t>
            </a:r>
          </a:p>
        </p:txBody>
      </p:sp>
      <p:sp>
        <p:nvSpPr>
          <p:cNvPr id="513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4718595"/>
            <a:ext cx="4057650" cy="18288"/>
          </a:xfrm>
          <a:custGeom>
            <a:avLst/>
            <a:gdLst>
              <a:gd name="connsiteX0" fmla="*/ 0 w 4057650"/>
              <a:gd name="connsiteY0" fmla="*/ 0 h 18288"/>
              <a:gd name="connsiteX1" fmla="*/ 757428 w 4057650"/>
              <a:gd name="connsiteY1" fmla="*/ 0 h 18288"/>
              <a:gd name="connsiteX2" fmla="*/ 1474279 w 4057650"/>
              <a:gd name="connsiteY2" fmla="*/ 0 h 18288"/>
              <a:gd name="connsiteX3" fmla="*/ 2191131 w 4057650"/>
              <a:gd name="connsiteY3" fmla="*/ 0 h 18288"/>
              <a:gd name="connsiteX4" fmla="*/ 2745676 w 4057650"/>
              <a:gd name="connsiteY4" fmla="*/ 0 h 18288"/>
              <a:gd name="connsiteX5" fmla="*/ 3340798 w 4057650"/>
              <a:gd name="connsiteY5" fmla="*/ 0 h 18288"/>
              <a:gd name="connsiteX6" fmla="*/ 4057650 w 4057650"/>
              <a:gd name="connsiteY6" fmla="*/ 0 h 18288"/>
              <a:gd name="connsiteX7" fmla="*/ 4057650 w 4057650"/>
              <a:gd name="connsiteY7" fmla="*/ 18288 h 18288"/>
              <a:gd name="connsiteX8" fmla="*/ 3381375 w 4057650"/>
              <a:gd name="connsiteY8" fmla="*/ 18288 h 18288"/>
              <a:gd name="connsiteX9" fmla="*/ 2826830 w 4057650"/>
              <a:gd name="connsiteY9" fmla="*/ 18288 h 18288"/>
              <a:gd name="connsiteX10" fmla="*/ 2272284 w 4057650"/>
              <a:gd name="connsiteY10" fmla="*/ 18288 h 18288"/>
              <a:gd name="connsiteX11" fmla="*/ 1555432 w 4057650"/>
              <a:gd name="connsiteY11" fmla="*/ 18288 h 18288"/>
              <a:gd name="connsiteX12" fmla="*/ 960310 w 4057650"/>
              <a:gd name="connsiteY12" fmla="*/ 18288 h 18288"/>
              <a:gd name="connsiteX13" fmla="*/ 0 w 4057650"/>
              <a:gd name="connsiteY13" fmla="*/ 18288 h 18288"/>
              <a:gd name="connsiteX14" fmla="*/ 0 w 405765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58E6E4A-BA2E-4CD2-ACB2-63CD194DB508}" type="slidenum">
              <a:rPr lang="en-US" altLang="en-US"/>
              <a:pPr>
                <a:spcAft>
                  <a:spcPts val="600"/>
                </a:spcAft>
              </a:pPr>
              <a:t>1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BB494-0B0A-48D1-A768-7001401719F3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990600"/>
          </a:xfrm>
        </p:spPr>
        <p:txBody>
          <a:bodyPr/>
          <a:lstStyle/>
          <a:p>
            <a:r>
              <a:rPr lang="en-US" altLang="en-US"/>
              <a:t>Element of Client-Server Programming</a:t>
            </a:r>
          </a:p>
        </p:txBody>
      </p:sp>
      <p:sp>
        <p:nvSpPr>
          <p:cNvPr id="8196" name="Freeform 2"/>
          <p:cNvSpPr>
            <a:spLocks/>
          </p:cNvSpPr>
          <p:nvPr/>
        </p:nvSpPr>
        <p:spPr bwMode="auto">
          <a:xfrm>
            <a:off x="3810000" y="3543300"/>
            <a:ext cx="1792288" cy="1392238"/>
          </a:xfrm>
          <a:custGeom>
            <a:avLst/>
            <a:gdLst>
              <a:gd name="T0" fmla="*/ 48 w 1129"/>
              <a:gd name="T1" fmla="*/ 156 h 877"/>
              <a:gd name="T2" fmla="*/ 72 w 1129"/>
              <a:gd name="T3" fmla="*/ 84 h 877"/>
              <a:gd name="T4" fmla="*/ 144 w 1129"/>
              <a:gd name="T5" fmla="*/ 36 h 877"/>
              <a:gd name="T6" fmla="*/ 216 w 1129"/>
              <a:gd name="T7" fmla="*/ 24 h 877"/>
              <a:gd name="T8" fmla="*/ 300 w 1129"/>
              <a:gd name="T9" fmla="*/ 12 h 877"/>
              <a:gd name="T10" fmla="*/ 384 w 1129"/>
              <a:gd name="T11" fmla="*/ 12 h 877"/>
              <a:gd name="T12" fmla="*/ 456 w 1129"/>
              <a:gd name="T13" fmla="*/ 0 h 877"/>
              <a:gd name="T14" fmla="*/ 516 w 1129"/>
              <a:gd name="T15" fmla="*/ 36 h 877"/>
              <a:gd name="T16" fmla="*/ 588 w 1129"/>
              <a:gd name="T17" fmla="*/ 72 h 877"/>
              <a:gd name="T18" fmla="*/ 660 w 1129"/>
              <a:gd name="T19" fmla="*/ 84 h 877"/>
              <a:gd name="T20" fmla="*/ 732 w 1129"/>
              <a:gd name="T21" fmla="*/ 96 h 877"/>
              <a:gd name="T22" fmla="*/ 804 w 1129"/>
              <a:gd name="T23" fmla="*/ 120 h 877"/>
              <a:gd name="T24" fmla="*/ 864 w 1129"/>
              <a:gd name="T25" fmla="*/ 180 h 877"/>
              <a:gd name="T26" fmla="*/ 936 w 1129"/>
              <a:gd name="T27" fmla="*/ 192 h 877"/>
              <a:gd name="T28" fmla="*/ 1020 w 1129"/>
              <a:gd name="T29" fmla="*/ 204 h 877"/>
              <a:gd name="T30" fmla="*/ 1080 w 1129"/>
              <a:gd name="T31" fmla="*/ 252 h 877"/>
              <a:gd name="T32" fmla="*/ 1116 w 1129"/>
              <a:gd name="T33" fmla="*/ 324 h 877"/>
              <a:gd name="T34" fmla="*/ 1128 w 1129"/>
              <a:gd name="T35" fmla="*/ 396 h 877"/>
              <a:gd name="T36" fmla="*/ 1128 w 1129"/>
              <a:gd name="T37" fmla="*/ 468 h 877"/>
              <a:gd name="T38" fmla="*/ 1128 w 1129"/>
              <a:gd name="T39" fmla="*/ 540 h 877"/>
              <a:gd name="T40" fmla="*/ 1104 w 1129"/>
              <a:gd name="T41" fmla="*/ 612 h 877"/>
              <a:gd name="T42" fmla="*/ 1080 w 1129"/>
              <a:gd name="T43" fmla="*/ 684 h 877"/>
              <a:gd name="T44" fmla="*/ 1032 w 1129"/>
              <a:gd name="T45" fmla="*/ 756 h 877"/>
              <a:gd name="T46" fmla="*/ 984 w 1129"/>
              <a:gd name="T47" fmla="*/ 816 h 877"/>
              <a:gd name="T48" fmla="*/ 912 w 1129"/>
              <a:gd name="T49" fmla="*/ 864 h 877"/>
              <a:gd name="T50" fmla="*/ 804 w 1129"/>
              <a:gd name="T51" fmla="*/ 876 h 877"/>
              <a:gd name="T52" fmla="*/ 720 w 1129"/>
              <a:gd name="T53" fmla="*/ 876 h 877"/>
              <a:gd name="T54" fmla="*/ 588 w 1129"/>
              <a:gd name="T55" fmla="*/ 876 h 877"/>
              <a:gd name="T56" fmla="*/ 516 w 1129"/>
              <a:gd name="T57" fmla="*/ 864 h 877"/>
              <a:gd name="T58" fmla="*/ 444 w 1129"/>
              <a:gd name="T59" fmla="*/ 840 h 877"/>
              <a:gd name="T60" fmla="*/ 360 w 1129"/>
              <a:gd name="T61" fmla="*/ 804 h 877"/>
              <a:gd name="T62" fmla="*/ 288 w 1129"/>
              <a:gd name="T63" fmla="*/ 768 h 877"/>
              <a:gd name="T64" fmla="*/ 216 w 1129"/>
              <a:gd name="T65" fmla="*/ 720 h 877"/>
              <a:gd name="T66" fmla="*/ 144 w 1129"/>
              <a:gd name="T67" fmla="*/ 672 h 877"/>
              <a:gd name="T68" fmla="*/ 72 w 1129"/>
              <a:gd name="T69" fmla="*/ 600 h 877"/>
              <a:gd name="T70" fmla="*/ 36 w 1129"/>
              <a:gd name="T71" fmla="*/ 528 h 877"/>
              <a:gd name="T72" fmla="*/ 12 w 1129"/>
              <a:gd name="T73" fmla="*/ 456 h 877"/>
              <a:gd name="T74" fmla="*/ 12 w 1129"/>
              <a:gd name="T75" fmla="*/ 384 h 877"/>
              <a:gd name="T76" fmla="*/ 0 w 1129"/>
              <a:gd name="T77" fmla="*/ 312 h 877"/>
              <a:gd name="T78" fmla="*/ 12 w 1129"/>
              <a:gd name="T79" fmla="*/ 240 h 877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1129"/>
              <a:gd name="T121" fmla="*/ 0 h 877"/>
              <a:gd name="T122" fmla="*/ 1129 w 1129"/>
              <a:gd name="T123" fmla="*/ 877 h 877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1129" h="877">
                <a:moveTo>
                  <a:pt x="36" y="192"/>
                </a:moveTo>
                <a:lnTo>
                  <a:pt x="48" y="156"/>
                </a:lnTo>
                <a:lnTo>
                  <a:pt x="60" y="120"/>
                </a:lnTo>
                <a:lnTo>
                  <a:pt x="72" y="84"/>
                </a:lnTo>
                <a:lnTo>
                  <a:pt x="108" y="60"/>
                </a:lnTo>
                <a:lnTo>
                  <a:pt x="144" y="36"/>
                </a:lnTo>
                <a:lnTo>
                  <a:pt x="180" y="24"/>
                </a:lnTo>
                <a:lnTo>
                  <a:pt x="216" y="24"/>
                </a:lnTo>
                <a:lnTo>
                  <a:pt x="264" y="12"/>
                </a:lnTo>
                <a:lnTo>
                  <a:pt x="300" y="12"/>
                </a:lnTo>
                <a:lnTo>
                  <a:pt x="336" y="12"/>
                </a:lnTo>
                <a:lnTo>
                  <a:pt x="384" y="12"/>
                </a:lnTo>
                <a:lnTo>
                  <a:pt x="420" y="0"/>
                </a:lnTo>
                <a:lnTo>
                  <a:pt x="456" y="0"/>
                </a:lnTo>
                <a:lnTo>
                  <a:pt x="492" y="0"/>
                </a:lnTo>
                <a:lnTo>
                  <a:pt x="516" y="36"/>
                </a:lnTo>
                <a:lnTo>
                  <a:pt x="552" y="48"/>
                </a:lnTo>
                <a:lnTo>
                  <a:pt x="588" y="72"/>
                </a:lnTo>
                <a:lnTo>
                  <a:pt x="624" y="72"/>
                </a:lnTo>
                <a:lnTo>
                  <a:pt x="660" y="84"/>
                </a:lnTo>
                <a:lnTo>
                  <a:pt x="696" y="84"/>
                </a:lnTo>
                <a:lnTo>
                  <a:pt x="732" y="96"/>
                </a:lnTo>
                <a:lnTo>
                  <a:pt x="768" y="96"/>
                </a:lnTo>
                <a:lnTo>
                  <a:pt x="804" y="120"/>
                </a:lnTo>
                <a:lnTo>
                  <a:pt x="828" y="156"/>
                </a:lnTo>
                <a:lnTo>
                  <a:pt x="864" y="180"/>
                </a:lnTo>
                <a:lnTo>
                  <a:pt x="900" y="192"/>
                </a:lnTo>
                <a:lnTo>
                  <a:pt x="936" y="192"/>
                </a:lnTo>
                <a:lnTo>
                  <a:pt x="984" y="192"/>
                </a:lnTo>
                <a:lnTo>
                  <a:pt x="1020" y="204"/>
                </a:lnTo>
                <a:lnTo>
                  <a:pt x="1056" y="216"/>
                </a:lnTo>
                <a:lnTo>
                  <a:pt x="1080" y="252"/>
                </a:lnTo>
                <a:lnTo>
                  <a:pt x="1104" y="288"/>
                </a:lnTo>
                <a:lnTo>
                  <a:pt x="1116" y="324"/>
                </a:lnTo>
                <a:lnTo>
                  <a:pt x="1128" y="360"/>
                </a:lnTo>
                <a:lnTo>
                  <a:pt x="1128" y="396"/>
                </a:lnTo>
                <a:lnTo>
                  <a:pt x="1128" y="432"/>
                </a:lnTo>
                <a:lnTo>
                  <a:pt x="1128" y="468"/>
                </a:lnTo>
                <a:lnTo>
                  <a:pt x="1128" y="504"/>
                </a:lnTo>
                <a:lnTo>
                  <a:pt x="1128" y="540"/>
                </a:lnTo>
                <a:lnTo>
                  <a:pt x="1116" y="576"/>
                </a:lnTo>
                <a:lnTo>
                  <a:pt x="1104" y="612"/>
                </a:lnTo>
                <a:lnTo>
                  <a:pt x="1092" y="648"/>
                </a:lnTo>
                <a:lnTo>
                  <a:pt x="1080" y="684"/>
                </a:lnTo>
                <a:lnTo>
                  <a:pt x="1056" y="720"/>
                </a:lnTo>
                <a:lnTo>
                  <a:pt x="1032" y="756"/>
                </a:lnTo>
                <a:lnTo>
                  <a:pt x="996" y="780"/>
                </a:lnTo>
                <a:lnTo>
                  <a:pt x="984" y="816"/>
                </a:lnTo>
                <a:lnTo>
                  <a:pt x="948" y="840"/>
                </a:lnTo>
                <a:lnTo>
                  <a:pt x="912" y="864"/>
                </a:lnTo>
                <a:lnTo>
                  <a:pt x="876" y="864"/>
                </a:lnTo>
                <a:lnTo>
                  <a:pt x="804" y="876"/>
                </a:lnTo>
                <a:lnTo>
                  <a:pt x="756" y="876"/>
                </a:lnTo>
                <a:lnTo>
                  <a:pt x="720" y="876"/>
                </a:lnTo>
                <a:lnTo>
                  <a:pt x="672" y="876"/>
                </a:lnTo>
                <a:lnTo>
                  <a:pt x="588" y="876"/>
                </a:lnTo>
                <a:lnTo>
                  <a:pt x="552" y="864"/>
                </a:lnTo>
                <a:lnTo>
                  <a:pt x="516" y="864"/>
                </a:lnTo>
                <a:lnTo>
                  <a:pt x="480" y="852"/>
                </a:lnTo>
                <a:lnTo>
                  <a:pt x="444" y="840"/>
                </a:lnTo>
                <a:lnTo>
                  <a:pt x="408" y="828"/>
                </a:lnTo>
                <a:lnTo>
                  <a:pt x="360" y="804"/>
                </a:lnTo>
                <a:lnTo>
                  <a:pt x="324" y="780"/>
                </a:lnTo>
                <a:lnTo>
                  <a:pt x="288" y="768"/>
                </a:lnTo>
                <a:lnTo>
                  <a:pt x="252" y="744"/>
                </a:lnTo>
                <a:lnTo>
                  <a:pt x="216" y="720"/>
                </a:lnTo>
                <a:lnTo>
                  <a:pt x="180" y="696"/>
                </a:lnTo>
                <a:lnTo>
                  <a:pt x="144" y="672"/>
                </a:lnTo>
                <a:lnTo>
                  <a:pt x="108" y="636"/>
                </a:lnTo>
                <a:lnTo>
                  <a:pt x="72" y="600"/>
                </a:lnTo>
                <a:lnTo>
                  <a:pt x="48" y="564"/>
                </a:lnTo>
                <a:lnTo>
                  <a:pt x="36" y="528"/>
                </a:lnTo>
                <a:lnTo>
                  <a:pt x="24" y="492"/>
                </a:lnTo>
                <a:lnTo>
                  <a:pt x="12" y="456"/>
                </a:lnTo>
                <a:lnTo>
                  <a:pt x="12" y="420"/>
                </a:lnTo>
                <a:lnTo>
                  <a:pt x="12" y="384"/>
                </a:lnTo>
                <a:lnTo>
                  <a:pt x="0" y="348"/>
                </a:lnTo>
                <a:lnTo>
                  <a:pt x="0" y="312"/>
                </a:lnTo>
                <a:lnTo>
                  <a:pt x="0" y="276"/>
                </a:lnTo>
                <a:lnTo>
                  <a:pt x="12" y="240"/>
                </a:lnTo>
                <a:lnTo>
                  <a:pt x="36" y="204"/>
                </a:lnTo>
              </a:path>
            </a:pathLst>
          </a:custGeom>
          <a:gradFill rotWithShape="0">
            <a:gsLst>
              <a:gs pos="0">
                <a:srgbClr val="FFFFFF"/>
              </a:gs>
              <a:gs pos="100000">
                <a:srgbClr val="4C4C4C"/>
              </a:gs>
            </a:gsLst>
            <a:path path="rect">
              <a:fillToRect r="100000" b="100000"/>
            </a:path>
          </a:gra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00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197" name="Line 3"/>
          <p:cNvSpPr>
            <a:spLocks noChangeShapeType="1"/>
          </p:cNvSpPr>
          <p:nvPr/>
        </p:nvSpPr>
        <p:spPr bwMode="auto">
          <a:xfrm flipV="1">
            <a:off x="2095500" y="3848100"/>
            <a:ext cx="1809750" cy="5524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8" name="Line 4"/>
          <p:cNvSpPr>
            <a:spLocks noChangeShapeType="1"/>
          </p:cNvSpPr>
          <p:nvPr/>
        </p:nvSpPr>
        <p:spPr bwMode="auto">
          <a:xfrm flipH="1">
            <a:off x="2133600" y="4248150"/>
            <a:ext cx="1695450" cy="3238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9" name="Line 5"/>
          <p:cNvSpPr>
            <a:spLocks noChangeShapeType="1"/>
          </p:cNvSpPr>
          <p:nvPr/>
        </p:nvSpPr>
        <p:spPr bwMode="auto">
          <a:xfrm>
            <a:off x="5600700" y="4019550"/>
            <a:ext cx="933450" cy="51435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0" name="Line 6"/>
          <p:cNvSpPr>
            <a:spLocks noChangeShapeType="1"/>
          </p:cNvSpPr>
          <p:nvPr/>
        </p:nvSpPr>
        <p:spPr bwMode="auto">
          <a:xfrm flipH="1" flipV="1">
            <a:off x="5581650" y="4438650"/>
            <a:ext cx="933450" cy="228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1" name="Rectangle 8"/>
          <p:cNvSpPr>
            <a:spLocks noChangeArrowheads="1"/>
          </p:cNvSpPr>
          <p:nvPr/>
        </p:nvSpPr>
        <p:spPr bwMode="auto">
          <a:xfrm rot="-2760000">
            <a:off x="2975769" y="2944019"/>
            <a:ext cx="1001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>
                <a:ea typeface="SimSun" panose="02010600030101010101" pitchFamily="2" charset="-122"/>
              </a:rPr>
              <a:t>Request</a:t>
            </a:r>
          </a:p>
        </p:txBody>
      </p:sp>
      <p:sp>
        <p:nvSpPr>
          <p:cNvPr id="8202" name="Rectangle 9"/>
          <p:cNvSpPr>
            <a:spLocks noChangeArrowheads="1"/>
          </p:cNvSpPr>
          <p:nvPr/>
        </p:nvSpPr>
        <p:spPr bwMode="auto">
          <a:xfrm rot="2580000">
            <a:off x="3127375" y="4564063"/>
            <a:ext cx="833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000">
                <a:ea typeface="SimSun" panose="02010600030101010101" pitchFamily="2" charset="-122"/>
              </a:rPr>
              <a:t>Result</a:t>
            </a:r>
          </a:p>
        </p:txBody>
      </p:sp>
      <p:sp>
        <p:nvSpPr>
          <p:cNvPr id="8203" name="Rectangle 11"/>
          <p:cNvSpPr>
            <a:spLocks noChangeArrowheads="1"/>
          </p:cNvSpPr>
          <p:nvPr/>
        </p:nvSpPr>
        <p:spPr bwMode="auto">
          <a:xfrm>
            <a:off x="2289175" y="1881188"/>
            <a:ext cx="4451350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2800">
                <a:ea typeface="SimSun" panose="02010600030101010101" pitchFamily="2" charset="-122"/>
              </a:rPr>
              <a:t>a client, a server, and network</a:t>
            </a:r>
          </a:p>
        </p:txBody>
      </p:sp>
      <p:graphicFrame>
        <p:nvGraphicFramePr>
          <p:cNvPr id="8204" name="Object 12"/>
          <p:cNvGraphicFramePr>
            <a:graphicFrameLocks/>
          </p:cNvGraphicFramePr>
          <p:nvPr/>
        </p:nvGraphicFramePr>
        <p:xfrm>
          <a:off x="6305550" y="3336925"/>
          <a:ext cx="2538413" cy="195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ClipArt Gallery" r:id="rId2" imgW="4181400" imgH="3214440" progId="MS_ClipArt_Gallery">
                  <p:embed/>
                </p:oleObj>
              </mc:Choice>
              <mc:Fallback>
                <p:oleObj name="Microsoft ClipArt Gallery" r:id="rId2" imgW="4181400" imgH="3214440" progId="MS_ClipArt_Gallery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5550" y="3336925"/>
                        <a:ext cx="2538413" cy="195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5" name="Object 13"/>
          <p:cNvGraphicFramePr>
            <a:graphicFrameLocks/>
          </p:cNvGraphicFramePr>
          <p:nvPr/>
        </p:nvGraphicFramePr>
        <p:xfrm>
          <a:off x="171450" y="3124200"/>
          <a:ext cx="2317750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ClipArt Gallery" r:id="rId4" imgW="4005000" imgH="3190680" progId="MS_ClipArt_Gallery">
                  <p:embed/>
                </p:oleObj>
              </mc:Choice>
              <mc:Fallback>
                <p:oleObj name="Microsoft ClipArt Gallery" r:id="rId4" imgW="4005000" imgH="3190680" progId="MS_ClipArt_Gallery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" y="3124200"/>
                        <a:ext cx="2317750" cy="184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6" name="Rectangle 14"/>
          <p:cNvSpPr>
            <a:spLocks noChangeArrowheads="1"/>
          </p:cNvSpPr>
          <p:nvPr/>
        </p:nvSpPr>
        <p:spPr bwMode="auto">
          <a:xfrm>
            <a:off x="898525" y="3375025"/>
            <a:ext cx="92392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ea typeface="SimSun" panose="02010600030101010101" pitchFamily="2" charset="-122"/>
              </a:rPr>
              <a:t>Client</a:t>
            </a:r>
          </a:p>
        </p:txBody>
      </p:sp>
      <p:sp>
        <p:nvSpPr>
          <p:cNvPr id="8207" name="Rectangle 15"/>
          <p:cNvSpPr>
            <a:spLocks noChangeArrowheads="1"/>
          </p:cNvSpPr>
          <p:nvPr/>
        </p:nvSpPr>
        <p:spPr bwMode="auto">
          <a:xfrm>
            <a:off x="7070725" y="3660775"/>
            <a:ext cx="97631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>
                <a:ea typeface="SimSun" panose="02010600030101010101" pitchFamily="2" charset="-122"/>
              </a:rPr>
              <a:t>Server</a:t>
            </a:r>
          </a:p>
        </p:txBody>
      </p:sp>
      <p:sp>
        <p:nvSpPr>
          <p:cNvPr id="8208" name="Rectangle 7"/>
          <p:cNvSpPr>
            <a:spLocks noChangeArrowheads="1"/>
          </p:cNvSpPr>
          <p:nvPr/>
        </p:nvSpPr>
        <p:spPr bwMode="auto">
          <a:xfrm>
            <a:off x="4041775" y="4022725"/>
            <a:ext cx="125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 i="1">
                <a:ea typeface="SimSun" panose="02010600030101010101" pitchFamily="2" charset="-122"/>
              </a:rPr>
              <a:t>Network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E2583-9F8E-427E-8489-B5B79F01138E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Client Server Model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2800"/>
              <a:t>Relationship between two computer programs.</a:t>
            </a:r>
          </a:p>
          <a:p>
            <a:r>
              <a:rPr lang="en-US" altLang="en-US" sz="2800"/>
              <a:t>Client</a:t>
            </a:r>
          </a:p>
          <a:p>
            <a:pPr lvl="1"/>
            <a:r>
              <a:rPr lang="en-US" altLang="en-US" sz="2400"/>
              <a:t>Initiates communication</a:t>
            </a:r>
          </a:p>
          <a:p>
            <a:pPr lvl="1"/>
            <a:r>
              <a:rPr lang="en-US" altLang="en-US" sz="2400"/>
              <a:t>Requests services</a:t>
            </a:r>
          </a:p>
          <a:p>
            <a:r>
              <a:rPr lang="en-US" altLang="en-US" sz="2800"/>
              <a:t>Server</a:t>
            </a:r>
          </a:p>
          <a:p>
            <a:pPr lvl="1"/>
            <a:r>
              <a:rPr lang="en-US" altLang="en-US" sz="2400"/>
              <a:t>Receives communication</a:t>
            </a:r>
          </a:p>
          <a:p>
            <a:pPr lvl="1"/>
            <a:r>
              <a:rPr lang="en-US" altLang="en-US" sz="2400"/>
              <a:t>Provides services</a:t>
            </a:r>
          </a:p>
        </p:txBody>
      </p:sp>
      <p:sp>
        <p:nvSpPr>
          <p:cNvPr id="9221" name="Text Box 6"/>
          <p:cNvSpPr txBox="1">
            <a:spLocks noChangeArrowheads="1"/>
          </p:cNvSpPr>
          <p:nvPr/>
        </p:nvSpPr>
        <p:spPr bwMode="auto">
          <a:xfrm>
            <a:off x="5029200" y="2590800"/>
            <a:ext cx="1524000" cy="557213"/>
          </a:xfrm>
          <a:prstGeom prst="rect">
            <a:avLst/>
          </a:prstGeom>
          <a:solidFill>
            <a:srgbClr val="00FFFF">
              <a:alpha val="50195"/>
            </a:srgbClr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b="1">
                <a:latin typeface="Arial" panose="020B0604020202020204" pitchFamily="34" charset="0"/>
                <a:ea typeface="SimSun" panose="02010600030101010101" pitchFamily="2" charset="-122"/>
              </a:rPr>
              <a:t>Client</a:t>
            </a:r>
          </a:p>
        </p:txBody>
      </p:sp>
      <p:sp>
        <p:nvSpPr>
          <p:cNvPr id="9222" name="Text Box 7"/>
          <p:cNvSpPr txBox="1">
            <a:spLocks noChangeArrowheads="1"/>
          </p:cNvSpPr>
          <p:nvPr/>
        </p:nvSpPr>
        <p:spPr bwMode="auto">
          <a:xfrm>
            <a:off x="5029200" y="4267200"/>
            <a:ext cx="1524000" cy="557213"/>
          </a:xfrm>
          <a:prstGeom prst="rect">
            <a:avLst/>
          </a:prstGeom>
          <a:solidFill>
            <a:srgbClr val="00FFFF">
              <a:alpha val="50195"/>
            </a:srgbClr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b="1">
                <a:latin typeface="Arial" panose="020B0604020202020204" pitchFamily="34" charset="0"/>
                <a:ea typeface="SimSun" panose="02010600030101010101" pitchFamily="2" charset="-122"/>
              </a:rPr>
              <a:t>Client</a:t>
            </a:r>
          </a:p>
        </p:txBody>
      </p:sp>
      <p:sp>
        <p:nvSpPr>
          <p:cNvPr id="9223" name="Text Box 8"/>
          <p:cNvSpPr txBox="1">
            <a:spLocks noChangeArrowheads="1"/>
          </p:cNvSpPr>
          <p:nvPr/>
        </p:nvSpPr>
        <p:spPr bwMode="auto">
          <a:xfrm>
            <a:off x="5029200" y="3429000"/>
            <a:ext cx="1524000" cy="557213"/>
          </a:xfrm>
          <a:prstGeom prst="rect">
            <a:avLst/>
          </a:prstGeom>
          <a:solidFill>
            <a:srgbClr val="00FFFF">
              <a:alpha val="50195"/>
            </a:srgbClr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b="1">
                <a:latin typeface="Arial" panose="020B0604020202020204" pitchFamily="34" charset="0"/>
                <a:ea typeface="SimSun" panose="02010600030101010101" pitchFamily="2" charset="-122"/>
              </a:rPr>
              <a:t>Client</a:t>
            </a:r>
          </a:p>
        </p:txBody>
      </p:sp>
      <p:sp>
        <p:nvSpPr>
          <p:cNvPr id="9224" name="Text Box 9"/>
          <p:cNvSpPr txBox="1">
            <a:spLocks noChangeArrowheads="1"/>
          </p:cNvSpPr>
          <p:nvPr/>
        </p:nvSpPr>
        <p:spPr bwMode="auto">
          <a:xfrm>
            <a:off x="7239000" y="3048000"/>
            <a:ext cx="1600200" cy="523875"/>
          </a:xfrm>
          <a:prstGeom prst="rect">
            <a:avLst/>
          </a:prstGeom>
          <a:solidFill>
            <a:srgbClr val="FF9900">
              <a:alpha val="50195"/>
            </a:srgbClr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b="1">
                <a:latin typeface="Arial" panose="020B0604020202020204" pitchFamily="34" charset="0"/>
                <a:ea typeface="SimSun" panose="02010600030101010101" pitchFamily="2" charset="-122"/>
              </a:rPr>
              <a:t>Server</a:t>
            </a:r>
          </a:p>
        </p:txBody>
      </p:sp>
      <p:sp>
        <p:nvSpPr>
          <p:cNvPr id="9225" name="Text Box 10"/>
          <p:cNvSpPr txBox="1">
            <a:spLocks noChangeArrowheads="1"/>
          </p:cNvSpPr>
          <p:nvPr/>
        </p:nvSpPr>
        <p:spPr bwMode="auto">
          <a:xfrm>
            <a:off x="7315200" y="4800600"/>
            <a:ext cx="1600200" cy="523875"/>
          </a:xfrm>
          <a:prstGeom prst="rect">
            <a:avLst/>
          </a:prstGeom>
          <a:solidFill>
            <a:srgbClr val="FF9900">
              <a:alpha val="50195"/>
            </a:srgbClr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b="1">
                <a:latin typeface="Arial" panose="020B0604020202020204" pitchFamily="34" charset="0"/>
                <a:ea typeface="SimSun" panose="02010600030101010101" pitchFamily="2" charset="-122"/>
              </a:rPr>
              <a:t>Server</a:t>
            </a:r>
          </a:p>
        </p:txBody>
      </p:sp>
      <p:sp>
        <p:nvSpPr>
          <p:cNvPr id="9226" name="Text Box 12"/>
          <p:cNvSpPr txBox="1">
            <a:spLocks noChangeArrowheads="1"/>
          </p:cNvSpPr>
          <p:nvPr/>
        </p:nvSpPr>
        <p:spPr bwMode="auto">
          <a:xfrm>
            <a:off x="5029200" y="5181600"/>
            <a:ext cx="1524000" cy="557213"/>
          </a:xfrm>
          <a:prstGeom prst="rect">
            <a:avLst/>
          </a:prstGeom>
          <a:solidFill>
            <a:srgbClr val="00FFFF">
              <a:alpha val="50195"/>
            </a:srgbClr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en-US" sz="2800" b="1">
                <a:latin typeface="Arial" panose="020B0604020202020204" pitchFamily="34" charset="0"/>
                <a:ea typeface="SimSun" panose="02010600030101010101" pitchFamily="2" charset="-122"/>
              </a:rPr>
              <a:t>Client</a:t>
            </a:r>
          </a:p>
        </p:txBody>
      </p:sp>
      <p:cxnSp>
        <p:nvCxnSpPr>
          <p:cNvPr id="9227" name="AutoShape 13"/>
          <p:cNvCxnSpPr>
            <a:cxnSpLocks noChangeShapeType="1"/>
            <a:stCxn id="9221" idx="3"/>
            <a:endCxn id="9224" idx="0"/>
          </p:cNvCxnSpPr>
          <p:nvPr/>
        </p:nvCxnSpPr>
        <p:spPr bwMode="auto">
          <a:xfrm>
            <a:off x="6572250" y="2870200"/>
            <a:ext cx="1466850" cy="158750"/>
          </a:xfrm>
          <a:prstGeom prst="curvedConnector2">
            <a:avLst/>
          </a:prstGeom>
          <a:noFill/>
          <a:ln w="50800">
            <a:solidFill>
              <a:srgbClr val="0000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28" name="AutoShape 14"/>
          <p:cNvCxnSpPr>
            <a:cxnSpLocks noChangeShapeType="1"/>
            <a:stCxn id="9223" idx="3"/>
            <a:endCxn id="9224" idx="1"/>
          </p:cNvCxnSpPr>
          <p:nvPr/>
        </p:nvCxnSpPr>
        <p:spPr bwMode="auto">
          <a:xfrm flipV="1">
            <a:off x="6572250" y="3309938"/>
            <a:ext cx="647700" cy="398462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0000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29" name="AutoShape 15"/>
          <p:cNvCxnSpPr>
            <a:cxnSpLocks noChangeShapeType="1"/>
            <a:stCxn id="9222" idx="3"/>
            <a:endCxn id="9224" idx="2"/>
          </p:cNvCxnSpPr>
          <p:nvPr/>
        </p:nvCxnSpPr>
        <p:spPr bwMode="auto">
          <a:xfrm flipV="1">
            <a:off x="6572250" y="3590925"/>
            <a:ext cx="1466850" cy="955675"/>
          </a:xfrm>
          <a:prstGeom prst="curvedConnector2">
            <a:avLst/>
          </a:prstGeom>
          <a:noFill/>
          <a:ln w="50800">
            <a:solidFill>
              <a:srgbClr val="0000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30" name="AutoShape 16"/>
          <p:cNvCxnSpPr>
            <a:cxnSpLocks noChangeShapeType="1"/>
            <a:stCxn id="9226" idx="3"/>
            <a:endCxn id="9225" idx="1"/>
          </p:cNvCxnSpPr>
          <p:nvPr/>
        </p:nvCxnSpPr>
        <p:spPr bwMode="auto">
          <a:xfrm flipV="1">
            <a:off x="6572250" y="5062538"/>
            <a:ext cx="723900" cy="398462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0000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8" name="Rectangle 1024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altLang="en-US" sz="3600"/>
              <a:t>Client Programming</a:t>
            </a:r>
          </a:p>
        </p:txBody>
      </p:sp>
      <p:sp>
        <p:nvSpPr>
          <p:cNvPr id="1025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1900"/>
              <a:t>Basic steps</a:t>
            </a:r>
          </a:p>
          <a:p>
            <a:pPr lvl="1">
              <a:buFont typeface="Times" panose="02020603050405020304" pitchFamily="18" charset="0"/>
              <a:buAutoNum type="arabicPeriod"/>
            </a:pPr>
            <a:r>
              <a:rPr lang="en-US" altLang="en-US" sz="1900"/>
              <a:t>Determine server location – IP address &amp; port</a:t>
            </a:r>
          </a:p>
          <a:p>
            <a:pPr lvl="1">
              <a:buFont typeface="Times" panose="02020603050405020304" pitchFamily="18" charset="0"/>
              <a:buAutoNum type="arabicPeriod"/>
            </a:pPr>
            <a:r>
              <a:rPr lang="en-US" altLang="en-US" sz="1900"/>
              <a:t>Open network connection to server</a:t>
            </a:r>
          </a:p>
          <a:p>
            <a:pPr lvl="1">
              <a:buFont typeface="Times" panose="02020603050405020304" pitchFamily="18" charset="0"/>
              <a:buAutoNum type="arabicPeriod"/>
            </a:pPr>
            <a:r>
              <a:rPr lang="en-US" altLang="en-US" sz="1900"/>
              <a:t>Write data to server (request)</a:t>
            </a:r>
          </a:p>
          <a:p>
            <a:pPr lvl="1">
              <a:buFont typeface="Times" panose="02020603050405020304" pitchFamily="18" charset="0"/>
              <a:buAutoNum type="arabicPeriod"/>
            </a:pPr>
            <a:r>
              <a:rPr lang="en-US" altLang="en-US" sz="1900"/>
              <a:t>Read data from server (response)</a:t>
            </a:r>
          </a:p>
          <a:p>
            <a:pPr lvl="1">
              <a:buFont typeface="Times" panose="02020603050405020304" pitchFamily="18" charset="0"/>
              <a:buAutoNum type="arabicPeriod"/>
            </a:pPr>
            <a:r>
              <a:rPr lang="en-US" altLang="en-US" sz="1900"/>
              <a:t>Close network connection</a:t>
            </a:r>
          </a:p>
          <a:p>
            <a:pPr lvl="1">
              <a:buFont typeface="Times" panose="02020603050405020304" pitchFamily="18" charset="0"/>
              <a:buAutoNum type="arabicPeriod"/>
            </a:pPr>
            <a:r>
              <a:rPr lang="en-US" altLang="en-US" sz="1900"/>
              <a:t>Stop client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E5C66BD-8145-49C0-81CB-A89419106B09}" type="slidenum">
              <a:rPr lang="en-US" altLang="en-US"/>
              <a:pPr>
                <a:spcAft>
                  <a:spcPts val="600"/>
                </a:spcAft>
              </a:pPr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2" name="Rectangle 11271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altLang="en-US" sz="3600"/>
              <a:t>Server Programming</a:t>
            </a:r>
          </a:p>
        </p:txBody>
      </p:sp>
      <p:sp>
        <p:nvSpPr>
          <p:cNvPr id="11274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 sz="1900"/>
              <a:t>Basic steps</a:t>
            </a:r>
          </a:p>
          <a:p>
            <a:pPr lvl="1">
              <a:buFont typeface="Times" panose="02020603050405020304" pitchFamily="18" charset="0"/>
              <a:buAutoNum type="arabicPeriod"/>
            </a:pPr>
            <a:r>
              <a:rPr lang="en-US" altLang="en-US" sz="1900"/>
              <a:t>Determine server location - port (&amp; IP address)</a:t>
            </a:r>
          </a:p>
          <a:p>
            <a:pPr lvl="1">
              <a:buFont typeface="Times" panose="02020603050405020304" pitchFamily="18" charset="0"/>
              <a:buAutoNum type="arabicPeriod"/>
            </a:pPr>
            <a:r>
              <a:rPr lang="en-US" altLang="en-US" sz="1900"/>
              <a:t>Create server to listen for connections</a:t>
            </a:r>
          </a:p>
          <a:p>
            <a:pPr lvl="1">
              <a:buFont typeface="Times" panose="02020603050405020304" pitchFamily="18" charset="0"/>
              <a:buAutoNum type="arabicPeriod"/>
            </a:pPr>
            <a:r>
              <a:rPr lang="en-US" altLang="en-US" sz="1900"/>
              <a:t>Open network connection to client</a:t>
            </a:r>
          </a:p>
          <a:p>
            <a:pPr lvl="1">
              <a:buFont typeface="Times" panose="02020603050405020304" pitchFamily="18" charset="0"/>
              <a:buAutoNum type="arabicPeriod"/>
            </a:pPr>
            <a:r>
              <a:rPr lang="en-US" altLang="en-US" sz="1900"/>
              <a:t>Read data from client (request)</a:t>
            </a:r>
          </a:p>
          <a:p>
            <a:pPr lvl="1">
              <a:buFont typeface="Times" panose="02020603050405020304" pitchFamily="18" charset="0"/>
              <a:buAutoNum type="arabicPeriod"/>
            </a:pPr>
            <a:r>
              <a:rPr lang="en-US" altLang="en-US" sz="1900"/>
              <a:t>Write data to client (response)</a:t>
            </a:r>
          </a:p>
          <a:p>
            <a:pPr lvl="1">
              <a:buFont typeface="Times" panose="02020603050405020304" pitchFamily="18" charset="0"/>
              <a:buAutoNum type="arabicPeriod"/>
            </a:pPr>
            <a:r>
              <a:rPr lang="en-US" altLang="en-US" sz="1900"/>
              <a:t>Close network connection to client</a:t>
            </a:r>
          </a:p>
          <a:p>
            <a:pPr lvl="1">
              <a:buFont typeface="Times" panose="02020603050405020304" pitchFamily="18" charset="0"/>
              <a:buAutoNum type="arabicPeriod"/>
            </a:pPr>
            <a:r>
              <a:rPr lang="en-US" altLang="en-US" sz="1900"/>
              <a:t>Stop server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E67EEB9-E288-45F3-BBAD-E54A0D1FEDE2}" type="slidenum">
              <a:rPr lang="en-US" altLang="en-US"/>
              <a:pPr>
                <a:spcAft>
                  <a:spcPts val="600"/>
                </a:spcAft>
              </a:pPr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96" name="Rectangle 12295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Networking in Java</a:t>
            </a:r>
          </a:p>
        </p:txBody>
      </p:sp>
      <p:sp>
        <p:nvSpPr>
          <p:cNvPr id="1229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28650" y="1929384"/>
            <a:ext cx="78867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900"/>
              <a:t>Packages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900"/>
              <a:t>java.net	 	</a:t>
            </a:r>
            <a:r>
              <a:rPr lang="en-US" altLang="en-US" sz="1900">
                <a:sym typeface="Symbol" panose="05050102010706020507" pitchFamily="18" charset="2"/>
              </a:rPr>
              <a:t> </a:t>
            </a:r>
            <a:r>
              <a:rPr lang="en-US" altLang="en-US" sz="1900"/>
              <a:t>Networking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900"/>
              <a:t>java.io		 	</a:t>
            </a:r>
            <a:r>
              <a:rPr lang="en-US" altLang="en-US" sz="1900">
                <a:sym typeface="Symbol" panose="05050102010706020507" pitchFamily="18" charset="2"/>
              </a:rPr>
              <a:t> </a:t>
            </a:r>
            <a:r>
              <a:rPr lang="en-US" altLang="en-US" sz="1900"/>
              <a:t>I/O streams &amp; utilities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900"/>
              <a:t>java.rmi	 	</a:t>
            </a:r>
            <a:r>
              <a:rPr lang="en-US" altLang="en-US" sz="1900">
                <a:sym typeface="Symbol" panose="05050102010706020507" pitchFamily="18" charset="2"/>
              </a:rPr>
              <a:t> </a:t>
            </a:r>
            <a:r>
              <a:rPr lang="en-US" altLang="en-US" sz="1900"/>
              <a:t>Remote Method Invocation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900"/>
              <a:t>java.security	 	</a:t>
            </a:r>
            <a:r>
              <a:rPr lang="en-US" altLang="en-US" sz="1900">
                <a:sym typeface="Symbol" panose="05050102010706020507" pitchFamily="18" charset="2"/>
              </a:rPr>
              <a:t> </a:t>
            </a:r>
            <a:r>
              <a:rPr lang="en-US" altLang="en-US" sz="1900"/>
              <a:t>Security policies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900"/>
              <a:t>java.lang	 	</a:t>
            </a:r>
            <a:r>
              <a:rPr lang="en-US" altLang="en-US" sz="1900">
                <a:sym typeface="Symbol" panose="05050102010706020507" pitchFamily="18" charset="2"/>
              </a:rPr>
              <a:t> </a:t>
            </a:r>
            <a:r>
              <a:rPr lang="en-US" altLang="en-US" sz="1900"/>
              <a:t>Threading classes</a:t>
            </a:r>
            <a:endParaRPr lang="en-US" altLang="en-US" sz="1900">
              <a:sym typeface="Symbol" panose="05050102010706020507" pitchFamily="18" charset="2"/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58E0F8D-E578-4784-AD1C-3D8AB93A9355}" type="slidenum">
              <a:rPr lang="en-US" alt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6</a:t>
            </a:fld>
            <a:endParaRPr lang="en-US" alt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86D8D-643D-4EAA-9434-5D838500585C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r>
              <a:rPr lang="en-US" altLang="en-US"/>
              <a:t>Networking Basics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85800" y="1600200"/>
            <a:ext cx="3813175" cy="4114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1800"/>
              <a:t>Applications Layer</a:t>
            </a:r>
          </a:p>
          <a:p>
            <a:pPr>
              <a:lnSpc>
                <a:spcPct val="80000"/>
              </a:lnSpc>
            </a:pPr>
            <a:r>
              <a:rPr lang="en-US" altLang="en-US" sz="1800"/>
              <a:t>Transport Layer</a:t>
            </a:r>
          </a:p>
          <a:p>
            <a:pPr lvl="1">
              <a:lnSpc>
                <a:spcPct val="80000"/>
              </a:lnSpc>
            </a:pPr>
            <a:r>
              <a:rPr lang="en-US" altLang="en-US" sz="1600"/>
              <a:t>TCP</a:t>
            </a:r>
          </a:p>
          <a:p>
            <a:pPr lvl="1">
              <a:lnSpc>
                <a:spcPct val="80000"/>
              </a:lnSpc>
            </a:pPr>
            <a:r>
              <a:rPr lang="en-US" altLang="en-US" sz="1600"/>
              <a:t>UDP</a:t>
            </a:r>
          </a:p>
          <a:p>
            <a:pPr lvl="1">
              <a:lnSpc>
                <a:spcPct val="80000"/>
              </a:lnSpc>
            </a:pPr>
            <a:r>
              <a:rPr lang="en-US" altLang="en-US" sz="1600"/>
              <a:t>Programming Interface:</a:t>
            </a:r>
          </a:p>
          <a:p>
            <a:pPr lvl="2">
              <a:lnSpc>
                <a:spcPct val="80000"/>
              </a:lnSpc>
            </a:pPr>
            <a:r>
              <a:rPr lang="en-US" altLang="en-US" sz="1400"/>
              <a:t>Sockets</a:t>
            </a:r>
          </a:p>
          <a:p>
            <a:pPr>
              <a:lnSpc>
                <a:spcPct val="80000"/>
              </a:lnSpc>
            </a:pPr>
            <a:r>
              <a:rPr lang="en-US" altLang="en-US" sz="1800"/>
              <a:t>Network Layer</a:t>
            </a:r>
          </a:p>
          <a:p>
            <a:pPr lvl="1">
              <a:lnSpc>
                <a:spcPct val="80000"/>
              </a:lnSpc>
            </a:pPr>
            <a:r>
              <a:rPr lang="en-US" altLang="en-US" sz="1600"/>
              <a:t>IP</a:t>
            </a:r>
          </a:p>
          <a:p>
            <a:pPr>
              <a:lnSpc>
                <a:spcPct val="80000"/>
              </a:lnSpc>
            </a:pPr>
            <a:r>
              <a:rPr lang="en-US" altLang="en-US" sz="1800"/>
              <a:t>Link Layer</a:t>
            </a:r>
          </a:p>
          <a:p>
            <a:pPr>
              <a:lnSpc>
                <a:spcPct val="80000"/>
              </a:lnSpc>
            </a:pPr>
            <a:r>
              <a:rPr lang="en-US" altLang="en-US" sz="1800"/>
              <a:t>Physical Layer</a:t>
            </a:r>
          </a:p>
        </p:txBody>
      </p:sp>
      <p:sp>
        <p:nvSpPr>
          <p:cNvPr id="13317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45025" y="1447800"/>
            <a:ext cx="3660775" cy="533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000"/>
              <a:t>TCP/IP Stack</a:t>
            </a:r>
          </a:p>
        </p:txBody>
      </p:sp>
      <p:sp>
        <p:nvSpPr>
          <p:cNvPr id="13318" name="Text Box 5"/>
          <p:cNvSpPr txBox="1">
            <a:spLocks noChangeArrowheads="1"/>
          </p:cNvSpPr>
          <p:nvPr/>
        </p:nvSpPr>
        <p:spPr bwMode="auto">
          <a:xfrm>
            <a:off x="5181600" y="2057400"/>
            <a:ext cx="2149475" cy="771525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Application</a:t>
            </a:r>
          </a:p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(http,ftp,telnet,…)</a:t>
            </a:r>
          </a:p>
        </p:txBody>
      </p:sp>
      <p:sp>
        <p:nvSpPr>
          <p:cNvPr id="13319" name="Text Box 6"/>
          <p:cNvSpPr txBox="1">
            <a:spLocks noChangeArrowheads="1"/>
          </p:cNvSpPr>
          <p:nvPr/>
        </p:nvSpPr>
        <p:spPr bwMode="auto">
          <a:xfrm>
            <a:off x="5181600" y="2819400"/>
            <a:ext cx="2133600" cy="771525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Transport</a:t>
            </a:r>
          </a:p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(TCP, UDP,..)</a:t>
            </a:r>
          </a:p>
        </p:txBody>
      </p:sp>
      <p:sp>
        <p:nvSpPr>
          <p:cNvPr id="13320" name="Text Box 7"/>
          <p:cNvSpPr txBox="1">
            <a:spLocks noChangeArrowheads="1"/>
          </p:cNvSpPr>
          <p:nvPr/>
        </p:nvSpPr>
        <p:spPr bwMode="auto">
          <a:xfrm>
            <a:off x="5181600" y="3581400"/>
            <a:ext cx="2133600" cy="771525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Network</a:t>
            </a:r>
          </a:p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(IP,..)</a:t>
            </a:r>
          </a:p>
        </p:txBody>
      </p:sp>
      <p:sp>
        <p:nvSpPr>
          <p:cNvPr id="13321" name="Text Box 8"/>
          <p:cNvSpPr txBox="1">
            <a:spLocks noChangeArrowheads="1"/>
          </p:cNvSpPr>
          <p:nvPr/>
        </p:nvSpPr>
        <p:spPr bwMode="auto">
          <a:xfrm>
            <a:off x="5181600" y="4343400"/>
            <a:ext cx="2133600" cy="771525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Link</a:t>
            </a:r>
          </a:p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(device driver,..)</a:t>
            </a:r>
          </a:p>
        </p:txBody>
      </p:sp>
      <p:sp>
        <p:nvSpPr>
          <p:cNvPr id="13322" name="Text Box 7"/>
          <p:cNvSpPr txBox="1">
            <a:spLocks noChangeArrowheads="1"/>
          </p:cNvSpPr>
          <p:nvPr/>
        </p:nvSpPr>
        <p:spPr bwMode="auto">
          <a:xfrm>
            <a:off x="5181600" y="5105400"/>
            <a:ext cx="2133600" cy="40640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Physical Layer</a:t>
            </a:r>
          </a:p>
        </p:txBody>
      </p:sp>
    </p:spTree>
  </p:cSld>
  <p:clrMapOvr>
    <a:masterClrMapping/>
  </p:clrMapOvr>
  <p:transition advTm="1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65E92-9E1D-4DDF-A07E-E5742151476C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4338" name="Slide Number Placeholder 4"/>
          <p:cNvSpPr txBox="1">
            <a:spLocks noGrp="1"/>
          </p:cNvSpPr>
          <p:nvPr/>
        </p:nvSpPr>
        <p:spPr bwMode="auto">
          <a:xfrm>
            <a:off x="7010400" y="63246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fld id="{6E19644E-F576-412F-8866-4B694A98B7C3}" type="slidenum">
              <a:rPr lang="zh-CN" altLang="en-GB" sz="1400">
                <a:latin typeface="Tahoma" panose="020B0604030504040204" pitchFamily="34" charset="0"/>
                <a:ea typeface="SimSun" panose="02010600030101010101" pitchFamily="2" charset="-122"/>
              </a:rPr>
              <a:pPr algn="r" eaLnBrk="1" hangingPunct="1"/>
              <a:t>8</a:t>
            </a:fld>
            <a:endParaRPr lang="en-GB" altLang="zh-CN" sz="1400">
              <a:latin typeface="Tahoma" panose="020B0604030504040204" pitchFamily="34" charset="0"/>
              <a:ea typeface="SimSun" panose="02010600030101010101" pitchFamily="2" charset="-122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 altLang="en-US"/>
              <a:t>Understanding Ports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85800" y="1447800"/>
            <a:ext cx="3813175" cy="4114800"/>
          </a:xfrm>
        </p:spPr>
        <p:txBody>
          <a:bodyPr/>
          <a:lstStyle/>
          <a:p>
            <a:r>
              <a:rPr lang="en-US" altLang="en-US" sz="2800"/>
              <a:t>The TCP and UDP protocols use </a:t>
            </a:r>
            <a:r>
              <a:rPr lang="en-US" altLang="en-US" sz="2800" i="1"/>
              <a:t>ports </a:t>
            </a:r>
            <a:r>
              <a:rPr lang="en-US" altLang="en-US" sz="2800"/>
              <a:t>to map incoming data to a particular </a:t>
            </a:r>
            <a:r>
              <a:rPr lang="en-US" altLang="en-US" sz="2800" i="1"/>
              <a:t>process</a:t>
            </a:r>
            <a:r>
              <a:rPr lang="en-US" altLang="en-US" sz="2800"/>
              <a:t> running on a computer.</a:t>
            </a:r>
          </a:p>
        </p:txBody>
      </p:sp>
      <p:sp>
        <p:nvSpPr>
          <p:cNvPr id="14341" name="Text Box 10"/>
          <p:cNvSpPr txBox="1">
            <a:spLocks noChangeArrowheads="1"/>
          </p:cNvSpPr>
          <p:nvPr/>
        </p:nvSpPr>
        <p:spPr bwMode="auto">
          <a:xfrm>
            <a:off x="4724400" y="1676400"/>
            <a:ext cx="1066800" cy="1320800"/>
          </a:xfrm>
          <a:prstGeom prst="rect">
            <a:avLst/>
          </a:prstGeom>
          <a:solidFill>
            <a:srgbClr val="CCFFFF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endParaRPr lang="en-US" altLang="en-US" sz="2000" b="1"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 b="1">
                <a:latin typeface="Arial" panose="020B0604020202020204" pitchFamily="34" charset="0"/>
                <a:ea typeface="SimSun" panose="02010600030101010101" pitchFamily="2" charset="-122"/>
              </a:rPr>
              <a:t>server</a:t>
            </a:r>
          </a:p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endParaRPr lang="en-US" altLang="en-US" sz="2000" b="1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4342" name="Text Box 12"/>
          <p:cNvSpPr txBox="1">
            <a:spLocks noChangeArrowheads="1"/>
          </p:cNvSpPr>
          <p:nvPr/>
        </p:nvSpPr>
        <p:spPr bwMode="auto">
          <a:xfrm>
            <a:off x="5791200" y="1676400"/>
            <a:ext cx="685800" cy="1320800"/>
          </a:xfrm>
          <a:prstGeom prst="rect">
            <a:avLst/>
          </a:prstGeom>
          <a:solidFill>
            <a:srgbClr val="CCFFCC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 b="1">
                <a:latin typeface="Arial" panose="020B0604020202020204" pitchFamily="34" charset="0"/>
                <a:ea typeface="SimSun" panose="02010600030101010101" pitchFamily="2" charset="-122"/>
              </a:rPr>
              <a:t>    P</a:t>
            </a:r>
            <a:br>
              <a:rPr lang="en-US" altLang="en-US" sz="2000" b="1">
                <a:latin typeface="Arial" panose="020B0604020202020204" pitchFamily="34" charset="0"/>
                <a:ea typeface="SimSun" panose="02010600030101010101" pitchFamily="2" charset="-122"/>
              </a:rPr>
            </a:br>
            <a:r>
              <a:rPr lang="en-US" altLang="en-US" sz="2000" b="1">
                <a:latin typeface="Arial" panose="020B0604020202020204" pitchFamily="34" charset="0"/>
                <a:ea typeface="SimSun" panose="02010600030101010101" pitchFamily="2" charset="-122"/>
              </a:rPr>
              <a:t>o</a:t>
            </a:r>
            <a:br>
              <a:rPr lang="en-US" altLang="en-US" sz="2000" b="1">
                <a:latin typeface="Arial" panose="020B0604020202020204" pitchFamily="34" charset="0"/>
                <a:ea typeface="SimSun" panose="02010600030101010101" pitchFamily="2" charset="-122"/>
              </a:rPr>
            </a:br>
            <a:r>
              <a:rPr lang="en-US" altLang="en-US" sz="2000" b="1">
                <a:latin typeface="Arial" panose="020B0604020202020204" pitchFamily="34" charset="0"/>
                <a:ea typeface="SimSun" panose="02010600030101010101" pitchFamily="2" charset="-122"/>
              </a:rPr>
              <a:t>r</a:t>
            </a:r>
            <a:br>
              <a:rPr lang="en-US" altLang="en-US" sz="2000" b="1">
                <a:latin typeface="Arial" panose="020B0604020202020204" pitchFamily="34" charset="0"/>
                <a:ea typeface="SimSun" panose="02010600030101010101" pitchFamily="2" charset="-122"/>
              </a:rPr>
            </a:br>
            <a:r>
              <a:rPr lang="en-US" altLang="en-US" sz="2000" b="1">
                <a:latin typeface="Arial" panose="020B0604020202020204" pitchFamily="34" charset="0"/>
                <a:ea typeface="SimSun" panose="02010600030101010101" pitchFamily="2" charset="-122"/>
              </a:rPr>
              <a:t>t</a:t>
            </a:r>
          </a:p>
        </p:txBody>
      </p:sp>
      <p:sp>
        <p:nvSpPr>
          <p:cNvPr id="14343" name="Text Box 13"/>
          <p:cNvSpPr txBox="1">
            <a:spLocks noChangeArrowheads="1"/>
          </p:cNvSpPr>
          <p:nvPr/>
        </p:nvSpPr>
        <p:spPr bwMode="auto">
          <a:xfrm>
            <a:off x="7848600" y="2286000"/>
            <a:ext cx="1219200" cy="406400"/>
          </a:xfrm>
          <a:prstGeom prst="rect">
            <a:avLst/>
          </a:prstGeom>
          <a:solidFill>
            <a:srgbClr val="FFFF99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 b="1">
                <a:latin typeface="Arial" panose="020B0604020202020204" pitchFamily="34" charset="0"/>
                <a:ea typeface="SimSun" panose="02010600030101010101" pitchFamily="2" charset="-122"/>
              </a:rPr>
              <a:t>Client</a:t>
            </a:r>
          </a:p>
        </p:txBody>
      </p:sp>
      <p:cxnSp>
        <p:nvCxnSpPr>
          <p:cNvPr id="14344" name="AutoShape 16"/>
          <p:cNvCxnSpPr>
            <a:cxnSpLocks noChangeShapeType="1"/>
            <a:stCxn id="14343" idx="1"/>
          </p:cNvCxnSpPr>
          <p:nvPr/>
        </p:nvCxnSpPr>
        <p:spPr bwMode="auto">
          <a:xfrm rot="10800000">
            <a:off x="6477000" y="2108200"/>
            <a:ext cx="1371600" cy="381000"/>
          </a:xfrm>
          <a:prstGeom prst="curvedConnector5">
            <a:avLst>
              <a:gd name="adj1" fmla="val 250000"/>
              <a:gd name="adj2" fmla="val 193333"/>
              <a:gd name="adj3" fmla="val -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</p:cxnSp>
      <p:sp>
        <p:nvSpPr>
          <p:cNvPr id="14345" name="Line 23"/>
          <p:cNvSpPr>
            <a:spLocks noChangeShapeType="1"/>
          </p:cNvSpPr>
          <p:nvPr/>
        </p:nvSpPr>
        <p:spPr bwMode="auto">
          <a:xfrm flipH="1" flipV="1">
            <a:off x="6477000" y="2286000"/>
            <a:ext cx="12954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346" name="Text Box 24"/>
          <p:cNvSpPr txBox="1">
            <a:spLocks noChangeArrowheads="1"/>
          </p:cNvSpPr>
          <p:nvPr/>
        </p:nvSpPr>
        <p:spPr bwMode="auto">
          <a:xfrm>
            <a:off x="6934200" y="2006600"/>
            <a:ext cx="6905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TCP</a:t>
            </a:r>
          </a:p>
        </p:txBody>
      </p:sp>
      <p:sp>
        <p:nvSpPr>
          <p:cNvPr id="14347" name="Rectangle 27"/>
          <p:cNvSpPr>
            <a:spLocks noChangeArrowheads="1"/>
          </p:cNvSpPr>
          <p:nvPr/>
        </p:nvSpPr>
        <p:spPr bwMode="auto">
          <a:xfrm>
            <a:off x="2971800" y="5562600"/>
            <a:ext cx="3957638" cy="457200"/>
          </a:xfrm>
          <a:prstGeom prst="rect">
            <a:avLst/>
          </a:prstGeom>
          <a:solidFill>
            <a:srgbClr val="CCFFFF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TCP or UDP</a:t>
            </a:r>
          </a:p>
        </p:txBody>
      </p:sp>
      <p:sp>
        <p:nvSpPr>
          <p:cNvPr id="14348" name="Rectangle 29"/>
          <p:cNvSpPr>
            <a:spLocks noChangeArrowheads="1"/>
          </p:cNvSpPr>
          <p:nvPr/>
        </p:nvSpPr>
        <p:spPr bwMode="auto">
          <a:xfrm>
            <a:off x="3128963" y="5102225"/>
            <a:ext cx="685800" cy="457200"/>
          </a:xfrm>
          <a:prstGeom prst="rect">
            <a:avLst/>
          </a:prstGeom>
          <a:solidFill>
            <a:srgbClr val="CCFFCC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port</a:t>
            </a:r>
          </a:p>
        </p:txBody>
      </p:sp>
      <p:sp>
        <p:nvSpPr>
          <p:cNvPr id="14349" name="Rectangle 31"/>
          <p:cNvSpPr>
            <a:spLocks noChangeArrowheads="1"/>
          </p:cNvSpPr>
          <p:nvPr/>
        </p:nvSpPr>
        <p:spPr bwMode="auto">
          <a:xfrm>
            <a:off x="4119563" y="5102225"/>
            <a:ext cx="685800" cy="457200"/>
          </a:xfrm>
          <a:prstGeom prst="rect">
            <a:avLst/>
          </a:prstGeom>
          <a:solidFill>
            <a:srgbClr val="CCFFCC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port</a:t>
            </a:r>
          </a:p>
        </p:txBody>
      </p:sp>
      <p:sp>
        <p:nvSpPr>
          <p:cNvPr id="14350" name="Rectangle 32"/>
          <p:cNvSpPr>
            <a:spLocks noChangeArrowheads="1"/>
          </p:cNvSpPr>
          <p:nvPr/>
        </p:nvSpPr>
        <p:spPr bwMode="auto">
          <a:xfrm>
            <a:off x="5033963" y="5102225"/>
            <a:ext cx="685800" cy="457200"/>
          </a:xfrm>
          <a:prstGeom prst="rect">
            <a:avLst/>
          </a:prstGeom>
          <a:solidFill>
            <a:srgbClr val="CCFFCC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port</a:t>
            </a:r>
          </a:p>
        </p:txBody>
      </p:sp>
      <p:sp>
        <p:nvSpPr>
          <p:cNvPr id="14351" name="Rectangle 33"/>
          <p:cNvSpPr>
            <a:spLocks noChangeArrowheads="1"/>
          </p:cNvSpPr>
          <p:nvPr/>
        </p:nvSpPr>
        <p:spPr bwMode="auto">
          <a:xfrm>
            <a:off x="6024563" y="5102225"/>
            <a:ext cx="685800" cy="457200"/>
          </a:xfrm>
          <a:prstGeom prst="rect">
            <a:avLst/>
          </a:prstGeom>
          <a:solidFill>
            <a:srgbClr val="CCFFCC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port</a:t>
            </a:r>
          </a:p>
        </p:txBody>
      </p:sp>
      <p:sp>
        <p:nvSpPr>
          <p:cNvPr id="14352" name="Rectangle 35"/>
          <p:cNvSpPr>
            <a:spLocks noChangeArrowheads="1"/>
          </p:cNvSpPr>
          <p:nvPr/>
        </p:nvSpPr>
        <p:spPr bwMode="auto">
          <a:xfrm>
            <a:off x="3124200" y="4187825"/>
            <a:ext cx="685800" cy="457200"/>
          </a:xfrm>
          <a:prstGeom prst="rect">
            <a:avLst/>
          </a:prstGeom>
          <a:solidFill>
            <a:srgbClr val="FFCC99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app</a:t>
            </a:r>
          </a:p>
        </p:txBody>
      </p:sp>
      <p:sp>
        <p:nvSpPr>
          <p:cNvPr id="14353" name="Rectangle 36"/>
          <p:cNvSpPr>
            <a:spLocks noChangeArrowheads="1"/>
          </p:cNvSpPr>
          <p:nvPr/>
        </p:nvSpPr>
        <p:spPr bwMode="auto">
          <a:xfrm>
            <a:off x="4114800" y="4187825"/>
            <a:ext cx="685800" cy="457200"/>
          </a:xfrm>
          <a:prstGeom prst="rect">
            <a:avLst/>
          </a:prstGeom>
          <a:solidFill>
            <a:srgbClr val="FFCC99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app</a:t>
            </a:r>
          </a:p>
        </p:txBody>
      </p:sp>
      <p:sp>
        <p:nvSpPr>
          <p:cNvPr id="14354" name="Rectangle 37"/>
          <p:cNvSpPr>
            <a:spLocks noChangeArrowheads="1"/>
          </p:cNvSpPr>
          <p:nvPr/>
        </p:nvSpPr>
        <p:spPr bwMode="auto">
          <a:xfrm>
            <a:off x="5029200" y="4187825"/>
            <a:ext cx="685800" cy="457200"/>
          </a:xfrm>
          <a:prstGeom prst="rect">
            <a:avLst/>
          </a:prstGeom>
          <a:solidFill>
            <a:srgbClr val="FFCC99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app</a:t>
            </a:r>
          </a:p>
        </p:txBody>
      </p:sp>
      <p:sp>
        <p:nvSpPr>
          <p:cNvPr id="14355" name="Rectangle 38"/>
          <p:cNvSpPr>
            <a:spLocks noChangeArrowheads="1"/>
          </p:cNvSpPr>
          <p:nvPr/>
        </p:nvSpPr>
        <p:spPr bwMode="auto">
          <a:xfrm>
            <a:off x="6019800" y="4187825"/>
            <a:ext cx="685800" cy="457200"/>
          </a:xfrm>
          <a:prstGeom prst="rect">
            <a:avLst/>
          </a:prstGeom>
          <a:solidFill>
            <a:srgbClr val="FFCC99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app</a:t>
            </a:r>
          </a:p>
        </p:txBody>
      </p:sp>
      <p:sp>
        <p:nvSpPr>
          <p:cNvPr id="14356" name="Line 39"/>
          <p:cNvSpPr>
            <a:spLocks noChangeShapeType="1"/>
          </p:cNvSpPr>
          <p:nvPr/>
        </p:nvSpPr>
        <p:spPr bwMode="auto">
          <a:xfrm flipV="1">
            <a:off x="3429000" y="464502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357" name="Line 40"/>
          <p:cNvSpPr>
            <a:spLocks noChangeShapeType="1"/>
          </p:cNvSpPr>
          <p:nvPr/>
        </p:nvSpPr>
        <p:spPr bwMode="auto">
          <a:xfrm flipV="1">
            <a:off x="4495800" y="464502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358" name="Line 41"/>
          <p:cNvSpPr>
            <a:spLocks noChangeShapeType="1"/>
          </p:cNvSpPr>
          <p:nvPr/>
        </p:nvSpPr>
        <p:spPr bwMode="auto">
          <a:xfrm flipV="1">
            <a:off x="5410200" y="464502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359" name="Line 42"/>
          <p:cNvSpPr>
            <a:spLocks noChangeShapeType="1"/>
          </p:cNvSpPr>
          <p:nvPr/>
        </p:nvSpPr>
        <p:spPr bwMode="auto">
          <a:xfrm flipV="1">
            <a:off x="6324600" y="464502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360" name="Rectangle 43"/>
          <p:cNvSpPr>
            <a:spLocks noChangeArrowheads="1"/>
          </p:cNvSpPr>
          <p:nvPr/>
        </p:nvSpPr>
        <p:spPr bwMode="auto">
          <a:xfrm>
            <a:off x="7396163" y="6248400"/>
            <a:ext cx="833437" cy="457200"/>
          </a:xfrm>
          <a:prstGeom prst="rect">
            <a:avLst/>
          </a:prstGeom>
          <a:solidFill>
            <a:srgbClr val="FFFF99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port#</a:t>
            </a:r>
          </a:p>
        </p:txBody>
      </p:sp>
      <p:sp>
        <p:nvSpPr>
          <p:cNvPr id="14361" name="Rectangle 44"/>
          <p:cNvSpPr>
            <a:spLocks noChangeArrowheads="1"/>
          </p:cNvSpPr>
          <p:nvPr/>
        </p:nvSpPr>
        <p:spPr bwMode="auto">
          <a:xfrm>
            <a:off x="8158163" y="6248400"/>
            <a:ext cx="833437" cy="457200"/>
          </a:xfrm>
          <a:prstGeom prst="rect">
            <a:avLst/>
          </a:prstGeom>
          <a:solidFill>
            <a:srgbClr val="FFFF99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data</a:t>
            </a:r>
          </a:p>
        </p:txBody>
      </p:sp>
      <p:sp>
        <p:nvSpPr>
          <p:cNvPr id="14362" name="Line 45"/>
          <p:cNvSpPr>
            <a:spLocks noChangeShapeType="1"/>
          </p:cNvSpPr>
          <p:nvPr/>
        </p:nvSpPr>
        <p:spPr bwMode="auto">
          <a:xfrm flipH="1" flipV="1">
            <a:off x="4876800" y="6096000"/>
            <a:ext cx="2514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4363" name="Text Box 46"/>
          <p:cNvSpPr txBox="1">
            <a:spLocks noChangeArrowheads="1"/>
          </p:cNvSpPr>
          <p:nvPr/>
        </p:nvSpPr>
        <p:spPr bwMode="auto">
          <a:xfrm>
            <a:off x="5715000" y="6235700"/>
            <a:ext cx="71755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Data</a:t>
            </a:r>
          </a:p>
        </p:txBody>
      </p:sp>
      <p:sp>
        <p:nvSpPr>
          <p:cNvPr id="14364" name="Text Box 47"/>
          <p:cNvSpPr txBox="1">
            <a:spLocks noChangeArrowheads="1"/>
          </p:cNvSpPr>
          <p:nvPr/>
        </p:nvSpPr>
        <p:spPr bwMode="auto">
          <a:xfrm>
            <a:off x="7283450" y="5867400"/>
            <a:ext cx="957263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Packet</a:t>
            </a:r>
          </a:p>
        </p:txBody>
      </p:sp>
    </p:spTree>
  </p:cSld>
  <p:clrMapOvr>
    <a:masterClrMapping/>
  </p:clrMapOvr>
  <p:transition advTm="1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69" name="Rectangle 1536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Understanding Ports</a:t>
            </a:r>
          </a:p>
        </p:txBody>
      </p:sp>
      <p:sp>
        <p:nvSpPr>
          <p:cNvPr id="1537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28650" y="1929384"/>
            <a:ext cx="78867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900"/>
              <a:t>Port is represented by a positive (16-bit) integer value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900"/>
              <a:t>Some ports have been reserved to support common/well known services: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900"/>
              <a:t>ftp    21/tcp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900"/>
              <a:t>telnet 23/tcp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900"/>
              <a:t>smtp 25/tcp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900"/>
              <a:t>login 513/tcp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900"/>
              <a:t>User level process/services generally use port number value &gt;= 1024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B040F5D-08A5-4006-B442-B518B6793F73}" type="slidenum">
              <a:rPr lang="en-US" alt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9</a:t>
            </a:fld>
            <a:endParaRPr lang="en-US" alt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p:transition advTm="1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9272" name="Rectangle 13927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Sockets</a:t>
            </a:r>
          </a:p>
        </p:txBody>
      </p:sp>
      <p:sp>
        <p:nvSpPr>
          <p:cNvPr id="13927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28650" y="1929384"/>
            <a:ext cx="78867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900"/>
              <a:t>Sockets provide an interface for programming networks at the transport layer.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900"/>
              <a:t>Network communication using Sockets is very much similar to performing file I/O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900"/>
              <a:t>In fact, socket handle is treated like file handle.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900"/>
              <a:t>The streams used in file I/O operation are also applicable to socket-based I/O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900"/>
              <a:t>Socket-based communication is programming language independent.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1900"/>
              <a:t>That means, a socket program written in Java language can also communicate to a program written in Java or non-Java socket program.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54A9A14A-682E-4D31-8DFD-E1FD996EA34C}" type="slidenum">
              <a:rPr lang="en-US" alt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pPr>
                <a:spcAft>
                  <a:spcPts val="600"/>
                </a:spcAft>
              </a:pPr>
              <a:t>10</a:t>
            </a:fld>
            <a:endParaRPr lang="en-US" alt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p:transition advTm="1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59BB3-7952-4CC9-88F2-797689AF68CF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 altLang="en-US"/>
              <a:t>Socket Communication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524000"/>
            <a:ext cx="7772400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altLang="en-US"/>
              <a:t>A server (program) runs on a specific computer and has a socket that is bound to a specific port. The server waits and listens to the socket for a client to make a connection request.</a:t>
            </a:r>
          </a:p>
        </p:txBody>
      </p:sp>
      <p:sp>
        <p:nvSpPr>
          <p:cNvPr id="17413" name="Text Box 4"/>
          <p:cNvSpPr txBox="1">
            <a:spLocks noChangeArrowheads="1"/>
          </p:cNvSpPr>
          <p:nvPr/>
        </p:nvSpPr>
        <p:spPr bwMode="auto">
          <a:xfrm>
            <a:off x="1371600" y="4241800"/>
            <a:ext cx="1066800" cy="1320800"/>
          </a:xfrm>
          <a:prstGeom prst="rect">
            <a:avLst/>
          </a:prstGeom>
          <a:solidFill>
            <a:srgbClr val="CCFFFF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endParaRPr lang="en-US" altLang="en-US" sz="2000" b="1"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 b="1">
                <a:latin typeface="Arial" panose="020B0604020202020204" pitchFamily="34" charset="0"/>
                <a:ea typeface="SimSun" panose="02010600030101010101" pitchFamily="2" charset="-122"/>
              </a:rPr>
              <a:t>server</a:t>
            </a:r>
          </a:p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endParaRPr lang="en-US" altLang="en-US" sz="2000" b="1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7086600" y="4851400"/>
            <a:ext cx="1219200" cy="406400"/>
          </a:xfrm>
          <a:prstGeom prst="rect">
            <a:avLst/>
          </a:prstGeom>
          <a:solidFill>
            <a:srgbClr val="FFFF99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 b="1">
                <a:latin typeface="Arial" panose="020B0604020202020204" pitchFamily="34" charset="0"/>
                <a:ea typeface="SimSun" panose="02010600030101010101" pitchFamily="2" charset="-122"/>
              </a:rPr>
              <a:t>Client</a:t>
            </a:r>
          </a:p>
        </p:txBody>
      </p:sp>
      <p:cxnSp>
        <p:nvCxnSpPr>
          <p:cNvPr id="17415" name="AutoShape 7"/>
          <p:cNvCxnSpPr>
            <a:cxnSpLocks noChangeShapeType="1"/>
            <a:stCxn id="17414" idx="1"/>
          </p:cNvCxnSpPr>
          <p:nvPr/>
        </p:nvCxnSpPr>
        <p:spPr bwMode="auto">
          <a:xfrm rot="10800000">
            <a:off x="5715000" y="4673600"/>
            <a:ext cx="1371600" cy="381000"/>
          </a:xfrm>
          <a:prstGeom prst="curvedConnector5">
            <a:avLst>
              <a:gd name="adj1" fmla="val 250000"/>
              <a:gd name="adj2" fmla="val 193333"/>
              <a:gd name="adj3" fmla="val -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</p:cxnSp>
      <p:sp>
        <p:nvSpPr>
          <p:cNvPr id="17416" name="Line 8"/>
          <p:cNvSpPr>
            <a:spLocks noChangeShapeType="1"/>
          </p:cNvSpPr>
          <p:nvPr/>
        </p:nvSpPr>
        <p:spPr bwMode="auto">
          <a:xfrm flipH="1" flipV="1">
            <a:off x="2895600" y="4876800"/>
            <a:ext cx="41910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4267200" y="4495800"/>
            <a:ext cx="2382838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Connection request</a:t>
            </a:r>
          </a:p>
        </p:txBody>
      </p:sp>
      <p:sp>
        <p:nvSpPr>
          <p:cNvPr id="17418" name="AutoShape 11"/>
          <p:cNvSpPr>
            <a:spLocks noChangeArrowheads="1"/>
          </p:cNvSpPr>
          <p:nvPr/>
        </p:nvSpPr>
        <p:spPr bwMode="auto">
          <a:xfrm rot="5400000">
            <a:off x="2059781" y="4645819"/>
            <a:ext cx="1214438" cy="457200"/>
          </a:xfrm>
          <a:custGeom>
            <a:avLst/>
            <a:gdLst>
              <a:gd name="T0" fmla="*/ 1062633 w 21600"/>
              <a:gd name="T1" fmla="*/ 228600 h 21600"/>
              <a:gd name="T2" fmla="*/ 607219 w 21600"/>
              <a:gd name="T3" fmla="*/ 457200 h 21600"/>
              <a:gd name="T4" fmla="*/ 151805 w 21600"/>
              <a:gd name="T5" fmla="*/ 228600 h 21600"/>
              <a:gd name="T6" fmla="*/ 607219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FFFF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port</a:t>
            </a:r>
          </a:p>
        </p:txBody>
      </p:sp>
    </p:spTree>
  </p:cSld>
  <p:clrMapOvr>
    <a:masterClrMapping/>
  </p:clrMapOvr>
  <p:transition advTm="1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D2E7-C439-462C-9EF0-67D7B590D5A4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r>
              <a:rPr lang="en-US" altLang="en-US"/>
              <a:t>Socket Communication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4478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If everything goes well, the server accepts the connection. Upon acceptance, the server gets a new socket bounds to a different port. It needs a new socket (consequently a different port number) so that it can continue to listen to the original socket for connection requests while serving the connected client.</a:t>
            </a:r>
          </a:p>
        </p:txBody>
      </p:sp>
      <p:sp>
        <p:nvSpPr>
          <p:cNvPr id="18437" name="Text Box 4"/>
          <p:cNvSpPr txBox="1">
            <a:spLocks noChangeArrowheads="1"/>
          </p:cNvSpPr>
          <p:nvPr/>
        </p:nvSpPr>
        <p:spPr bwMode="auto">
          <a:xfrm>
            <a:off x="1447800" y="4191000"/>
            <a:ext cx="1066800" cy="1320800"/>
          </a:xfrm>
          <a:prstGeom prst="rect">
            <a:avLst/>
          </a:prstGeom>
          <a:solidFill>
            <a:srgbClr val="CCFFFF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endParaRPr lang="en-US" altLang="en-US" sz="2000" b="1">
              <a:latin typeface="Arial" panose="020B0604020202020204" pitchFamily="34" charset="0"/>
              <a:ea typeface="SimSun" panose="02010600030101010101" pitchFamily="2" charset="-122"/>
            </a:endParaRPr>
          </a:p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 b="1">
                <a:latin typeface="Arial" panose="020B0604020202020204" pitchFamily="34" charset="0"/>
                <a:ea typeface="SimSun" panose="02010600030101010101" pitchFamily="2" charset="-122"/>
              </a:rPr>
              <a:t>server</a:t>
            </a:r>
          </a:p>
          <a:p>
            <a:pPr algn="just" eaLnBrk="1" hangingPunct="1">
              <a:spcBef>
                <a:spcPct val="5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endParaRPr lang="en-US" altLang="en-US" sz="2000" b="1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8438" name="Text Box 5"/>
          <p:cNvSpPr txBox="1">
            <a:spLocks noChangeArrowheads="1"/>
          </p:cNvSpPr>
          <p:nvPr/>
        </p:nvSpPr>
        <p:spPr bwMode="auto">
          <a:xfrm>
            <a:off x="7086600" y="5232400"/>
            <a:ext cx="1219200" cy="406400"/>
          </a:xfrm>
          <a:prstGeom prst="rect">
            <a:avLst/>
          </a:prstGeom>
          <a:solidFill>
            <a:srgbClr val="FFFF99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 b="1">
                <a:latin typeface="Arial" panose="020B0604020202020204" pitchFamily="34" charset="0"/>
                <a:ea typeface="SimSun" panose="02010600030101010101" pitchFamily="2" charset="-122"/>
              </a:rPr>
              <a:t>Client</a:t>
            </a:r>
          </a:p>
        </p:txBody>
      </p:sp>
      <p:cxnSp>
        <p:nvCxnSpPr>
          <p:cNvPr id="18439" name="AutoShape 6"/>
          <p:cNvCxnSpPr>
            <a:cxnSpLocks noChangeShapeType="1"/>
            <a:stCxn id="18438" idx="1"/>
          </p:cNvCxnSpPr>
          <p:nvPr/>
        </p:nvCxnSpPr>
        <p:spPr bwMode="auto">
          <a:xfrm rot="10800000">
            <a:off x="5715000" y="5054600"/>
            <a:ext cx="1371600" cy="381000"/>
          </a:xfrm>
          <a:prstGeom prst="curvedConnector5">
            <a:avLst>
              <a:gd name="adj1" fmla="val 250000"/>
              <a:gd name="adj2" fmla="val 193333"/>
              <a:gd name="adj3" fmla="val -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</p:cxn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3733800" y="5562600"/>
            <a:ext cx="146685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Connection</a:t>
            </a:r>
          </a:p>
        </p:txBody>
      </p:sp>
      <p:sp>
        <p:nvSpPr>
          <p:cNvPr id="18441" name="AutoShape 9"/>
          <p:cNvSpPr>
            <a:spLocks noChangeArrowheads="1"/>
          </p:cNvSpPr>
          <p:nvPr/>
        </p:nvSpPr>
        <p:spPr bwMode="auto">
          <a:xfrm rot="5400000">
            <a:off x="2135981" y="4595019"/>
            <a:ext cx="1214438" cy="457200"/>
          </a:xfrm>
          <a:custGeom>
            <a:avLst/>
            <a:gdLst>
              <a:gd name="T0" fmla="*/ 1062633 w 21600"/>
              <a:gd name="T1" fmla="*/ 228600 h 21600"/>
              <a:gd name="T2" fmla="*/ 607219 w 21600"/>
              <a:gd name="T3" fmla="*/ 457200 h 21600"/>
              <a:gd name="T4" fmla="*/ 151805 w 21600"/>
              <a:gd name="T5" fmla="*/ 228600 h 21600"/>
              <a:gd name="T6" fmla="*/ 607219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FFFF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port</a:t>
            </a:r>
          </a:p>
        </p:txBody>
      </p:sp>
      <p:sp>
        <p:nvSpPr>
          <p:cNvPr id="18442" name="Freeform 10"/>
          <p:cNvSpPr>
            <a:spLocks/>
          </p:cNvSpPr>
          <p:nvPr/>
        </p:nvSpPr>
        <p:spPr bwMode="auto">
          <a:xfrm>
            <a:off x="1981200" y="5486400"/>
            <a:ext cx="4572000" cy="927100"/>
          </a:xfrm>
          <a:custGeom>
            <a:avLst/>
            <a:gdLst>
              <a:gd name="T0" fmla="*/ 0 w 3216"/>
              <a:gd name="T1" fmla="*/ 384 h 728"/>
              <a:gd name="T2" fmla="*/ 480 w 3216"/>
              <a:gd name="T3" fmla="*/ 624 h 728"/>
              <a:gd name="T4" fmla="*/ 1632 w 3216"/>
              <a:gd name="T5" fmla="*/ 624 h 728"/>
              <a:gd name="T6" fmla="*/ 3216 w 3216"/>
              <a:gd name="T7" fmla="*/ 0 h 728"/>
              <a:gd name="T8" fmla="*/ 0 60000 65536"/>
              <a:gd name="T9" fmla="*/ 0 60000 65536"/>
              <a:gd name="T10" fmla="*/ 0 60000 65536"/>
              <a:gd name="T11" fmla="*/ 0 60000 65536"/>
              <a:gd name="T12" fmla="*/ 0 w 3216"/>
              <a:gd name="T13" fmla="*/ 0 h 728"/>
              <a:gd name="T14" fmla="*/ 3216 w 3216"/>
              <a:gd name="T15" fmla="*/ 728 h 7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216" h="728">
                <a:moveTo>
                  <a:pt x="0" y="384"/>
                </a:moveTo>
                <a:cubicBezTo>
                  <a:pt x="104" y="484"/>
                  <a:pt x="208" y="584"/>
                  <a:pt x="480" y="624"/>
                </a:cubicBezTo>
                <a:cubicBezTo>
                  <a:pt x="752" y="664"/>
                  <a:pt x="1176" y="728"/>
                  <a:pt x="1632" y="624"/>
                </a:cubicBezTo>
                <a:cubicBezTo>
                  <a:pt x="2088" y="520"/>
                  <a:pt x="2976" y="88"/>
                  <a:pt x="3216" y="0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488" tIns="44450" rIns="90488" bIns="44450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00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8443" name="AutoShape 11"/>
          <p:cNvSpPr>
            <a:spLocks noChangeArrowheads="1"/>
          </p:cNvSpPr>
          <p:nvPr/>
        </p:nvSpPr>
        <p:spPr bwMode="auto">
          <a:xfrm rot="10800000">
            <a:off x="1371600" y="5486400"/>
            <a:ext cx="1214438" cy="457200"/>
          </a:xfrm>
          <a:custGeom>
            <a:avLst/>
            <a:gdLst>
              <a:gd name="T0" fmla="*/ 1062633 w 21600"/>
              <a:gd name="T1" fmla="*/ 228600 h 21600"/>
              <a:gd name="T2" fmla="*/ 607219 w 21600"/>
              <a:gd name="T3" fmla="*/ 457200 h 21600"/>
              <a:gd name="T4" fmla="*/ 151805 w 21600"/>
              <a:gd name="T5" fmla="*/ 228600 h 21600"/>
              <a:gd name="T6" fmla="*/ 607219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FFFF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90488" tIns="44450" rIns="90488" bIns="44450" anchor="ctr"/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endParaRPr lang="en-GB" altLang="en-US" sz="200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8444" name="Text Box 12"/>
          <p:cNvSpPr txBox="1">
            <a:spLocks noChangeArrowheads="1"/>
          </p:cNvSpPr>
          <p:nvPr/>
        </p:nvSpPr>
        <p:spPr bwMode="auto">
          <a:xfrm>
            <a:off x="1674813" y="5487988"/>
            <a:ext cx="617537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port</a:t>
            </a:r>
          </a:p>
        </p:txBody>
      </p:sp>
      <p:sp>
        <p:nvSpPr>
          <p:cNvPr id="18445" name="AutoShape 13"/>
          <p:cNvSpPr>
            <a:spLocks noChangeArrowheads="1"/>
          </p:cNvSpPr>
          <p:nvPr/>
        </p:nvSpPr>
        <p:spPr bwMode="auto">
          <a:xfrm rot="-5400000">
            <a:off x="6438900" y="5219700"/>
            <a:ext cx="838200" cy="457200"/>
          </a:xfrm>
          <a:custGeom>
            <a:avLst/>
            <a:gdLst>
              <a:gd name="T0" fmla="*/ 733425 w 21600"/>
              <a:gd name="T1" fmla="*/ 228600 h 21600"/>
              <a:gd name="T2" fmla="*/ 419100 w 21600"/>
              <a:gd name="T3" fmla="*/ 457200 h 21600"/>
              <a:gd name="T4" fmla="*/ 104775 w 21600"/>
              <a:gd name="T5" fmla="*/ 228600 h 21600"/>
              <a:gd name="T6" fmla="*/ 41910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CCFFFF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port</a:t>
            </a:r>
          </a:p>
        </p:txBody>
      </p:sp>
    </p:spTree>
  </p:cSld>
  <p:clrMapOvr>
    <a:masterClrMapping/>
  </p:clrMapOvr>
  <p:transition advTm="1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A5FD7-0AC9-46BE-93F4-5E696AB55969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8839200" cy="533400"/>
          </a:xfrm>
        </p:spPr>
        <p:txBody>
          <a:bodyPr/>
          <a:lstStyle/>
          <a:p>
            <a:r>
              <a:rPr lang="en-US" altLang="en-US" sz="3200" b="1">
                <a:solidFill>
                  <a:schemeClr val="tx1"/>
                </a:solidFill>
              </a:rPr>
              <a:t>STREAM SOCKETS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762000"/>
            <a:ext cx="8915400" cy="5562600"/>
          </a:xfrm>
        </p:spPr>
        <p:txBody>
          <a:bodyPr/>
          <a:lstStyle/>
          <a:p>
            <a:pPr marL="609600" indent="-609600">
              <a:buClr>
                <a:srgbClr val="990099"/>
              </a:buClr>
              <a:buFont typeface="Wingdings" panose="05000000000000000000" pitchFamily="2" charset="2"/>
              <a:buChar char="q"/>
            </a:pPr>
            <a:r>
              <a:rPr lang="en-US" altLang="en-US" sz="1800"/>
              <a:t> Two classes are involed:</a:t>
            </a:r>
          </a:p>
          <a:p>
            <a:pPr marL="990600" lvl="1" indent="-533400">
              <a:buClr>
                <a:srgbClr val="990099"/>
              </a:buClr>
              <a:buFont typeface="Wingdings" panose="05000000000000000000" pitchFamily="2" charset="2"/>
              <a:buChar char="Ø"/>
            </a:pPr>
            <a:r>
              <a:rPr lang="en-US" altLang="en-US" sz="1600"/>
              <a:t> java.net.ServerSocket</a:t>
            </a:r>
          </a:p>
          <a:p>
            <a:pPr marL="990600" lvl="1" indent="-533400">
              <a:buClr>
                <a:srgbClr val="990099"/>
              </a:buClr>
              <a:buFont typeface="Wingdings" panose="05000000000000000000" pitchFamily="2" charset="2"/>
              <a:buChar char="Ø"/>
            </a:pPr>
            <a:r>
              <a:rPr lang="en-US" altLang="en-US" sz="1600"/>
              <a:t> java.net.Socket</a:t>
            </a:r>
          </a:p>
          <a:p>
            <a:pPr marL="609600" indent="-609600">
              <a:buClr>
                <a:srgbClr val="990099"/>
              </a:buClr>
              <a:buFont typeface="Wingdings" panose="05000000000000000000" pitchFamily="2" charset="2"/>
              <a:buChar char="q"/>
            </a:pPr>
            <a:r>
              <a:rPr lang="en-US" altLang="en-US" sz="1800"/>
              <a:t> Main steps:</a:t>
            </a:r>
          </a:p>
          <a:p>
            <a:pPr marL="990600" lvl="1" indent="-533400">
              <a:buClr>
                <a:srgbClr val="990099"/>
              </a:buClr>
              <a:buFont typeface="Wingdings" panose="05000000000000000000" pitchFamily="2" charset="2"/>
              <a:buAutoNum type="arabicPeriod"/>
            </a:pPr>
            <a:r>
              <a:rPr lang="en-US" altLang="en-US" sz="1600"/>
              <a:t> Establishing the connection</a:t>
            </a:r>
          </a:p>
          <a:p>
            <a:pPr marL="990600" lvl="1" indent="-533400">
              <a:buClr>
                <a:srgbClr val="990099"/>
              </a:buClr>
              <a:buFont typeface="Wingdings" panose="05000000000000000000" pitchFamily="2" charset="2"/>
              <a:buAutoNum type="arabicPeriod"/>
            </a:pPr>
            <a:r>
              <a:rPr lang="en-US" altLang="en-US" sz="1600"/>
              <a:t> Open streams for input/output</a:t>
            </a:r>
          </a:p>
          <a:p>
            <a:pPr marL="990600" lvl="1" indent="-533400">
              <a:buClr>
                <a:srgbClr val="990099"/>
              </a:buClr>
              <a:buFont typeface="Wingdings" panose="05000000000000000000" pitchFamily="2" charset="2"/>
              <a:buAutoNum type="arabicPeriod"/>
            </a:pPr>
            <a:r>
              <a:rPr lang="en-US" altLang="en-US" sz="1600"/>
              <a:t> Send/receive data                             </a:t>
            </a:r>
            <a:r>
              <a:rPr lang="en-US" altLang="en-US" sz="2000"/>
              <a:t>network</a:t>
            </a:r>
          </a:p>
          <a:p>
            <a:pPr marL="990600" lvl="1" indent="-533400">
              <a:buClr>
                <a:srgbClr val="990099"/>
              </a:buClr>
              <a:buFontTx/>
              <a:buNone/>
            </a:pPr>
            <a:r>
              <a:rPr lang="en-US" altLang="en-US" sz="2000"/>
              <a:t>                 Server                                                     Client</a:t>
            </a:r>
          </a:p>
          <a:p>
            <a:pPr marL="990600" lvl="1" indent="-533400">
              <a:buClr>
                <a:srgbClr val="990099"/>
              </a:buClr>
              <a:buFontTx/>
              <a:buNone/>
            </a:pPr>
            <a:r>
              <a:rPr lang="en-US" altLang="en-US" sz="1600"/>
              <a:t>                </a:t>
            </a:r>
          </a:p>
          <a:p>
            <a:pPr marL="990600" lvl="1" indent="-533400">
              <a:buClr>
                <a:srgbClr val="990099"/>
              </a:buClr>
              <a:buFontTx/>
              <a:buNone/>
            </a:pPr>
            <a:r>
              <a:rPr lang="en-US" altLang="en-US" sz="1600"/>
              <a:t>               </a:t>
            </a:r>
            <a:endParaRPr lang="en-US" altLang="en-US" sz="2000"/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1219200" y="3352800"/>
            <a:ext cx="2133600" cy="274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00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6172200" y="3352800"/>
            <a:ext cx="2286000" cy="274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00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9462" name="Line 6"/>
          <p:cNvSpPr>
            <a:spLocks noChangeShapeType="1"/>
          </p:cNvSpPr>
          <p:nvPr/>
        </p:nvSpPr>
        <p:spPr bwMode="auto">
          <a:xfrm>
            <a:off x="4953000" y="2895600"/>
            <a:ext cx="0" cy="3124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3" name="Oval 7"/>
          <p:cNvSpPr>
            <a:spLocks noChangeArrowheads="1"/>
          </p:cNvSpPr>
          <p:nvPr/>
        </p:nvSpPr>
        <p:spPr bwMode="auto">
          <a:xfrm>
            <a:off x="2971800" y="3505200"/>
            <a:ext cx="228600" cy="228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00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9464" name="Oval 10"/>
          <p:cNvSpPr>
            <a:spLocks noChangeArrowheads="1"/>
          </p:cNvSpPr>
          <p:nvPr/>
        </p:nvSpPr>
        <p:spPr bwMode="auto">
          <a:xfrm>
            <a:off x="2971800" y="4038600"/>
            <a:ext cx="228600" cy="228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00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9465" name="Oval 11"/>
          <p:cNvSpPr>
            <a:spLocks noChangeArrowheads="1"/>
          </p:cNvSpPr>
          <p:nvPr/>
        </p:nvSpPr>
        <p:spPr bwMode="auto">
          <a:xfrm>
            <a:off x="2971800" y="4648200"/>
            <a:ext cx="228600" cy="228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00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9466" name="Oval 12"/>
          <p:cNvSpPr>
            <a:spLocks noChangeArrowheads="1"/>
          </p:cNvSpPr>
          <p:nvPr/>
        </p:nvSpPr>
        <p:spPr bwMode="auto">
          <a:xfrm>
            <a:off x="2971800" y="5181600"/>
            <a:ext cx="228600" cy="228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00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9467" name="Oval 13"/>
          <p:cNvSpPr>
            <a:spLocks noChangeArrowheads="1"/>
          </p:cNvSpPr>
          <p:nvPr/>
        </p:nvSpPr>
        <p:spPr bwMode="auto">
          <a:xfrm>
            <a:off x="2971800" y="5715000"/>
            <a:ext cx="228600" cy="228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00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9468" name="Oval 14"/>
          <p:cNvSpPr>
            <a:spLocks noChangeArrowheads="1"/>
          </p:cNvSpPr>
          <p:nvPr/>
        </p:nvSpPr>
        <p:spPr bwMode="auto">
          <a:xfrm>
            <a:off x="6248400" y="3429000"/>
            <a:ext cx="228600" cy="228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00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9469" name="Oval 15"/>
          <p:cNvSpPr>
            <a:spLocks noChangeArrowheads="1"/>
          </p:cNvSpPr>
          <p:nvPr/>
        </p:nvSpPr>
        <p:spPr bwMode="auto">
          <a:xfrm>
            <a:off x="6248400" y="3886200"/>
            <a:ext cx="228600" cy="228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00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9470" name="Oval 16"/>
          <p:cNvSpPr>
            <a:spLocks noChangeArrowheads="1"/>
          </p:cNvSpPr>
          <p:nvPr/>
        </p:nvSpPr>
        <p:spPr bwMode="auto">
          <a:xfrm>
            <a:off x="6248400" y="4419600"/>
            <a:ext cx="228600" cy="228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00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9471" name="Oval 17"/>
          <p:cNvSpPr>
            <a:spLocks noChangeArrowheads="1"/>
          </p:cNvSpPr>
          <p:nvPr/>
        </p:nvSpPr>
        <p:spPr bwMode="auto">
          <a:xfrm>
            <a:off x="6248400" y="4953000"/>
            <a:ext cx="228600" cy="228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00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9472" name="Oval 18"/>
          <p:cNvSpPr>
            <a:spLocks noChangeArrowheads="1"/>
          </p:cNvSpPr>
          <p:nvPr/>
        </p:nvSpPr>
        <p:spPr bwMode="auto">
          <a:xfrm>
            <a:off x="6248400" y="5638800"/>
            <a:ext cx="228600" cy="228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00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9473" name="Line 19"/>
          <p:cNvSpPr>
            <a:spLocks noChangeShapeType="1"/>
          </p:cNvSpPr>
          <p:nvPr/>
        </p:nvSpPr>
        <p:spPr bwMode="auto">
          <a:xfrm flipH="1" flipV="1">
            <a:off x="3429000" y="3733800"/>
            <a:ext cx="2590800" cy="609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4" name="Arc 21"/>
          <p:cNvSpPr>
            <a:spLocks/>
          </p:cNvSpPr>
          <p:nvPr/>
        </p:nvSpPr>
        <p:spPr bwMode="auto">
          <a:xfrm>
            <a:off x="3316288" y="4351338"/>
            <a:ext cx="346075" cy="1520825"/>
          </a:xfrm>
          <a:custGeom>
            <a:avLst/>
            <a:gdLst>
              <a:gd name="T0" fmla="*/ 0 w 28886"/>
              <a:gd name="T1" fmla="*/ 44569 h 43200"/>
              <a:gd name="T2" fmla="*/ 51002 w 28886"/>
              <a:gd name="T3" fmla="*/ 1513326 h 43200"/>
              <a:gd name="T4" fmla="*/ 87292 w 28886"/>
              <a:gd name="T5" fmla="*/ 760413 h 43200"/>
              <a:gd name="T6" fmla="*/ 0 60000 65536"/>
              <a:gd name="T7" fmla="*/ 0 60000 65536"/>
              <a:gd name="T8" fmla="*/ 0 60000 65536"/>
              <a:gd name="T9" fmla="*/ 0 w 28886"/>
              <a:gd name="T10" fmla="*/ 0 h 43200"/>
              <a:gd name="T11" fmla="*/ 28886 w 28886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886" h="43200" fill="none" extrusionOk="0">
                <a:moveTo>
                  <a:pt x="-1" y="1265"/>
                </a:moveTo>
                <a:cubicBezTo>
                  <a:pt x="2337" y="428"/>
                  <a:pt x="4802" y="-1"/>
                  <a:pt x="7286" y="0"/>
                </a:cubicBezTo>
                <a:cubicBezTo>
                  <a:pt x="19215" y="0"/>
                  <a:pt x="28886" y="9670"/>
                  <a:pt x="28886" y="21600"/>
                </a:cubicBezTo>
                <a:cubicBezTo>
                  <a:pt x="28886" y="33529"/>
                  <a:pt x="19215" y="43200"/>
                  <a:pt x="7286" y="43200"/>
                </a:cubicBezTo>
                <a:cubicBezTo>
                  <a:pt x="6272" y="43200"/>
                  <a:pt x="5260" y="43128"/>
                  <a:pt x="4257" y="42986"/>
                </a:cubicBezTo>
              </a:path>
              <a:path w="28886" h="43200" stroke="0" extrusionOk="0">
                <a:moveTo>
                  <a:pt x="-1" y="1265"/>
                </a:moveTo>
                <a:cubicBezTo>
                  <a:pt x="2337" y="428"/>
                  <a:pt x="4802" y="-1"/>
                  <a:pt x="7286" y="0"/>
                </a:cubicBezTo>
                <a:cubicBezTo>
                  <a:pt x="19215" y="0"/>
                  <a:pt x="28886" y="9670"/>
                  <a:pt x="28886" y="21600"/>
                </a:cubicBezTo>
                <a:cubicBezTo>
                  <a:pt x="28886" y="33529"/>
                  <a:pt x="19215" y="43200"/>
                  <a:pt x="7286" y="43200"/>
                </a:cubicBezTo>
                <a:cubicBezTo>
                  <a:pt x="6272" y="43200"/>
                  <a:pt x="5260" y="43128"/>
                  <a:pt x="4257" y="42986"/>
                </a:cubicBezTo>
                <a:lnTo>
                  <a:pt x="7286" y="21600"/>
                </a:lnTo>
                <a:close/>
              </a:path>
            </a:pathLst>
          </a:cu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</a:pPr>
            <a:endParaRPr lang="en-US" altLang="en-US" sz="200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9475" name="Line 23"/>
          <p:cNvSpPr>
            <a:spLocks noChangeShapeType="1"/>
          </p:cNvSpPr>
          <p:nvPr/>
        </p:nvSpPr>
        <p:spPr bwMode="auto">
          <a:xfrm flipV="1">
            <a:off x="3276600" y="4572000"/>
            <a:ext cx="28194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6" name="Line 24"/>
          <p:cNvSpPr>
            <a:spLocks noChangeShapeType="1"/>
          </p:cNvSpPr>
          <p:nvPr/>
        </p:nvSpPr>
        <p:spPr bwMode="auto">
          <a:xfrm>
            <a:off x="2514600" y="51816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7" name="Line 25"/>
          <p:cNvSpPr>
            <a:spLocks noChangeShapeType="1"/>
          </p:cNvSpPr>
          <p:nvPr/>
        </p:nvSpPr>
        <p:spPr bwMode="auto">
          <a:xfrm flipH="1">
            <a:off x="2514600" y="54864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78" name="Text Box 26"/>
          <p:cNvSpPr txBox="1">
            <a:spLocks noChangeArrowheads="1"/>
          </p:cNvSpPr>
          <p:nvPr/>
        </p:nvSpPr>
        <p:spPr bwMode="auto">
          <a:xfrm>
            <a:off x="1295400" y="3497263"/>
            <a:ext cx="1524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>
                <a:latin typeface="Arial" panose="020B0604020202020204" pitchFamily="34" charset="0"/>
                <a:ea typeface="SimSun" panose="02010600030101010101" pitchFamily="2" charset="-122"/>
              </a:rPr>
              <a:t>Server socket</a:t>
            </a:r>
          </a:p>
        </p:txBody>
      </p:sp>
      <p:sp>
        <p:nvSpPr>
          <p:cNvPr id="19479" name="Text Box 27"/>
          <p:cNvSpPr txBox="1">
            <a:spLocks noChangeArrowheads="1"/>
          </p:cNvSpPr>
          <p:nvPr/>
        </p:nvSpPr>
        <p:spPr bwMode="auto">
          <a:xfrm>
            <a:off x="1295400" y="3810000"/>
            <a:ext cx="14478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>
                <a:latin typeface="Arial" panose="020B0604020202020204" pitchFamily="34" charset="0"/>
                <a:ea typeface="SimSun" panose="02010600030101010101" pitchFamily="2" charset="-122"/>
              </a:rPr>
              <a:t>          4455</a:t>
            </a:r>
          </a:p>
        </p:txBody>
      </p:sp>
      <p:sp>
        <p:nvSpPr>
          <p:cNvPr id="19480" name="Text Box 28"/>
          <p:cNvSpPr txBox="1">
            <a:spLocks noChangeArrowheads="1"/>
          </p:cNvSpPr>
          <p:nvPr/>
        </p:nvSpPr>
        <p:spPr bwMode="auto">
          <a:xfrm>
            <a:off x="1295400" y="50292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800">
                <a:latin typeface="Arial" panose="020B0604020202020204" pitchFamily="34" charset="0"/>
                <a:ea typeface="SimSun" panose="02010600030101010101" pitchFamily="2" charset="-122"/>
              </a:rPr>
              <a:t>output</a:t>
            </a:r>
          </a:p>
        </p:txBody>
      </p:sp>
      <p:sp>
        <p:nvSpPr>
          <p:cNvPr id="19481" name="Text Box 29"/>
          <p:cNvSpPr txBox="1">
            <a:spLocks noChangeArrowheads="1"/>
          </p:cNvSpPr>
          <p:nvPr/>
        </p:nvSpPr>
        <p:spPr bwMode="auto">
          <a:xfrm>
            <a:off x="1371600" y="5638800"/>
            <a:ext cx="114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2000">
                <a:latin typeface="Arial" panose="020B0604020202020204" pitchFamily="34" charset="0"/>
                <a:ea typeface="SimSun" panose="02010600030101010101" pitchFamily="2" charset="-122"/>
              </a:rPr>
              <a:t>input</a:t>
            </a:r>
          </a:p>
        </p:txBody>
      </p:sp>
      <p:sp>
        <p:nvSpPr>
          <p:cNvPr id="19482" name="Line 30"/>
          <p:cNvSpPr>
            <a:spLocks noChangeShapeType="1"/>
          </p:cNvSpPr>
          <p:nvPr/>
        </p:nvSpPr>
        <p:spPr bwMode="auto">
          <a:xfrm flipH="1">
            <a:off x="6781800" y="4419600"/>
            <a:ext cx="609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3" name="Line 31"/>
          <p:cNvSpPr>
            <a:spLocks noChangeShapeType="1"/>
          </p:cNvSpPr>
          <p:nvPr/>
        </p:nvSpPr>
        <p:spPr bwMode="auto">
          <a:xfrm>
            <a:off x="6705600" y="46482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4" name="Text Box 32"/>
          <p:cNvSpPr txBox="1">
            <a:spLocks noChangeArrowheads="1"/>
          </p:cNvSpPr>
          <p:nvPr/>
        </p:nvSpPr>
        <p:spPr bwMode="auto">
          <a:xfrm>
            <a:off x="7467600" y="4343400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800">
                <a:latin typeface="Arial" panose="020B0604020202020204" pitchFamily="34" charset="0"/>
                <a:ea typeface="SimSun" panose="02010600030101010101" pitchFamily="2" charset="-122"/>
              </a:rPr>
              <a:t>output</a:t>
            </a:r>
          </a:p>
        </p:txBody>
      </p:sp>
      <p:sp>
        <p:nvSpPr>
          <p:cNvPr id="19485" name="Text Box 33"/>
          <p:cNvSpPr txBox="1">
            <a:spLocks noChangeArrowheads="1"/>
          </p:cNvSpPr>
          <p:nvPr/>
        </p:nvSpPr>
        <p:spPr bwMode="auto">
          <a:xfrm>
            <a:off x="7391400" y="5029200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800">
                <a:latin typeface="Arial" panose="020B0604020202020204" pitchFamily="34" charset="0"/>
                <a:ea typeface="SimSun" panose="02010600030101010101" pitchFamily="2" charset="-122"/>
              </a:rPr>
              <a:t>input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A52E2-DE61-47C4-90CF-1E0C92A1F3BF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924800" cy="685800"/>
          </a:xfrm>
        </p:spPr>
        <p:txBody>
          <a:bodyPr/>
          <a:lstStyle/>
          <a:p>
            <a:r>
              <a:rPr lang="en-US" altLang="en-US"/>
              <a:t>Implementing a Server</a:t>
            </a:r>
          </a:p>
        </p:txBody>
      </p:sp>
      <p:sp>
        <p:nvSpPr>
          <p:cNvPr id="65545" name="Rectangle 9"/>
          <p:cNvSpPr>
            <a:spLocks noChangeArrowheads="1"/>
          </p:cNvSpPr>
          <p:nvPr/>
        </p:nvSpPr>
        <p:spPr bwMode="auto">
          <a:xfrm>
            <a:off x="762000" y="914400"/>
            <a:ext cx="7967663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>
                <a:ea typeface="SimSun" panose="02010600030101010101" pitchFamily="2" charset="-122"/>
              </a:rPr>
              <a:t>1. Open the Server Socket: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	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ServerSocket</a:t>
            </a: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server;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DataOutputStream os;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DataInputStream is;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server = new ServerSocket( PORT 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>
                <a:ea typeface="SimSun" panose="02010600030101010101" pitchFamily="2" charset="-122"/>
              </a:rPr>
              <a:t>2. Wait for the Client Request: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	</a:t>
            </a:r>
            <a:r>
              <a:rPr lang="en-US" altLang="en-US" sz="1600">
                <a:solidFill>
                  <a:srgbClr val="FF0000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Socket</a:t>
            </a: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client = server.accept();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>
                <a:ea typeface="SimSun" panose="02010600030101010101" pitchFamily="2" charset="-122"/>
              </a:rPr>
              <a:t>3. Create I/O streams for communicating to the client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	is = new DataInputStream( client.getInputStream() 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os = new DataOutputStream( client.getOutputStream() 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>
                <a:ea typeface="SimSun" panose="02010600030101010101" pitchFamily="2" charset="-122"/>
              </a:rPr>
              <a:t>4. Perform communication with client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   </a:t>
            </a:r>
            <a:r>
              <a:rPr lang="en-US" altLang="en-US" sz="1600">
                <a:latin typeface="Courier New" panose="02070309020205020404" pitchFamily="49" charset="0"/>
                <a:ea typeface="SimSun" panose="02010600030101010101" pitchFamily="2" charset="-122"/>
              </a:rPr>
              <a:t>Receive from client: </a:t>
            </a: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String line = is.readLine();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	</a:t>
            </a:r>
            <a:r>
              <a:rPr lang="en-US" altLang="en-US" sz="1600">
                <a:latin typeface="Courier New" panose="02070309020205020404" pitchFamily="49" charset="0"/>
                <a:ea typeface="SimSun" panose="02010600030101010101" pitchFamily="2" charset="-122"/>
              </a:rPr>
              <a:t>Send to client: </a:t>
            </a: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SimSun" panose="02010600030101010101" pitchFamily="2" charset="-122"/>
              </a:rPr>
              <a:t>os.writeBytes("Hello\n");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1600">
                <a:ea typeface="SimSun" panose="02010600030101010101" pitchFamily="2" charset="-122"/>
              </a:rPr>
              <a:t>5. Close sockets:</a:t>
            </a:r>
            <a:r>
              <a:rPr lang="en-US" altLang="en-US" sz="1600">
                <a:solidFill>
                  <a:srgbClr val="0000FF"/>
                </a:solidFill>
                <a:ea typeface="SimSun" panose="02010600030101010101" pitchFamily="2" charset="-122"/>
              </a:rPr>
              <a:t>    client.close();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5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BB414-9B59-444F-B90F-EC508032C0AC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76200"/>
            <a:ext cx="7772400" cy="1143000"/>
          </a:xfrm>
          <a:noFill/>
        </p:spPr>
        <p:txBody>
          <a:bodyPr lIns="90488" tIns="44450" rIns="90488" bIns="44450"/>
          <a:lstStyle/>
          <a:p>
            <a:pPr>
              <a:lnSpc>
                <a:spcPct val="90000"/>
              </a:lnSpc>
            </a:pPr>
            <a:r>
              <a:rPr lang="en-US" altLang="en-US" sz="4000"/>
              <a:t>Implementing a Client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19200"/>
            <a:ext cx="7772400" cy="4114800"/>
          </a:xfrm>
          <a:noFill/>
        </p:spPr>
        <p:txBody>
          <a:bodyPr lIns="90488" tIns="44450" rIns="90488" bIns="44450"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2000"/>
              <a:t>1. Create a Socket Object: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	client = new Socket( server, port_id 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/>
              <a:t>2. Create I/O streams for communicating with the server.</a:t>
            </a:r>
            <a:endParaRPr lang="en-US" altLang="en-US" sz="200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	</a:t>
            </a:r>
            <a:r>
              <a:rPr lang="en-US" altLang="en-US" sz="1600">
                <a:latin typeface="Courier New" panose="02070309020205020404" pitchFamily="49" charset="0"/>
              </a:rPr>
              <a:t>is = new DataInputStream(client.getInputStream() 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latin typeface="Courier New" panose="02070309020205020404" pitchFamily="49" charset="0"/>
              </a:rPr>
              <a:t>   os = new DataOutputStream( client.getOutputStream() 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/>
              <a:t>3. Perform I/O or communication with the server:</a:t>
            </a:r>
          </a:p>
          <a:p>
            <a:pPr lvl="1">
              <a:lnSpc>
                <a:spcPct val="80000"/>
              </a:lnSpc>
            </a:pPr>
            <a:r>
              <a:rPr lang="en-US" altLang="en-US" sz="1800">
                <a:latin typeface="Courier New" panose="02070309020205020404" pitchFamily="49" charset="0"/>
              </a:rPr>
              <a:t>Receive data from the server: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		String line = is.readLine(); </a:t>
            </a:r>
          </a:p>
          <a:p>
            <a:pPr lvl="1">
              <a:lnSpc>
                <a:spcPct val="80000"/>
              </a:lnSpc>
            </a:pPr>
            <a:r>
              <a:rPr lang="en-US" altLang="en-US" sz="1800">
                <a:latin typeface="Courier New" panose="02070309020205020404" pitchFamily="49" charset="0"/>
              </a:rPr>
              <a:t>Send data to the server: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		os.writeBytes("Hello\n");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/>
              <a:t>4. Close the socket when done: 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	client.close();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00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F76F6-96E8-4AAC-90C1-7FB7D85CF2B3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24579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/>
              <a:t>A simple server (simplified code) </a:t>
            </a:r>
          </a:p>
        </p:txBody>
      </p:sp>
      <p:sp>
        <p:nvSpPr>
          <p:cNvPr id="24580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import java.net.*;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import java.io.*;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en-US" sz="16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public class SimpleServer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public static void main(String args[]) throws IOException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  ServerSocket s = new ServerSocket(1234);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  Socket s1=s.accept();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600" b="1">
                <a:solidFill>
                  <a:schemeClr val="hlink"/>
                </a:solidFill>
                <a:latin typeface="Courier New" panose="02070309020205020404" pitchFamily="49" charset="0"/>
              </a:rPr>
              <a:t>	 </a:t>
            </a:r>
            <a:r>
              <a:rPr lang="en-US" altLang="en-US" sz="1600" b="1">
                <a:latin typeface="Courier New" panose="02070309020205020404" pitchFamily="49" charset="0"/>
              </a:rPr>
              <a:t>DataOutputStream os;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600" b="1">
                <a:solidFill>
                  <a:schemeClr val="hlink"/>
                </a:solidFill>
                <a:latin typeface="Courier New" panose="02070309020205020404" pitchFamily="49" charset="0"/>
              </a:rPr>
              <a:t>	 </a:t>
            </a:r>
            <a:r>
              <a:rPr lang="en-US" altLang="en-US" sz="1600" b="1">
                <a:latin typeface="Courier New" panose="02070309020205020404" pitchFamily="49" charset="0"/>
              </a:rPr>
              <a:t>os = new DataOutputStream(s1.getOutputStream());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 os.writeBytes("Hello from Server\n")</a:t>
            </a:r>
            <a:endParaRPr lang="en-US" altLang="en-US" sz="1600" b="1">
              <a:solidFill>
                <a:schemeClr val="hlink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  os.close(); 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  s1.close();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ransition>
    <p:spli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4EF36-34F3-4C7A-8C15-5AD3F49DE74F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25603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r>
              <a:rPr lang="en-US" altLang="en-US"/>
              <a:t>A simple client (simplified code) </a:t>
            </a:r>
          </a:p>
        </p:txBody>
      </p:sp>
      <p:sp>
        <p:nvSpPr>
          <p:cNvPr id="25604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219200"/>
            <a:ext cx="7772400" cy="4876800"/>
          </a:xfrm>
        </p:spPr>
        <p:txBody>
          <a:bodyPr/>
          <a:lstStyle/>
          <a:p>
            <a:pPr>
              <a:buFontTx/>
              <a:buNone/>
            </a:pPr>
            <a:endParaRPr lang="en-US" altLang="en-US" sz="1600" b="1"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import java.net.*;</a:t>
            </a:r>
          </a:p>
          <a:p>
            <a:pPr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import java.io.*;</a:t>
            </a:r>
          </a:p>
          <a:p>
            <a:pPr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public class SimpleClient {</a:t>
            </a:r>
          </a:p>
          <a:p>
            <a:pPr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public static void main(String args[]) throws IOException {</a:t>
            </a:r>
          </a:p>
          <a:p>
            <a:pPr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  Socket s1 = new Socket(“127.0.0.1",1234);</a:t>
            </a:r>
          </a:p>
          <a:p>
            <a:pPr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  DataInputStream is;</a:t>
            </a:r>
          </a:p>
          <a:p>
            <a:pPr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 is = new DataInputStream(s1.getInputStream() );</a:t>
            </a:r>
          </a:p>
          <a:p>
            <a:pPr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 String line = is.readLine();</a:t>
            </a:r>
          </a:p>
          <a:p>
            <a:pPr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  System.out.println(line);</a:t>
            </a:r>
          </a:p>
          <a:p>
            <a:pPr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  is.close();</a:t>
            </a:r>
          </a:p>
          <a:p>
            <a:pPr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 s1.close();</a:t>
            </a:r>
          </a:p>
          <a:p>
            <a:pPr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  }</a:t>
            </a:r>
          </a:p>
          <a:p>
            <a:pPr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altLang="en-US" sz="2000"/>
          </a:p>
        </p:txBody>
      </p:sp>
    </p:spTree>
  </p:cSld>
  <p:clrMapOvr>
    <a:masterClrMapping/>
  </p:clrMapOvr>
  <p:transition>
    <p:spli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0EF66-9338-485F-84C9-B6EA1B17A0C3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en-US"/>
              <a:t>Chapter 20 of your Text 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1032</Words>
  <Application>Microsoft Macintosh PowerPoint</Application>
  <PresentationFormat>On-screen Show (4:3)</PresentationFormat>
  <Paragraphs>218</Paragraphs>
  <Slides>18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SimSun</vt:lpstr>
      <vt:lpstr>Arial</vt:lpstr>
      <vt:lpstr>Courier New</vt:lpstr>
      <vt:lpstr>Symbol</vt:lpstr>
      <vt:lpstr>Tahoma</vt:lpstr>
      <vt:lpstr>Times</vt:lpstr>
      <vt:lpstr>Times New Roman</vt:lpstr>
      <vt:lpstr>Wingdings</vt:lpstr>
      <vt:lpstr>Default Design</vt:lpstr>
      <vt:lpstr>Microsoft ClipArt Gallery</vt:lpstr>
      <vt:lpstr>Lecture 15</vt:lpstr>
      <vt:lpstr>Element of Client-Server Programming</vt:lpstr>
      <vt:lpstr>Client Server Model</vt:lpstr>
      <vt:lpstr>Client Programming</vt:lpstr>
      <vt:lpstr>Server Programming</vt:lpstr>
      <vt:lpstr>Networking in Java</vt:lpstr>
      <vt:lpstr>Networking Basics</vt:lpstr>
      <vt:lpstr>Understanding Ports</vt:lpstr>
      <vt:lpstr>Understanding Ports</vt:lpstr>
      <vt:lpstr>Sockets</vt:lpstr>
      <vt:lpstr>Socket Communication</vt:lpstr>
      <vt:lpstr>Socket Communication</vt:lpstr>
      <vt:lpstr>STREAM SOCKETS</vt:lpstr>
      <vt:lpstr>Implementing a Server</vt:lpstr>
      <vt:lpstr>Implementing a Client</vt:lpstr>
      <vt:lpstr>A simple server (simplified code) </vt:lpstr>
      <vt:lpstr>A simple client (simplified code)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Shiplu Hawlader</dc:creator>
  <cp:lastModifiedBy>Fahim Arefin</cp:lastModifiedBy>
  <cp:revision>44</cp:revision>
  <dcterms:created xsi:type="dcterms:W3CDTF">1601-01-01T00:00:00Z</dcterms:created>
  <dcterms:modified xsi:type="dcterms:W3CDTF">2025-11-08T20:22:57Z</dcterms:modified>
</cp:coreProperties>
</file>