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jvzExcdUGfFjgQssDAch1/INKV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53"/>
  </p:normalViewPr>
  <p:slideViewPr>
    <p:cSldViewPr snapToGrid="0">
      <p:cViewPr varScale="1">
        <p:scale>
          <a:sx n="113" d="100"/>
          <a:sy n="113" d="100"/>
        </p:scale>
        <p:origin x="172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2" name="Google Shape;42;p3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43" name="Google Shape;43;p3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5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5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35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5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3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7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63" name="Google Shape;63;p3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8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70" name="Google Shape;70;p3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76" name="Google Shape;76;p3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82" name="Google Shape;82;p4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Times New Roman"/>
                <a:ea typeface="Times New Roman"/>
                <a:cs typeface="Times New Roman"/>
                <a:sym typeface="Times New Roman"/>
              </a:rPr>
              <a:t>Lecture 6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US" sz="6000" b="1">
                <a:latin typeface="Times New Roman"/>
                <a:ea typeface="Times New Roman"/>
                <a:cs typeface="Times New Roman"/>
                <a:sym typeface="Times New Roman"/>
              </a:rPr>
              <a:t>Inheritance</a:t>
            </a:r>
            <a:endParaRPr sz="6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Inheritance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381000" y="838200"/>
            <a:ext cx="86106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It allows a software developer to derive a new class from an existing one</a:t>
            </a:r>
            <a:endParaRPr dirty="0"/>
          </a:p>
          <a:p>
            <a:pPr marL="342900" lvl="0" indent="-3429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The existing class is called the 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superclass</a:t>
            </a:r>
            <a:endParaRPr dirty="0"/>
          </a:p>
          <a:p>
            <a:pPr marL="342900" lvl="0" indent="-3429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The derived class is called the 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subclass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lvl="0" indent="-3429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The superclass contains the generalized properties.</a:t>
            </a:r>
            <a:endParaRPr dirty="0"/>
          </a:p>
          <a:p>
            <a:pPr marL="342900" lvl="0" indent="-3429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The subclass is a more specific version of the original</a:t>
            </a:r>
            <a:endParaRPr dirty="0"/>
          </a:p>
          <a:p>
            <a:pPr marL="342900" lvl="0" indent="-34290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7" name="Google Shape;97;p2"/>
          <p:cNvGrpSpPr/>
          <p:nvPr/>
        </p:nvGrpSpPr>
        <p:grpSpPr>
          <a:xfrm>
            <a:off x="4191000" y="3568700"/>
            <a:ext cx="4121150" cy="2603500"/>
            <a:chOff x="1471" y="1776"/>
            <a:chExt cx="2596" cy="1640"/>
          </a:xfrm>
        </p:grpSpPr>
        <p:sp>
          <p:nvSpPr>
            <p:cNvPr id="98" name="Google Shape;98;p2"/>
            <p:cNvSpPr/>
            <p:nvPr/>
          </p:nvSpPr>
          <p:spPr>
            <a:xfrm>
              <a:off x="2197" y="1776"/>
              <a:ext cx="562" cy="296"/>
            </a:xfrm>
            <a:prstGeom prst="rect">
              <a:avLst/>
            </a:prstGeom>
            <a:solidFill>
              <a:srgbClr val="F8F8F8"/>
            </a:solidFill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Book</a:t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2592" y="2400"/>
              <a:ext cx="864" cy="296"/>
            </a:xfrm>
            <a:prstGeom prst="rect">
              <a:avLst/>
            </a:prstGeom>
            <a:solidFill>
              <a:srgbClr val="F8F8F8"/>
            </a:solidFill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Novel</a:t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471" y="2400"/>
              <a:ext cx="979" cy="296"/>
            </a:xfrm>
            <a:prstGeom prst="rect">
              <a:avLst/>
            </a:prstGeom>
            <a:solidFill>
              <a:srgbClr val="F8F8F8"/>
            </a:solidFill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Dictionary</a:t>
              </a:r>
              <a:endParaRPr dirty="0"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064" y="3120"/>
              <a:ext cx="796" cy="296"/>
            </a:xfrm>
            <a:prstGeom prst="rect">
              <a:avLst/>
            </a:prstGeom>
            <a:solidFill>
              <a:srgbClr val="F8F8F8"/>
            </a:solidFill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Mystery</a:t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3120" y="3120"/>
              <a:ext cx="947" cy="296"/>
            </a:xfrm>
            <a:prstGeom prst="rect">
              <a:avLst/>
            </a:prstGeom>
            <a:solidFill>
              <a:srgbClr val="F8F8F8"/>
            </a:solidFill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Romance</a:t>
              </a:r>
              <a:endParaRPr/>
            </a:p>
          </p:txBody>
        </p:sp>
      </p:grpSp>
      <p:sp>
        <p:nvSpPr>
          <p:cNvPr id="108" name="Google Shape;108;p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F7CC0AE-0613-D030-17F8-3535448160B0}"/>
              </a:ext>
            </a:extLst>
          </p:cNvPr>
          <p:cNvCxnSpPr>
            <a:stCxn id="98" idx="2"/>
            <a:endCxn id="100" idx="0"/>
          </p:cNvCxnSpPr>
          <p:nvPr/>
        </p:nvCxnSpPr>
        <p:spPr>
          <a:xfrm flipH="1">
            <a:off x="4968082" y="4038600"/>
            <a:ext cx="821531" cy="520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8E87EB-5F19-B678-FA12-AF1C6D21AF62}"/>
              </a:ext>
            </a:extLst>
          </p:cNvPr>
          <p:cNvCxnSpPr>
            <a:stCxn id="98" idx="2"/>
            <a:endCxn id="99" idx="0"/>
          </p:cNvCxnSpPr>
          <p:nvPr/>
        </p:nvCxnSpPr>
        <p:spPr>
          <a:xfrm>
            <a:off x="5789613" y="4038600"/>
            <a:ext cx="866775" cy="520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EF6B8E0-5756-8E19-809B-FDBEFED035A4}"/>
              </a:ext>
            </a:extLst>
          </p:cNvPr>
          <p:cNvCxnSpPr>
            <a:stCxn id="99" idx="2"/>
            <a:endCxn id="101" idx="0"/>
          </p:cNvCxnSpPr>
          <p:nvPr/>
        </p:nvCxnSpPr>
        <p:spPr>
          <a:xfrm flipH="1">
            <a:off x="5764213" y="5029200"/>
            <a:ext cx="892175" cy="673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8181C2-616D-1C97-3C4B-E7266542EC44}"/>
              </a:ext>
            </a:extLst>
          </p:cNvPr>
          <p:cNvCxnSpPr>
            <a:stCxn id="99" idx="2"/>
            <a:endCxn id="102" idx="0"/>
          </p:cNvCxnSpPr>
          <p:nvPr/>
        </p:nvCxnSpPr>
        <p:spPr>
          <a:xfrm>
            <a:off x="6656388" y="5029200"/>
            <a:ext cx="904082" cy="673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Inheritance</a:t>
            </a:r>
            <a:endParaRPr/>
          </a:p>
        </p:txBody>
      </p:sp>
      <p:sp>
        <p:nvSpPr>
          <p:cNvPr id="114" name="Google Shape;114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child class inherits the methods and data defined for the parent class </a:t>
            </a:r>
            <a:endParaRPr/>
          </a:p>
          <a:p>
            <a:pPr marL="342900" lvl="0" indent="-342900" algn="l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tailor a derived class, the programmer can add new variables or methods, or can modify the inherited ones</a:t>
            </a:r>
            <a:endParaRPr/>
          </a:p>
          <a:p>
            <a:pPr marL="342900" lvl="0" indent="-342900" algn="l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Software reuse is at the heart of inheritance.</a:t>
            </a:r>
            <a:endParaRPr/>
          </a:p>
          <a:p>
            <a:pPr marL="342900" lvl="0" indent="-342900" algn="l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Allows the creation of hierarchical classification.</a:t>
            </a:r>
            <a:endParaRPr/>
          </a:p>
          <a:p>
            <a:pPr marL="342900" lvl="0" indent="-342900" algn="l" rtl="0">
              <a:spcBef>
                <a:spcPts val="19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Deriving Subclasses</a:t>
            </a:r>
            <a:endParaRPr/>
          </a:p>
        </p:txBody>
      </p:sp>
      <p:sp>
        <p:nvSpPr>
          <p:cNvPr id="122" name="Google Shape;122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119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 Java, we use the reserved word </a:t>
            </a:r>
            <a:r>
              <a:rPr lang="en-US" sz="28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to establish an inheritance relationship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81000" y="2819400"/>
            <a:ext cx="7848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Dictionary extends Book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// class contents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153400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Example-Inheritance</a:t>
            </a:r>
            <a:endParaRPr/>
          </a:p>
        </p:txBody>
      </p:sp>
      <p:sp>
        <p:nvSpPr>
          <p:cNvPr id="131" name="Google Shape;131;p5"/>
          <p:cNvSpPr txBox="1"/>
          <p:nvPr/>
        </p:nvSpPr>
        <p:spPr>
          <a:xfrm>
            <a:off x="457200" y="682625"/>
            <a:ext cx="7696200" cy="160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Book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public int page;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void msg()  {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(“Number of pages: ” + page);  }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457200" y="2133600"/>
            <a:ext cx="8686800" cy="1465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Dictionary extends Book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	private int def = 52500;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void defMsg() {System.out.println(“Number of definitions:” +def);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System.out.println(“Definitions per page: ” +(def/page));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5867400" y="4495800"/>
            <a:ext cx="3048000" cy="160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pages: 1500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definitions: 52500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Definitions per page: 35</a:t>
            </a:r>
            <a:endParaRPr/>
          </a:p>
        </p:txBody>
      </p:sp>
      <p:sp>
        <p:nvSpPr>
          <p:cNvPr id="136" name="Google Shape;136;p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9F2BC-C25F-7C82-EC1A-3C777CF692C2}"/>
              </a:ext>
            </a:extLst>
          </p:cNvPr>
          <p:cNvSpPr txBox="1"/>
          <p:nvPr/>
        </p:nvSpPr>
        <p:spPr>
          <a:xfrm>
            <a:off x="457200" y="3893544"/>
            <a:ext cx="4572000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Main{</a:t>
            </a:r>
            <a:endParaRPr lang="en-US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public static void main (String </a:t>
            </a:r>
            <a:r>
              <a:rPr lang="en-US" sz="1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	{	</a:t>
            </a:r>
            <a:endParaRPr lang="en-US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Dictionary D = new Dictionary();</a:t>
            </a:r>
            <a:endParaRPr lang="en-US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D.page</a:t>
            </a:r>
            <a:r>
              <a:rPr lang="en-US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=1500;</a:t>
            </a:r>
            <a:endParaRPr lang="en-US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D.msg</a:t>
            </a:r>
            <a:r>
              <a:rPr lang="en-US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 lang="en-US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D.defMsg</a:t>
            </a:r>
            <a:r>
              <a:rPr lang="en-US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	}</a:t>
            </a:r>
            <a:endParaRPr lang="en-US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Some Inheritance Details</a:t>
            </a:r>
            <a:endParaRPr/>
          </a:p>
        </p:txBody>
      </p:sp>
      <p:sp>
        <p:nvSpPr>
          <p:cNvPr id="142" name="Google Shape;142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Superclass can be used as completely independent, stand-alone class. 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Inheritance is a one-way street</a:t>
            </a:r>
            <a:endParaRPr dirty="0"/>
          </a:p>
          <a:p>
            <a:pPr lvl="1" indent="-4572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Char char="-"/>
            </a:pPr>
            <a:r>
              <a:rPr lang="en-US" sz="2600" dirty="0">
                <a:latin typeface="Times New Roman"/>
                <a:ea typeface="Times New Roman"/>
                <a:cs typeface="Times New Roman"/>
                <a:sym typeface="Times New Roman"/>
              </a:rPr>
              <a:t>Dictionary extends Book. The Book class cannot use variables or methods declared explicitly in the Dictionary class.</a:t>
            </a:r>
          </a:p>
          <a:p>
            <a:pPr lvl="1" indent="-4572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Char char="-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superclass reference cannot access subclass-specific members. (The class can of course call them if it has a subclass instance.)</a:t>
            </a:r>
          </a:p>
          <a:p>
            <a:pPr lvl="1" indent="-4572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Char char="-"/>
            </a:pPr>
            <a:endParaRPr dirty="0"/>
          </a:p>
        </p:txBody>
      </p:sp>
      <p:sp>
        <p:nvSpPr>
          <p:cNvPr id="144" name="Google Shape;144;p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Member Access and Inheritance</a:t>
            </a:r>
            <a:endParaRPr/>
          </a:p>
        </p:txBody>
      </p:sp>
      <p:sp>
        <p:nvSpPr>
          <p:cNvPr id="150" name="Google Shape;150;p7"/>
          <p:cNvSpPr txBox="1">
            <a:spLocks noGrp="1"/>
          </p:cNvSpPr>
          <p:nvPr>
            <p:ph type="body" idx="1"/>
          </p:nvPr>
        </p:nvSpPr>
        <p:spPr>
          <a:xfrm>
            <a:off x="457200" y="16764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Variables and methods declared as </a:t>
            </a:r>
            <a:r>
              <a:rPr lang="en-US" sz="2800" dirty="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are inherited by the subclass.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Variables and methods declared as </a:t>
            </a:r>
            <a:r>
              <a:rPr lang="en-US" sz="2800" dirty="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remain private to its class. It is not accessible by any code outside its class, including subclass.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3333FF"/>
              </a:buClr>
              <a:buSzPts val="2800"/>
              <a:buFont typeface="Noto Sans Symbols"/>
              <a:buChar char="✔"/>
            </a:pPr>
            <a:r>
              <a:rPr lang="en-US" sz="2800" dirty="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members can weaken encapsulation; prefer private fields + accessors.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3333FF"/>
              </a:buClr>
              <a:buSzPts val="2800"/>
              <a:buFont typeface="Noto Sans Symbols"/>
              <a:buChar char="✔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Solution is </a:t>
            </a:r>
            <a:r>
              <a:rPr lang="en-US" sz="2800" dirty="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3333FF"/>
              </a:buClr>
              <a:buSzPts val="2800"/>
              <a:buFont typeface="Noto Sans Symbols"/>
              <a:buChar char="✔"/>
            </a:pPr>
            <a:r>
              <a:rPr lang="en-US" sz="2800" dirty="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 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modifier allows the variables and methods of the super class to be inherited by the subclass.</a:t>
            </a:r>
            <a:endParaRPr dirty="0"/>
          </a:p>
        </p:txBody>
      </p:sp>
      <p:sp>
        <p:nvSpPr>
          <p:cNvPr id="152" name="Google Shape;152;p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533400" y="-392113"/>
            <a:ext cx="8305800" cy="115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Visibility of Fields in a Class</a:t>
            </a:r>
            <a:endParaRPr/>
          </a:p>
        </p:txBody>
      </p:sp>
      <p:grpSp>
        <p:nvGrpSpPr>
          <p:cNvPr id="158" name="Google Shape;158;p8"/>
          <p:cNvGrpSpPr/>
          <p:nvPr/>
        </p:nvGrpSpPr>
        <p:grpSpPr>
          <a:xfrm>
            <a:off x="533400" y="914400"/>
            <a:ext cx="8305800" cy="5281613"/>
            <a:chOff x="432" y="586"/>
            <a:chExt cx="4848" cy="3734"/>
          </a:xfrm>
        </p:grpSpPr>
        <p:sp>
          <p:nvSpPr>
            <p:cNvPr id="159" name="Google Shape;159;p8"/>
            <p:cNvSpPr/>
            <p:nvPr/>
          </p:nvSpPr>
          <p:spPr>
            <a:xfrm>
              <a:off x="4656" y="3536"/>
              <a:ext cx="624" cy="7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3792" y="3536"/>
              <a:ext cx="864" cy="7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2976" y="3536"/>
              <a:ext cx="816" cy="7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1762" y="3536"/>
              <a:ext cx="1214" cy="7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1098" y="3536"/>
              <a:ext cx="664" cy="7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432" y="3536"/>
              <a:ext cx="666" cy="7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6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Non-subclass in other</a:t>
              </a:r>
              <a:endParaRPr sz="1600" dirty="0"/>
            </a:p>
            <a:p>
              <a:pPr marL="0" marR="0" lvl="0" indent="0" algn="l" rtl="0"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6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package</a:t>
              </a:r>
              <a:endParaRPr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4656" y="2960"/>
              <a:ext cx="624" cy="5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3792" y="2960"/>
              <a:ext cx="864" cy="5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2976" y="2960"/>
              <a:ext cx="816" cy="5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1762" y="2960"/>
              <a:ext cx="1214" cy="5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1098" y="2960"/>
              <a:ext cx="664" cy="5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432" y="2960"/>
              <a:ext cx="666" cy="5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6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Subclass in other packages</a:t>
              </a:r>
              <a:endParaRPr sz="1600" dirty="0"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4656" y="2211"/>
              <a:ext cx="624" cy="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3792" y="2211"/>
              <a:ext cx="864" cy="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2976" y="2211"/>
              <a:ext cx="816" cy="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1762" y="2211"/>
              <a:ext cx="1214" cy="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1098" y="2211"/>
              <a:ext cx="664" cy="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432" y="2211"/>
              <a:ext cx="666" cy="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6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Other class in the same package</a:t>
              </a:r>
              <a:endParaRPr sz="1600" dirty="0"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4656" y="1462"/>
              <a:ext cx="624" cy="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3792" y="1462"/>
              <a:ext cx="864" cy="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2976" y="1462"/>
              <a:ext cx="816" cy="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1762" y="1462"/>
              <a:ext cx="1214" cy="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1098" y="1462"/>
              <a:ext cx="664" cy="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432" y="1462"/>
              <a:ext cx="666" cy="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6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Subclass in the same package</a:t>
              </a:r>
              <a:endParaRPr sz="1600" dirty="0"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4656" y="1024"/>
              <a:ext cx="624" cy="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3792" y="1024"/>
              <a:ext cx="864" cy="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2976" y="1024"/>
              <a:ext cx="816" cy="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1762" y="1024"/>
              <a:ext cx="1214" cy="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1098" y="1024"/>
              <a:ext cx="664" cy="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432" y="1024"/>
              <a:ext cx="666" cy="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6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same</a:t>
              </a:r>
              <a:endParaRPr sz="1600" dirty="0"/>
            </a:p>
            <a:p>
              <a:pPr marL="0" marR="0" lvl="0" indent="0" algn="l" rtl="0"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6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class</a:t>
              </a:r>
              <a:endParaRPr sz="1600" dirty="0"/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4656" y="586"/>
              <a:ext cx="624" cy="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private</a:t>
              </a:r>
              <a:endParaRPr/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3792" y="586"/>
              <a:ext cx="864" cy="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private</a:t>
              </a:r>
              <a:endParaRPr/>
            </a:p>
            <a:p>
              <a:pPr marL="0" marR="0" lvl="0" indent="0" algn="l" rtl="0"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Protected</a:t>
              </a:r>
              <a:endParaRPr/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2976" y="586"/>
              <a:ext cx="816" cy="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Default</a:t>
              </a:r>
              <a:endParaRPr/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1762" y="586"/>
              <a:ext cx="1214" cy="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protected</a:t>
              </a:r>
              <a:endParaRPr/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1098" y="586"/>
              <a:ext cx="664" cy="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public</a:t>
              </a:r>
              <a:endParaRPr/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432" y="586"/>
              <a:ext cx="666" cy="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5" name="Google Shape;195;p8"/>
            <p:cNvCxnSpPr/>
            <p:nvPr/>
          </p:nvCxnSpPr>
          <p:spPr>
            <a:xfrm>
              <a:off x="432" y="586"/>
              <a:ext cx="4848" cy="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" name="Google Shape;196;p8"/>
            <p:cNvCxnSpPr/>
            <p:nvPr/>
          </p:nvCxnSpPr>
          <p:spPr>
            <a:xfrm>
              <a:off x="432" y="1024"/>
              <a:ext cx="484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Google Shape;197;p8"/>
            <p:cNvCxnSpPr/>
            <p:nvPr/>
          </p:nvCxnSpPr>
          <p:spPr>
            <a:xfrm>
              <a:off x="432" y="1462"/>
              <a:ext cx="484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8"/>
            <p:cNvCxnSpPr/>
            <p:nvPr/>
          </p:nvCxnSpPr>
          <p:spPr>
            <a:xfrm>
              <a:off x="432" y="2211"/>
              <a:ext cx="484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8"/>
            <p:cNvCxnSpPr/>
            <p:nvPr/>
          </p:nvCxnSpPr>
          <p:spPr>
            <a:xfrm>
              <a:off x="432" y="2960"/>
              <a:ext cx="484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8"/>
            <p:cNvCxnSpPr/>
            <p:nvPr/>
          </p:nvCxnSpPr>
          <p:spPr>
            <a:xfrm>
              <a:off x="432" y="3536"/>
              <a:ext cx="484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8"/>
            <p:cNvCxnSpPr/>
            <p:nvPr/>
          </p:nvCxnSpPr>
          <p:spPr>
            <a:xfrm>
              <a:off x="432" y="4320"/>
              <a:ext cx="4848" cy="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" name="Google Shape;202;p8"/>
            <p:cNvCxnSpPr/>
            <p:nvPr/>
          </p:nvCxnSpPr>
          <p:spPr>
            <a:xfrm>
              <a:off x="432" y="586"/>
              <a:ext cx="0" cy="3734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" name="Google Shape;203;p8"/>
            <p:cNvCxnSpPr/>
            <p:nvPr/>
          </p:nvCxnSpPr>
          <p:spPr>
            <a:xfrm>
              <a:off x="1098" y="586"/>
              <a:ext cx="0" cy="373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Google Shape;204;p8"/>
            <p:cNvCxnSpPr/>
            <p:nvPr/>
          </p:nvCxnSpPr>
          <p:spPr>
            <a:xfrm>
              <a:off x="1762" y="586"/>
              <a:ext cx="0" cy="373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8"/>
            <p:cNvCxnSpPr/>
            <p:nvPr/>
          </p:nvCxnSpPr>
          <p:spPr>
            <a:xfrm>
              <a:off x="2976" y="586"/>
              <a:ext cx="0" cy="373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8"/>
            <p:cNvCxnSpPr/>
            <p:nvPr/>
          </p:nvCxnSpPr>
          <p:spPr>
            <a:xfrm>
              <a:off x="3792" y="586"/>
              <a:ext cx="0" cy="373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8"/>
            <p:cNvCxnSpPr/>
            <p:nvPr/>
          </p:nvCxnSpPr>
          <p:spPr>
            <a:xfrm>
              <a:off x="4656" y="586"/>
              <a:ext cx="0" cy="373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8"/>
            <p:cNvCxnSpPr/>
            <p:nvPr/>
          </p:nvCxnSpPr>
          <p:spPr>
            <a:xfrm>
              <a:off x="5280" y="586"/>
              <a:ext cx="0" cy="3734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0" name="Google Shape;210;p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 txBox="1">
            <a:spLocks noGrp="1"/>
          </p:cNvSpPr>
          <p:nvPr>
            <p:ph type="title"/>
          </p:nvPr>
        </p:nvSpPr>
        <p:spPr>
          <a:xfrm>
            <a:off x="457200" y="3206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Superclass Variable Referencing a Subclass Object</a:t>
            </a:r>
            <a:endParaRPr/>
          </a:p>
        </p:txBody>
      </p:sp>
      <p:sp>
        <p:nvSpPr>
          <p:cNvPr id="216" name="Google Shape;216;p9"/>
          <p:cNvSpPr txBox="1">
            <a:spLocks noGrp="1"/>
          </p:cNvSpPr>
          <p:nvPr>
            <p:ph type="body" idx="1"/>
          </p:nvPr>
        </p:nvSpPr>
        <p:spPr>
          <a:xfrm>
            <a:off x="457200" y="16462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A reference variable of a superclass can be assigned a reference to any subclass derived from that superclass.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Type of the reference variable - not the runtime object type- determines what members are accessible ( at compile time).</a:t>
            </a:r>
            <a:endParaRPr dirty="0"/>
          </a:p>
        </p:txBody>
      </p:sp>
      <p:sp>
        <p:nvSpPr>
          <p:cNvPr id="218" name="Google Shape;218;p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305800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457200" y="1224843"/>
            <a:ext cx="7848600" cy="12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Book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public int page;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void msg()  {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(“Number of pages: ” + page);  }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457200" y="2302908"/>
            <a:ext cx="8686800" cy="1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Dictionary extends Book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	public int def 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void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defMsg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{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(“Number of definitions:” +def);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(“Definitions per page: ” +(def/page)); 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</p:txBody>
      </p:sp>
      <p:sp>
        <p:nvSpPr>
          <p:cNvPr id="227" name="Google Shape;227;p10"/>
          <p:cNvSpPr/>
          <p:nvPr/>
        </p:nvSpPr>
        <p:spPr>
          <a:xfrm>
            <a:off x="7162800" y="4267200"/>
            <a:ext cx="1524000" cy="45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867400" y="4038600"/>
            <a:ext cx="838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7315200" y="5105400"/>
            <a:ext cx="1447800" cy="45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5943600" y="5106988"/>
            <a:ext cx="990600" cy="3762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5943600" y="4268788"/>
            <a:ext cx="990600" cy="3762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cxnSp>
        <p:nvCxnSpPr>
          <p:cNvPr id="232" name="Google Shape;232;p10"/>
          <p:cNvCxnSpPr/>
          <p:nvPr/>
        </p:nvCxnSpPr>
        <p:spPr>
          <a:xfrm>
            <a:off x="6934200" y="4419600"/>
            <a:ext cx="228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" name="Google Shape;233;p10"/>
          <p:cNvCxnSpPr/>
          <p:nvPr/>
        </p:nvCxnSpPr>
        <p:spPr>
          <a:xfrm>
            <a:off x="6934200" y="5334000"/>
            <a:ext cx="381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4" name="Google Shape;234;p10"/>
          <p:cNvCxnSpPr/>
          <p:nvPr/>
        </p:nvCxnSpPr>
        <p:spPr>
          <a:xfrm rot="-5400000">
            <a:off x="6838950" y="4819650"/>
            <a:ext cx="495300" cy="304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36" name="Google Shape;236;p1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4FFC2-E5F4-91B3-80FA-9B953772DD9A}"/>
              </a:ext>
            </a:extLst>
          </p:cNvPr>
          <p:cNvSpPr txBox="1"/>
          <p:nvPr/>
        </p:nvSpPr>
        <p:spPr>
          <a:xfrm>
            <a:off x="419100" y="3437111"/>
            <a:ext cx="4572000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public static void main (String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	{		Dictionary D = new Dictionary();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D.page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=1500;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D.def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=52500;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Book B = new Book();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B=D;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B .page = 1300;</a:t>
            </a:r>
            <a:endParaRPr lang="en-US" dirty="0"/>
          </a:p>
          <a:p>
            <a:pPr>
              <a:spcBef>
                <a:spcPts val="700"/>
              </a:spcBef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B.def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34500;   //</a:t>
            </a:r>
            <a:r>
              <a:rPr lang="en-US" i="1" dirty="0">
                <a:ea typeface="Times New Roman"/>
              </a:rPr>
              <a:t>Compile-time error: </a:t>
            </a:r>
            <a:r>
              <a:rPr lang="en-US" i="1" dirty="0"/>
              <a:t>superclass reference cannot access subclass-only fields.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}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The super Reference-Accessing Constructor in Superclass</a:t>
            </a:r>
            <a:endParaRPr/>
          </a:p>
        </p:txBody>
      </p:sp>
      <p:sp>
        <p:nvSpPr>
          <p:cNvPr id="242" name="Google Shape;242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Constructors are not inherited, even though they have public visibility</a:t>
            </a:r>
            <a:endParaRPr dirty="0"/>
          </a:p>
          <a:p>
            <a:pPr marL="342900" lvl="0" indent="-3429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0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reference can be used to refer to the parent class, and often is used to invoke the parent's constructor</a:t>
            </a:r>
            <a:endParaRPr dirty="0"/>
          </a:p>
          <a:p>
            <a:pPr marL="342900" lvl="0" indent="-3429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 child’s constructor is responsible for calling the parent’s constructor</a:t>
            </a:r>
            <a:endParaRPr dirty="0"/>
          </a:p>
          <a:p>
            <a:pPr marL="342900">
              <a:spcBef>
                <a:spcPts val="1400"/>
              </a:spcBef>
              <a:buSzPts val="2000"/>
              <a:buFont typeface="Noto Sans Symbols"/>
              <a:buChar char="✔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The first line of a child’s constructor should use the super reference to call the parent’s constructor.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superclass has a no-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constructor, Java inserts super() implicitly. Use explicit super(...) when calling a non-default superclass constructor.</a:t>
            </a:r>
            <a:endParaRPr dirty="0"/>
          </a:p>
          <a:p>
            <a:pPr marL="342900" lvl="0" indent="-3429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super() always refers to the superclass immediately above the calling class.</a:t>
            </a:r>
            <a:endParaRPr dirty="0"/>
          </a:p>
          <a:p>
            <a:pPr marL="342900" lvl="0" indent="-2159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1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 txBox="1">
            <a:spLocks noGrp="1"/>
          </p:cNvSpPr>
          <p:nvPr>
            <p:ph type="title"/>
          </p:nvPr>
        </p:nvSpPr>
        <p:spPr>
          <a:xfrm>
            <a:off x="1295400" y="0"/>
            <a:ext cx="74676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Example-Super Reference</a:t>
            </a:r>
            <a:endParaRPr/>
          </a:p>
        </p:txBody>
      </p:sp>
      <p:sp>
        <p:nvSpPr>
          <p:cNvPr id="250" name="Google Shape;250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class Book {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protected int pages;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   Book(int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numPages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) {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   pages =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numPages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class Dictionary extends Book {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   private int definitions;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   Dictionary(int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numPages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, int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numDefinitions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) {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       super(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numPages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       definitions =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numDefinitions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Super Reference-Accessing Members of Superclass</a:t>
            </a:r>
            <a:endParaRPr/>
          </a:p>
        </p:txBody>
      </p:sp>
      <p:sp>
        <p:nvSpPr>
          <p:cNvPr id="258" name="Google Shape;258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General form: 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super . member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	where, member can be either a method or an instance variable.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Useful in situation where member names of a subclass hide members by the same name in the superclass.</a:t>
            </a:r>
            <a:endParaRPr dirty="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1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 txBox="1">
            <a:spLocks noGrp="1"/>
          </p:cNvSpPr>
          <p:nvPr>
            <p:ph type="title"/>
          </p:nvPr>
        </p:nvSpPr>
        <p:spPr>
          <a:xfrm>
            <a:off x="-12700" y="-217488"/>
            <a:ext cx="8699500" cy="120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Example-Super Reference</a:t>
            </a:r>
            <a:endParaRPr/>
          </a:p>
        </p:txBody>
      </p:sp>
      <p:sp>
        <p:nvSpPr>
          <p:cNvPr id="266" name="Google Shape;266;p14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458200" cy="555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class Book {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int pages;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class Dictionary extends Book{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   int pages;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   Dictionary(int a, int b) {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super.pages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=a;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       pages=b;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n-US" sz="2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n-US" sz="2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n-US" sz="2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n-US" sz="2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n-US" sz="2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n-US" sz="2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n-US" sz="2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>
              <a:lnSpc>
                <a:spcPct val="80000"/>
              </a:lnSpc>
              <a:spcBef>
                <a:spcPts val="400"/>
              </a:spcBef>
              <a:buSzPts val="2000"/>
              <a:buNone/>
            </a:pPr>
            <a:r>
              <a:rPr lang="en-US" sz="20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// 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iding pages in subclass is usually discouraged; prefer different names or @Override for methods—not fields.  </a:t>
            </a: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1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8FA69-19EB-249F-5F4E-DDC0AB39B5E4}"/>
              </a:ext>
            </a:extLst>
          </p:cNvPr>
          <p:cNvSpPr txBox="1"/>
          <p:nvPr/>
        </p:nvSpPr>
        <p:spPr>
          <a:xfrm>
            <a:off x="457200" y="3959551"/>
            <a:ext cx="4577644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class Main{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public static void main(String </a:t>
            </a:r>
            <a:r>
              <a:rPr lang="en-US" sz="200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args</a:t>
            </a: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[])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		Dictionary D=new Dictionary(1500,3500);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Multiple Inheritance</a:t>
            </a:r>
            <a:endParaRPr/>
          </a:p>
        </p:txBody>
      </p:sp>
      <p:sp>
        <p:nvSpPr>
          <p:cNvPr id="274" name="Google Shape;274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i="1" dirty="0">
                <a:latin typeface="Times New Roman"/>
                <a:ea typeface="Times New Roman"/>
                <a:cs typeface="Times New Roman"/>
                <a:sym typeface="Times New Roman"/>
              </a:rPr>
              <a:t>Multiple inheritance 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allows a class to be derived from two or more classes, inheriting the members of all parents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9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Collisions, such as the same variable name in two parents, have to be resolved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9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Java does not support multiple inheritance of classes, but it does support implementing multiple interface.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1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Multi-level Inheritance-Example</a:t>
            </a:r>
            <a:endParaRPr/>
          </a:p>
        </p:txBody>
      </p:sp>
      <p:sp>
        <p:nvSpPr>
          <p:cNvPr id="282" name="Google Shape;282;p16"/>
          <p:cNvSpPr txBox="1"/>
          <p:nvPr/>
        </p:nvSpPr>
        <p:spPr>
          <a:xfrm>
            <a:off x="609600" y="1676400"/>
            <a:ext cx="28194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16"/>
          <p:cNvSpPr txBox="1"/>
          <p:nvPr/>
        </p:nvSpPr>
        <p:spPr>
          <a:xfrm>
            <a:off x="762000" y="1752600"/>
            <a:ext cx="2743200" cy="1900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Book{ 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pages;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ook(int a) {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pages=a;}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16"/>
          <p:cNvSpPr txBox="1"/>
          <p:nvPr/>
        </p:nvSpPr>
        <p:spPr>
          <a:xfrm>
            <a:off x="685800" y="3505200"/>
            <a:ext cx="2819400" cy="221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Novel extends Book{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name;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ovel(int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i,String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k){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super(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name=k;}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16"/>
          <p:cNvSpPr txBox="1"/>
          <p:nvPr/>
        </p:nvSpPr>
        <p:spPr>
          <a:xfrm>
            <a:off x="3276600" y="1828800"/>
            <a:ext cx="4648200" cy="3359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ystery extends Novel{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writer;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ystery(int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String j, String k){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super(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i,j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writer=k;	}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show()	{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(name);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(writer);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(pages);}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16"/>
          <p:cNvSpPr txBox="1"/>
          <p:nvPr/>
        </p:nvSpPr>
        <p:spPr>
          <a:xfrm>
            <a:off x="6248400" y="1981200"/>
            <a:ext cx="2209800" cy="12715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xyz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1200</a:t>
            </a:r>
            <a:endParaRPr/>
          </a:p>
        </p:txBody>
      </p:sp>
      <p:sp>
        <p:nvSpPr>
          <p:cNvPr id="289" name="Google Shape;289;p1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63D29-EC7D-50F8-0F51-75C530730561}"/>
              </a:ext>
            </a:extLst>
          </p:cNvPr>
          <p:cNvSpPr txBox="1"/>
          <p:nvPr/>
        </p:nvSpPr>
        <p:spPr>
          <a:xfrm>
            <a:off x="3314700" y="4813210"/>
            <a:ext cx="4572000" cy="205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Main{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public static void main(String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{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ystery m=new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ystery(1200,“abc",“xyz");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.show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lang="en-US" dirty="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lang="en-US" sz="1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Order of Constructor Call</a:t>
            </a:r>
            <a:endParaRPr/>
          </a:p>
        </p:txBody>
      </p:sp>
      <p:sp>
        <p:nvSpPr>
          <p:cNvPr id="295" name="Google Shape;295;p17"/>
          <p:cNvSpPr txBox="1">
            <a:spLocks noGrp="1"/>
          </p:cNvSpPr>
          <p:nvPr>
            <p:ph type="body" idx="1"/>
          </p:nvPr>
        </p:nvSpPr>
        <p:spPr>
          <a:xfrm>
            <a:off x="381000" y="1676400"/>
            <a:ext cx="42672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A{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A()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{System.out.println(“A’s Constructor”);  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B extends A{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B()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{System.out.println(“B’s Constructor”);  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C extends B{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C()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{System.out.println(“C’s Constructor”);  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17"/>
          <p:cNvSpPr txBox="1">
            <a:spLocks noGrp="1"/>
          </p:cNvSpPr>
          <p:nvPr>
            <p:ph type="body" idx="2"/>
          </p:nvPr>
        </p:nvSpPr>
        <p:spPr>
          <a:xfrm>
            <a:off x="4876800" y="1828800"/>
            <a:ext cx="42672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class Main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[])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	C c = new C();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</p:txBody>
      </p:sp>
      <p:sp>
        <p:nvSpPr>
          <p:cNvPr id="297" name="Google Shape;297;p17"/>
          <p:cNvSpPr txBox="1"/>
          <p:nvPr/>
        </p:nvSpPr>
        <p:spPr>
          <a:xfrm>
            <a:off x="304800" y="990600"/>
            <a:ext cx="85344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class hierarchy, constructors are called in order of derivation, from superclass to subclass.</a:t>
            </a:r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4572000" y="4038600"/>
            <a:ext cx="4114800" cy="119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A’s Constructor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B’s Constructor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C’s Constructor</a:t>
            </a:r>
            <a:endParaRPr/>
          </a:p>
        </p:txBody>
      </p:sp>
      <p:sp>
        <p:nvSpPr>
          <p:cNvPr id="300" name="Google Shape;300;p1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39DCF7-FA38-8274-60AB-652E7B211B37}"/>
              </a:ext>
            </a:extLst>
          </p:cNvPr>
          <p:cNvSpPr txBox="1"/>
          <p:nvPr/>
        </p:nvSpPr>
        <p:spPr>
          <a:xfrm>
            <a:off x="457199" y="5589915"/>
            <a:ext cx="67225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order is A → B → C due to implicit/explicit super() chaining.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3058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Overriding Methods</a:t>
            </a:r>
            <a:endParaRPr/>
          </a:p>
        </p:txBody>
      </p:sp>
      <p:sp>
        <p:nvSpPr>
          <p:cNvPr id="306" name="Google Shape;306;p18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3058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When a child class defines a method with the same name and signature as a method in the parent class, we say that the child’s version </a:t>
            </a:r>
            <a:r>
              <a:rPr lang="en-US" sz="28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overrides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the parent’s version in favor of its own.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8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Signature: method’s name along with number, type, and order of its parameters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9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new method must have the same signature as the parent's method, but can have a different body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9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type of the object executing the method determines which version of the method is invoked</a:t>
            </a:r>
            <a:endParaRPr/>
          </a:p>
        </p:txBody>
      </p:sp>
      <p:sp>
        <p:nvSpPr>
          <p:cNvPr id="308" name="Google Shape;308;p1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314" name="Google Shape;314;p19"/>
          <p:cNvSpPr txBox="1"/>
          <p:nvPr/>
        </p:nvSpPr>
        <p:spPr>
          <a:xfrm>
            <a:off x="457200" y="1676400"/>
            <a:ext cx="7315200" cy="211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protected int p;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A(int num)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 = num;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public void show()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System.out.println(“Element of A: ” + p);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457200" y="3733800"/>
            <a:ext cx="6248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 extends A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protected int 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B(int n,  int d)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super(n);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this.d = d;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public void show()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System.out.println(“Elements of B:”+d);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super.show();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1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92D53-21BB-0334-D36A-C6E55D3C74D5}"/>
              </a:ext>
            </a:extLst>
          </p:cNvPr>
          <p:cNvSpPr txBox="1"/>
          <p:nvPr/>
        </p:nvSpPr>
        <p:spPr>
          <a:xfrm>
            <a:off x="4656666" y="1635577"/>
            <a:ext cx="457200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B b = new B(1200,3500);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b.show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Overloading vs. Overriding</a:t>
            </a:r>
            <a:endParaRPr/>
          </a:p>
        </p:txBody>
      </p:sp>
      <p:sp>
        <p:nvSpPr>
          <p:cNvPr id="324" name="Google Shape;324;p20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Don't confuse the concepts of overloading and overriding</a:t>
            </a:r>
            <a:endParaRPr/>
          </a:p>
          <a:p>
            <a:pPr marL="342900" lvl="0" indent="-342900" algn="l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Overloading deals with multiple methods with the same name in the same class, but with different signatures</a:t>
            </a:r>
            <a:endParaRPr/>
          </a:p>
          <a:p>
            <a:pPr marL="342900" lvl="0" indent="-342900" algn="l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Overriding deals with two methods, one in a parent class and one in a child class, that have the same signature</a:t>
            </a:r>
            <a:endParaRPr/>
          </a:p>
          <a:p>
            <a:pPr marL="342900" lvl="0" indent="-342900" algn="l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Overloading lets you define a similar operation in different ways for different data</a:t>
            </a:r>
            <a:endParaRPr/>
          </a:p>
          <a:p>
            <a:pPr marL="342900" lvl="0" indent="-342900" algn="l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Overriding lets you define a similar operation in different ways for different object types</a:t>
            </a:r>
            <a:endParaRPr/>
          </a:p>
        </p:txBody>
      </p:sp>
      <p:sp>
        <p:nvSpPr>
          <p:cNvPr id="326" name="Google Shape;326;p2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332" name="Google Shape;332;p21"/>
          <p:cNvSpPr txBox="1"/>
          <p:nvPr/>
        </p:nvSpPr>
        <p:spPr>
          <a:xfrm>
            <a:off x="457200" y="1676400"/>
            <a:ext cx="7315200" cy="2785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protected int p;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A(int num)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 = num;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public void show()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System.out.println(“Element of A: ” + p);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void show(int k)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System.out.println(“k: ” +k);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457200" y="3733800"/>
            <a:ext cx="6248400" cy="2354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 extends A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protected int 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B(int n,  int d)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super(n);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this.d = d;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public void show()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System.out.println(“Elements of B:”+d);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super.show();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2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D1574-3817-187F-9CC0-08F9B330FF5B}"/>
              </a:ext>
            </a:extLst>
          </p:cNvPr>
          <p:cNvSpPr txBox="1"/>
          <p:nvPr/>
        </p:nvSpPr>
        <p:spPr>
          <a:xfrm>
            <a:off x="4419600" y="1856363"/>
            <a:ext cx="4572000" cy="305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A a = new A(120);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a.show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a.show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(999);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B b = new B(1200,3500);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b.show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Dynamic Method Dispatch</a:t>
            </a:r>
            <a:endParaRPr/>
          </a:p>
        </p:txBody>
      </p:sp>
      <p:sp>
        <p:nvSpPr>
          <p:cNvPr id="342" name="Google Shape;342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6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 mechanism by which a call to an overridden method is resolved at run time.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6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Java implements runtime polymorphism through dynamic method dispatch.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6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When an overridden method is called through a superclass reference, Java determines which version of that method to execute based upon the type of object being referred to at the time the call occurs.</a:t>
            </a:r>
          </a:p>
          <a:p>
            <a:pPr marL="342900">
              <a:spcBef>
                <a:spcPts val="560"/>
              </a:spcBef>
              <a:buSzPts val="2800"/>
              <a:buFont typeface="Noto Sans Symbols"/>
              <a:buChar char="✔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compile-time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is based on reference type;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dispatch picks the overridden method by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type. </a:t>
            </a: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6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6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44" name="Google Shape;344;p2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Example-Dynamic Method Dispatch</a:t>
            </a:r>
            <a:endParaRPr/>
          </a:p>
        </p:txBody>
      </p:sp>
      <p:sp>
        <p:nvSpPr>
          <p:cNvPr id="350" name="Google Shape;350;p23"/>
          <p:cNvSpPr txBox="1"/>
          <p:nvPr/>
        </p:nvSpPr>
        <p:spPr>
          <a:xfrm>
            <a:off x="457200" y="1676400"/>
            <a:ext cx="7239000" cy="147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Book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protected int pages = 1200;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public void message()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System.out.println(“Number of pages: ” + pages);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457200" y="2971800"/>
            <a:ext cx="4509911" cy="3288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Dictionary extends Book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protected int definitions=52500;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public void message()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(“Number of definitions: ” + definitions); 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Novel extends Dictionary {</a:t>
            </a:r>
            <a:endParaRPr lang="en-US" dirty="0"/>
          </a:p>
          <a:p>
            <a:pPr lvl="0"/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protected int price=525;</a:t>
            </a:r>
            <a:endParaRPr lang="en-US" dirty="0"/>
          </a:p>
          <a:p>
            <a:pPr lvl="0"/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public void message() {</a:t>
            </a:r>
            <a:endParaRPr lang="en-US" dirty="0"/>
          </a:p>
          <a:p>
            <a:pPr lvl="0"/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</a:t>
            </a:r>
            <a:r>
              <a:rPr lang="en-US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PriceL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” +price); }</a:t>
            </a:r>
            <a:endParaRPr lang="en-US" dirty="0"/>
          </a:p>
          <a:p>
            <a:pPr lvl="0"/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lang="en-US" dirty="0"/>
          </a:p>
          <a:p>
            <a:pPr lvl="0">
              <a:spcBef>
                <a:spcPts val="700"/>
              </a:spcBef>
            </a:pPr>
            <a:endParaRPr lang="en-US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2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75B887-8EA6-5447-0F57-9914714A2E55}"/>
              </a:ext>
            </a:extLst>
          </p:cNvPr>
          <p:cNvSpPr txBox="1"/>
          <p:nvPr/>
        </p:nvSpPr>
        <p:spPr>
          <a:xfrm>
            <a:off x="4967111" y="1443841"/>
            <a:ext cx="35785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Book B = new Book();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Dictionary D = new Dictionary();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Novel N = new Novel();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Book R;	 	      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R=B;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R.message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R = D;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R.message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R=N;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R.message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Abstract Method and Abstract Class</a:t>
            </a:r>
            <a:endParaRPr/>
          </a:p>
        </p:txBody>
      </p:sp>
      <p:sp>
        <p:nvSpPr>
          <p:cNvPr id="361" name="Google Shape;361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Abstract method is used to ensure that the subclass must override a method.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 abstract method is specified by adding the </a:t>
            </a:r>
            <a:r>
              <a:rPr lang="en-US" sz="240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modifier before the method name.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General form: </a:t>
            </a:r>
            <a:r>
              <a:rPr lang="en-US" sz="240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type name (parameter-list);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Abstract constructor and abstract static methods are not allowed.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Any class containing one or more abstract methods must be also declared abstract.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3333FF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keyword is added before the </a:t>
            </a:r>
            <a:r>
              <a:rPr lang="en-US" sz="240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keyword.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Objects cannot be created for an abstract class.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2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5"/>
          <p:cNvSpPr txBox="1">
            <a:spLocks noGrp="1"/>
          </p:cNvSpPr>
          <p:nvPr>
            <p:ph type="title"/>
          </p:nvPr>
        </p:nvSpPr>
        <p:spPr>
          <a:xfrm>
            <a:off x="914400" y="2778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Example-Abstract Method and Abstract Class</a:t>
            </a:r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457200" y="1676400"/>
            <a:ext cx="7315200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class Book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protected int pages;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Book(int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numPages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pages =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numPages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abstract  void show() 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25"/>
          <p:cNvSpPr txBox="1"/>
          <p:nvPr/>
        </p:nvSpPr>
        <p:spPr>
          <a:xfrm>
            <a:off x="457200" y="3733800"/>
            <a:ext cx="6248400" cy="253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Dictionary extends Book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protected int definitions;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Dictionary(int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numPages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int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numDefinitions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super(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numPages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definitions =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numDefinitions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   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void show()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(“Number of definitions” + definitions);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(“Definitions per page: ” + (definitions/pages));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2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D534A-740E-46F0-A9B1-46D9043FF128}"/>
              </a:ext>
            </a:extLst>
          </p:cNvPr>
          <p:cNvSpPr txBox="1"/>
          <p:nvPr/>
        </p:nvSpPr>
        <p:spPr>
          <a:xfrm>
            <a:off x="4769557" y="1596859"/>
            <a:ext cx="4684888" cy="305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Book B;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Dictionary D = new Dictionary(1200,3500);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D.show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B = D;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B.show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lang="en-US"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Using final to Prevent Overriding</a:t>
            </a:r>
            <a:r>
              <a:rPr lang="en-US"/>
              <a:t> </a:t>
            </a:r>
            <a:endParaRPr/>
          </a:p>
        </p:txBody>
      </p:sp>
      <p:sp>
        <p:nvSpPr>
          <p:cNvPr id="379" name="Google Shape;379;p26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7696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 method can be disallowed from being overridden by specifying </a:t>
            </a:r>
            <a:r>
              <a:rPr lang="en-US" sz="2000" dirty="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as modifier at the start of its declaration.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The compiler is free to inline the calls to methods declared as </a:t>
            </a:r>
            <a:r>
              <a:rPr lang="en-US" sz="2000" dirty="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Since, final methods cannot be overridden, its call can be resolved at compile time. [ Early  binding]</a:t>
            </a:r>
            <a:endParaRPr dirty="0"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26"/>
          <p:cNvSpPr txBox="1"/>
          <p:nvPr/>
        </p:nvSpPr>
        <p:spPr>
          <a:xfrm>
            <a:off x="457200" y="3416300"/>
            <a:ext cx="4648200" cy="1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Book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protected int pages=1200;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public final void message()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System.out.println(“Number of pages: ” + pages);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26"/>
          <p:cNvSpPr txBox="1"/>
          <p:nvPr/>
        </p:nvSpPr>
        <p:spPr>
          <a:xfrm>
            <a:off x="457200" y="4724400"/>
            <a:ext cx="6248400" cy="212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Dictionary extends Book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protected int definitions=3500;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public void message() {                //ERROR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(“Number of definitions” + definitions);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(“Definitions per page: ” + (definitions/pages));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1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super.message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  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2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Using final to Prevent Inheritance</a:t>
            </a:r>
            <a:endParaRPr/>
          </a:p>
        </p:txBody>
      </p:sp>
      <p:sp>
        <p:nvSpPr>
          <p:cNvPr id="389" name="Google Shape;389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Class definition should be preceded with the keyword </a:t>
            </a:r>
            <a:r>
              <a:rPr lang="en-US" sz="2800" dirty="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final.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it implicitly declares all of its methods as final.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final class A{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class B extends A{          //ERROR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2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Chapter Eight of your text book.</a:t>
            </a:r>
            <a:endParaRPr/>
          </a:p>
        </p:txBody>
      </p:sp>
      <p:sp>
        <p:nvSpPr>
          <p:cNvPr id="399" name="Google Shape;399;p2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2500</Words>
  <Application>Microsoft Macintosh PowerPoint</Application>
  <PresentationFormat>On-screen Show (4:3)</PresentationFormat>
  <Paragraphs>423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Courier New</vt:lpstr>
      <vt:lpstr>Noto Sans Symbols</vt:lpstr>
      <vt:lpstr>Times New Roman</vt:lpstr>
      <vt:lpstr>Default Design</vt:lpstr>
      <vt:lpstr>Lecture 6</vt:lpstr>
      <vt:lpstr>Inheritance</vt:lpstr>
      <vt:lpstr>Inheritance</vt:lpstr>
      <vt:lpstr>Deriving Subclasses</vt:lpstr>
      <vt:lpstr>Example-Inheritance</vt:lpstr>
      <vt:lpstr>Some Inheritance Details</vt:lpstr>
      <vt:lpstr>Member Access and Inheritance</vt:lpstr>
      <vt:lpstr>Visibility of Fields in a Class</vt:lpstr>
      <vt:lpstr>Superclass Variable Referencing a Subclass Object</vt:lpstr>
      <vt:lpstr>Example</vt:lpstr>
      <vt:lpstr>The super Reference-Accessing Constructor in Superclass</vt:lpstr>
      <vt:lpstr>Example-Super Reference</vt:lpstr>
      <vt:lpstr>Super Reference-Accessing Members of Superclass</vt:lpstr>
      <vt:lpstr>Example-Super Reference</vt:lpstr>
      <vt:lpstr>Multiple Inheritance</vt:lpstr>
      <vt:lpstr>Multi-level Inheritance-Example</vt:lpstr>
      <vt:lpstr>Order of Constructor Call</vt:lpstr>
      <vt:lpstr>Overriding Methods</vt:lpstr>
      <vt:lpstr>Example</vt:lpstr>
      <vt:lpstr>Overloading vs. Overriding</vt:lpstr>
      <vt:lpstr>Example</vt:lpstr>
      <vt:lpstr>Dynamic Method Dispatch</vt:lpstr>
      <vt:lpstr>Example-Dynamic Method Dispatch</vt:lpstr>
      <vt:lpstr>Abstract Method and Abstract Class</vt:lpstr>
      <vt:lpstr>Example-Abstract Method and Abstract Class</vt:lpstr>
      <vt:lpstr>Using final to Prevent Overriding </vt:lpstr>
      <vt:lpstr>Using final to Prevent Inheritance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Md. Shiplu Hawlader</dc:creator>
  <cp:lastModifiedBy>Fahim Arefin</cp:lastModifiedBy>
  <cp:revision>28</cp:revision>
  <dcterms:created xsi:type="dcterms:W3CDTF">1601-01-01T00:00:00Z</dcterms:created>
  <dcterms:modified xsi:type="dcterms:W3CDTF">2025-09-17T10:17:50Z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