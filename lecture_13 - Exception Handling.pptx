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gjkhOpH2GalhFSGKOPTwInHeRc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6"/>
  </p:normalViewPr>
  <p:slideViewPr>
    <p:cSldViewPr snapToGrid="0">
      <p:cViewPr varScale="1">
        <p:scale>
          <a:sx n="114" d="100"/>
          <a:sy n="114" d="100"/>
        </p:scale>
        <p:origin x="175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fahim-csedu</a:t>
            </a:r>
            <a:r>
              <a:rPr lang="en-US" dirty="0"/>
              <a:t>/oop-lab4/blob/main/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edu</a:t>
            </a:r>
            <a:r>
              <a:rPr lang="en-US" dirty="0"/>
              <a:t>/lab/text/</a:t>
            </a:r>
            <a:r>
              <a:rPr lang="en-US" dirty="0" err="1"/>
              <a:t>SimpleAnalyzer.java</a:t>
            </a:r>
            <a:endParaRPr dirty="0"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2" name="Google Shape;36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2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3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25" name="Google Shape;25;p33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7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9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70" name="Google Shape;70;p4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76" name="Google Shape;76;p4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2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82" name="Google Shape;82;p42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1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17-Jun-15</a:t>
            </a:r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Times New Roman"/>
                <a:ea typeface="Times New Roman"/>
                <a:cs typeface="Times New Roman"/>
                <a:sym typeface="Times New Roman"/>
              </a:rPr>
              <a:t>Lecture 13</a:t>
            </a:r>
            <a:endParaRPr sz="4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b="1">
                <a:latin typeface="Times New Roman"/>
                <a:ea typeface="Times New Roman"/>
                <a:cs typeface="Times New Roman"/>
                <a:sym typeface="Times New Roman"/>
              </a:rPr>
              <a:t>Exception Handling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 Handling-Fundamentals</a:t>
            </a:r>
            <a:endParaRPr/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An exception is an abnormal condition that arises in a code sequence at run time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 Java exception is an object that describes an exceptional condition that has occurred in a piece of code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When an exceptional condition arises, an object representing that exception is created and thrown in the</a:t>
            </a:r>
            <a:r>
              <a:rPr lang="en-US" sz="2600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method that caused the error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An exception can be caught to handle it or pass it on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Exceptions can be generated by the Java run-time system, or they can be manually generated by your code</a:t>
            </a:r>
            <a:endParaRPr/>
          </a:p>
          <a:p>
            <a:pPr marL="34290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 Handling</a:t>
            </a:r>
            <a:endParaRPr/>
          </a:p>
        </p:txBody>
      </p:sp>
      <p:sp>
        <p:nvSpPr>
          <p:cNvPr id="104" name="Google Shape;10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Performing action in response to exception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Exit program (abort)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Deal with exception and continue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Print error message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Request new data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Retry action</a:t>
            </a:r>
            <a:endParaRPr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Representing Exceptions</a:t>
            </a:r>
            <a:endParaRPr/>
          </a:p>
        </p:txBody>
      </p:sp>
      <p:graphicFrame>
        <p:nvGraphicFramePr>
          <p:cNvPr id="112" name="Google Shape;112;p4"/>
          <p:cNvGraphicFramePr/>
          <p:nvPr/>
        </p:nvGraphicFramePr>
        <p:xfrm>
          <a:off x="760413" y="1844675"/>
          <a:ext cx="7621587" cy="403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21587" imgH="4035425" progId="">
                  <p:embed/>
                </p:oleObj>
              </mc:Choice>
              <mc:Fallback>
                <p:oleObj r:id="rId3" imgW="7621587" imgH="4035425" progId="">
                  <p:embed/>
                  <p:pic>
                    <p:nvPicPr>
                      <p:cNvPr id="112" name="Google Shape;112;p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60413" y="1844675"/>
                        <a:ext cx="7621587" cy="403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Google Shape;114;p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5"/>
          <p:cNvCxnSpPr>
            <a:stCxn id="120" idx="1"/>
            <a:endCxn id="121" idx="3"/>
          </p:cNvCxnSpPr>
          <p:nvPr/>
        </p:nvCxnSpPr>
        <p:spPr>
          <a:xfrm rot="10800000">
            <a:off x="852375" y="4198144"/>
            <a:ext cx="319200" cy="0"/>
          </a:xfrm>
          <a:prstGeom prst="straightConnector1">
            <a:avLst/>
          </a:prstGeom>
          <a:noFill/>
          <a:ln w="22225" cap="flat" cmpd="sng">
            <a:solidFill>
              <a:srgbClr val="FF6600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21" name="Google Shape;121;p5"/>
          <p:cNvSpPr/>
          <p:nvPr/>
        </p:nvSpPr>
        <p:spPr>
          <a:xfrm>
            <a:off x="152400" y="4040188"/>
            <a:ext cx="700088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2711450" y="5338763"/>
            <a:ext cx="596900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Error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171575" y="4040188"/>
            <a:ext cx="989013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1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Throwable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711450" y="2627313"/>
            <a:ext cx="954088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Exception</a:t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200525" y="4692650"/>
            <a:ext cx="1173163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LinkageError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4232588" y="5105400"/>
            <a:ext cx="1667838" cy="306467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VirtualMachineError</a:t>
            </a:r>
            <a:endParaRPr sz="1200" b="1" i="0" u="none" strike="noStrike" cap="non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200525" y="2070100"/>
            <a:ext cx="2081213" cy="31591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ClassNotFoundException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200525" y="2497138"/>
            <a:ext cx="2395538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CloneNotSupportedException</a:t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200525" y="2922588"/>
            <a:ext cx="1116013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IOException</a:t>
            </a:r>
            <a:endParaRPr/>
          </a:p>
        </p:txBody>
      </p:sp>
      <p:cxnSp>
        <p:nvCxnSpPr>
          <p:cNvPr id="129" name="Google Shape;129;p5"/>
          <p:cNvCxnSpPr>
            <a:stCxn id="122" idx="1"/>
            <a:endCxn id="120" idx="3"/>
          </p:cNvCxnSpPr>
          <p:nvPr/>
        </p:nvCxnSpPr>
        <p:spPr>
          <a:xfrm rot="10800000">
            <a:off x="2160650" y="4198019"/>
            <a:ext cx="550800" cy="1298700"/>
          </a:xfrm>
          <a:prstGeom prst="bentConnector3">
            <a:avLst>
              <a:gd name="adj1" fmla="val 50148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0" name="Google Shape;130;p5"/>
          <p:cNvCxnSpPr>
            <a:stCxn id="125" idx="1"/>
            <a:endCxn id="122" idx="3"/>
          </p:cNvCxnSpPr>
          <p:nvPr/>
        </p:nvCxnSpPr>
        <p:spPr>
          <a:xfrm flipH="1">
            <a:off x="3308288" y="5258634"/>
            <a:ext cx="924300" cy="238200"/>
          </a:xfrm>
          <a:prstGeom prst="bentConnector3">
            <a:avLst>
              <a:gd name="adj1" fmla="val 49997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1" name="Google Shape;131;p5"/>
          <p:cNvCxnSpPr>
            <a:stCxn id="127" idx="1"/>
            <a:endCxn id="123" idx="3"/>
          </p:cNvCxnSpPr>
          <p:nvPr/>
        </p:nvCxnSpPr>
        <p:spPr>
          <a:xfrm flipH="1">
            <a:off x="3665625" y="2655094"/>
            <a:ext cx="534900" cy="130200"/>
          </a:xfrm>
          <a:prstGeom prst="bentConnector3">
            <a:avLst>
              <a:gd name="adj1" fmla="val 50155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2" name="Google Shape;132;p5"/>
          <p:cNvCxnSpPr>
            <a:stCxn id="133" idx="1"/>
            <a:endCxn id="122" idx="3"/>
          </p:cNvCxnSpPr>
          <p:nvPr/>
        </p:nvCxnSpPr>
        <p:spPr>
          <a:xfrm rot="10800000">
            <a:off x="3308325" y="5496819"/>
            <a:ext cx="892200" cy="203100"/>
          </a:xfrm>
          <a:prstGeom prst="bentConnector3">
            <a:avLst>
              <a:gd name="adj1" fmla="val 49999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4" name="Google Shape;134;p5"/>
          <p:cNvCxnSpPr>
            <a:stCxn id="124" idx="1"/>
            <a:endCxn id="122" idx="3"/>
          </p:cNvCxnSpPr>
          <p:nvPr/>
        </p:nvCxnSpPr>
        <p:spPr>
          <a:xfrm flipH="1">
            <a:off x="3308325" y="4850607"/>
            <a:ext cx="892200" cy="646200"/>
          </a:xfrm>
          <a:prstGeom prst="bentConnector3">
            <a:avLst>
              <a:gd name="adj1" fmla="val 49999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5" name="Google Shape;135;p5"/>
          <p:cNvCxnSpPr>
            <a:stCxn id="136" idx="1"/>
            <a:endCxn id="122" idx="3"/>
          </p:cNvCxnSpPr>
          <p:nvPr/>
        </p:nvCxnSpPr>
        <p:spPr>
          <a:xfrm rot="10800000">
            <a:off x="3308325" y="5496625"/>
            <a:ext cx="892200" cy="659700"/>
          </a:xfrm>
          <a:prstGeom prst="bentConnector3">
            <a:avLst>
              <a:gd name="adj1" fmla="val 49998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7" name="Google Shape;137;p5"/>
          <p:cNvCxnSpPr>
            <a:stCxn id="126" idx="1"/>
            <a:endCxn id="123" idx="3"/>
          </p:cNvCxnSpPr>
          <p:nvPr/>
        </p:nvCxnSpPr>
        <p:spPr>
          <a:xfrm flipH="1">
            <a:off x="3665625" y="2228057"/>
            <a:ext cx="534900" cy="557100"/>
          </a:xfrm>
          <a:prstGeom prst="bentConnector3">
            <a:avLst>
              <a:gd name="adj1" fmla="val 50155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8" name="Google Shape;138;p5"/>
          <p:cNvCxnSpPr>
            <a:stCxn id="128" idx="1"/>
            <a:endCxn id="123" idx="3"/>
          </p:cNvCxnSpPr>
          <p:nvPr/>
        </p:nvCxnSpPr>
        <p:spPr>
          <a:xfrm rot="10800000">
            <a:off x="3665625" y="2785344"/>
            <a:ext cx="534900" cy="295200"/>
          </a:xfrm>
          <a:prstGeom prst="bentConnector3">
            <a:avLst>
              <a:gd name="adj1" fmla="val 50155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39" name="Google Shape;139;p5"/>
          <p:cNvCxnSpPr>
            <a:stCxn id="140" idx="1"/>
            <a:endCxn id="141" idx="3"/>
          </p:cNvCxnSpPr>
          <p:nvPr/>
        </p:nvCxnSpPr>
        <p:spPr>
          <a:xfrm flipH="1">
            <a:off x="5764200" y="3328194"/>
            <a:ext cx="636600" cy="597000"/>
          </a:xfrm>
          <a:prstGeom prst="bentConnector3">
            <a:avLst>
              <a:gd name="adj1" fmla="val 50124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42" name="Google Shape;142;p5"/>
          <p:cNvCxnSpPr>
            <a:stCxn id="143" idx="1"/>
            <a:endCxn id="141" idx="3"/>
          </p:cNvCxnSpPr>
          <p:nvPr/>
        </p:nvCxnSpPr>
        <p:spPr>
          <a:xfrm flipH="1">
            <a:off x="5764200" y="3744119"/>
            <a:ext cx="636600" cy="180900"/>
          </a:xfrm>
          <a:prstGeom prst="bentConnector3">
            <a:avLst>
              <a:gd name="adj1" fmla="val 50124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44" name="Google Shape;144;p5"/>
          <p:cNvCxnSpPr>
            <a:stCxn id="123" idx="1"/>
            <a:endCxn id="120" idx="3"/>
          </p:cNvCxnSpPr>
          <p:nvPr/>
        </p:nvCxnSpPr>
        <p:spPr>
          <a:xfrm flipH="1">
            <a:off x="2160650" y="2785269"/>
            <a:ext cx="550800" cy="1413000"/>
          </a:xfrm>
          <a:prstGeom prst="bentConnector3">
            <a:avLst>
              <a:gd name="adj1" fmla="val 50148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133" name="Google Shape;133;p5"/>
          <p:cNvSpPr/>
          <p:nvPr/>
        </p:nvSpPr>
        <p:spPr>
          <a:xfrm>
            <a:off x="4200525" y="5541963"/>
            <a:ext cx="944563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AWTError</a:t>
            </a:r>
            <a:endParaRPr/>
          </a:p>
        </p:txBody>
      </p:sp>
      <p:sp>
        <p:nvSpPr>
          <p:cNvPr id="136" name="Google Shape;136;p5"/>
          <p:cNvSpPr txBox="1"/>
          <p:nvPr/>
        </p:nvSpPr>
        <p:spPr>
          <a:xfrm>
            <a:off x="4200525" y="5988050"/>
            <a:ext cx="3873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4200525" y="3344863"/>
            <a:ext cx="1301750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AWTException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200525" y="3767138"/>
            <a:ext cx="1563688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RuntimeException</a:t>
            </a:r>
            <a:endParaRPr/>
          </a:p>
        </p:txBody>
      </p:sp>
      <p:cxnSp>
        <p:nvCxnSpPr>
          <p:cNvPr id="146" name="Google Shape;146;p5"/>
          <p:cNvCxnSpPr>
            <a:stCxn id="147" idx="1"/>
            <a:endCxn id="141" idx="3"/>
          </p:cNvCxnSpPr>
          <p:nvPr/>
        </p:nvCxnSpPr>
        <p:spPr>
          <a:xfrm rot="10800000">
            <a:off x="5764200" y="3925057"/>
            <a:ext cx="636600" cy="728700"/>
          </a:xfrm>
          <a:prstGeom prst="bentConnector3">
            <a:avLst>
              <a:gd name="adj1" fmla="val 50124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48" name="Google Shape;148;p5"/>
          <p:cNvCxnSpPr>
            <a:stCxn id="149" idx="1"/>
            <a:endCxn id="141" idx="3"/>
          </p:cNvCxnSpPr>
          <p:nvPr/>
        </p:nvCxnSpPr>
        <p:spPr>
          <a:xfrm rot="10800000">
            <a:off x="5764200" y="3925207"/>
            <a:ext cx="636600" cy="252300"/>
          </a:xfrm>
          <a:prstGeom prst="bentConnector3">
            <a:avLst>
              <a:gd name="adj1" fmla="val 50124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150" name="Google Shape;150;p5"/>
          <p:cNvSpPr txBox="1"/>
          <p:nvPr/>
        </p:nvSpPr>
        <p:spPr>
          <a:xfrm>
            <a:off x="4200525" y="4203700"/>
            <a:ext cx="3873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151" name="Google Shape;151;p5"/>
          <p:cNvCxnSpPr>
            <a:stCxn id="145" idx="1"/>
            <a:endCxn id="123" idx="3"/>
          </p:cNvCxnSpPr>
          <p:nvPr/>
        </p:nvCxnSpPr>
        <p:spPr>
          <a:xfrm rot="10800000">
            <a:off x="3665625" y="2785219"/>
            <a:ext cx="534900" cy="717600"/>
          </a:xfrm>
          <a:prstGeom prst="bentConnector3">
            <a:avLst>
              <a:gd name="adj1" fmla="val 50155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52" name="Google Shape;152;p5"/>
          <p:cNvCxnSpPr>
            <a:stCxn id="141" idx="1"/>
            <a:endCxn id="123" idx="3"/>
          </p:cNvCxnSpPr>
          <p:nvPr/>
        </p:nvCxnSpPr>
        <p:spPr>
          <a:xfrm rot="10800000">
            <a:off x="3665625" y="2785394"/>
            <a:ext cx="534900" cy="1139700"/>
          </a:xfrm>
          <a:prstGeom prst="bentConnector3">
            <a:avLst>
              <a:gd name="adj1" fmla="val 50155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153" name="Google Shape;153;p5"/>
          <p:cNvCxnSpPr>
            <a:stCxn id="150" idx="1"/>
            <a:endCxn id="123" idx="3"/>
          </p:cNvCxnSpPr>
          <p:nvPr/>
        </p:nvCxnSpPr>
        <p:spPr>
          <a:xfrm rot="10800000">
            <a:off x="3665625" y="2785275"/>
            <a:ext cx="534900" cy="1586700"/>
          </a:xfrm>
          <a:prstGeom prst="bentConnector3">
            <a:avLst>
              <a:gd name="adj1" fmla="val 50157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140" name="Google Shape;140;p5"/>
          <p:cNvSpPr/>
          <p:nvPr/>
        </p:nvSpPr>
        <p:spPr>
          <a:xfrm>
            <a:off x="6400800" y="3170238"/>
            <a:ext cx="1706563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ArithmeticException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400800" y="3586163"/>
            <a:ext cx="1768475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NullPointerException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6400800" y="4019550"/>
            <a:ext cx="2354263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IndexOutOfBoundsException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964363" y="6161088"/>
            <a:ext cx="1036637" cy="315912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Unchecked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964363" y="5764213"/>
            <a:ext cx="858837" cy="31591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2225" cap="flat" cmpd="sng">
            <a:solidFill>
              <a:srgbClr val="FF6600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Checked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400800" y="4495800"/>
            <a:ext cx="2122488" cy="315913"/>
          </a:xfrm>
          <a:prstGeom prst="roundRect">
            <a:avLst>
              <a:gd name="adj" fmla="val 16667"/>
            </a:avLst>
          </a:prstGeom>
          <a:solidFill>
            <a:srgbClr val="FFCC99"/>
          </a:solidFill>
          <a:ln w="22225" cap="flat" cmpd="sng">
            <a:solidFill>
              <a:srgbClr val="FFCC99"/>
            </a:solidFill>
            <a:prstDash val="solid"/>
            <a:round/>
            <a:headEnd type="none" w="sm" len="sm"/>
            <a:tailEnd type="none" w="sm" len="sm"/>
          </a:ln>
          <a:effectLst>
            <a:outerShdw dist="35921" dir="2700000" algn="ctr" rotWithShape="0">
              <a:schemeClr val="lt2">
                <a:alpha val="49803"/>
              </a:scheme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NoSuchElementException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6400800" y="4953000"/>
            <a:ext cx="387350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157" name="Google Shape;157;p5"/>
          <p:cNvCxnSpPr>
            <a:stCxn id="156" idx="1"/>
            <a:endCxn id="141" idx="3"/>
          </p:cNvCxnSpPr>
          <p:nvPr/>
        </p:nvCxnSpPr>
        <p:spPr>
          <a:xfrm rot="10800000">
            <a:off x="5764200" y="3925175"/>
            <a:ext cx="636600" cy="1196100"/>
          </a:xfrm>
          <a:prstGeom prst="bentConnector3">
            <a:avLst>
              <a:gd name="adj1" fmla="val 50122"/>
            </a:avLst>
          </a:prstGeom>
          <a:noFill/>
          <a:ln w="22225" cap="flat" cmpd="sng">
            <a:solidFill>
              <a:srgbClr val="FF66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158" name="Google Shape;158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Representing Exceptions</a:t>
            </a:r>
            <a:endParaRPr/>
          </a:p>
        </p:txBody>
      </p:sp>
      <p:sp>
        <p:nvSpPr>
          <p:cNvPr id="159" name="Google Shape;159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Java Exception class hierarchy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 Handling in Java</a:t>
            </a:r>
            <a:endParaRPr/>
          </a:p>
        </p:txBody>
      </p:sp>
      <p:sp>
        <p:nvSpPr>
          <p:cNvPr id="167" name="Google Shape;16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✔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Java exception handling is managed by via five keywords: </a:t>
            </a:r>
            <a:r>
              <a:rPr lang="en-US" sz="3100" b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100" b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100" b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100" b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00" b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</a:t>
            </a:r>
            <a:endParaRPr/>
          </a:p>
          <a:p>
            <a:pPr marL="342900" lvl="0" indent="-342900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✔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Program statements to monitor are contained within a 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block</a:t>
            </a:r>
            <a:endParaRPr/>
          </a:p>
          <a:p>
            <a:pPr marL="342900" lvl="0" indent="-342900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✔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If an exception occurs within the 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 block, it is</a:t>
            </a:r>
            <a:r>
              <a:rPr lang="en-US" sz="3100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thrown</a:t>
            </a:r>
            <a:endParaRPr/>
          </a:p>
          <a:p>
            <a:pPr marL="342900" lvl="0" indent="-342900" algn="l" rtl="0">
              <a:spcBef>
                <a:spcPts val="62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Noto Sans Symbols"/>
              <a:buChar char="✔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Code within </a:t>
            </a:r>
            <a:r>
              <a:rPr lang="en-US" sz="3100" b="1">
                <a:latin typeface="Times New Roman"/>
                <a:ea typeface="Times New Roman"/>
                <a:cs typeface="Times New Roman"/>
                <a:sym typeface="Times New Roman"/>
              </a:rPr>
              <a:t>catch </a:t>
            </a: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block catch the exception and handle it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95400"/>
            <a:ext cx="73914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 txBox="1"/>
          <p:nvPr/>
        </p:nvSpPr>
        <p:spPr>
          <a:xfrm>
            <a:off x="838200" y="4572000"/>
            <a:ext cx="7162800" cy="1674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Division by zero.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catch statement.</a:t>
            </a:r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latin typeface="Times New Roman"/>
                <a:ea typeface="Times New Roman"/>
                <a:cs typeface="Times New Roman"/>
                <a:sym typeface="Times New Roman"/>
              </a:rPr>
              <a:t>try and catch statement</a:t>
            </a:r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✔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scope of a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clause is restricted to those statements specified by the immediately preceding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statement.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✔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statement cannot catch an exception thrown by another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statement.</a:t>
            </a:r>
            <a:endParaRPr/>
          </a:p>
          <a:p>
            <a:pPr marL="342900" lvl="0" indent="-3429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✔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The statements that are protected by the </a:t>
            </a: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 must be surrounded by curly braces.</a:t>
            </a:r>
            <a:endParaRPr/>
          </a:p>
        </p:txBody>
      </p:sp>
      <p:sp>
        <p:nvSpPr>
          <p:cNvPr id="186" name="Google Shape;186;p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Catch Clauses</a:t>
            </a:r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more than one can occur, then we use multiple catch clauses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an exception is thrown, each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 is inspected in order, and the first one whose type matches that of the exception is executed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After one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 executes, the others are bypassed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aphicFrame>
        <p:nvGraphicFramePr>
          <p:cNvPr id="200" name="Google Shape;200;p10"/>
          <p:cNvGraphicFramePr/>
          <p:nvPr/>
        </p:nvGraphicFramePr>
        <p:xfrm>
          <a:off x="381000" y="1524000"/>
          <a:ext cx="8001000" cy="425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01000" imgH="4257675" progId="PBrush">
                  <p:embed/>
                </p:oleObj>
              </mc:Choice>
              <mc:Fallback>
                <p:oleObj r:id="rId3" imgW="8001000" imgH="4257675" progId="PBrush">
                  <p:embed/>
                  <p:pic>
                    <p:nvPicPr>
                      <p:cNvPr id="200" name="Google Shape;200;p10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381000" y="1524000"/>
                        <a:ext cx="8001000" cy="425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" name="Google Shape;202;p1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Caution</a:t>
            </a:r>
            <a:endParaRPr/>
          </a:p>
        </p:txBody>
      </p:sp>
      <p:sp>
        <p:nvSpPr>
          <p:cNvPr id="208" name="Google Shape;208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Exception subclass must come before any of of their superclasses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catch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statement that uses a superclass will catch exceptions of that type plus any of its subclasses. So, the subclass would never be reached if it come after its superclass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For example,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ArithmeticException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is a subclass of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Exception</a:t>
            </a:r>
            <a:endParaRPr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Moreover, unreachable code in Java generates error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aphicFrame>
        <p:nvGraphicFramePr>
          <p:cNvPr id="216" name="Google Shape;216;p12"/>
          <p:cNvGraphicFramePr/>
          <p:nvPr/>
        </p:nvGraphicFramePr>
        <p:xfrm>
          <a:off x="838200" y="1676400"/>
          <a:ext cx="7772400" cy="414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772400" imgH="4141787" progId="PBrush">
                  <p:embed/>
                </p:oleObj>
              </mc:Choice>
              <mc:Fallback>
                <p:oleObj r:id="rId3" imgW="7772400" imgH="4141787" progId="PBrush">
                  <p:embed/>
                  <p:pic>
                    <p:nvPicPr>
                      <p:cNvPr id="216" name="Google Shape;216;p12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838200" y="1676400"/>
                        <a:ext cx="7772400" cy="414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218;p1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Nested try Statements</a:t>
            </a:r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 can be inside the block of another try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Each time a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 is entered, the context of that exception is pushed on the stack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an inner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 does not have a catch, then the next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statement’s catch handlers are inspected for a match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a method call within a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block has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try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block within it, then then it is still nested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try</a:t>
            </a:r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</p:txBody>
      </p:sp>
      <p:graphicFrame>
        <p:nvGraphicFramePr>
          <p:cNvPr id="232" name="Google Shape;232;p14"/>
          <p:cNvGraphicFramePr/>
          <p:nvPr/>
        </p:nvGraphicFramePr>
        <p:xfrm>
          <a:off x="762000" y="1066800"/>
          <a:ext cx="70104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010400" imgH="5791200" progId="PBrush">
                  <p:embed/>
                </p:oleObj>
              </mc:Choice>
              <mc:Fallback>
                <p:oleObj r:id="rId3" imgW="7010400" imgH="5791200" progId="PBrush">
                  <p:embed/>
                  <p:pic>
                    <p:nvPicPr>
                      <p:cNvPr id="232" name="Google Shape;232;p14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762000" y="1066800"/>
                        <a:ext cx="7010400" cy="579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" name="Google Shape;234;p1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throw</a:t>
            </a:r>
            <a:endParaRPr/>
          </a:p>
        </p:txBody>
      </p:sp>
      <p:sp>
        <p:nvSpPr>
          <p:cNvPr id="240" name="Google Shape;240;p15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8001000" cy="454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Char char="✔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It is possible for your program to to throw an exception explicitly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	</a:t>
            </a:r>
            <a:r>
              <a:rPr lang="en-US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 </a:t>
            </a:r>
            <a:r>
              <a:rPr lang="en-US" i="1">
                <a:solidFill>
                  <a:srgbClr val="A500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ThrowableInstance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Here, </a:t>
            </a:r>
            <a:r>
              <a:rPr lang="en-US" i="1">
                <a:latin typeface="Times New Roman"/>
                <a:ea typeface="Times New Roman"/>
                <a:cs typeface="Times New Roman"/>
                <a:sym typeface="Times New Roman"/>
              </a:rPr>
              <a:t>ThrowableInstance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must be an object of type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Throwable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or a subclass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Throwable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are two ways to obtain a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Throwable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objects: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Using a parameter into a catch clause</a:t>
            </a:r>
            <a:endParaRPr/>
          </a:p>
          <a:p>
            <a:pPr marL="742950" lvl="1" indent="-28575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Creating one with the </a:t>
            </a: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new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operator</a:t>
            </a:r>
            <a:endParaRPr/>
          </a:p>
        </p:txBody>
      </p:sp>
      <p:sp>
        <p:nvSpPr>
          <p:cNvPr id="242" name="Google Shape;242;p1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-throw Statements</a:t>
            </a:r>
            <a:endParaRPr/>
          </a:p>
        </p:txBody>
      </p:sp>
      <p:graphicFrame>
        <p:nvGraphicFramePr>
          <p:cNvPr id="248" name="Google Shape;248;p16"/>
          <p:cNvGraphicFramePr/>
          <p:nvPr/>
        </p:nvGraphicFramePr>
        <p:xfrm>
          <a:off x="1066800" y="609600"/>
          <a:ext cx="67818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781800" imgH="4114800" progId="PBrush">
                  <p:embed/>
                </p:oleObj>
              </mc:Choice>
              <mc:Fallback>
                <p:oleObj r:id="rId3" imgW="6781800" imgH="4114800" progId="PBrush">
                  <p:embed/>
                  <p:pic>
                    <p:nvPicPr>
                      <p:cNvPr id="248" name="Google Shape;248;p16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1066800" y="609600"/>
                        <a:ext cx="67818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" name="Google Shape;249;p16"/>
          <p:cNvSpPr txBox="1"/>
          <p:nvPr/>
        </p:nvSpPr>
        <p:spPr>
          <a:xfrm>
            <a:off x="990600" y="4800600"/>
            <a:ext cx="685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Caught inside demoproc.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Recaught: java.lang.NullPointerException: demo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throws</a:t>
            </a:r>
            <a:endParaRPr/>
          </a:p>
        </p:txBody>
      </p:sp>
      <p:sp>
        <p:nvSpPr>
          <p:cNvPr id="257" name="Google Shape;257;p17"/>
          <p:cNvSpPr txBox="1">
            <a:spLocks noGrp="1"/>
          </p:cNvSpPr>
          <p:nvPr>
            <p:ph type="body" idx="1"/>
          </p:nvPr>
        </p:nvSpPr>
        <p:spPr>
          <a:xfrm>
            <a:off x="457200" y="762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If a method is capable of causing an exception that it does not handle, it must specify this behavior so that callers of the method can guard themselves against that exception</a:t>
            </a:r>
            <a:endParaRPr/>
          </a:p>
          <a:p>
            <a:pPr marL="457200" lvl="0" indent="-45720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type method-name parameter-list)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throws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exception-list</a:t>
            </a:r>
            <a:endParaRPr/>
          </a:p>
          <a:p>
            <a:pPr marL="1027113" lvl="1" indent="-455613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1027113" lvl="1" indent="-455613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// body of method</a:t>
            </a:r>
            <a:endParaRPr/>
          </a:p>
          <a:p>
            <a:pPr marL="1027113" lvl="1" indent="-455613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457200" lvl="0" indent="-457200" algn="l" rtl="0">
              <a:lnSpc>
                <a:spcPct val="13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is not applicable for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or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RuntimeException,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or any of their subclasses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Example: incorrect program</a:t>
            </a:r>
            <a:endParaRPr/>
          </a:p>
        </p:txBody>
      </p:sp>
      <p:graphicFrame>
        <p:nvGraphicFramePr>
          <p:cNvPr id="265" name="Google Shape;265;p18"/>
          <p:cNvGraphicFramePr/>
          <p:nvPr/>
        </p:nvGraphicFramePr>
        <p:xfrm>
          <a:off x="914400" y="1524000"/>
          <a:ext cx="7620000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20000" imgH="3657600" progId="PBrush">
                  <p:embed/>
                </p:oleObj>
              </mc:Choice>
              <mc:Fallback>
                <p:oleObj r:id="rId3" imgW="7620000" imgH="3657600" progId="PBrush">
                  <p:embed/>
                  <p:pic>
                    <p:nvPicPr>
                      <p:cNvPr id="265" name="Google Shape;265;p18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914400" y="1524000"/>
                        <a:ext cx="7620000" cy="365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" name="Google Shape;267;p1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Example: corrected version</a:t>
            </a:r>
            <a:endParaRPr/>
          </a:p>
        </p:txBody>
      </p:sp>
      <p:graphicFrame>
        <p:nvGraphicFramePr>
          <p:cNvPr id="273" name="Google Shape;273;p19"/>
          <p:cNvGraphicFramePr/>
          <p:nvPr/>
        </p:nvGraphicFramePr>
        <p:xfrm>
          <a:off x="914400" y="1143000"/>
          <a:ext cx="769620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696200" imgH="3581400" progId="PBrush">
                  <p:embed/>
                </p:oleObj>
              </mc:Choice>
              <mc:Fallback>
                <p:oleObj r:id="rId3" imgW="7696200" imgH="3581400" progId="PBrush">
                  <p:embed/>
                  <p:pic>
                    <p:nvPicPr>
                      <p:cNvPr id="273" name="Google Shape;273;p19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914400" y="1143000"/>
                        <a:ext cx="7696200" cy="358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" name="Google Shape;274;p19"/>
          <p:cNvSpPr txBox="1"/>
          <p:nvPr/>
        </p:nvSpPr>
        <p:spPr>
          <a:xfrm>
            <a:off x="914400" y="4572000"/>
            <a:ext cx="7315200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 throwOne.</a:t>
            </a:r>
            <a:endParaRPr/>
          </a:p>
          <a:p>
            <a:pPr marL="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Caught java.lang.IllegalAccessException: demo</a:t>
            </a:r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Times New Roman"/>
                <a:ea typeface="Times New Roman"/>
                <a:cs typeface="Times New Roman"/>
                <a:sym typeface="Times New Roman"/>
              </a:rPr>
              <a:t>Finally Statement</a:t>
            </a:r>
            <a:endParaRPr/>
          </a:p>
        </p:txBody>
      </p:sp>
      <p:sp>
        <p:nvSpPr>
          <p:cNvPr id="282" name="Google Shape;282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finally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creates a block of code that will be executed after a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try/catch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block has completed and before the code following the 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try/catch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block.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finally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block will be executed whether or not an exception is thrown.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Any time a method is about to return to the caller from inside a try/catch block, via an uncaught exception or an explicit return statement, the finally clause is also executed just before the method returns.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Each try clause requires at least one catch or finally clause.</a:t>
            </a:r>
            <a:endParaRPr/>
          </a:p>
        </p:txBody>
      </p:sp>
      <p:sp>
        <p:nvSpPr>
          <p:cNvPr id="284" name="Google Shape;284;p2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</p:txBody>
      </p:sp>
      <p:graphicFrame>
        <p:nvGraphicFramePr>
          <p:cNvPr id="290" name="Google Shape;290;p21"/>
          <p:cNvGraphicFramePr/>
          <p:nvPr/>
        </p:nvGraphicFramePr>
        <p:xfrm>
          <a:off x="2057400" y="1219200"/>
          <a:ext cx="5029200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029200" imgH="5638800" progId="Paint.Picture">
                  <p:embed/>
                </p:oleObj>
              </mc:Choice>
              <mc:Fallback>
                <p:oleObj r:id="rId3" imgW="5029200" imgH="5638800" progId="Paint.Picture">
                  <p:embed/>
                  <p:pic>
                    <p:nvPicPr>
                      <p:cNvPr id="290" name="Google Shape;290;p21"/>
                      <p:cNvPicPr preferRelativeResize="0"/>
                      <p:nvPr/>
                    </p:nvPicPr>
                    <p:blipFill rotWithShape="1">
                      <a:blip r:embed="rId4">
                        <a:alphaModFix/>
                      </a:blip>
                      <a:srcRect/>
                      <a:stretch/>
                    </p:blipFill>
                    <p:spPr>
                      <a:xfrm>
                        <a:off x="2057400" y="1219200"/>
                        <a:ext cx="5029200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2" name="Google Shape;292;p21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Output</a:t>
            </a:r>
            <a:r>
              <a:rPr lang="en-US"/>
              <a:t> </a:t>
            </a:r>
            <a:endParaRPr/>
          </a:p>
        </p:txBody>
      </p:sp>
      <p:sp>
        <p:nvSpPr>
          <p:cNvPr id="298" name="Google Shape;29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inside procA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procA's finally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Exception caught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inside procB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procB's finally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inside procC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procC's finally</a:t>
            </a:r>
            <a:endParaRPr/>
          </a:p>
          <a:p>
            <a:pPr marL="457200" lvl="0" indent="-4572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2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Uncaught Exceptions</a:t>
            </a:r>
            <a:endParaRPr/>
          </a:p>
        </p:txBody>
      </p:sp>
      <p:sp>
        <p:nvSpPr>
          <p:cNvPr id="306" name="Google Shape;306;p23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4114800" cy="2770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exc0{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d=0;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int a=42/d;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07" name="Google Shape;307;p23"/>
          <p:cNvSpPr txBox="1">
            <a:spLocks noGrp="1"/>
          </p:cNvSpPr>
          <p:nvPr>
            <p:ph type="body" idx="2"/>
          </p:nvPr>
        </p:nvSpPr>
        <p:spPr>
          <a:xfrm>
            <a:off x="4648200" y="11430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 new exception object is constructed and then thrown.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This exception is caught by the default handler provided by the java runtime system.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 default handler displays a string describing the exception, prints the stack trace from the point at which the exception occurred and terminates the program.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304800" y="4876800"/>
            <a:ext cx="4267200" cy="119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java.lang.ArithmeticException: / by zero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at exc0.main(exc0.java:4)</a:t>
            </a:r>
            <a:endParaRPr/>
          </a:p>
        </p:txBody>
      </p:sp>
      <p:sp>
        <p:nvSpPr>
          <p:cNvPr id="310" name="Google Shape;310;p2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Displaying a Description of an Exception</a:t>
            </a:r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Throwable 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overrides the toString() method (defined by </a:t>
            </a: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Object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) so that it returns a string containing a description of the exception.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catch(ArithmeticException e)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	{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		System.out.println(“Exception: “+e);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	}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endParaRPr/>
          </a:p>
          <a:p>
            <a:pPr marL="342900" lvl="0" indent="-3429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rPr lang="en-US" sz="2600" b="1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Exception: java.lang.ArithmeticException: / by zero</a:t>
            </a:r>
            <a:endParaRPr sz="26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8" name="Google Shape;318;p24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1534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User Defined Exception</a:t>
            </a:r>
            <a:endParaRPr/>
          </a:p>
        </p:txBody>
      </p:sp>
      <p:sp>
        <p:nvSpPr>
          <p:cNvPr id="324" name="Google Shape;324;p25"/>
          <p:cNvSpPr txBox="1">
            <a:spLocks noGrp="1"/>
          </p:cNvSpPr>
          <p:nvPr>
            <p:ph type="body" idx="1"/>
          </p:nvPr>
        </p:nvSpPr>
        <p:spPr>
          <a:xfrm>
            <a:off x="609600" y="13716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Define a subclass of the Exception class.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new subclass inherits all the methods of Exception and can override them.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914400" y="3276600"/>
            <a:ext cx="7543800" cy="2017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MyException extends Exception{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private int a;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MyException(int i) { a = i;}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String toString (){ return “MyException[“ + a+”]”;} </a:t>
            </a:r>
            <a:endParaRPr/>
          </a:p>
          <a:p>
            <a:pPr marL="0" marR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"/>
          <p:cNvSpPr txBox="1"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Continuation of the Example</a:t>
            </a:r>
            <a:endParaRPr/>
          </a:p>
        </p:txBody>
      </p:sp>
      <p:sp>
        <p:nvSpPr>
          <p:cNvPr id="333" name="Google Shape;333;p26"/>
          <p:cNvSpPr txBox="1">
            <a:spLocks noGrp="1"/>
          </p:cNvSpPr>
          <p:nvPr>
            <p:ph type="body" idx="1"/>
          </p:nvPr>
        </p:nvSpPr>
        <p:spPr>
          <a:xfrm>
            <a:off x="457200" y="914400"/>
            <a:ext cx="8305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test{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static void compute (int a) throws Myexception{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	if(a&gt;10) throw new MyException(a);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	System.out.println(“Normal Exit”);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	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public static void main(String args[]){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try{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compute(1);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compute(20);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		}catch(MyException e){ System.out.println(“Caught “ +e);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335" name="Google Shape;335;p26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07720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Example-2</a:t>
            </a:r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067675" cy="403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 InvalidRadiusException </a:t>
            </a:r>
            <a:r>
              <a:rPr lang="en-US" sz="24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extends Exception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private double r;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   public InvalidRadiusException(double radius){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r = radius;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public void printError(){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System.out.println("Radius [" +  r + "] is not valid");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7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>
            <a:spLocks noGrp="1"/>
          </p:cNvSpPr>
          <p:nvPr>
            <p:ph type="title"/>
          </p:nvPr>
        </p:nvSpPr>
        <p:spPr>
          <a:xfrm>
            <a:off x="457200" y="76200"/>
            <a:ext cx="8229600" cy="944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Continuation of Example-2</a:t>
            </a:r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class Circle    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double x, y, r;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public Circle (double centreX, double centreY, double radius ) </a:t>
            </a:r>
            <a:r>
              <a:rPr lang="en-US" sz="20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throws InvalidRadiusException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if (r &lt;= 0 ) 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throw new InvalidRadiusException(radius);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else {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x = centreX ; y = centreY;  r = radius;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8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Continuation of Example-2</a:t>
            </a:r>
            <a:endParaRPr/>
          </a:p>
        </p:txBody>
      </p:sp>
      <p:sp>
        <p:nvSpPr>
          <p:cNvPr id="357" name="Google Shape;357;p29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class CircleTest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public static void main(String[] args){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try{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        Circle c1 = new Circle(10, 10, -1);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        System.out.println("Circle created");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catch(InvalidRadiusException e)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{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        e.printError();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     }</a:t>
            </a:r>
            <a:endParaRPr/>
          </a:p>
          <a:p>
            <a:pPr marL="342900" lvl="0" indent="-3429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lvl="0" indent="-165100" algn="l" rtl="0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9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Chapter 10 of the text book</a:t>
            </a:r>
            <a:endParaRPr/>
          </a:p>
        </p:txBody>
      </p:sp>
      <p:sp>
        <p:nvSpPr>
          <p:cNvPr id="368" name="Google Shape;368;p3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1294</Words>
  <Application>Microsoft Macintosh PowerPoint</Application>
  <PresentationFormat>On-screen Show (4:3)</PresentationFormat>
  <Paragraphs>222</Paragraphs>
  <Slides>30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Noto Sans Symbols</vt:lpstr>
      <vt:lpstr>Times New Roman</vt:lpstr>
      <vt:lpstr>Default Design</vt:lpstr>
      <vt:lpstr>PBrush</vt:lpstr>
      <vt:lpstr>Paint.Picture</vt:lpstr>
      <vt:lpstr>Lecture 13</vt:lpstr>
      <vt:lpstr>Exception Handling-Fundamentals</vt:lpstr>
      <vt:lpstr>Exception Handling</vt:lpstr>
      <vt:lpstr>Representing Exceptions</vt:lpstr>
      <vt:lpstr>Representing Exceptions</vt:lpstr>
      <vt:lpstr>Exception Handling in Java</vt:lpstr>
      <vt:lpstr>Example</vt:lpstr>
      <vt:lpstr>try and catch statement</vt:lpstr>
      <vt:lpstr>Multiple Catch Clauses</vt:lpstr>
      <vt:lpstr>Example</vt:lpstr>
      <vt:lpstr>Caution</vt:lpstr>
      <vt:lpstr>Example</vt:lpstr>
      <vt:lpstr>Nested try Statements</vt:lpstr>
      <vt:lpstr>Example</vt:lpstr>
      <vt:lpstr>throw</vt:lpstr>
      <vt:lpstr>Example -throw Statements</vt:lpstr>
      <vt:lpstr>throws</vt:lpstr>
      <vt:lpstr>Example: incorrect program</vt:lpstr>
      <vt:lpstr>Example: corrected version</vt:lpstr>
      <vt:lpstr>Finally Statement</vt:lpstr>
      <vt:lpstr>Example</vt:lpstr>
      <vt:lpstr>Output </vt:lpstr>
      <vt:lpstr>Uncaught Exceptions</vt:lpstr>
      <vt:lpstr>Displaying a Description of an Exception</vt:lpstr>
      <vt:lpstr>User Defined Exception</vt:lpstr>
      <vt:lpstr>Continuation of the Example</vt:lpstr>
      <vt:lpstr>Example-2</vt:lpstr>
      <vt:lpstr>Continuation of Example-2</vt:lpstr>
      <vt:lpstr>Continuation of Example-2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Md. Shiplu Hawlader</dc:creator>
  <cp:lastModifiedBy>Fahim Arefin</cp:lastModifiedBy>
  <cp:revision>2</cp:revision>
  <dcterms:created xsi:type="dcterms:W3CDTF">1601-01-01T00:00:00Z</dcterms:created>
  <dcterms:modified xsi:type="dcterms:W3CDTF">2025-10-30T07:23:41Z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