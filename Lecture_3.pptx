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5" r:id="rId1"/>
  </p:sldMasterIdLst>
  <p:notesMasterIdLst>
    <p:notesMasterId r:id="rId37"/>
  </p:notesMasterIdLst>
  <p:handoutMasterIdLst>
    <p:handoutMasterId r:id="rId38"/>
  </p:handoutMasterIdLst>
  <p:sldIdLst>
    <p:sldId id="256" r:id="rId2"/>
    <p:sldId id="277" r:id="rId3"/>
    <p:sldId id="27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9" r:id="rId13"/>
    <p:sldId id="280" r:id="rId14"/>
    <p:sldId id="257" r:id="rId15"/>
    <p:sldId id="258" r:id="rId16"/>
    <p:sldId id="259" r:id="rId17"/>
    <p:sldId id="281" r:id="rId18"/>
    <p:sldId id="260" r:id="rId19"/>
    <p:sldId id="261" r:id="rId20"/>
    <p:sldId id="26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6"/>
  </p:normalViewPr>
  <p:slideViewPr>
    <p:cSldViewPr>
      <p:cViewPr varScale="1">
        <p:scale>
          <a:sx n="114" d="100"/>
          <a:sy n="114" d="100"/>
        </p:scale>
        <p:origin x="175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47E1D9-D859-4793-95A6-C3DBED39F8A2}" type="datetimeFigureOut">
              <a:rPr lang="en-US" smtClean="0"/>
              <a:t>9/2/25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8BDF1C-DAD7-4F5D-B874-285C1E957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35413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 altLang="en-US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endParaRPr lang="en-US" altLang="en-US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 altLang="en-US"/>
          </a:p>
        </p:txBody>
      </p:sp>
      <p:sp>
        <p:nvSpPr>
          <p:cNvPr id="30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B96A460-AE48-4624-AD4C-9B2CA9EAC05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330504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047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7238" cy="3425825"/>
          </a:xfrm>
          <a:ln w="12700" cap="flat"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4164395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7238" cy="3425825"/>
          </a:xfrm>
          <a:ln w="12700" cap="flat"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777924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05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83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82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46083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6084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46085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46086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087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088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089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090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091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092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093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094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095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46096" name="Rectangle 16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DCBBCB5B-98FD-46E3-9EB6-C08857322818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46097" name="Rectangle 17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6098" name="Rectangle 18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9293EBF7-E15A-4F4F-B2AB-72F9CBCB884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609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4610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08A4903-1020-4404-AE66-44E86FF160D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1C97AAA5-3D84-444D-BB62-BEE279AFEF1F}" type="datetime1">
              <a:rPr lang="en-US" altLang="en-US" smtClean="0"/>
              <a:t>9/2/25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464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7C8535D-28F5-4B89-8261-06BB2EC9536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D29164BF-573D-48A2-AA66-548F0C423C7F}" type="datetime1">
              <a:rPr lang="en-US" altLang="en-US" smtClean="0"/>
              <a:t>9/2/25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5317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5B2F928-31EB-40FE-89A7-80D0B50CF58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3EC1BF80-A517-4814-A9CB-D7C41008D4AC}" type="datetime1">
              <a:rPr lang="en-US" altLang="en-US" smtClean="0"/>
              <a:t>9/2/25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4647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7AD07CB-04A0-4386-B2A6-D0FF13731A1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43E1B7E6-3ABA-44AA-B59B-DA06E2DC19A5}" type="datetime1">
              <a:rPr lang="en-US" altLang="en-US" smtClean="0"/>
              <a:t>9/2/25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1086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F3D83C0-56EA-4ABC-9DA6-2EE1E8A4FA1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FE79C599-8601-4E7F-B71B-15A3D78CB3E6}" type="datetime1">
              <a:rPr lang="en-US" altLang="en-US" smtClean="0"/>
              <a:t>9/2/25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0459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B48476D-6D81-4F85-92C4-C369CE5CAD1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AF7935ED-54E9-4CBB-85B6-C6CC725848E8}" type="datetime1">
              <a:rPr lang="en-US" altLang="en-US" smtClean="0"/>
              <a:t>9/2/25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8173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0E7763B-E5C1-4822-A20F-9620F78AE61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DB8A6DB7-22C3-42E9-BA91-820604200663}" type="datetime1">
              <a:rPr lang="en-US" altLang="en-US" smtClean="0"/>
              <a:t>9/2/25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5478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150AA37-4862-47EF-9BED-2DF7E3D5B8C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0C46680C-775D-4A2E-9D39-D082FA3EBE62}" type="datetime1">
              <a:rPr lang="en-US" altLang="en-US" smtClean="0"/>
              <a:t>9/2/25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8891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32993BA-C301-4DBC-A13C-311B2A99C0A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FD4D5336-97A9-4A68-9857-DB0677FD9BD5}" type="datetime1">
              <a:rPr lang="en-US" altLang="en-US" smtClean="0"/>
              <a:t>9/2/25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7449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D148B6E-5158-4189-B780-449619773DA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91CDAF8A-D188-4EC7-BC5D-96A470C6D819}" type="datetime1">
              <a:rPr lang="en-US" altLang="en-US" smtClean="0"/>
              <a:t>9/2/25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43315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D15ECDE2-3347-450A-B002-060D1B4963A0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FFD1481-EA43-4151-A4F4-3912A97EED6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0789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endParaRPr lang="en-US" altLang="en-US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fld id="{3B8DAC37-1645-4459-A9A5-E410C8E3C198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45060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4506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5062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5063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altLang="en-US">
                <a:solidFill>
                  <a:schemeClr val="hlink"/>
                </a:solidFill>
              </a:endParaRPr>
            </a:p>
          </p:txBody>
        </p:sp>
        <p:sp>
          <p:nvSpPr>
            <p:cNvPr id="45064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altLang="en-US">
                <a:solidFill>
                  <a:schemeClr val="hlink"/>
                </a:solidFill>
              </a:endParaRPr>
            </a:p>
          </p:txBody>
        </p:sp>
        <p:sp>
          <p:nvSpPr>
            <p:cNvPr id="45065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altLang="en-US">
                <a:solidFill>
                  <a:schemeClr val="accent2"/>
                </a:solidFill>
              </a:endParaRPr>
            </a:p>
          </p:txBody>
        </p:sp>
        <p:sp>
          <p:nvSpPr>
            <p:cNvPr id="45066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altLang="en-US">
                <a:solidFill>
                  <a:schemeClr val="hlink"/>
                </a:solidFill>
              </a:endParaRPr>
            </a:p>
          </p:txBody>
        </p:sp>
        <p:sp>
          <p:nvSpPr>
            <p:cNvPr id="45067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5068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altLang="en-US">
                <a:solidFill>
                  <a:schemeClr val="accent2"/>
                </a:solidFill>
              </a:endParaRPr>
            </a:p>
          </p:txBody>
        </p:sp>
        <p:sp>
          <p:nvSpPr>
            <p:cNvPr id="45069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alt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45070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507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507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fld id="{CFCC17B2-39E4-4C3B-9423-4F448AA8F1DB}" type="datetime1">
              <a:rPr lang="en-US" altLang="en-US" smtClean="0"/>
              <a:t>9/2/25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</p:sldLayoutIdLst>
  <p:hf hdr="0" ftr="0"/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5600" dirty="0"/>
              <a:t>Lecture 3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4800" y="4267200"/>
            <a:ext cx="8686800" cy="1752600"/>
          </a:xfrm>
        </p:spPr>
        <p:txBody>
          <a:bodyPr/>
          <a:lstStyle/>
          <a:p>
            <a:r>
              <a:rPr lang="en-US" altLang="en-US" sz="3800" dirty="0">
                <a:latin typeface="Times New Roman" panose="02020603050405020304" pitchFamily="18" charset="0"/>
              </a:rPr>
              <a:t>Concept of Object oriented Programming</a:t>
            </a:r>
          </a:p>
          <a:p>
            <a:r>
              <a:rPr lang="en-US" altLang="en-US" sz="3800" dirty="0">
                <a:latin typeface="Times New Roman" panose="02020603050405020304" pitchFamily="18" charset="0"/>
              </a:rPr>
              <a:t>				&amp;</a:t>
            </a:r>
          </a:p>
          <a:p>
            <a:r>
              <a:rPr lang="en-US" altLang="en-US" sz="4000" dirty="0">
                <a:latin typeface="Times New Roman" panose="02020603050405020304" pitchFamily="18" charset="0"/>
              </a:rPr>
              <a:t>Constants, Data Types and Variables</a:t>
            </a:r>
          </a:p>
          <a:p>
            <a:endParaRPr lang="en-US" altLang="en-US" sz="3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F6808D6-160E-4CE5-9568-EC85D8733EF5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7927975" cy="1143000"/>
          </a:xfrm>
          <a:noFill/>
          <a:ln/>
        </p:spPr>
        <p:txBody>
          <a:bodyPr lIns="92075" tIns="46038" rIns="92075" bIns="46038"/>
          <a:lstStyle/>
          <a:p>
            <a:r>
              <a:rPr lang="en-US" altLang="en-US"/>
              <a:t>Programming languages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828800"/>
            <a:ext cx="8610600" cy="5029200"/>
          </a:xfrm>
          <a:noFill/>
          <a:ln/>
        </p:spPr>
        <p:txBody>
          <a:bodyPr lIns="182563" tIns="46038" rIns="182563" bIns="46038"/>
          <a:lstStyle/>
          <a:p>
            <a:pPr marL="571500" indent="-571500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altLang="en-US" sz="2000">
                <a:latin typeface="Times New Roman" panose="02020603050405020304" pitchFamily="18" charset="0"/>
              </a:rPr>
              <a:t>Three types of programming languages</a:t>
            </a:r>
          </a:p>
          <a:p>
            <a:pPr marL="1143000" lvl="1" indent="-4953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800">
                <a:latin typeface="Times New Roman" panose="02020603050405020304" pitchFamily="18" charset="0"/>
              </a:rPr>
              <a:t>Machine languages </a:t>
            </a:r>
          </a:p>
          <a:p>
            <a:pPr marL="1428750" lvl="2" indent="-43815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1700">
                <a:latin typeface="Times New Roman" panose="02020603050405020304" pitchFamily="18" charset="0"/>
              </a:rPr>
              <a:t>Strings of numbers giving machine specific instructions</a:t>
            </a:r>
          </a:p>
          <a:p>
            <a:pPr marL="1428750" lvl="2" indent="-43815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600" b="1">
              <a:latin typeface="Times New Roman" panose="02020603050405020304" pitchFamily="18" charset="0"/>
            </a:endParaRPr>
          </a:p>
          <a:p>
            <a:pPr marL="1143000" lvl="1" indent="-4953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800">
                <a:latin typeface="Times New Roman" panose="02020603050405020304" pitchFamily="18" charset="0"/>
              </a:rPr>
              <a:t>Assembly languages</a:t>
            </a:r>
          </a:p>
          <a:p>
            <a:pPr marL="1428750" lvl="2" indent="-43815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1700">
                <a:latin typeface="Times New Roman" panose="02020603050405020304" pitchFamily="18" charset="0"/>
              </a:rPr>
              <a:t>English-like abbreviations representing elementary computer operations (translated via assemblers)</a:t>
            </a:r>
          </a:p>
          <a:p>
            <a:pPr marL="1790700" lvl="3" indent="-38100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1400">
                <a:latin typeface="Times New Roman" panose="02020603050405020304" pitchFamily="18" charset="0"/>
              </a:rPr>
              <a:t>Example:</a:t>
            </a:r>
          </a:p>
          <a:p>
            <a:pPr marL="2247900" lvl="4" indent="-3810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LOAD   BASEPAY</a:t>
            </a:r>
          </a:p>
          <a:p>
            <a:pPr marL="2247900" lvl="4" indent="-3810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ADD    OVERPAY</a:t>
            </a:r>
          </a:p>
          <a:p>
            <a:pPr marL="2247900" lvl="4" indent="-3810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STORE  GROSSPAY</a:t>
            </a:r>
          </a:p>
          <a:p>
            <a:pPr marL="1143000" lvl="1" indent="-4953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800">
                <a:latin typeface="Times New Roman" panose="02020603050405020304" pitchFamily="18" charset="0"/>
              </a:rPr>
              <a:t>High-level languages</a:t>
            </a:r>
          </a:p>
          <a:p>
            <a:pPr marL="1428750" lvl="2" indent="-43815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1700">
                <a:latin typeface="Times New Roman" panose="02020603050405020304" pitchFamily="18" charset="0"/>
              </a:rPr>
              <a:t>Codes similar to everyday English</a:t>
            </a:r>
          </a:p>
          <a:p>
            <a:pPr marL="1428750" lvl="2" indent="-43815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1700">
                <a:latin typeface="Times New Roman" panose="02020603050405020304" pitchFamily="18" charset="0"/>
              </a:rPr>
              <a:t>Use mathematical notations (translated via compilers)</a:t>
            </a:r>
          </a:p>
          <a:p>
            <a:pPr marL="1428750" lvl="2" indent="-43815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1700">
                <a:latin typeface="Times New Roman" panose="02020603050405020304" pitchFamily="18" charset="0"/>
              </a:rPr>
              <a:t>Example:           </a:t>
            </a:r>
            <a:r>
              <a:rPr lang="en-US" altLang="en-US" sz="1700" b="1">
                <a:latin typeface="Times New Roman" panose="02020603050405020304" pitchFamily="18" charset="0"/>
              </a:rPr>
              <a:t>grossPay = basePay</a:t>
            </a:r>
            <a:r>
              <a:rPr lang="en-US" altLang="en-US" sz="1700" b="1">
                <a:latin typeface="Courier New" panose="02070309020205020404" pitchFamily="49" charset="0"/>
              </a:rPr>
              <a:t> + overTimePay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8A4903-1020-4404-AE66-44E86FF160D1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FD47B9E-B0BB-45AB-BC78-9B47CE590A4E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altLang="en-US"/>
              <a:t>Structured Programming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046288"/>
            <a:ext cx="7772400" cy="3533775"/>
          </a:xfrm>
          <a:noFill/>
          <a:ln/>
        </p:spPr>
        <p:txBody>
          <a:bodyPr lIns="182563" tIns="46038" rIns="182563" bIns="46038"/>
          <a:lstStyle/>
          <a:p>
            <a:pPr>
              <a:lnSpc>
                <a:spcPct val="90000"/>
              </a:lnSpc>
              <a:buSzTx/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Structured programming </a:t>
            </a:r>
          </a:p>
          <a:p>
            <a:pPr lvl="1">
              <a:lnSpc>
                <a:spcPct val="90000"/>
              </a:lnSpc>
              <a:buSzTx/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Disciplined approach to writing programs</a:t>
            </a:r>
          </a:p>
          <a:p>
            <a:pPr lvl="1">
              <a:lnSpc>
                <a:spcPct val="90000"/>
              </a:lnSpc>
              <a:buSzTx/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Clear, easy to test and debug and easy to modify</a:t>
            </a:r>
          </a:p>
          <a:p>
            <a:pPr>
              <a:lnSpc>
                <a:spcPct val="90000"/>
              </a:lnSpc>
              <a:buSzTx/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Structured programming is hard and takes time to master</a:t>
            </a:r>
          </a:p>
          <a:p>
            <a:pPr>
              <a:lnSpc>
                <a:spcPct val="90000"/>
              </a:lnSpc>
              <a:buSzTx/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Can handle the program complexity up to a certain size.</a:t>
            </a:r>
          </a:p>
          <a:p>
            <a:pPr>
              <a:lnSpc>
                <a:spcPct val="90000"/>
              </a:lnSpc>
              <a:buSzTx/>
              <a:buFont typeface="Wingdings" panose="05000000000000000000" pitchFamily="2" charset="2"/>
              <a:buNone/>
            </a:pPr>
            <a:r>
              <a:rPr lang="en-US" altLang="en-US" sz="2800" b="1" u="sng">
                <a:latin typeface="Times New Roman" panose="02020603050405020304" pitchFamily="18" charset="0"/>
              </a:rPr>
              <a:t>Recent Trend:  Object-oriented Programming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8A4903-1020-4404-AE66-44E86FF160D1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80AF940-FE46-4995-9E8E-AF014CE9A80D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609600"/>
          </a:xfrm>
        </p:spPr>
        <p:txBody>
          <a:bodyPr/>
          <a:lstStyle/>
          <a:p>
            <a:r>
              <a:rPr lang="en-US" altLang="en-US" sz="4000"/>
              <a:t>Procedure Oriented Programming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572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The problem is viewed as a sequence of actions and a number of functions are written to solve these actions.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Large problem is divided into smaller programs known as modular programming.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2133600" y="3352800"/>
            <a:ext cx="22098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>
                <a:latin typeface="Times New Roman" panose="02020603050405020304" pitchFamily="18" charset="0"/>
              </a:rPr>
              <a:t>Main program</a:t>
            </a:r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1066800" y="4495800"/>
            <a:ext cx="1600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>
                <a:latin typeface="Times New Roman" panose="02020603050405020304" pitchFamily="18" charset="0"/>
              </a:rPr>
              <a:t>Function-1</a:t>
            </a:r>
          </a:p>
        </p:txBody>
      </p:sp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3200400" y="4495800"/>
            <a:ext cx="18288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>
                <a:latin typeface="Times New Roman" panose="02020603050405020304" pitchFamily="18" charset="0"/>
              </a:rPr>
              <a:t>Function-2</a:t>
            </a:r>
          </a:p>
        </p:txBody>
      </p:sp>
      <p:sp>
        <p:nvSpPr>
          <p:cNvPr id="20487" name="Rectangle 7"/>
          <p:cNvSpPr>
            <a:spLocks noChangeArrowheads="1"/>
          </p:cNvSpPr>
          <p:nvPr/>
        </p:nvSpPr>
        <p:spPr bwMode="auto">
          <a:xfrm>
            <a:off x="5715000" y="4495800"/>
            <a:ext cx="1981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>
                <a:latin typeface="Times New Roman" panose="02020603050405020304" pitchFamily="18" charset="0"/>
              </a:rPr>
              <a:t>Function-3</a:t>
            </a:r>
          </a:p>
        </p:txBody>
      </p:sp>
      <p:sp>
        <p:nvSpPr>
          <p:cNvPr id="20488" name="Rectangle 8"/>
          <p:cNvSpPr>
            <a:spLocks noChangeArrowheads="1"/>
          </p:cNvSpPr>
          <p:nvPr/>
        </p:nvSpPr>
        <p:spPr bwMode="auto">
          <a:xfrm>
            <a:off x="2057400" y="5486400"/>
            <a:ext cx="18288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>
                <a:latin typeface="Times New Roman" panose="02020603050405020304" pitchFamily="18" charset="0"/>
              </a:rPr>
              <a:t>Function-4</a:t>
            </a:r>
          </a:p>
        </p:txBody>
      </p:sp>
      <p:sp>
        <p:nvSpPr>
          <p:cNvPr id="20489" name="Rectangle 9"/>
          <p:cNvSpPr>
            <a:spLocks noChangeArrowheads="1"/>
          </p:cNvSpPr>
          <p:nvPr/>
        </p:nvSpPr>
        <p:spPr bwMode="auto">
          <a:xfrm>
            <a:off x="5029200" y="5562600"/>
            <a:ext cx="18288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>
                <a:latin typeface="Times New Roman" panose="02020603050405020304" pitchFamily="18" charset="0"/>
              </a:rPr>
              <a:t>Function-5</a:t>
            </a:r>
          </a:p>
        </p:txBody>
      </p:sp>
      <p:sp>
        <p:nvSpPr>
          <p:cNvPr id="20490" name="Line 10"/>
          <p:cNvSpPr>
            <a:spLocks noChangeShapeType="1"/>
          </p:cNvSpPr>
          <p:nvPr/>
        </p:nvSpPr>
        <p:spPr bwMode="auto">
          <a:xfrm flipH="1">
            <a:off x="1905000" y="3886200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1" name="Line 11"/>
          <p:cNvSpPr>
            <a:spLocks noChangeShapeType="1"/>
          </p:cNvSpPr>
          <p:nvPr/>
        </p:nvSpPr>
        <p:spPr bwMode="auto">
          <a:xfrm>
            <a:off x="3352800" y="3886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2" name="Line 12"/>
          <p:cNvSpPr>
            <a:spLocks noChangeShapeType="1"/>
          </p:cNvSpPr>
          <p:nvPr/>
        </p:nvSpPr>
        <p:spPr bwMode="auto">
          <a:xfrm>
            <a:off x="4343400" y="3886200"/>
            <a:ext cx="1752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3" name="Line 13"/>
          <p:cNvSpPr>
            <a:spLocks noChangeShapeType="1"/>
          </p:cNvSpPr>
          <p:nvPr/>
        </p:nvSpPr>
        <p:spPr bwMode="auto">
          <a:xfrm>
            <a:off x="1905000" y="49530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4" name="Line 14"/>
          <p:cNvSpPr>
            <a:spLocks noChangeShapeType="1"/>
          </p:cNvSpPr>
          <p:nvPr/>
        </p:nvSpPr>
        <p:spPr bwMode="auto">
          <a:xfrm flipH="1">
            <a:off x="3505200" y="50292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5" name="Line 15"/>
          <p:cNvSpPr>
            <a:spLocks noChangeShapeType="1"/>
          </p:cNvSpPr>
          <p:nvPr/>
        </p:nvSpPr>
        <p:spPr bwMode="auto">
          <a:xfrm>
            <a:off x="6400800" y="5029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8A4903-1020-4404-AE66-44E86FF160D1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3F2661A-9706-4645-9FF0-C0EDBD0E4444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458200" cy="914400"/>
          </a:xfrm>
        </p:spPr>
        <p:txBody>
          <a:bodyPr/>
          <a:lstStyle/>
          <a:p>
            <a:r>
              <a:rPr lang="en-US" altLang="en-US" sz="4000"/>
              <a:t>Procedure Oriented Programming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Data move openly around the system from function to function.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altLang="en-US" sz="280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altLang="en-US" sz="280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altLang="en-US" sz="280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altLang="en-US" sz="280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altLang="en-US" sz="280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altLang="en-US" sz="280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Employs top-down approach in program design.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1447800" y="2590800"/>
            <a:ext cx="18288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>
                <a:latin typeface="Times New Roman" panose="02020603050405020304" pitchFamily="18" charset="0"/>
              </a:rPr>
              <a:t>Global Data</a:t>
            </a:r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5334000" y="2514600"/>
            <a:ext cx="2057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>
                <a:latin typeface="Times New Roman" panose="02020603050405020304" pitchFamily="18" charset="0"/>
              </a:rPr>
              <a:t>Global Data</a:t>
            </a:r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1066800" y="4191000"/>
            <a:ext cx="18288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>
                <a:latin typeface="Times New Roman" panose="02020603050405020304" pitchFamily="18" charset="0"/>
              </a:rPr>
              <a:t>Function-1</a:t>
            </a:r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3505200" y="4191000"/>
            <a:ext cx="1905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>
                <a:latin typeface="Times New Roman" panose="02020603050405020304" pitchFamily="18" charset="0"/>
              </a:rPr>
              <a:t>Function-2</a:t>
            </a:r>
          </a:p>
        </p:txBody>
      </p:sp>
      <p:sp>
        <p:nvSpPr>
          <p:cNvPr id="21512" name="Rectangle 8"/>
          <p:cNvSpPr>
            <a:spLocks noChangeArrowheads="1"/>
          </p:cNvSpPr>
          <p:nvPr/>
        </p:nvSpPr>
        <p:spPr bwMode="auto">
          <a:xfrm>
            <a:off x="6172200" y="4114800"/>
            <a:ext cx="1981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>
                <a:latin typeface="Times New Roman" panose="02020603050405020304" pitchFamily="18" charset="0"/>
              </a:rPr>
              <a:t>Function-3</a:t>
            </a:r>
          </a:p>
        </p:txBody>
      </p:sp>
      <p:sp>
        <p:nvSpPr>
          <p:cNvPr id="21513" name="Rectangle 9"/>
          <p:cNvSpPr>
            <a:spLocks noChangeArrowheads="1"/>
          </p:cNvSpPr>
          <p:nvPr/>
        </p:nvSpPr>
        <p:spPr bwMode="auto">
          <a:xfrm>
            <a:off x="1066800" y="4648200"/>
            <a:ext cx="18288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>
                <a:latin typeface="Times New Roman" panose="02020603050405020304" pitchFamily="18" charset="0"/>
              </a:rPr>
              <a:t>Local Data</a:t>
            </a:r>
          </a:p>
        </p:txBody>
      </p:sp>
      <p:sp>
        <p:nvSpPr>
          <p:cNvPr id="21514" name="Rectangle 10"/>
          <p:cNvSpPr>
            <a:spLocks noChangeArrowheads="1"/>
          </p:cNvSpPr>
          <p:nvPr/>
        </p:nvSpPr>
        <p:spPr bwMode="auto">
          <a:xfrm>
            <a:off x="3505200" y="4648200"/>
            <a:ext cx="1905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>
                <a:latin typeface="Times New Roman" panose="02020603050405020304" pitchFamily="18" charset="0"/>
              </a:rPr>
              <a:t>Local Data</a:t>
            </a:r>
          </a:p>
        </p:txBody>
      </p:sp>
      <p:sp>
        <p:nvSpPr>
          <p:cNvPr id="21515" name="Rectangle 11"/>
          <p:cNvSpPr>
            <a:spLocks noChangeArrowheads="1"/>
          </p:cNvSpPr>
          <p:nvPr/>
        </p:nvSpPr>
        <p:spPr bwMode="auto">
          <a:xfrm>
            <a:off x="6172200" y="4648200"/>
            <a:ext cx="1981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>
                <a:latin typeface="Times New Roman" panose="02020603050405020304" pitchFamily="18" charset="0"/>
              </a:rPr>
              <a:t>Local Data</a:t>
            </a:r>
          </a:p>
        </p:txBody>
      </p:sp>
      <p:sp>
        <p:nvSpPr>
          <p:cNvPr id="21516" name="Line 12"/>
          <p:cNvSpPr>
            <a:spLocks noChangeShapeType="1"/>
          </p:cNvSpPr>
          <p:nvPr/>
        </p:nvSpPr>
        <p:spPr bwMode="auto">
          <a:xfrm flipH="1">
            <a:off x="1371600" y="3124200"/>
            <a:ext cx="3810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7" name="Line 13"/>
          <p:cNvSpPr>
            <a:spLocks noChangeShapeType="1"/>
          </p:cNvSpPr>
          <p:nvPr/>
        </p:nvSpPr>
        <p:spPr bwMode="auto">
          <a:xfrm>
            <a:off x="2209800" y="3124200"/>
            <a:ext cx="14478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8" name="Line 14"/>
          <p:cNvSpPr>
            <a:spLocks noChangeShapeType="1"/>
          </p:cNvSpPr>
          <p:nvPr/>
        </p:nvSpPr>
        <p:spPr bwMode="auto">
          <a:xfrm>
            <a:off x="3276600" y="3124200"/>
            <a:ext cx="3276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9" name="Line 15"/>
          <p:cNvSpPr>
            <a:spLocks noChangeShapeType="1"/>
          </p:cNvSpPr>
          <p:nvPr/>
        </p:nvSpPr>
        <p:spPr bwMode="auto">
          <a:xfrm flipH="1">
            <a:off x="2819400" y="3048000"/>
            <a:ext cx="25146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0" name="Line 16"/>
          <p:cNvSpPr>
            <a:spLocks noChangeShapeType="1"/>
          </p:cNvSpPr>
          <p:nvPr/>
        </p:nvSpPr>
        <p:spPr bwMode="auto">
          <a:xfrm flipH="1">
            <a:off x="4876800" y="3048000"/>
            <a:ext cx="8382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1" name="Line 17"/>
          <p:cNvSpPr>
            <a:spLocks noChangeShapeType="1"/>
          </p:cNvSpPr>
          <p:nvPr/>
        </p:nvSpPr>
        <p:spPr bwMode="auto">
          <a:xfrm>
            <a:off x="6477000" y="3048000"/>
            <a:ext cx="3810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8A4903-1020-4404-AE66-44E86FF160D1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82F4702-3812-4D62-B980-D5CCEEAFC343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Object –Oriented Programming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382000" cy="5029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Emphasis is on data rather than procedure.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Programs are divided into objects.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1066800" y="2667000"/>
            <a:ext cx="1981200" cy="160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371600" y="2895600"/>
            <a:ext cx="12954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>
                <a:latin typeface="Times New Roman" panose="02020603050405020304" pitchFamily="18" charset="0"/>
              </a:rPr>
              <a:t>Data</a:t>
            </a:r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1371600" y="3733800"/>
            <a:ext cx="14478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>
                <a:latin typeface="Times New Roman" panose="02020603050405020304" pitchFamily="18" charset="0"/>
              </a:rPr>
              <a:t>Functions</a:t>
            </a:r>
          </a:p>
        </p:txBody>
      </p:sp>
      <p:sp>
        <p:nvSpPr>
          <p:cNvPr id="22535" name="Line 7"/>
          <p:cNvSpPr>
            <a:spLocks noChangeShapeType="1"/>
          </p:cNvSpPr>
          <p:nvPr/>
        </p:nvSpPr>
        <p:spPr bwMode="auto">
          <a:xfrm flipH="1">
            <a:off x="1981200" y="3276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4191000" y="2667000"/>
            <a:ext cx="21336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7" name="Rectangle 9"/>
          <p:cNvSpPr>
            <a:spLocks noChangeArrowheads="1"/>
          </p:cNvSpPr>
          <p:nvPr/>
        </p:nvSpPr>
        <p:spPr bwMode="auto">
          <a:xfrm>
            <a:off x="4419600" y="2819400"/>
            <a:ext cx="1600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>
                <a:latin typeface="Times New Roman" panose="02020603050405020304" pitchFamily="18" charset="0"/>
              </a:rPr>
              <a:t>Data</a:t>
            </a:r>
          </a:p>
        </p:txBody>
      </p:sp>
      <p:sp>
        <p:nvSpPr>
          <p:cNvPr id="22538" name="Rectangle 10"/>
          <p:cNvSpPr>
            <a:spLocks noChangeArrowheads="1"/>
          </p:cNvSpPr>
          <p:nvPr/>
        </p:nvSpPr>
        <p:spPr bwMode="auto">
          <a:xfrm>
            <a:off x="4495800" y="3733800"/>
            <a:ext cx="14478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>
                <a:latin typeface="Times New Roman" panose="02020603050405020304" pitchFamily="18" charset="0"/>
              </a:rPr>
              <a:t>Functions</a:t>
            </a:r>
          </a:p>
        </p:txBody>
      </p:sp>
      <p:sp>
        <p:nvSpPr>
          <p:cNvPr id="22539" name="Line 11"/>
          <p:cNvSpPr>
            <a:spLocks noChangeShapeType="1"/>
          </p:cNvSpPr>
          <p:nvPr/>
        </p:nvSpPr>
        <p:spPr bwMode="auto">
          <a:xfrm>
            <a:off x="5105400" y="3276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0" name="Rectangle 12"/>
          <p:cNvSpPr>
            <a:spLocks noChangeArrowheads="1"/>
          </p:cNvSpPr>
          <p:nvPr/>
        </p:nvSpPr>
        <p:spPr bwMode="auto">
          <a:xfrm>
            <a:off x="2667000" y="4953000"/>
            <a:ext cx="22860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1" name="Rectangle 13"/>
          <p:cNvSpPr>
            <a:spLocks noChangeArrowheads="1"/>
          </p:cNvSpPr>
          <p:nvPr/>
        </p:nvSpPr>
        <p:spPr bwMode="auto">
          <a:xfrm>
            <a:off x="2971800" y="5105400"/>
            <a:ext cx="14478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>
                <a:latin typeface="Times New Roman" panose="02020603050405020304" pitchFamily="18" charset="0"/>
              </a:rPr>
              <a:t>Functions</a:t>
            </a:r>
          </a:p>
        </p:txBody>
      </p:sp>
      <p:sp>
        <p:nvSpPr>
          <p:cNvPr id="22542" name="Rectangle 14"/>
          <p:cNvSpPr>
            <a:spLocks noChangeArrowheads="1"/>
          </p:cNvSpPr>
          <p:nvPr/>
        </p:nvSpPr>
        <p:spPr bwMode="auto">
          <a:xfrm>
            <a:off x="3048000" y="6019800"/>
            <a:ext cx="12954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>
                <a:latin typeface="Times New Roman" panose="02020603050405020304" pitchFamily="18" charset="0"/>
              </a:rPr>
              <a:t>Data</a:t>
            </a:r>
          </a:p>
        </p:txBody>
      </p:sp>
      <p:sp>
        <p:nvSpPr>
          <p:cNvPr id="22543" name="Line 15"/>
          <p:cNvSpPr>
            <a:spLocks noChangeShapeType="1"/>
          </p:cNvSpPr>
          <p:nvPr/>
        </p:nvSpPr>
        <p:spPr bwMode="auto">
          <a:xfrm>
            <a:off x="3657600" y="5486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4" name="Line 16"/>
          <p:cNvSpPr>
            <a:spLocks noChangeShapeType="1"/>
          </p:cNvSpPr>
          <p:nvPr/>
        </p:nvSpPr>
        <p:spPr bwMode="auto">
          <a:xfrm>
            <a:off x="2819400" y="38862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5" name="Line 17"/>
          <p:cNvSpPr>
            <a:spLocks noChangeShapeType="1"/>
          </p:cNvSpPr>
          <p:nvPr/>
        </p:nvSpPr>
        <p:spPr bwMode="auto">
          <a:xfrm>
            <a:off x="2209800" y="4114800"/>
            <a:ext cx="990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6" name="Line 18"/>
          <p:cNvSpPr>
            <a:spLocks noChangeShapeType="1"/>
          </p:cNvSpPr>
          <p:nvPr/>
        </p:nvSpPr>
        <p:spPr bwMode="auto">
          <a:xfrm flipH="1">
            <a:off x="4038600" y="4114800"/>
            <a:ext cx="762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7" name="Text Box 19"/>
          <p:cNvSpPr txBox="1">
            <a:spLocks noChangeArrowheads="1"/>
          </p:cNvSpPr>
          <p:nvPr/>
        </p:nvSpPr>
        <p:spPr bwMode="auto">
          <a:xfrm>
            <a:off x="990600" y="4419600"/>
            <a:ext cx="1371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Object A</a:t>
            </a:r>
          </a:p>
        </p:txBody>
      </p:sp>
      <p:sp>
        <p:nvSpPr>
          <p:cNvPr id="22548" name="Text Box 20"/>
          <p:cNvSpPr txBox="1">
            <a:spLocks noChangeArrowheads="1"/>
          </p:cNvSpPr>
          <p:nvPr/>
        </p:nvSpPr>
        <p:spPr bwMode="auto">
          <a:xfrm>
            <a:off x="5181600" y="4495800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Object B</a:t>
            </a:r>
          </a:p>
        </p:txBody>
      </p:sp>
      <p:sp>
        <p:nvSpPr>
          <p:cNvPr id="22549" name="Text Box 21"/>
          <p:cNvSpPr txBox="1">
            <a:spLocks noChangeArrowheads="1"/>
          </p:cNvSpPr>
          <p:nvPr/>
        </p:nvSpPr>
        <p:spPr bwMode="auto">
          <a:xfrm>
            <a:off x="5105400" y="5943600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Object 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8A4903-1020-4404-AE66-44E86FF160D1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9E0EAEE-29AE-4FBD-A0E7-4F30028BB0CC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Object –Oriented Programming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Objects can communicate with each other through functions.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New data and functions can be easily added whenever necessary.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Follow bottom up approach in program design.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8A4903-1020-4404-AE66-44E86FF160D1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C6C8A22-5088-4A29-B3F7-E1A08FDEE579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Basic Concepts of OOP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Objects and classes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Data Encapsulation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Inheritance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Polymorphism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Dynamic Binding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Message Communication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8A4903-1020-4404-AE66-44E86FF160D1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EB2E250-D523-4EF0-85F5-726ED5D2081B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52400"/>
            <a:ext cx="8229600" cy="1371600"/>
          </a:xfrm>
        </p:spPr>
        <p:txBody>
          <a:bodyPr/>
          <a:lstStyle/>
          <a:p>
            <a:r>
              <a:rPr lang="en-US" altLang="en-US"/>
              <a:t>Objects and Classes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3886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Program objects should be chosen such that they match closely with the real-world objects.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Any programming problem is analyzed in terms of objects and the nature of communication between them.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Objects contain data and code to manipulate that data.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A </a:t>
            </a:r>
            <a:r>
              <a:rPr lang="en-US" altLang="en-US" sz="2800" b="1">
                <a:latin typeface="Times New Roman" panose="02020603050405020304" pitchFamily="18" charset="0"/>
              </a:rPr>
              <a:t>class</a:t>
            </a:r>
            <a:r>
              <a:rPr lang="en-US" altLang="en-US" sz="2800">
                <a:latin typeface="Times New Roman" panose="02020603050405020304" pitchFamily="18" charset="0"/>
              </a:rPr>
              <a:t> is a data type and an object is a variable of that data type.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Class define the data and code that should be included in each object of that class.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It is a user defined type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8A4903-1020-4404-AE66-44E86FF160D1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1AA20CD-C229-42CE-AF8C-6C5A2B62797F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 Encapsulation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8001000" cy="2209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The wrapping of data and methods into a single unit is known as encapsulation.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This ensures data hiding.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The methods of an object provides interface between the data of the object and the program.</a:t>
            </a:r>
          </a:p>
        </p:txBody>
      </p:sp>
      <p:sp>
        <p:nvSpPr>
          <p:cNvPr id="26630" name="Text Box 6"/>
          <p:cNvSpPr txBox="1">
            <a:spLocks noChangeArrowheads="1"/>
          </p:cNvSpPr>
          <p:nvPr/>
        </p:nvSpPr>
        <p:spPr bwMode="auto">
          <a:xfrm>
            <a:off x="1066800" y="3962400"/>
            <a:ext cx="7086600" cy="2716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3200" b="1"/>
              <a:t>Inheritance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Inheritance is the process by which objects of one class can acquire the properties of objects of another class.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It provides the idea of reusability.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8A4903-1020-4404-AE66-44E86FF160D1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42775C4-6676-4B63-BBEF-E3611FEB8EE2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Polymorphism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524000"/>
            <a:ext cx="7848600" cy="21336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Polymorphism means the ability to take more than one form.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A general class of operations may be accessed in the same manner even though specific actions associated with each operation may differ.</a:t>
            </a: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457200" y="3751263"/>
            <a:ext cx="8382000" cy="228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3200"/>
              <a:t>Dynamic Binding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The code associated with a procedure call is not known until the time of the call at runtime.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It is associated with polymorphism and inheritance.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8A4903-1020-4404-AE66-44E86FF160D1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2671B52-3BA8-4A42-8C54-6ECB2DBC7B83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Message Communication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Objects communicate with each other by sending and receiving messages.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altLang="en-US" sz="280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altLang="en-US" sz="280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altLang="en-US" sz="280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Message passing involves specifying the object name, the name of the method and the information to be sent.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800">
                <a:latin typeface="Times New Roman" panose="02020603050405020304" pitchFamily="18" charset="0"/>
              </a:rPr>
              <a:t>	Example : Employee . salary (name);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34820" name="Oval 4"/>
          <p:cNvSpPr>
            <a:spLocks noChangeArrowheads="1"/>
          </p:cNvSpPr>
          <p:nvPr/>
        </p:nvSpPr>
        <p:spPr bwMode="auto">
          <a:xfrm flipH="1">
            <a:off x="2133600" y="2743200"/>
            <a:ext cx="1295400" cy="1066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1" name="Oval 5"/>
          <p:cNvSpPr>
            <a:spLocks noChangeArrowheads="1"/>
          </p:cNvSpPr>
          <p:nvPr/>
        </p:nvSpPr>
        <p:spPr bwMode="auto">
          <a:xfrm>
            <a:off x="5867400" y="2895600"/>
            <a:ext cx="1447800" cy="1143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>
                <a:latin typeface="Times New Roman" panose="02020603050405020304" pitchFamily="18" charset="0"/>
              </a:rPr>
              <a:t>Method ()</a:t>
            </a:r>
          </a:p>
        </p:txBody>
      </p:sp>
      <p:sp>
        <p:nvSpPr>
          <p:cNvPr id="34822" name="Line 6"/>
          <p:cNvSpPr>
            <a:spLocks noChangeShapeType="1"/>
          </p:cNvSpPr>
          <p:nvPr/>
        </p:nvSpPr>
        <p:spPr bwMode="auto">
          <a:xfrm>
            <a:off x="3429000" y="32766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3" name="Text Box 7"/>
          <p:cNvSpPr txBox="1">
            <a:spLocks noChangeArrowheads="1"/>
          </p:cNvSpPr>
          <p:nvPr/>
        </p:nvSpPr>
        <p:spPr bwMode="auto">
          <a:xfrm>
            <a:off x="762000" y="2895600"/>
            <a:ext cx="1143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Sending Object</a:t>
            </a:r>
          </a:p>
        </p:txBody>
      </p:sp>
      <p:sp>
        <p:nvSpPr>
          <p:cNvPr id="34824" name="Text Box 8"/>
          <p:cNvSpPr txBox="1">
            <a:spLocks noChangeArrowheads="1"/>
          </p:cNvSpPr>
          <p:nvPr/>
        </p:nvSpPr>
        <p:spPr bwMode="auto">
          <a:xfrm>
            <a:off x="3733800" y="2667000"/>
            <a:ext cx="160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Message</a:t>
            </a:r>
          </a:p>
        </p:txBody>
      </p:sp>
      <p:sp>
        <p:nvSpPr>
          <p:cNvPr id="34825" name="Text Box 9"/>
          <p:cNvSpPr txBox="1">
            <a:spLocks noChangeArrowheads="1"/>
          </p:cNvSpPr>
          <p:nvPr/>
        </p:nvSpPr>
        <p:spPr bwMode="auto">
          <a:xfrm>
            <a:off x="7467600" y="3124200"/>
            <a:ext cx="1371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Receiving Object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8A4903-1020-4404-AE66-44E86FF160D1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3218F96-BE1C-47D3-8C2E-D030FCA5D16E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 altLang="en-US"/>
              <a:t>Advantages of OOP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382000" cy="51816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Through inheritance, we can eliminate redundant code and extend the use of existing classes.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Inheritance leads to saving of time and higher productivity.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The principle of data hiding produces more secure program.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It is possible to map objects in the problem domain to those objects in program.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It is easy to partition the work in a project based on object.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System can easily be upgraded from small to large system.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Software complexity can easily handled.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8A4903-1020-4404-AE66-44E86FF160D1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43984D0-83A6-4E15-9259-8DD3E8F35A25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Program</a:t>
            </a:r>
          </a:p>
        </p:txBody>
      </p:sp>
      <p:sp>
        <p:nvSpPr>
          <p:cNvPr id="5124" name="Oval 4"/>
          <p:cNvSpPr>
            <a:spLocks noChangeArrowheads="1"/>
          </p:cNvSpPr>
          <p:nvPr/>
        </p:nvSpPr>
        <p:spPr bwMode="auto">
          <a:xfrm>
            <a:off x="3048000" y="1828800"/>
            <a:ext cx="1600200" cy="838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panose="02020603050405020304" pitchFamily="18" charset="0"/>
              </a:rPr>
              <a:t>Java Source </a:t>
            </a:r>
          </a:p>
          <a:p>
            <a:pPr algn="ctr"/>
            <a:r>
              <a:rPr lang="en-US" altLang="en-US">
                <a:latin typeface="Times New Roman" panose="02020603050405020304" pitchFamily="18" charset="0"/>
              </a:rPr>
              <a:t>Code</a:t>
            </a:r>
          </a:p>
        </p:txBody>
      </p:sp>
      <p:sp>
        <p:nvSpPr>
          <p:cNvPr id="5125" name="Line 5"/>
          <p:cNvSpPr>
            <a:spLocks noChangeShapeType="1"/>
          </p:cNvSpPr>
          <p:nvPr/>
        </p:nvSpPr>
        <p:spPr bwMode="auto">
          <a:xfrm>
            <a:off x="3810000" y="2667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2590800" y="3048000"/>
            <a:ext cx="26670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panose="02020603050405020304" pitchFamily="18" charset="0"/>
              </a:rPr>
              <a:t>Java Compiler</a:t>
            </a:r>
          </a:p>
        </p:txBody>
      </p:sp>
      <p:sp>
        <p:nvSpPr>
          <p:cNvPr id="5127" name="Oval 7"/>
          <p:cNvSpPr>
            <a:spLocks noChangeArrowheads="1"/>
          </p:cNvSpPr>
          <p:nvPr/>
        </p:nvSpPr>
        <p:spPr bwMode="auto">
          <a:xfrm>
            <a:off x="457200" y="4876800"/>
            <a:ext cx="2209800" cy="685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panose="02020603050405020304" pitchFamily="18" charset="0"/>
              </a:rPr>
              <a:t>Java Enabled </a:t>
            </a:r>
          </a:p>
          <a:p>
            <a:pPr algn="ctr"/>
            <a:r>
              <a:rPr lang="en-US" altLang="en-US">
                <a:latin typeface="Times New Roman" panose="02020603050405020304" pitchFamily="18" charset="0"/>
              </a:rPr>
              <a:t>Browser</a:t>
            </a:r>
          </a:p>
        </p:txBody>
      </p:sp>
      <p:sp>
        <p:nvSpPr>
          <p:cNvPr id="5128" name="Oval 8"/>
          <p:cNvSpPr>
            <a:spLocks noChangeArrowheads="1"/>
          </p:cNvSpPr>
          <p:nvPr/>
        </p:nvSpPr>
        <p:spPr bwMode="auto">
          <a:xfrm>
            <a:off x="4419600" y="4953000"/>
            <a:ext cx="2971800" cy="762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>
                <a:latin typeface="Times New Roman" panose="02020603050405020304" pitchFamily="18" charset="0"/>
              </a:rPr>
              <a:t>Java Interpreter</a:t>
            </a:r>
          </a:p>
        </p:txBody>
      </p:sp>
      <p:sp>
        <p:nvSpPr>
          <p:cNvPr id="5129" name="Line 9"/>
          <p:cNvSpPr>
            <a:spLocks noChangeShapeType="1"/>
          </p:cNvSpPr>
          <p:nvPr/>
        </p:nvSpPr>
        <p:spPr bwMode="auto">
          <a:xfrm flipH="1">
            <a:off x="1905000" y="3810000"/>
            <a:ext cx="10668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0" name="Line 10"/>
          <p:cNvSpPr>
            <a:spLocks noChangeShapeType="1"/>
          </p:cNvSpPr>
          <p:nvPr/>
        </p:nvSpPr>
        <p:spPr bwMode="auto">
          <a:xfrm>
            <a:off x="4648200" y="3810000"/>
            <a:ext cx="11430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1" name="Text Box 11"/>
          <p:cNvSpPr txBox="1">
            <a:spLocks noChangeArrowheads="1"/>
          </p:cNvSpPr>
          <p:nvPr/>
        </p:nvSpPr>
        <p:spPr bwMode="auto">
          <a:xfrm>
            <a:off x="5715000" y="3810000"/>
            <a:ext cx="2362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Application Type</a:t>
            </a:r>
          </a:p>
        </p:txBody>
      </p:sp>
      <p:sp>
        <p:nvSpPr>
          <p:cNvPr id="5134" name="Text Box 14"/>
          <p:cNvSpPr txBox="1">
            <a:spLocks noChangeArrowheads="1"/>
          </p:cNvSpPr>
          <p:nvPr/>
        </p:nvSpPr>
        <p:spPr bwMode="auto">
          <a:xfrm>
            <a:off x="762000" y="38862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Applet Type</a:t>
            </a:r>
          </a:p>
        </p:txBody>
      </p:sp>
      <p:sp>
        <p:nvSpPr>
          <p:cNvPr id="5135" name="Line 15"/>
          <p:cNvSpPr>
            <a:spLocks noChangeShapeType="1"/>
          </p:cNvSpPr>
          <p:nvPr/>
        </p:nvSpPr>
        <p:spPr bwMode="auto">
          <a:xfrm>
            <a:off x="1524000" y="5562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6" name="Line 16"/>
          <p:cNvSpPr>
            <a:spLocks noChangeShapeType="1"/>
          </p:cNvSpPr>
          <p:nvPr/>
        </p:nvSpPr>
        <p:spPr bwMode="auto">
          <a:xfrm>
            <a:off x="5943600" y="5715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7" name="Rectangle 17"/>
          <p:cNvSpPr>
            <a:spLocks noChangeArrowheads="1"/>
          </p:cNvSpPr>
          <p:nvPr/>
        </p:nvSpPr>
        <p:spPr bwMode="auto">
          <a:xfrm>
            <a:off x="685800" y="5867400"/>
            <a:ext cx="17526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panose="02020603050405020304" pitchFamily="18" charset="0"/>
              </a:rPr>
              <a:t>Output</a:t>
            </a:r>
          </a:p>
        </p:txBody>
      </p:sp>
      <p:sp>
        <p:nvSpPr>
          <p:cNvPr id="5138" name="Rectangle 18"/>
          <p:cNvSpPr>
            <a:spLocks noChangeArrowheads="1"/>
          </p:cNvSpPr>
          <p:nvPr/>
        </p:nvSpPr>
        <p:spPr bwMode="auto">
          <a:xfrm>
            <a:off x="4876800" y="6019800"/>
            <a:ext cx="21336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>
                <a:latin typeface="Times New Roman" panose="02020603050405020304" pitchFamily="18" charset="0"/>
              </a:rPr>
              <a:t>Output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8A4903-1020-4404-AE66-44E86FF160D1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D795E00-FC15-4B0C-BC7D-A655C3A71306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First Java Program-Example 1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/*This is a simple java program*/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public class Example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	public static void main (String </a:t>
            </a:r>
            <a:r>
              <a:rPr lang="en-US" altLang="en-US" sz="2400" dirty="0" err="1">
                <a:latin typeface="Times New Roman" panose="02020603050405020304" pitchFamily="18" charset="0"/>
              </a:rPr>
              <a:t>args</a:t>
            </a:r>
            <a:r>
              <a:rPr lang="en-US" altLang="en-US" sz="2400" dirty="0">
                <a:latin typeface="Times New Roman" panose="02020603050405020304" pitchFamily="18" charset="0"/>
              </a:rPr>
              <a:t>[])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	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		</a:t>
            </a:r>
            <a:r>
              <a:rPr lang="en-US" altLang="en-US" sz="2400" dirty="0" err="1">
                <a:latin typeface="Times New Roman" panose="02020603050405020304" pitchFamily="18" charset="0"/>
              </a:rPr>
              <a:t>System.out.println</a:t>
            </a:r>
            <a:r>
              <a:rPr lang="en-US" altLang="en-US" sz="2400" dirty="0">
                <a:latin typeface="Times New Roman" panose="02020603050405020304" pitchFamily="18" charset="0"/>
              </a:rPr>
              <a:t> (“This is a simple Java program”);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	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8A4903-1020-4404-AE66-44E86FF160D1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1789579-D848-4688-AF70-D7554AC47840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915400" cy="838200"/>
          </a:xfrm>
        </p:spPr>
        <p:txBody>
          <a:bodyPr/>
          <a:lstStyle/>
          <a:p>
            <a:r>
              <a:rPr lang="en-US" altLang="en-US" sz="3200"/>
              <a:t>Simple Java Program-Some important points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458200" cy="54102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800" b="1">
                <a:latin typeface="Times New Roman" panose="02020603050405020304" pitchFamily="18" charset="0"/>
              </a:rPr>
              <a:t>public:</a:t>
            </a:r>
            <a:r>
              <a:rPr lang="en-US" altLang="en-US" sz="2800">
                <a:latin typeface="Times New Roman" panose="02020603050405020304" pitchFamily="18" charset="0"/>
              </a:rPr>
              <a:t> Access specifier. main() must be made public, since it must be called by code defined outside it’s class.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800" b="1">
                <a:latin typeface="Times New Roman" panose="02020603050405020304" pitchFamily="18" charset="0"/>
              </a:rPr>
              <a:t>Static:</a:t>
            </a:r>
            <a:r>
              <a:rPr lang="en-US" altLang="en-US" sz="2800">
                <a:latin typeface="Times New Roman" panose="02020603050405020304" pitchFamily="18" charset="0"/>
              </a:rPr>
              <a:t> It is required because main() is called without creating an object of it’s class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800" b="1">
                <a:latin typeface="Times New Roman" panose="02020603050405020304" pitchFamily="18" charset="0"/>
              </a:rPr>
              <a:t>String args[]: </a:t>
            </a:r>
            <a:r>
              <a:rPr lang="en-US" altLang="en-US" sz="2800">
                <a:latin typeface="Times New Roman" panose="02020603050405020304" pitchFamily="18" charset="0"/>
              </a:rPr>
              <a:t>An array of objects of type String class. Each object of type string contains a character string. It is used to manipulate command line argument.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Java is case sensitive.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System           predefined class that refers to system.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>
                <a:latin typeface="Times New Roman" panose="02020603050405020304" pitchFamily="18" charset="0"/>
              </a:rPr>
              <a:t>	</a:t>
            </a:r>
            <a:r>
              <a:rPr lang="en-US" altLang="en-US" sz="2800">
                <a:latin typeface="Times New Roman" panose="02020603050405020304" pitchFamily="18" charset="0"/>
              </a:rPr>
              <a:t>out           It is static data member of System class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Times New Roman" panose="02020603050405020304" pitchFamily="18" charset="0"/>
              </a:rPr>
              <a:t>	println()      It is a member of out object </a:t>
            </a:r>
            <a:endParaRPr lang="en-US" altLang="en-US" sz="2800" b="1">
              <a:latin typeface="Times New Roman" panose="02020603050405020304" pitchFamily="18" charset="0"/>
            </a:endParaRPr>
          </a:p>
        </p:txBody>
      </p:sp>
      <p:sp>
        <p:nvSpPr>
          <p:cNvPr id="10244" name="Line 4"/>
          <p:cNvSpPr>
            <a:spLocks noChangeShapeType="1"/>
          </p:cNvSpPr>
          <p:nvPr/>
        </p:nvSpPr>
        <p:spPr bwMode="auto">
          <a:xfrm>
            <a:off x="1371600" y="5715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8" name="Line 8"/>
          <p:cNvSpPr>
            <a:spLocks noChangeShapeType="1"/>
          </p:cNvSpPr>
          <p:nvPr/>
        </p:nvSpPr>
        <p:spPr bwMode="auto">
          <a:xfrm>
            <a:off x="1828800" y="53340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0" name="Line 10"/>
          <p:cNvSpPr>
            <a:spLocks noChangeShapeType="1"/>
          </p:cNvSpPr>
          <p:nvPr/>
        </p:nvSpPr>
        <p:spPr bwMode="auto">
          <a:xfrm>
            <a:off x="2057400" y="6172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8A4903-1020-4404-AE66-44E86FF160D1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5F44307-35A6-40CE-BBBE-C370CEE6BFCD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JRE and JDK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7905750" cy="3886200"/>
          </a:xfrm>
        </p:spPr>
        <p:txBody>
          <a:bodyPr/>
          <a:lstStyle/>
          <a:p>
            <a:pPr>
              <a:lnSpc>
                <a:spcPct val="80000"/>
              </a:lnSpc>
              <a:buSzTx/>
              <a:buFont typeface="Wingdings" panose="05000000000000000000" pitchFamily="2" charset="2"/>
              <a:buChar char="ü"/>
            </a:pPr>
            <a:r>
              <a:rPr lang="en-US" altLang="en-US" sz="2800" b="1">
                <a:latin typeface="Times New Roman" panose="02020603050405020304" pitchFamily="18" charset="0"/>
              </a:rPr>
              <a:t>JRE: J2SE Runtime Environment</a:t>
            </a:r>
          </a:p>
          <a:p>
            <a:pPr lvl="1">
              <a:lnSpc>
                <a:spcPct val="80000"/>
              </a:lnSpc>
              <a:buSzTx/>
              <a:buFont typeface="Wingdings" panose="05000000000000000000" pitchFamily="2" charset="2"/>
              <a:buChar char="ü"/>
            </a:pPr>
            <a:r>
              <a:rPr lang="en-US" altLang="en-US" sz="2600">
                <a:latin typeface="Times New Roman" panose="02020603050405020304" pitchFamily="18" charset="0"/>
              </a:rPr>
              <a:t>provides </a:t>
            </a:r>
          </a:p>
          <a:p>
            <a:pPr lvl="2">
              <a:lnSpc>
                <a:spcPct val="80000"/>
              </a:lnSpc>
              <a:buSzTx/>
              <a:buFont typeface="Wingdings" panose="05000000000000000000" pitchFamily="2" charset="2"/>
              <a:buChar char="ü"/>
            </a:pPr>
            <a:r>
              <a:rPr lang="en-US" altLang="en-US">
                <a:latin typeface="Times New Roman" panose="02020603050405020304" pitchFamily="18" charset="0"/>
              </a:rPr>
              <a:t>libraries, </a:t>
            </a:r>
          </a:p>
          <a:p>
            <a:pPr lvl="2">
              <a:lnSpc>
                <a:spcPct val="80000"/>
              </a:lnSpc>
              <a:buSzTx/>
              <a:buFont typeface="Wingdings" panose="05000000000000000000" pitchFamily="2" charset="2"/>
              <a:buChar char="ü"/>
            </a:pPr>
            <a:r>
              <a:rPr lang="en-US" altLang="en-US">
                <a:latin typeface="Times New Roman" panose="02020603050405020304" pitchFamily="18" charset="0"/>
              </a:rPr>
              <a:t>Java virtual machine, </a:t>
            </a:r>
          </a:p>
          <a:p>
            <a:pPr lvl="2">
              <a:lnSpc>
                <a:spcPct val="80000"/>
              </a:lnSpc>
              <a:buSzTx/>
              <a:buFont typeface="Wingdings" panose="05000000000000000000" pitchFamily="2" charset="2"/>
              <a:buChar char="ü"/>
            </a:pPr>
            <a:r>
              <a:rPr lang="en-US" altLang="en-US">
                <a:latin typeface="Times New Roman" panose="02020603050405020304" pitchFamily="18" charset="0"/>
              </a:rPr>
              <a:t>other components necessary for you to</a:t>
            </a:r>
            <a:r>
              <a:rPr lang="en-US" altLang="en-US">
                <a:solidFill>
                  <a:srgbClr val="3399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i="1">
                <a:solidFill>
                  <a:srgbClr val="3399FF"/>
                </a:solidFill>
                <a:latin typeface="Times New Roman" panose="02020603050405020304" pitchFamily="18" charset="0"/>
              </a:rPr>
              <a:t>run</a:t>
            </a:r>
            <a:r>
              <a:rPr lang="en-US" altLang="en-US">
                <a:latin typeface="Times New Roman" panose="02020603050405020304" pitchFamily="18" charset="0"/>
              </a:rPr>
              <a:t> applets and applications</a:t>
            </a:r>
            <a:endParaRPr lang="en-US" altLang="en-US" b="1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buSzTx/>
              <a:buFont typeface="Wingdings" panose="05000000000000000000" pitchFamily="2" charset="2"/>
              <a:buChar char="ü"/>
            </a:pPr>
            <a:r>
              <a:rPr lang="en-US" altLang="en-US" sz="2800" b="1">
                <a:latin typeface="Times New Roman" panose="02020603050405020304" pitchFamily="18" charset="0"/>
              </a:rPr>
              <a:t>JDK: J2SE Development Kit</a:t>
            </a:r>
          </a:p>
          <a:p>
            <a:pPr lvl="1">
              <a:lnSpc>
                <a:spcPct val="80000"/>
              </a:lnSpc>
              <a:buSzTx/>
              <a:buFont typeface="Wingdings" panose="05000000000000000000" pitchFamily="2" charset="2"/>
              <a:buChar char="ü"/>
            </a:pPr>
            <a:r>
              <a:rPr lang="en-US" altLang="en-US" sz="2600">
                <a:latin typeface="Times New Roman" panose="02020603050405020304" pitchFamily="18" charset="0"/>
              </a:rPr>
              <a:t>includes </a:t>
            </a:r>
          </a:p>
          <a:p>
            <a:pPr lvl="2">
              <a:lnSpc>
                <a:spcPct val="80000"/>
              </a:lnSpc>
              <a:buSzTx/>
              <a:buFont typeface="Wingdings" panose="05000000000000000000" pitchFamily="2" charset="2"/>
              <a:buChar char="ü"/>
            </a:pPr>
            <a:r>
              <a:rPr lang="en-US" altLang="en-US">
                <a:solidFill>
                  <a:srgbClr val="3399FF"/>
                </a:solidFill>
                <a:latin typeface="Times New Roman" panose="02020603050405020304" pitchFamily="18" charset="0"/>
              </a:rPr>
              <a:t>JRE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</a:p>
          <a:p>
            <a:pPr lvl="2">
              <a:lnSpc>
                <a:spcPct val="80000"/>
              </a:lnSpc>
              <a:buSzTx/>
              <a:buFont typeface="Wingdings" panose="05000000000000000000" pitchFamily="2" charset="2"/>
              <a:buChar char="ü"/>
            </a:pPr>
            <a:r>
              <a:rPr lang="en-US" altLang="en-US">
                <a:latin typeface="Times New Roman" panose="02020603050405020304" pitchFamily="18" charset="0"/>
              </a:rPr>
              <a:t>command-line development tools such as </a:t>
            </a:r>
            <a:r>
              <a:rPr lang="en-US" altLang="en-US">
                <a:solidFill>
                  <a:srgbClr val="3399FF"/>
                </a:solidFill>
                <a:latin typeface="Times New Roman" panose="02020603050405020304" pitchFamily="18" charset="0"/>
              </a:rPr>
              <a:t>compilers</a:t>
            </a:r>
            <a:r>
              <a:rPr lang="en-US" altLang="en-US">
                <a:latin typeface="Times New Roman" panose="02020603050405020304" pitchFamily="18" charset="0"/>
              </a:rPr>
              <a:t> and debuggers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8A4903-1020-4404-AE66-44E86FF160D1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E35F766-5A8E-4616-B842-C28BB3BFD9A9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Implementing a Java Program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382000" cy="4419600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400">
                <a:latin typeface="Times New Roman" panose="02020603050405020304" pitchFamily="18" charset="0"/>
              </a:rPr>
              <a:t>Creating a java program</a:t>
            </a: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400">
                <a:latin typeface="Times New Roman" panose="02020603050405020304" pitchFamily="18" charset="0"/>
              </a:rPr>
              <a:t>Compiling a java program</a:t>
            </a: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400">
                <a:latin typeface="Times New Roman" panose="02020603050405020304" pitchFamily="18" charset="0"/>
              </a:rPr>
              <a:t>Running the program</a:t>
            </a: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 u="sng">
                <a:latin typeface="Times New Roman" panose="02020603050405020304" pitchFamily="18" charset="0"/>
              </a:rPr>
              <a:t>Creating a Java Program:</a:t>
            </a: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400">
                <a:latin typeface="Times New Roman" panose="02020603050405020304" pitchFamily="18" charset="0"/>
              </a:rPr>
              <a:t>All java source file has an extension </a:t>
            </a:r>
            <a:r>
              <a:rPr lang="en-US" altLang="en-US" sz="2400" b="1">
                <a:latin typeface="Times New Roman" panose="02020603050405020304" pitchFamily="18" charset="0"/>
              </a:rPr>
              <a:t>.java</a:t>
            </a:r>
            <a:r>
              <a:rPr lang="en-US" altLang="en-US" sz="2400">
                <a:latin typeface="Times New Roman" panose="02020603050405020304" pitchFamily="18" charset="0"/>
              </a:rPr>
              <a:t>.</a:t>
            </a: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400">
                <a:latin typeface="Times New Roman" panose="02020603050405020304" pitchFamily="18" charset="0"/>
              </a:rPr>
              <a:t>If a program contains multiple classes, the file name must be the class name of the class containing the </a:t>
            </a:r>
            <a:r>
              <a:rPr lang="en-US" altLang="en-US" sz="2400" b="1">
                <a:latin typeface="Times New Roman" panose="02020603050405020304" pitchFamily="18" charset="0"/>
              </a:rPr>
              <a:t>main</a:t>
            </a:r>
            <a:r>
              <a:rPr lang="en-US" altLang="en-US" sz="2400">
                <a:latin typeface="Times New Roman" panose="02020603050405020304" pitchFamily="18" charset="0"/>
              </a:rPr>
              <a:t> method. This class must be the only public class.</a:t>
            </a: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[Rule: File name should match the name of the public class of a source code.]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8A4903-1020-4404-AE66-44E86FF160D1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D94852A-1C79-4189-8E0D-66FB7EB26C1E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Implementing a Java Program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 u="sng">
                <a:latin typeface="Times New Roman" panose="02020603050405020304" pitchFamily="18" charset="0"/>
              </a:rPr>
              <a:t>Compiling a Java Program: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To compile a java program, execute the java compiler </a:t>
            </a:r>
            <a:r>
              <a:rPr lang="en-US" altLang="en-US" sz="2800" b="1">
                <a:latin typeface="Times New Roman" panose="02020603050405020304" pitchFamily="18" charset="0"/>
              </a:rPr>
              <a:t>javac</a:t>
            </a:r>
            <a:r>
              <a:rPr lang="en-US" altLang="en-US" sz="2800">
                <a:latin typeface="Times New Roman" panose="02020603050405020304" pitchFamily="18" charset="0"/>
              </a:rPr>
              <a:t>, specifying the name of the source file on the command line.   C:\&gt; javac Example.java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When java source code is compiled, each individual class is put into it’s own output file named after the class and using the </a:t>
            </a:r>
            <a:r>
              <a:rPr lang="en-US" altLang="en-US" sz="2800" b="1">
                <a:latin typeface="Times New Roman" panose="02020603050405020304" pitchFamily="18" charset="0"/>
              </a:rPr>
              <a:t>.class</a:t>
            </a:r>
            <a:r>
              <a:rPr lang="en-US" altLang="en-US" sz="2800">
                <a:latin typeface="Times New Roman" panose="02020603050405020304" pitchFamily="18" charset="0"/>
              </a:rPr>
              <a:t> extension.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Each file with </a:t>
            </a:r>
            <a:r>
              <a:rPr lang="en-US" altLang="en-US" sz="2800" b="1">
                <a:latin typeface="Times New Roman" panose="02020603050405020304" pitchFamily="18" charset="0"/>
              </a:rPr>
              <a:t>.class</a:t>
            </a:r>
            <a:r>
              <a:rPr lang="en-US" altLang="en-US" sz="2800">
                <a:latin typeface="Times New Roman" panose="02020603050405020304" pitchFamily="18" charset="0"/>
              </a:rPr>
              <a:t> extension contains the bytecode corresponding to that class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endParaRPr lang="en-US" altLang="en-US" sz="280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endParaRPr lang="en-US" altLang="en-US" sz="2800" b="1" u="sng">
              <a:latin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8A4903-1020-4404-AE66-44E86FF160D1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CE7A236-8D75-4F07-A0FD-0040D391C997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Implementing a Java Program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To run the program, interpreter </a:t>
            </a:r>
            <a:r>
              <a:rPr lang="en-US" altLang="en-US" sz="2800" b="1">
                <a:latin typeface="Times New Roman" panose="02020603050405020304" pitchFamily="18" charset="0"/>
              </a:rPr>
              <a:t>java</a:t>
            </a:r>
            <a:r>
              <a:rPr lang="en-US" altLang="en-US" sz="2800">
                <a:latin typeface="Times New Roman" panose="02020603050405020304" pitchFamily="18" charset="0"/>
              </a:rPr>
              <a:t> is used the name of the class that contains the </a:t>
            </a:r>
            <a:r>
              <a:rPr lang="en-US" altLang="en-US" sz="2800" b="1">
                <a:latin typeface="Times New Roman" panose="02020603050405020304" pitchFamily="18" charset="0"/>
              </a:rPr>
              <a:t>main</a:t>
            </a:r>
            <a:r>
              <a:rPr lang="en-US" altLang="en-US" sz="2800">
                <a:latin typeface="Times New Roman" panose="02020603050405020304" pitchFamily="18" charset="0"/>
              </a:rPr>
              <a:t> function.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800">
                <a:latin typeface="Times New Roman" panose="02020603050405020304" pitchFamily="18" charset="0"/>
              </a:rPr>
              <a:t>	c:\&gt; java Example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Actually it searches for </a:t>
            </a:r>
            <a:r>
              <a:rPr lang="en-US" altLang="en-US" sz="2800" b="1">
                <a:latin typeface="Times New Roman" panose="02020603050405020304" pitchFamily="18" charset="0"/>
              </a:rPr>
              <a:t>Example. class</a:t>
            </a:r>
            <a:r>
              <a:rPr lang="en-US" altLang="en-US" sz="2800">
                <a:latin typeface="Times New Roman" panose="02020603050405020304" pitchFamily="18" charset="0"/>
              </a:rPr>
              <a:t> file.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8A4903-1020-4404-AE66-44E86FF160D1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3731B-9143-4A6F-9EAA-488B01B96555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latin typeface="Times New Roman" panose="02020603050405020304" pitchFamily="18" charset="0"/>
              </a:rPr>
              <a:t>Second Java Program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class add_num</a:t>
            </a:r>
          </a:p>
          <a:p>
            <a:pPr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{</a:t>
            </a:r>
          </a:p>
          <a:p>
            <a:pPr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	public int add(int a, int b)</a:t>
            </a:r>
          </a:p>
          <a:p>
            <a:pPr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	{</a:t>
            </a:r>
          </a:p>
          <a:p>
            <a:pPr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		return a+b;</a:t>
            </a:r>
          </a:p>
          <a:p>
            <a:pPr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	}</a:t>
            </a:r>
          </a:p>
          <a:p>
            <a:pPr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6758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3429000" y="1600200"/>
            <a:ext cx="5715000" cy="47244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public class test</a:t>
            </a:r>
          </a:p>
          <a:p>
            <a:pPr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{</a:t>
            </a:r>
          </a:p>
          <a:p>
            <a:pPr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	public static void main(String args[])</a:t>
            </a:r>
          </a:p>
          <a:p>
            <a:pPr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	{</a:t>
            </a:r>
          </a:p>
          <a:p>
            <a:pPr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	int a, b;</a:t>
            </a:r>
          </a:p>
          <a:p>
            <a:pPr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	a=100;</a:t>
            </a:r>
          </a:p>
          <a:p>
            <a:pPr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	b=23;</a:t>
            </a:r>
          </a:p>
          <a:p>
            <a:pPr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	add_num ob = new add_num();</a:t>
            </a:r>
          </a:p>
          <a:p>
            <a:pPr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	System.out.println(“The addition: “+ ob.add_num(a,b));</a:t>
            </a:r>
          </a:p>
          <a:p>
            <a:pPr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		</a:t>
            </a:r>
          </a:p>
          <a:p>
            <a:pPr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	}</a:t>
            </a:r>
          </a:p>
          <a:p>
            <a:pPr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}</a:t>
            </a:r>
          </a:p>
          <a:p>
            <a:endParaRPr lang="en-US" altLang="en-US" sz="28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B2F928-31EB-40FE-89A7-80D0B50CF582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93327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FABE-B692-4940-818E-DAE71024109A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latin typeface="Times New Roman" panose="02020603050405020304" pitchFamily="18" charset="0"/>
              </a:rPr>
              <a:t>Points to be Noted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Java source code can contain multiple classes, the name of the source code must be the name of the only public class of the code.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Usually public class contains the main() method, that is the starting point of program execution.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Object of a class is created using new operator.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Method of a class is accessed through an object of that class.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+ in System.out.println() method concatenate two strings.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8A4903-1020-4404-AE66-44E86FF160D1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34579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CD699-417F-4858-8B0D-8FF5ED11AE86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en-US" altLang="en-US" b="1">
                <a:latin typeface="Times New Roman" panose="02020603050405020304" pitchFamily="18" charset="0"/>
              </a:rPr>
              <a:t>Java is a Strongly typed Language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Every variable and expression has a strongly defined type.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All assignments are checked for type compatibility.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Java compiler checks all expressions and parameters to ensure that the types are compatible.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8A4903-1020-4404-AE66-44E86FF160D1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9256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CEEF-A2E7-405A-882A-8BA286129651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latin typeface="Times New Roman" panose="02020603050405020304" pitchFamily="18" charset="0"/>
              </a:rPr>
              <a:t>The Primitive Types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There are exactly eight primitive data types in Java</a:t>
            </a:r>
          </a:p>
          <a:p>
            <a:pPr>
              <a:lnSpc>
                <a:spcPct val="80000"/>
              </a:lnSpc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Four of them represent whole valued signed numbers:</a:t>
            </a:r>
          </a:p>
          <a:p>
            <a:pPr lvl="1">
              <a:lnSpc>
                <a:spcPct val="80000"/>
              </a:lnSpc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en-US" sz="2200">
                <a:latin typeface="Times New Roman" panose="02020603050405020304" pitchFamily="18" charset="0"/>
              </a:rPr>
              <a:t>byte, short, int, long</a:t>
            </a:r>
          </a:p>
          <a:p>
            <a:pPr>
              <a:lnSpc>
                <a:spcPct val="80000"/>
              </a:lnSpc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Two of them represent floating point numbers:</a:t>
            </a:r>
          </a:p>
          <a:p>
            <a:pPr lvl="1">
              <a:lnSpc>
                <a:spcPct val="80000"/>
              </a:lnSpc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en-US" sz="2200">
                <a:latin typeface="Times New Roman" panose="02020603050405020304" pitchFamily="18" charset="0"/>
              </a:rPr>
              <a:t>float, double</a:t>
            </a:r>
          </a:p>
          <a:p>
            <a:pPr>
              <a:lnSpc>
                <a:spcPct val="80000"/>
              </a:lnSpc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One of them represents characters:</a:t>
            </a:r>
          </a:p>
          <a:p>
            <a:pPr lvl="1">
              <a:lnSpc>
                <a:spcPct val="80000"/>
              </a:lnSpc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en-US" sz="2200">
                <a:latin typeface="Times New Roman" panose="02020603050405020304" pitchFamily="18" charset="0"/>
              </a:rPr>
              <a:t>char</a:t>
            </a:r>
          </a:p>
          <a:p>
            <a:pPr>
              <a:lnSpc>
                <a:spcPct val="80000"/>
              </a:lnSpc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And one of them represents boolean values:</a:t>
            </a:r>
          </a:p>
          <a:p>
            <a:pPr lvl="1">
              <a:lnSpc>
                <a:spcPct val="80000"/>
              </a:lnSpc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en-US" sz="2200">
                <a:latin typeface="Times New Roman" panose="02020603050405020304" pitchFamily="18" charset="0"/>
              </a:rPr>
              <a:t>boolean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ü"/>
            </a:pP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8A4903-1020-4404-AE66-44E86FF160D1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67637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A67E0-5D56-4DAA-893F-F0A43E011CB7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latin typeface="Times New Roman" panose="02020603050405020304" pitchFamily="18" charset="0"/>
              </a:rPr>
              <a:t>Numeric Primitive Types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The difference between the various numeric primitive types is their size, and therefore the values they can store:</a:t>
            </a:r>
          </a:p>
          <a:p>
            <a:pPr>
              <a:buFontTx/>
              <a:buNone/>
            </a:pPr>
            <a:endParaRPr lang="en-US" altLang="en-US" sz="2800"/>
          </a:p>
        </p:txBody>
      </p:sp>
      <p:grpSp>
        <p:nvGrpSpPr>
          <p:cNvPr id="10244" name="Group 4"/>
          <p:cNvGrpSpPr>
            <a:grpSpLocks/>
          </p:cNvGrpSpPr>
          <p:nvPr/>
        </p:nvGrpSpPr>
        <p:grpSpPr bwMode="auto">
          <a:xfrm>
            <a:off x="762000" y="3352800"/>
            <a:ext cx="6878638" cy="2835275"/>
            <a:chOff x="749" y="1767"/>
            <a:chExt cx="4333" cy="1786"/>
          </a:xfrm>
        </p:grpSpPr>
        <p:sp>
          <p:nvSpPr>
            <p:cNvPr id="10245" name="Rectangle 5"/>
            <p:cNvSpPr>
              <a:spLocks noChangeArrowheads="1"/>
            </p:cNvSpPr>
            <p:nvPr/>
          </p:nvSpPr>
          <p:spPr bwMode="auto">
            <a:xfrm>
              <a:off x="749" y="1767"/>
              <a:ext cx="578" cy="1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2000" b="1" u="sng">
                  <a:latin typeface="Times New Roman" panose="02020603050405020304" pitchFamily="18" charset="0"/>
                </a:rPr>
                <a:t>Type</a:t>
              </a:r>
            </a:p>
            <a:p>
              <a:pPr eaLnBrk="0" hangingPunct="0"/>
              <a:endParaRPr lang="en-US" altLang="en-US" sz="2000" b="1">
                <a:latin typeface="Times New Roman" panose="02020603050405020304" pitchFamily="18" charset="0"/>
              </a:endParaRPr>
            </a:p>
            <a:p>
              <a:pPr eaLnBrk="0" hangingPunct="0"/>
              <a:r>
                <a:rPr lang="en-US" altLang="en-US" sz="2000" b="1">
                  <a:latin typeface="Times New Roman" panose="02020603050405020304" pitchFamily="18" charset="0"/>
                </a:rPr>
                <a:t>byte</a:t>
              </a:r>
            </a:p>
            <a:p>
              <a:pPr eaLnBrk="0" hangingPunct="0"/>
              <a:r>
                <a:rPr lang="en-US" altLang="en-US" sz="2000" b="1">
                  <a:latin typeface="Times New Roman" panose="02020603050405020304" pitchFamily="18" charset="0"/>
                </a:rPr>
                <a:t>short</a:t>
              </a:r>
            </a:p>
            <a:p>
              <a:pPr eaLnBrk="0" hangingPunct="0"/>
              <a:r>
                <a:rPr lang="en-US" altLang="en-US" sz="2000" b="1">
                  <a:latin typeface="Times New Roman" panose="02020603050405020304" pitchFamily="18" charset="0"/>
                </a:rPr>
                <a:t>int</a:t>
              </a:r>
            </a:p>
            <a:p>
              <a:pPr eaLnBrk="0" hangingPunct="0"/>
              <a:r>
                <a:rPr lang="en-US" altLang="en-US" sz="2000" b="1">
                  <a:latin typeface="Times New Roman" panose="02020603050405020304" pitchFamily="18" charset="0"/>
                </a:rPr>
                <a:t>long</a:t>
              </a:r>
            </a:p>
            <a:p>
              <a:pPr eaLnBrk="0" hangingPunct="0"/>
              <a:endParaRPr lang="en-US" altLang="en-US" sz="2000" b="1">
                <a:latin typeface="Times New Roman" panose="02020603050405020304" pitchFamily="18" charset="0"/>
              </a:endParaRPr>
            </a:p>
            <a:p>
              <a:pPr eaLnBrk="0" hangingPunct="0"/>
              <a:r>
                <a:rPr lang="en-US" altLang="en-US" sz="2000" b="1">
                  <a:latin typeface="Times New Roman" panose="02020603050405020304" pitchFamily="18" charset="0"/>
                </a:rPr>
                <a:t>float</a:t>
              </a:r>
            </a:p>
            <a:p>
              <a:pPr eaLnBrk="0" hangingPunct="0"/>
              <a:r>
                <a:rPr lang="en-US" altLang="en-US" sz="2000" b="1">
                  <a:latin typeface="Times New Roman" panose="02020603050405020304" pitchFamily="18" charset="0"/>
                </a:rPr>
                <a:t>double</a:t>
              </a:r>
            </a:p>
          </p:txBody>
        </p:sp>
        <p:sp>
          <p:nvSpPr>
            <p:cNvPr id="10246" name="Rectangle 6"/>
            <p:cNvSpPr>
              <a:spLocks noChangeArrowheads="1"/>
            </p:cNvSpPr>
            <p:nvPr/>
          </p:nvSpPr>
          <p:spPr bwMode="auto">
            <a:xfrm>
              <a:off x="1499" y="1767"/>
              <a:ext cx="640" cy="1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2000" b="1" u="sng">
                  <a:latin typeface="Times New Roman" panose="02020603050405020304" pitchFamily="18" charset="0"/>
                </a:rPr>
                <a:t>Storage</a:t>
              </a:r>
            </a:p>
            <a:p>
              <a:pPr eaLnBrk="0" hangingPunct="0"/>
              <a:endParaRPr lang="en-US" altLang="en-US" sz="2000" b="1">
                <a:latin typeface="Times New Roman" panose="02020603050405020304" pitchFamily="18" charset="0"/>
              </a:endParaRPr>
            </a:p>
            <a:p>
              <a:pPr eaLnBrk="0" hangingPunct="0"/>
              <a:r>
                <a:rPr lang="en-US" altLang="en-US" sz="2000" b="1">
                  <a:latin typeface="Times New Roman" panose="02020603050405020304" pitchFamily="18" charset="0"/>
                </a:rPr>
                <a:t>8 bits</a:t>
              </a:r>
            </a:p>
            <a:p>
              <a:pPr eaLnBrk="0" hangingPunct="0"/>
              <a:r>
                <a:rPr lang="en-US" altLang="en-US" sz="2000" b="1">
                  <a:latin typeface="Times New Roman" panose="02020603050405020304" pitchFamily="18" charset="0"/>
                </a:rPr>
                <a:t>16 bits</a:t>
              </a:r>
            </a:p>
            <a:p>
              <a:pPr eaLnBrk="0" hangingPunct="0"/>
              <a:r>
                <a:rPr lang="en-US" altLang="en-US" sz="2000" b="1">
                  <a:latin typeface="Times New Roman" panose="02020603050405020304" pitchFamily="18" charset="0"/>
                </a:rPr>
                <a:t>32 bits</a:t>
              </a:r>
            </a:p>
            <a:p>
              <a:pPr eaLnBrk="0" hangingPunct="0"/>
              <a:r>
                <a:rPr lang="en-US" altLang="en-US" sz="2000" b="1">
                  <a:latin typeface="Times New Roman" panose="02020603050405020304" pitchFamily="18" charset="0"/>
                </a:rPr>
                <a:t>64 bits</a:t>
              </a:r>
            </a:p>
            <a:p>
              <a:pPr eaLnBrk="0" hangingPunct="0"/>
              <a:endParaRPr lang="en-US" altLang="en-US" sz="2000" b="1">
                <a:latin typeface="Times New Roman" panose="02020603050405020304" pitchFamily="18" charset="0"/>
              </a:endParaRPr>
            </a:p>
            <a:p>
              <a:pPr eaLnBrk="0" hangingPunct="0"/>
              <a:r>
                <a:rPr lang="en-US" altLang="en-US" sz="2000" b="1">
                  <a:latin typeface="Times New Roman" panose="02020603050405020304" pitchFamily="18" charset="0"/>
                </a:rPr>
                <a:t>32 bits</a:t>
              </a:r>
            </a:p>
            <a:p>
              <a:pPr eaLnBrk="0" hangingPunct="0"/>
              <a:r>
                <a:rPr lang="en-US" altLang="en-US" sz="2000" b="1">
                  <a:latin typeface="Times New Roman" panose="02020603050405020304" pitchFamily="18" charset="0"/>
                </a:rPr>
                <a:t>64 bits</a:t>
              </a:r>
            </a:p>
          </p:txBody>
        </p:sp>
        <p:sp>
          <p:nvSpPr>
            <p:cNvPr id="10247" name="Rectangle 7"/>
            <p:cNvSpPr>
              <a:spLocks noChangeArrowheads="1"/>
            </p:cNvSpPr>
            <p:nvPr/>
          </p:nvSpPr>
          <p:spPr bwMode="auto">
            <a:xfrm>
              <a:off x="2359" y="1767"/>
              <a:ext cx="2723" cy="1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2000" b="1" u="sng">
                  <a:latin typeface="Times New Roman" panose="02020603050405020304" pitchFamily="18" charset="0"/>
                </a:rPr>
                <a:t>Min Value</a:t>
              </a:r>
            </a:p>
            <a:p>
              <a:pPr eaLnBrk="0" hangingPunct="0"/>
              <a:endParaRPr lang="en-US" altLang="en-US" sz="2000" b="1">
                <a:latin typeface="Times New Roman" panose="02020603050405020304" pitchFamily="18" charset="0"/>
              </a:endParaRPr>
            </a:p>
            <a:p>
              <a:pPr eaLnBrk="0" hangingPunct="0"/>
              <a:r>
                <a:rPr lang="en-US" altLang="en-US" sz="2000" b="1">
                  <a:latin typeface="Times New Roman" panose="02020603050405020304" pitchFamily="18" charset="0"/>
                </a:rPr>
                <a:t>-128</a:t>
              </a:r>
            </a:p>
            <a:p>
              <a:pPr eaLnBrk="0" hangingPunct="0"/>
              <a:r>
                <a:rPr lang="en-US" altLang="en-US" sz="2000" b="1">
                  <a:latin typeface="Times New Roman" panose="02020603050405020304" pitchFamily="18" charset="0"/>
                </a:rPr>
                <a:t>-32,768</a:t>
              </a:r>
            </a:p>
            <a:p>
              <a:pPr eaLnBrk="0" hangingPunct="0"/>
              <a:r>
                <a:rPr lang="en-US" altLang="en-US" sz="2000" b="1">
                  <a:latin typeface="Times New Roman" panose="02020603050405020304" pitchFamily="18" charset="0"/>
                </a:rPr>
                <a:t>-2,147,483,648</a:t>
              </a:r>
            </a:p>
            <a:p>
              <a:pPr eaLnBrk="0" hangingPunct="0"/>
              <a:r>
                <a:rPr lang="en-US" altLang="en-US" sz="2000" b="1">
                  <a:latin typeface="Times New Roman" panose="02020603050405020304" pitchFamily="18" charset="0"/>
                </a:rPr>
                <a:t>&lt; -9 x 10</a:t>
              </a:r>
              <a:r>
                <a:rPr lang="en-US" altLang="en-US" sz="2000" b="1" baseline="30000">
                  <a:latin typeface="Times New Roman" panose="02020603050405020304" pitchFamily="18" charset="0"/>
                </a:rPr>
                <a:t>18</a:t>
              </a:r>
              <a:endParaRPr lang="en-US" altLang="en-US" sz="2000" b="1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en-US" sz="2000" b="1">
                <a:latin typeface="Times New Roman" panose="02020603050405020304" pitchFamily="18" charset="0"/>
              </a:endParaRPr>
            </a:p>
            <a:p>
              <a:pPr eaLnBrk="0" hangingPunct="0"/>
              <a:r>
                <a:rPr lang="en-US" altLang="en-US" sz="2000" b="1">
                  <a:latin typeface="Times New Roman" panose="02020603050405020304" pitchFamily="18" charset="0"/>
                </a:rPr>
                <a:t>+/- 3.4 x 10</a:t>
              </a:r>
              <a:r>
                <a:rPr lang="en-US" altLang="en-US" sz="2000" b="1" baseline="30000">
                  <a:latin typeface="Times New Roman" panose="02020603050405020304" pitchFamily="18" charset="0"/>
                </a:rPr>
                <a:t>38</a:t>
              </a:r>
              <a:r>
                <a:rPr lang="en-US" altLang="en-US" sz="2000" b="1">
                  <a:latin typeface="Times New Roman" panose="02020603050405020304" pitchFamily="18" charset="0"/>
                </a:rPr>
                <a:t> with 7 significant digits</a:t>
              </a:r>
            </a:p>
            <a:p>
              <a:pPr eaLnBrk="0" hangingPunct="0"/>
              <a:r>
                <a:rPr lang="en-US" altLang="en-US" sz="2000" b="1">
                  <a:latin typeface="Times New Roman" panose="02020603050405020304" pitchFamily="18" charset="0"/>
                </a:rPr>
                <a:t>+/- 1.7 x 10</a:t>
              </a:r>
              <a:r>
                <a:rPr lang="en-US" altLang="en-US" sz="2000" b="1" baseline="30000">
                  <a:latin typeface="Times New Roman" panose="02020603050405020304" pitchFamily="18" charset="0"/>
                </a:rPr>
                <a:t>308</a:t>
              </a:r>
              <a:r>
                <a:rPr lang="en-US" altLang="en-US" sz="2000" b="1">
                  <a:latin typeface="Times New Roman" panose="02020603050405020304" pitchFamily="18" charset="0"/>
                </a:rPr>
                <a:t> with 15 significant digits</a:t>
              </a:r>
              <a:endParaRPr lang="en-US" altLang="en-US" sz="2400" baseline="30000">
                <a:latin typeface="Times New Roman" panose="02020603050405020304" pitchFamily="18" charset="0"/>
              </a:endParaRPr>
            </a:p>
          </p:txBody>
        </p:sp>
        <p:sp>
          <p:nvSpPr>
            <p:cNvPr id="10248" name="Rectangle 8"/>
            <p:cNvSpPr>
              <a:spLocks noChangeArrowheads="1"/>
            </p:cNvSpPr>
            <p:nvPr/>
          </p:nvSpPr>
          <p:spPr bwMode="auto">
            <a:xfrm>
              <a:off x="3764" y="1767"/>
              <a:ext cx="1036" cy="1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2000" b="1" u="sng">
                  <a:latin typeface="Times New Roman" panose="02020603050405020304" pitchFamily="18" charset="0"/>
                </a:rPr>
                <a:t>Max Value</a:t>
              </a:r>
              <a:endParaRPr lang="en-US" altLang="en-US" sz="2000" b="1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en-US" sz="2000" b="1">
                <a:latin typeface="Times New Roman" panose="02020603050405020304" pitchFamily="18" charset="0"/>
              </a:endParaRPr>
            </a:p>
            <a:p>
              <a:pPr eaLnBrk="0" hangingPunct="0"/>
              <a:r>
                <a:rPr lang="en-US" altLang="en-US" sz="2000" b="1">
                  <a:latin typeface="Times New Roman" panose="02020603050405020304" pitchFamily="18" charset="0"/>
                </a:rPr>
                <a:t>127</a:t>
              </a:r>
            </a:p>
            <a:p>
              <a:pPr eaLnBrk="0" hangingPunct="0"/>
              <a:r>
                <a:rPr lang="en-US" altLang="en-US" sz="2000" b="1">
                  <a:latin typeface="Times New Roman" panose="02020603050405020304" pitchFamily="18" charset="0"/>
                </a:rPr>
                <a:t>32,767</a:t>
              </a:r>
            </a:p>
            <a:p>
              <a:pPr eaLnBrk="0" hangingPunct="0"/>
              <a:r>
                <a:rPr lang="en-US" altLang="en-US" sz="2000" b="1">
                  <a:latin typeface="Times New Roman" panose="02020603050405020304" pitchFamily="18" charset="0"/>
                </a:rPr>
                <a:t>2,147,483,647</a:t>
              </a:r>
            </a:p>
            <a:p>
              <a:pPr eaLnBrk="0" hangingPunct="0"/>
              <a:r>
                <a:rPr lang="en-US" altLang="en-US" sz="2000" b="1">
                  <a:latin typeface="Times New Roman" panose="02020603050405020304" pitchFamily="18" charset="0"/>
                </a:rPr>
                <a:t>&gt; 9 x 10</a:t>
              </a:r>
              <a:r>
                <a:rPr lang="en-US" altLang="en-US" sz="2000" b="1" baseline="30000">
                  <a:latin typeface="Times New Roman" panose="02020603050405020304" pitchFamily="18" charset="0"/>
                </a:rPr>
                <a:t>18</a:t>
              </a:r>
              <a:endParaRPr lang="en-US" altLang="en-US" sz="2400" baseline="30000"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8A4903-1020-4404-AE66-44E86FF160D1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1725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7FF2E-1107-4931-9DAB-5925E03E35D6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</a:rPr>
              <a:t>Character Primitive Type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848600" cy="46482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000">
                <a:latin typeface="Times New Roman" panose="02020603050405020304" pitchFamily="18" charset="0"/>
              </a:rPr>
              <a:t>It uses unicode to represent character.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000">
                <a:latin typeface="Times New Roman" panose="02020603050405020304" pitchFamily="18" charset="0"/>
              </a:rPr>
              <a:t>The char type is unsigned 16 bit values ranging from 0 to 65536.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000">
                <a:latin typeface="Times New Roman" panose="02020603050405020304" pitchFamily="18" charset="0"/>
              </a:rPr>
              <a:t>ASCII still ranges from 0 to 127.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u="sng">
                <a:latin typeface="Times New Roman" panose="02020603050405020304" pitchFamily="18" charset="0"/>
              </a:rPr>
              <a:t>Example: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class test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{	public static void main (String args[])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{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char ch1, ch2;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ch1=88;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ch2=‘Y’;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System.out.println (“ch1 and ch2: “ + ch1+” “+ch2);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}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Output: ch1 and ch2: X Y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8A4903-1020-4404-AE66-44E86FF160D1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82349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0C3EB-0BA8-4BFF-88D1-8F543DDE6B1E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</a:rPr>
              <a:t>Character Primitive Type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2000" u="sng">
                <a:latin typeface="Times New Roman" panose="02020603050405020304" pitchFamily="18" charset="0"/>
              </a:rPr>
              <a:t>Example: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class test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public static void main (String args[])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char ch1;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ch1= ‘X’;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Sytem.out.println (“ch contains “+ch1);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ch1++;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System.out.println (“ch1 is now “ + ch1);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Output: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ch1 contains X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Ch1 is now Y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8A4903-1020-4404-AE66-44E86FF160D1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87897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A1AB2-EFB5-4319-BD3B-539CDA04973C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latin typeface="Times New Roman" panose="02020603050405020304" pitchFamily="18" charset="0"/>
              </a:rPr>
              <a:t>Booleans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114800"/>
          </a:xfrm>
        </p:spPr>
        <p:txBody>
          <a:bodyPr/>
          <a:lstStyle/>
          <a:p>
            <a:pPr marL="533400" indent="-533400"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Size is 1 bit – two value: true and false.</a:t>
            </a:r>
          </a:p>
          <a:p>
            <a:pPr marL="533400" indent="-533400"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This type is returned by all relational operators.</a:t>
            </a:r>
          </a:p>
          <a:p>
            <a:pPr marL="533400" indent="-533400">
              <a:buFont typeface="Wingdings" panose="05000000000000000000" pitchFamily="2" charset="2"/>
              <a:buChar char="ü"/>
            </a:pPr>
            <a:r>
              <a:rPr lang="en-US" altLang="en-US" sz="2400" u="sng">
                <a:latin typeface="Times New Roman" panose="02020603050405020304" pitchFamily="18" charset="0"/>
              </a:rPr>
              <a:t>Example:</a:t>
            </a:r>
          </a:p>
          <a:p>
            <a:pPr marL="533400" indent="-533400">
              <a:buFont typeface="Wingdings" panose="05000000000000000000" pitchFamily="2" charset="2"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	boolean b;</a:t>
            </a:r>
          </a:p>
          <a:p>
            <a:pPr marL="533400" indent="-533400">
              <a:buFont typeface="Wingdings" panose="05000000000000000000" pitchFamily="2" charset="2"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	b= true;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 sz="2400">
                <a:latin typeface="Times New Roman" panose="02020603050405020304" pitchFamily="18" charset="0"/>
              </a:rPr>
              <a:t>System.out.println(“b is “+b);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 sz="2400">
                <a:latin typeface="Times New Roman" panose="02020603050405020304" pitchFamily="18" charset="0"/>
              </a:rPr>
              <a:t>System.out.println(“10&gt;9 is “ +(10&gt;9));</a:t>
            </a:r>
          </a:p>
          <a:p>
            <a:pPr marL="533400" indent="-533400">
              <a:buFont typeface="Wingdings" panose="05000000000000000000" pitchFamily="2" charset="2"/>
              <a:buNone/>
            </a:pPr>
            <a:r>
              <a:rPr lang="en-US" altLang="en-US" sz="2400" b="1" u="sng">
                <a:latin typeface="Times New Roman" panose="02020603050405020304" pitchFamily="18" charset="0"/>
              </a:rPr>
              <a:t>Output:</a:t>
            </a:r>
          </a:p>
          <a:p>
            <a:pPr marL="533400" indent="-533400">
              <a:buFont typeface="Wingdings" panose="05000000000000000000" pitchFamily="2" charset="2"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 is true</a:t>
            </a:r>
          </a:p>
          <a:p>
            <a:pPr marL="533400" indent="-533400">
              <a:buFont typeface="Wingdings" panose="05000000000000000000" pitchFamily="2" charset="2"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10&gt;9 is true</a:t>
            </a:r>
          </a:p>
          <a:p>
            <a:pPr marL="533400" indent="-533400">
              <a:buFont typeface="Wingdings" panose="05000000000000000000" pitchFamily="2" charset="2"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8A4903-1020-4404-AE66-44E86FF160D1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68530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2CB9-EFF8-4682-8A56-DFBD67A202EE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latin typeface="Times New Roman" panose="02020603050405020304" pitchFamily="18" charset="0"/>
              </a:rPr>
              <a:t>Literals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Integer Literals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	1. base 10 – 1,2,43 etc.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	2. base 8 – octal values are denoted in java by a leading 0.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	3. base 16 – hexadecimal values are denoted by leading 0x 		 or 0X.</a:t>
            </a:r>
          </a:p>
          <a:p>
            <a:r>
              <a:rPr lang="en-US" altLang="en-US" sz="2400">
                <a:latin typeface="Times New Roman" panose="02020603050405020304" pitchFamily="18" charset="0"/>
              </a:rPr>
              <a:t>Any whole number is by default integer (32 bits).</a:t>
            </a:r>
          </a:p>
          <a:p>
            <a:r>
              <a:rPr lang="en-US" altLang="en-US" sz="2400">
                <a:latin typeface="Times New Roman" panose="02020603050405020304" pitchFamily="18" charset="0"/>
              </a:rPr>
              <a:t>To specify a long literal, the number should appended with</a:t>
            </a:r>
          </a:p>
          <a:p>
            <a:pPr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	an upper- or lowercase L.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8A4903-1020-4404-AE66-44E86FF160D1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63992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EC607-D6EA-4733-B777-47A05988772C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latin typeface="Times New Roman" panose="02020603050405020304" pitchFamily="18" charset="0"/>
              </a:rPr>
              <a:t>Literals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Floating point Literals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	1. Standard Notation – 3.14159, 0.6667, 2.0 etc.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	2. Scientific Notation – 6.022E23, 2e+100.</a:t>
            </a:r>
          </a:p>
          <a:p>
            <a:r>
              <a:rPr lang="en-US" altLang="en-US" sz="2400">
                <a:latin typeface="Times New Roman" panose="02020603050405020304" pitchFamily="18" charset="0"/>
              </a:rPr>
              <a:t>Floating point literals are by default of type double.</a:t>
            </a:r>
          </a:p>
          <a:p>
            <a:r>
              <a:rPr lang="en-US" altLang="en-US" sz="2400">
                <a:latin typeface="Times New Roman" panose="02020603050405020304" pitchFamily="18" charset="0"/>
              </a:rPr>
              <a:t>To specify a float literal, we must append an F or f to the constant.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Boolean Literals</a:t>
            </a:r>
          </a:p>
          <a:p>
            <a:r>
              <a:rPr lang="en-US" altLang="en-US" sz="2400">
                <a:latin typeface="Times New Roman" panose="02020603050405020304" pitchFamily="18" charset="0"/>
              </a:rPr>
              <a:t>Two values – true and false.</a:t>
            </a:r>
          </a:p>
          <a:p>
            <a:r>
              <a:rPr lang="en-US" altLang="en-US" sz="2400">
                <a:latin typeface="Times New Roman" panose="02020603050405020304" pitchFamily="18" charset="0"/>
              </a:rPr>
              <a:t>True is not equal 1 and false is not equal to 0.</a:t>
            </a:r>
          </a:p>
          <a:p>
            <a:r>
              <a:rPr lang="en-US" altLang="en-US" sz="2400">
                <a:latin typeface="Times New Roman" panose="02020603050405020304" pitchFamily="18" charset="0"/>
              </a:rPr>
              <a:t>They can be assigned to variable declared as boolean.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8A4903-1020-4404-AE66-44E86FF160D1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724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296FF-72D6-4717-A057-8A948C426925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382000" cy="715962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</a:rPr>
              <a:t>Literals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914400"/>
            <a:ext cx="7988300" cy="10620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Character Literals:</a:t>
            </a:r>
          </a:p>
          <a:p>
            <a:r>
              <a:rPr lang="en-US" altLang="en-US" sz="2400">
                <a:latin typeface="Times New Roman" panose="02020603050405020304" pitchFamily="18" charset="0"/>
              </a:rPr>
              <a:t>A literal character is represented inside a pair of single quotes.</a:t>
            </a:r>
          </a:p>
          <a:p>
            <a:endParaRPr lang="en-US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16460" name="Group 76"/>
          <p:cNvGraphicFramePr>
            <a:graphicFrameLocks noGrp="1"/>
          </p:cNvGraphicFramePr>
          <p:nvPr>
            <p:ph sz="quarter" idx="3"/>
          </p:nvPr>
        </p:nvGraphicFramePr>
        <p:xfrm>
          <a:off x="1981200" y="1981200"/>
          <a:ext cx="5410200" cy="4303776"/>
        </p:xfrm>
        <a:graphic>
          <a:graphicData uri="http://schemas.openxmlformats.org/drawingml/2006/table">
            <a:tbl>
              <a:tblPr/>
              <a:tblGrid>
                <a:gridCol w="180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46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Escape sequence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Unicode Representation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Description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3788">
                <a:tc>
                  <a:txBody>
                    <a:bodyPr/>
                    <a:lstStyle>
                      <a:lvl1pPr marL="457200" indent="-4572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876300" indent="-4191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314450" indent="-4000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6289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30861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5433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40005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457200" marR="0" lvl="0" indent="-4572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\’</a:t>
                      </a:r>
                    </a:p>
                    <a:p>
                      <a:pPr marL="457200" marR="0" lvl="0" indent="-4572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\”</a:t>
                      </a:r>
                    </a:p>
                    <a:p>
                      <a:pPr marL="457200" marR="0" lvl="0" indent="-4572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\\</a:t>
                      </a:r>
                    </a:p>
                    <a:p>
                      <a:pPr marL="457200" marR="0" lvl="0" indent="-4572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\r</a:t>
                      </a:r>
                    </a:p>
                    <a:p>
                      <a:pPr marL="457200" marR="0" lvl="0" indent="-4572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\n</a:t>
                      </a:r>
                    </a:p>
                    <a:p>
                      <a:pPr marL="457200" marR="0" lvl="0" indent="-4572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\f</a:t>
                      </a:r>
                    </a:p>
                    <a:p>
                      <a:pPr marL="457200" marR="0" lvl="0" indent="-4572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\t</a:t>
                      </a:r>
                    </a:p>
                    <a:p>
                      <a:pPr marL="457200" marR="0" lvl="0" indent="-4572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\b</a:t>
                      </a:r>
                    </a:p>
                    <a:p>
                      <a:pPr marL="457200" marR="0" lvl="0" indent="-4572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\ddd</a:t>
                      </a:r>
                    </a:p>
                    <a:p>
                      <a:pPr marL="457200" marR="0" lvl="0" indent="-4572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\uxxxx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\u0027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\u0022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\u005c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\u000d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\u000a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\u000b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\u0009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\u0008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Single quote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Double quote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Backslash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Carriage Return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New line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Form feed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Tab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Backspace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Octal Character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Hexadecimal Unicode character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D1481-EA43-4151-A4F4-3912A97EED68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04848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E96D9-6BE1-443D-9230-B45EA38DA6B7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latin typeface="Times New Roman" panose="02020603050405020304" pitchFamily="18" charset="0"/>
              </a:rPr>
              <a:t>Literals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2800">
                <a:latin typeface="Times New Roman" panose="02020603050405020304" pitchFamily="18" charset="0"/>
              </a:rPr>
              <a:t>String Literals</a:t>
            </a:r>
          </a:p>
          <a:p>
            <a:r>
              <a:rPr lang="en-US" altLang="en-US" sz="2800">
                <a:latin typeface="Times New Roman" panose="02020603050405020304" pitchFamily="18" charset="0"/>
              </a:rPr>
              <a:t>A sequence of characters between a pair of double quotes.</a:t>
            </a:r>
          </a:p>
          <a:p>
            <a:r>
              <a:rPr lang="en-US" altLang="en-US" sz="2800">
                <a:latin typeface="Times New Roman" panose="02020603050405020304" pitchFamily="18" charset="0"/>
              </a:rPr>
              <a:t>In java string must begin and end on the same line.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8A4903-1020-4404-AE66-44E86FF160D1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11208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45F8C-4384-42BF-9BD9-AFD3637019BA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latin typeface="Times New Roman" panose="02020603050405020304" pitchFamily="18" charset="0"/>
              </a:rPr>
              <a:t>Variables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>
                <a:latin typeface="Times New Roman" panose="02020603050405020304" pitchFamily="18" charset="0"/>
              </a:rPr>
              <a:t>Variable is a name for a location in memory.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>
                <a:latin typeface="Times New Roman" panose="02020603050405020304" pitchFamily="18" charset="0"/>
              </a:rPr>
              <a:t>Declaring a variable: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	type identifier [=value][,identifier [=value]….];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>
                <a:latin typeface="Times New Roman" panose="02020603050405020304" pitchFamily="18" charset="0"/>
              </a:rPr>
              <a:t>The initialization expression must result in a value of the same or compatible type as that specified for the variable.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>
                <a:latin typeface="Times New Roman" panose="02020603050405020304" pitchFamily="18" charset="0"/>
              </a:rPr>
              <a:t>When a variable is not initialized, the value of that variable is undefined.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8A4903-1020-4404-AE66-44E86FF160D1}" type="slidenum">
              <a:rPr lang="en-US" altLang="en-US" smtClean="0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28042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B9E96-1BB0-489C-B95C-72A62FB29D19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altLang="en-US" b="1">
                <a:latin typeface="Times New Roman" panose="02020603050405020304" pitchFamily="18" charset="0"/>
              </a:rPr>
              <a:t>Scope and Lifetime of a variable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A block begins with an opening curly brace and ends by a closing curly brace.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A block determines scope, that defines which objects are visible to other parts of your program.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Variables declared within a block localize themselves.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In case of nested block, the outer block encloses the inner block. The variables declared in the outer block is visible to the inner block but the reverse is not true.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A variable will not hold it’s value once it has gone out of it’s scope.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>
                <a:latin typeface="Times New Roman" panose="02020603050405020304" pitchFamily="18" charset="0"/>
              </a:rPr>
              <a:t>In an inner block, it is not possible to declare a variable of the same name as in outer block.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8A4903-1020-4404-AE66-44E86FF160D1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09474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A31C-DF70-4A6D-A61D-A5892371CB5C}" type="datetime1">
              <a:rPr lang="en-US" altLang="en-US" smtClean="0"/>
              <a:t>9/2/25</a:t>
            </a:fld>
            <a:endParaRPr lang="en-US" altLang="en-US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latin typeface="Times New Roman" panose="02020603050405020304" pitchFamily="18" charset="0"/>
              </a:rPr>
              <a:t>Scope and Lifetime of a variable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Example: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public static void main( String args[])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int x =10;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if ( x == 10)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int y =20;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System.out.println(“x and y: “ +x +” “+y);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x= y * 2;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y= 100;  //Error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System.out.println (“x is “+x);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8A4903-1020-4404-AE66-44E86FF160D1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5345747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350</TotalTime>
  <Words>2232</Words>
  <Application>Microsoft Macintosh PowerPoint</Application>
  <PresentationFormat>On-screen Show (4:3)</PresentationFormat>
  <Paragraphs>439</Paragraphs>
  <Slides>35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Arial Black</vt:lpstr>
      <vt:lpstr>Courier New</vt:lpstr>
      <vt:lpstr>Times New Roman</vt:lpstr>
      <vt:lpstr>Wingdings</vt:lpstr>
      <vt:lpstr>Pixel</vt:lpstr>
      <vt:lpstr>Lecture 3</vt:lpstr>
      <vt:lpstr>Programming languages</vt:lpstr>
      <vt:lpstr>Structured Programming</vt:lpstr>
      <vt:lpstr>Procedure Oriented Programming</vt:lpstr>
      <vt:lpstr>Procedure Oriented Programming</vt:lpstr>
      <vt:lpstr>Object –Oriented Programming</vt:lpstr>
      <vt:lpstr>Object –Oriented Programming</vt:lpstr>
      <vt:lpstr>Basic Concepts of OOP</vt:lpstr>
      <vt:lpstr>Objects and Classes</vt:lpstr>
      <vt:lpstr>Data Encapsulation</vt:lpstr>
      <vt:lpstr>Polymorphism</vt:lpstr>
      <vt:lpstr>Message Communication</vt:lpstr>
      <vt:lpstr>Advantages of OOP</vt:lpstr>
      <vt:lpstr>Java Program</vt:lpstr>
      <vt:lpstr>First Java Program-Example 1</vt:lpstr>
      <vt:lpstr>Simple Java Program-Some important points</vt:lpstr>
      <vt:lpstr>JRE and JDK</vt:lpstr>
      <vt:lpstr>Implementing a Java Program</vt:lpstr>
      <vt:lpstr>Implementing a Java Program</vt:lpstr>
      <vt:lpstr>Implementing a Java Program</vt:lpstr>
      <vt:lpstr>Second Java Program</vt:lpstr>
      <vt:lpstr>Points to be Noted</vt:lpstr>
      <vt:lpstr>Java is a Strongly typed Language</vt:lpstr>
      <vt:lpstr>The Primitive Types</vt:lpstr>
      <vt:lpstr>Numeric Primitive Types</vt:lpstr>
      <vt:lpstr>Character Primitive Type</vt:lpstr>
      <vt:lpstr>Character Primitive Type</vt:lpstr>
      <vt:lpstr>Booleans</vt:lpstr>
      <vt:lpstr>Literals</vt:lpstr>
      <vt:lpstr>Literals</vt:lpstr>
      <vt:lpstr>Literals</vt:lpstr>
      <vt:lpstr>Literals</vt:lpstr>
      <vt:lpstr>Variables</vt:lpstr>
      <vt:lpstr>Scope and Lifetime of a variable</vt:lpstr>
      <vt:lpstr>Scope and Lifetime of a variable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Md. Shiplu Hawlader</dc:creator>
  <cp:lastModifiedBy>Fahim Arefin</cp:lastModifiedBy>
  <cp:revision>192</cp:revision>
  <cp:lastPrinted>1601-01-01T00:00:00Z</cp:lastPrinted>
  <dcterms:created xsi:type="dcterms:W3CDTF">1601-01-01T00:00:00Z</dcterms:created>
  <dcterms:modified xsi:type="dcterms:W3CDTF">2025-09-01T19:51:10Z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