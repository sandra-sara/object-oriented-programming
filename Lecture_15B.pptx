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3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68" r:id="rId1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43"/>
  </p:normalViewPr>
  <p:slideViewPr>
    <p:cSldViewPr>
      <p:cViewPr varScale="1">
        <p:scale>
          <a:sx n="115" d="100"/>
          <a:sy n="115" d="100"/>
        </p:scale>
        <p:origin x="54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0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0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fld id="{5BEEADA7-1150-416C-8171-7B81C1D623D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14801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EEADA7-1150-416C-8171-7B81C1D623DE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480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EEADA7-1150-416C-8171-7B81C1D623DE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9152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EEADA7-1150-416C-8171-7B81C1D623DE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2273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4B607FB-2566-4F14-AA3D-A1A0DA611F8C}" type="datetime1">
              <a:rPr lang="en-US" altLang="en-US" smtClean="0"/>
              <a:t>11/9/25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2D0FC0-D8D1-45F2-8D42-B1CFC44F25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602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1A4EECE-2C7D-4DD0-A707-326846CA8EFD}" type="datetime1">
              <a:rPr lang="en-US" altLang="en-US" smtClean="0"/>
              <a:t>11/9/25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912FE3-B204-4318-8B8A-055377A9E40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1004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E06C94A-BC0A-494D-AB62-0AA85D258FB8}" type="datetime1">
              <a:rPr lang="en-US" altLang="en-US" smtClean="0"/>
              <a:t>11/9/25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3BA422-FEF0-4982-AD2B-D3DBC60AFC3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6594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7C728AF-5711-4D01-889F-F2C63EBD57BC}" type="datetime1">
              <a:rPr lang="en-US" altLang="en-US" smtClean="0"/>
              <a:t>11/9/25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1A3DE8-8555-4636-8BD5-29E10208043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0504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8E592AF-37DE-4010-B4A2-EDE819DEF51D}" type="datetime1">
              <a:rPr lang="en-US" altLang="en-US" smtClean="0"/>
              <a:t>11/9/25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19E246-FEE7-4804-A21C-D4B11DD3BC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8633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ADECEE9-2ACC-4C28-964F-7F0271226C81}" type="datetime1">
              <a:rPr lang="en-US" altLang="en-US" smtClean="0"/>
              <a:t>11/9/25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2809EF-4857-46C7-973A-9E0D72E2FC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8129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9CDD4F9-13F8-422A-9D84-55F99A682772}" type="datetime1">
              <a:rPr lang="en-US" altLang="en-US" smtClean="0"/>
              <a:t>11/9/25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78205A-3370-481F-B871-E3ED199414F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2570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3C267F8-2FED-474C-B35E-EE32A4E9B9AB}" type="datetime1">
              <a:rPr lang="en-US" altLang="en-US" smtClean="0"/>
              <a:t>11/9/25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41D2B2-287A-4FC6-9653-190376DB177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1244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7C3CB4-852F-44EE-BC79-A04AB172D17F}" type="datetime1">
              <a:rPr lang="en-US" altLang="en-US" smtClean="0"/>
              <a:t>11/9/25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153648-BEFF-45AA-82C0-1D443CEDDC1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3193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1D7AF13-CA73-4D78-9DB6-98944513F5C4}" type="datetime1">
              <a:rPr lang="en-US" altLang="en-US" smtClean="0"/>
              <a:t>11/9/25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919198-5044-4828-8A8C-0ED0838ED6F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9456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BE4E1E7-9440-46A8-AC2F-E453EAEC85E9}" type="datetime1">
              <a:rPr lang="en-US" altLang="en-US" smtClean="0"/>
              <a:t>11/9/25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15851F-5568-4B6A-8A02-C389025D307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4422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F710907C-8DE0-413B-8409-87D37D942CDC}" type="datetime1">
              <a:rPr lang="en-US" altLang="en-US" smtClean="0"/>
              <a:t>11/9/25</a:t>
            </a:fld>
            <a:endParaRPr lang="en-US" altLang="en-US"/>
          </a:p>
        </p:txBody>
      </p:sp>
      <p:sp>
        <p:nvSpPr>
          <p:cNvPr id="389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AF757F0-8ECB-4F19-91ED-4D964C491B0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8" name="Rectangle 5127">
            <a:extLst>
              <a:ext uri="{FF2B5EF4-FFF2-40B4-BE49-F238E27FC236}">
                <a16:creationId xmlns:a16="http://schemas.microsoft.com/office/drawing/2014/main" id="{4D24BFD5-D814-402B-B6C4-EEF6AE14B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28650" y="1122362"/>
            <a:ext cx="4711446" cy="4135437"/>
          </a:xfrm>
        </p:spPr>
        <p:txBody>
          <a:bodyPr>
            <a:normAutofit/>
          </a:bodyPr>
          <a:lstStyle/>
          <a:p>
            <a:pPr algn="l"/>
            <a:r>
              <a:rPr lang="en-US" altLang="en-US" sz="5700" b="1">
                <a:latin typeface="Times New Roman" panose="02020603050405020304" pitchFamily="18" charset="0"/>
              </a:rPr>
              <a:t>Lecture 15B</a:t>
            </a:r>
          </a:p>
        </p:txBody>
      </p:sp>
      <p:sp>
        <p:nvSpPr>
          <p:cNvPr id="5130" name="Rectangle 5129">
            <a:extLst>
              <a:ext uri="{FF2B5EF4-FFF2-40B4-BE49-F238E27FC236}">
                <a16:creationId xmlns:a16="http://schemas.microsoft.com/office/drawing/2014/main" id="{36FED7E8-9A97-475F-9FA4-113410D44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79604" y="1031284"/>
            <a:ext cx="2735746" cy="4436126"/>
          </a:xfrm>
          <a:custGeom>
            <a:avLst/>
            <a:gdLst>
              <a:gd name="connsiteX0" fmla="*/ 0 w 2735746"/>
              <a:gd name="connsiteY0" fmla="*/ 0 h 4436126"/>
              <a:gd name="connsiteX1" fmla="*/ 601864 w 2735746"/>
              <a:gd name="connsiteY1" fmla="*/ 0 h 4436126"/>
              <a:gd name="connsiteX2" fmla="*/ 1203728 w 2735746"/>
              <a:gd name="connsiteY2" fmla="*/ 0 h 4436126"/>
              <a:gd name="connsiteX3" fmla="*/ 1860307 w 2735746"/>
              <a:gd name="connsiteY3" fmla="*/ 0 h 4436126"/>
              <a:gd name="connsiteX4" fmla="*/ 2735746 w 2735746"/>
              <a:gd name="connsiteY4" fmla="*/ 0 h 4436126"/>
              <a:gd name="connsiteX5" fmla="*/ 2735746 w 2735746"/>
              <a:gd name="connsiteY5" fmla="*/ 722455 h 4436126"/>
              <a:gd name="connsiteX6" fmla="*/ 2735746 w 2735746"/>
              <a:gd name="connsiteY6" fmla="*/ 1400548 h 4436126"/>
              <a:gd name="connsiteX7" fmla="*/ 2735746 w 2735746"/>
              <a:gd name="connsiteY7" fmla="*/ 2123003 h 4436126"/>
              <a:gd name="connsiteX8" fmla="*/ 2735746 w 2735746"/>
              <a:gd name="connsiteY8" fmla="*/ 2623652 h 4436126"/>
              <a:gd name="connsiteX9" fmla="*/ 2735746 w 2735746"/>
              <a:gd name="connsiteY9" fmla="*/ 3346106 h 4436126"/>
              <a:gd name="connsiteX10" fmla="*/ 2735746 w 2735746"/>
              <a:gd name="connsiteY10" fmla="*/ 4436126 h 4436126"/>
              <a:gd name="connsiteX11" fmla="*/ 2106524 w 2735746"/>
              <a:gd name="connsiteY11" fmla="*/ 4436126 h 4436126"/>
              <a:gd name="connsiteX12" fmla="*/ 1449945 w 2735746"/>
              <a:gd name="connsiteY12" fmla="*/ 4436126 h 4436126"/>
              <a:gd name="connsiteX13" fmla="*/ 793366 w 2735746"/>
              <a:gd name="connsiteY13" fmla="*/ 4436126 h 4436126"/>
              <a:gd name="connsiteX14" fmla="*/ 0 w 2735746"/>
              <a:gd name="connsiteY14" fmla="*/ 4436126 h 4436126"/>
              <a:gd name="connsiteX15" fmla="*/ 0 w 2735746"/>
              <a:gd name="connsiteY15" fmla="*/ 3713671 h 4436126"/>
              <a:gd name="connsiteX16" fmla="*/ 0 w 2735746"/>
              <a:gd name="connsiteY16" fmla="*/ 3124300 h 4436126"/>
              <a:gd name="connsiteX17" fmla="*/ 0 w 2735746"/>
              <a:gd name="connsiteY17" fmla="*/ 2446207 h 4436126"/>
              <a:gd name="connsiteX18" fmla="*/ 0 w 2735746"/>
              <a:gd name="connsiteY18" fmla="*/ 1856836 h 4436126"/>
              <a:gd name="connsiteX19" fmla="*/ 0 w 2735746"/>
              <a:gd name="connsiteY19" fmla="*/ 1178742 h 4436126"/>
              <a:gd name="connsiteX20" fmla="*/ 0 w 2735746"/>
              <a:gd name="connsiteY20" fmla="*/ 678094 h 4436126"/>
              <a:gd name="connsiteX21" fmla="*/ 0 w 2735746"/>
              <a:gd name="connsiteY21" fmla="*/ 0 h 4436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735746" h="4436126" fill="none" extrusionOk="0">
                <a:moveTo>
                  <a:pt x="0" y="0"/>
                </a:moveTo>
                <a:cubicBezTo>
                  <a:pt x="179540" y="26169"/>
                  <a:pt x="438012" y="23230"/>
                  <a:pt x="601864" y="0"/>
                </a:cubicBezTo>
                <a:cubicBezTo>
                  <a:pt x="765716" y="-23230"/>
                  <a:pt x="955038" y="-5127"/>
                  <a:pt x="1203728" y="0"/>
                </a:cubicBezTo>
                <a:cubicBezTo>
                  <a:pt x="1452418" y="5127"/>
                  <a:pt x="1646417" y="-25974"/>
                  <a:pt x="1860307" y="0"/>
                </a:cubicBezTo>
                <a:cubicBezTo>
                  <a:pt x="2074197" y="25974"/>
                  <a:pt x="2430568" y="-26480"/>
                  <a:pt x="2735746" y="0"/>
                </a:cubicBezTo>
                <a:cubicBezTo>
                  <a:pt x="2706048" y="340749"/>
                  <a:pt x="2740838" y="495871"/>
                  <a:pt x="2735746" y="722455"/>
                </a:cubicBezTo>
                <a:cubicBezTo>
                  <a:pt x="2730654" y="949039"/>
                  <a:pt x="2752433" y="1198388"/>
                  <a:pt x="2735746" y="1400548"/>
                </a:cubicBezTo>
                <a:cubicBezTo>
                  <a:pt x="2719059" y="1602708"/>
                  <a:pt x="2715247" y="1770847"/>
                  <a:pt x="2735746" y="2123003"/>
                </a:cubicBezTo>
                <a:cubicBezTo>
                  <a:pt x="2756245" y="2475160"/>
                  <a:pt x="2751062" y="2522091"/>
                  <a:pt x="2735746" y="2623652"/>
                </a:cubicBezTo>
                <a:cubicBezTo>
                  <a:pt x="2720430" y="2725213"/>
                  <a:pt x="2753604" y="3142493"/>
                  <a:pt x="2735746" y="3346106"/>
                </a:cubicBezTo>
                <a:cubicBezTo>
                  <a:pt x="2717888" y="3549719"/>
                  <a:pt x="2748400" y="4025565"/>
                  <a:pt x="2735746" y="4436126"/>
                </a:cubicBezTo>
                <a:cubicBezTo>
                  <a:pt x="2455834" y="4434463"/>
                  <a:pt x="2336666" y="4425166"/>
                  <a:pt x="2106524" y="4436126"/>
                </a:cubicBezTo>
                <a:cubicBezTo>
                  <a:pt x="1876382" y="4447086"/>
                  <a:pt x="1601121" y="4420147"/>
                  <a:pt x="1449945" y="4436126"/>
                </a:cubicBezTo>
                <a:cubicBezTo>
                  <a:pt x="1298769" y="4452105"/>
                  <a:pt x="950963" y="4404014"/>
                  <a:pt x="793366" y="4436126"/>
                </a:cubicBezTo>
                <a:cubicBezTo>
                  <a:pt x="635769" y="4468238"/>
                  <a:pt x="300146" y="4462205"/>
                  <a:pt x="0" y="4436126"/>
                </a:cubicBezTo>
                <a:cubicBezTo>
                  <a:pt x="25833" y="4232419"/>
                  <a:pt x="3486" y="4019021"/>
                  <a:pt x="0" y="3713671"/>
                </a:cubicBezTo>
                <a:cubicBezTo>
                  <a:pt x="-3486" y="3408322"/>
                  <a:pt x="-27541" y="3277286"/>
                  <a:pt x="0" y="3124300"/>
                </a:cubicBezTo>
                <a:cubicBezTo>
                  <a:pt x="27541" y="2971314"/>
                  <a:pt x="31162" y="2762025"/>
                  <a:pt x="0" y="2446207"/>
                </a:cubicBezTo>
                <a:cubicBezTo>
                  <a:pt x="-31162" y="2130389"/>
                  <a:pt x="9656" y="2027375"/>
                  <a:pt x="0" y="1856836"/>
                </a:cubicBezTo>
                <a:cubicBezTo>
                  <a:pt x="-9656" y="1686297"/>
                  <a:pt x="-14688" y="1512539"/>
                  <a:pt x="0" y="1178742"/>
                </a:cubicBezTo>
                <a:cubicBezTo>
                  <a:pt x="14688" y="844945"/>
                  <a:pt x="2890" y="917816"/>
                  <a:pt x="0" y="678094"/>
                </a:cubicBezTo>
                <a:cubicBezTo>
                  <a:pt x="-2890" y="438372"/>
                  <a:pt x="5448" y="207647"/>
                  <a:pt x="0" y="0"/>
                </a:cubicBezTo>
                <a:close/>
              </a:path>
              <a:path w="2735746" h="4436126" stroke="0" extrusionOk="0">
                <a:moveTo>
                  <a:pt x="0" y="0"/>
                </a:moveTo>
                <a:cubicBezTo>
                  <a:pt x="209894" y="16338"/>
                  <a:pt x="375877" y="-31334"/>
                  <a:pt x="629222" y="0"/>
                </a:cubicBezTo>
                <a:cubicBezTo>
                  <a:pt x="882567" y="31334"/>
                  <a:pt x="997255" y="-29736"/>
                  <a:pt x="1258443" y="0"/>
                </a:cubicBezTo>
                <a:cubicBezTo>
                  <a:pt x="1519631" y="29736"/>
                  <a:pt x="1769008" y="-24969"/>
                  <a:pt x="1942380" y="0"/>
                </a:cubicBezTo>
                <a:cubicBezTo>
                  <a:pt x="2115752" y="24969"/>
                  <a:pt x="2487652" y="32052"/>
                  <a:pt x="2735746" y="0"/>
                </a:cubicBezTo>
                <a:cubicBezTo>
                  <a:pt x="2751518" y="246908"/>
                  <a:pt x="2711283" y="325094"/>
                  <a:pt x="2735746" y="589371"/>
                </a:cubicBezTo>
                <a:cubicBezTo>
                  <a:pt x="2760209" y="853648"/>
                  <a:pt x="2718833" y="972107"/>
                  <a:pt x="2735746" y="1090020"/>
                </a:cubicBezTo>
                <a:cubicBezTo>
                  <a:pt x="2752659" y="1207933"/>
                  <a:pt x="2729992" y="1582062"/>
                  <a:pt x="2735746" y="1812474"/>
                </a:cubicBezTo>
                <a:cubicBezTo>
                  <a:pt x="2741500" y="2042886"/>
                  <a:pt x="2707628" y="2235903"/>
                  <a:pt x="2735746" y="2401845"/>
                </a:cubicBezTo>
                <a:cubicBezTo>
                  <a:pt x="2763864" y="2567787"/>
                  <a:pt x="2758150" y="2913761"/>
                  <a:pt x="2735746" y="3124300"/>
                </a:cubicBezTo>
                <a:cubicBezTo>
                  <a:pt x="2713342" y="3334839"/>
                  <a:pt x="2720989" y="3582863"/>
                  <a:pt x="2735746" y="3758032"/>
                </a:cubicBezTo>
                <a:cubicBezTo>
                  <a:pt x="2750503" y="3933201"/>
                  <a:pt x="2736802" y="4250321"/>
                  <a:pt x="2735746" y="4436126"/>
                </a:cubicBezTo>
                <a:cubicBezTo>
                  <a:pt x="2480396" y="4409468"/>
                  <a:pt x="2193035" y="4433672"/>
                  <a:pt x="2051810" y="4436126"/>
                </a:cubicBezTo>
                <a:cubicBezTo>
                  <a:pt x="1910585" y="4438580"/>
                  <a:pt x="1557696" y="4442846"/>
                  <a:pt x="1422588" y="4436126"/>
                </a:cubicBezTo>
                <a:cubicBezTo>
                  <a:pt x="1287480" y="4429406"/>
                  <a:pt x="1114403" y="4428562"/>
                  <a:pt x="820724" y="4436126"/>
                </a:cubicBezTo>
                <a:cubicBezTo>
                  <a:pt x="527045" y="4443690"/>
                  <a:pt x="375914" y="4447757"/>
                  <a:pt x="0" y="4436126"/>
                </a:cubicBezTo>
                <a:cubicBezTo>
                  <a:pt x="-31538" y="4174476"/>
                  <a:pt x="-31250" y="4099935"/>
                  <a:pt x="0" y="3802394"/>
                </a:cubicBezTo>
                <a:cubicBezTo>
                  <a:pt x="31250" y="3504853"/>
                  <a:pt x="9806" y="3349077"/>
                  <a:pt x="0" y="3213023"/>
                </a:cubicBezTo>
                <a:cubicBezTo>
                  <a:pt x="-9806" y="3076969"/>
                  <a:pt x="-22953" y="2900441"/>
                  <a:pt x="0" y="2712374"/>
                </a:cubicBezTo>
                <a:cubicBezTo>
                  <a:pt x="22953" y="2524307"/>
                  <a:pt x="-35854" y="2231517"/>
                  <a:pt x="0" y="1989919"/>
                </a:cubicBezTo>
                <a:cubicBezTo>
                  <a:pt x="35854" y="1748321"/>
                  <a:pt x="1945" y="1519865"/>
                  <a:pt x="0" y="1400548"/>
                </a:cubicBezTo>
                <a:cubicBezTo>
                  <a:pt x="-1945" y="1281231"/>
                  <a:pt x="-11601" y="971726"/>
                  <a:pt x="0" y="811177"/>
                </a:cubicBezTo>
                <a:cubicBezTo>
                  <a:pt x="11601" y="650628"/>
                  <a:pt x="34125" y="21079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8728339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946085" y="1232452"/>
            <a:ext cx="2400300" cy="3850919"/>
          </a:xfrm>
        </p:spPr>
        <p:txBody>
          <a:bodyPr anchor="b">
            <a:normAutofit/>
          </a:bodyPr>
          <a:lstStyle/>
          <a:p>
            <a:pPr algn="l"/>
            <a:r>
              <a:rPr lang="en-US" altLang="en-US" b="1">
                <a:solidFill>
                  <a:srgbClr val="FFFFFF"/>
                </a:solidFill>
                <a:latin typeface="Times New Roman" panose="02020603050405020304" pitchFamily="18" charset="0"/>
              </a:rPr>
              <a:t>Multithreaded Programming</a:t>
            </a:r>
          </a:p>
        </p:txBody>
      </p:sp>
      <p:sp>
        <p:nvSpPr>
          <p:cNvPr id="5132" name="sketch line">
            <a:extLst>
              <a:ext uri="{FF2B5EF4-FFF2-40B4-BE49-F238E27FC236}">
                <a16:creationId xmlns:a16="http://schemas.microsoft.com/office/drawing/2014/main" id="{2A39B854-4B6C-4F7F-A602-6F97770CE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49" y="5439978"/>
            <a:ext cx="4711446" cy="18288"/>
          </a:xfrm>
          <a:custGeom>
            <a:avLst/>
            <a:gdLst>
              <a:gd name="connsiteX0" fmla="*/ 0 w 4711446"/>
              <a:gd name="connsiteY0" fmla="*/ 0 h 18288"/>
              <a:gd name="connsiteX1" fmla="*/ 625949 w 4711446"/>
              <a:gd name="connsiteY1" fmla="*/ 0 h 18288"/>
              <a:gd name="connsiteX2" fmla="*/ 1157670 w 4711446"/>
              <a:gd name="connsiteY2" fmla="*/ 0 h 18288"/>
              <a:gd name="connsiteX3" fmla="*/ 1736504 w 4711446"/>
              <a:gd name="connsiteY3" fmla="*/ 0 h 18288"/>
              <a:gd name="connsiteX4" fmla="*/ 2456683 w 4711446"/>
              <a:gd name="connsiteY4" fmla="*/ 0 h 18288"/>
              <a:gd name="connsiteX5" fmla="*/ 3082632 w 4711446"/>
              <a:gd name="connsiteY5" fmla="*/ 0 h 18288"/>
              <a:gd name="connsiteX6" fmla="*/ 3661467 w 4711446"/>
              <a:gd name="connsiteY6" fmla="*/ 0 h 18288"/>
              <a:gd name="connsiteX7" fmla="*/ 4711446 w 4711446"/>
              <a:gd name="connsiteY7" fmla="*/ 0 h 18288"/>
              <a:gd name="connsiteX8" fmla="*/ 4711446 w 4711446"/>
              <a:gd name="connsiteY8" fmla="*/ 18288 h 18288"/>
              <a:gd name="connsiteX9" fmla="*/ 4038382 w 4711446"/>
              <a:gd name="connsiteY9" fmla="*/ 18288 h 18288"/>
              <a:gd name="connsiteX10" fmla="*/ 3459547 w 4711446"/>
              <a:gd name="connsiteY10" fmla="*/ 18288 h 18288"/>
              <a:gd name="connsiteX11" fmla="*/ 2692255 w 4711446"/>
              <a:gd name="connsiteY11" fmla="*/ 18288 h 18288"/>
              <a:gd name="connsiteX12" fmla="*/ 2066306 w 4711446"/>
              <a:gd name="connsiteY12" fmla="*/ 18288 h 18288"/>
              <a:gd name="connsiteX13" fmla="*/ 1534585 w 4711446"/>
              <a:gd name="connsiteY13" fmla="*/ 18288 h 18288"/>
              <a:gd name="connsiteX14" fmla="*/ 814407 w 4711446"/>
              <a:gd name="connsiteY14" fmla="*/ 18288 h 18288"/>
              <a:gd name="connsiteX15" fmla="*/ 0 w 4711446"/>
              <a:gd name="connsiteY15" fmla="*/ 18288 h 18288"/>
              <a:gd name="connsiteX16" fmla="*/ 0 w 4711446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11446" h="18288" fill="none" extrusionOk="0">
                <a:moveTo>
                  <a:pt x="0" y="0"/>
                </a:moveTo>
                <a:cubicBezTo>
                  <a:pt x="275996" y="-6775"/>
                  <a:pt x="430270" y="12128"/>
                  <a:pt x="625949" y="0"/>
                </a:cubicBezTo>
                <a:cubicBezTo>
                  <a:pt x="821628" y="-12128"/>
                  <a:pt x="953153" y="2170"/>
                  <a:pt x="1157670" y="0"/>
                </a:cubicBezTo>
                <a:cubicBezTo>
                  <a:pt x="1362187" y="-2170"/>
                  <a:pt x="1508708" y="24986"/>
                  <a:pt x="1736504" y="0"/>
                </a:cubicBezTo>
                <a:cubicBezTo>
                  <a:pt x="1964300" y="-24986"/>
                  <a:pt x="2114331" y="-14747"/>
                  <a:pt x="2456683" y="0"/>
                </a:cubicBezTo>
                <a:cubicBezTo>
                  <a:pt x="2799035" y="14747"/>
                  <a:pt x="2904885" y="27883"/>
                  <a:pt x="3082632" y="0"/>
                </a:cubicBezTo>
                <a:cubicBezTo>
                  <a:pt x="3260379" y="-27883"/>
                  <a:pt x="3449277" y="21284"/>
                  <a:pt x="3661467" y="0"/>
                </a:cubicBezTo>
                <a:cubicBezTo>
                  <a:pt x="3873658" y="-21284"/>
                  <a:pt x="4403906" y="12447"/>
                  <a:pt x="4711446" y="0"/>
                </a:cubicBezTo>
                <a:cubicBezTo>
                  <a:pt x="4711844" y="7429"/>
                  <a:pt x="4711426" y="10822"/>
                  <a:pt x="4711446" y="18288"/>
                </a:cubicBezTo>
                <a:cubicBezTo>
                  <a:pt x="4441704" y="14143"/>
                  <a:pt x="4312170" y="5146"/>
                  <a:pt x="4038382" y="18288"/>
                </a:cubicBezTo>
                <a:cubicBezTo>
                  <a:pt x="3764594" y="31430"/>
                  <a:pt x="3716634" y="24680"/>
                  <a:pt x="3459547" y="18288"/>
                </a:cubicBezTo>
                <a:cubicBezTo>
                  <a:pt x="3202460" y="11896"/>
                  <a:pt x="2879854" y="19674"/>
                  <a:pt x="2692255" y="18288"/>
                </a:cubicBezTo>
                <a:cubicBezTo>
                  <a:pt x="2504656" y="16902"/>
                  <a:pt x="2223731" y="-2796"/>
                  <a:pt x="2066306" y="18288"/>
                </a:cubicBezTo>
                <a:cubicBezTo>
                  <a:pt x="1908881" y="39372"/>
                  <a:pt x="1781464" y="10855"/>
                  <a:pt x="1534585" y="18288"/>
                </a:cubicBezTo>
                <a:cubicBezTo>
                  <a:pt x="1287706" y="25721"/>
                  <a:pt x="979966" y="-15294"/>
                  <a:pt x="814407" y="18288"/>
                </a:cubicBezTo>
                <a:cubicBezTo>
                  <a:pt x="648848" y="51870"/>
                  <a:pt x="195527" y="13986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711446" h="18288" stroke="0" extrusionOk="0">
                <a:moveTo>
                  <a:pt x="0" y="0"/>
                </a:moveTo>
                <a:cubicBezTo>
                  <a:pt x="225644" y="-29218"/>
                  <a:pt x="321824" y="-13505"/>
                  <a:pt x="625949" y="0"/>
                </a:cubicBezTo>
                <a:cubicBezTo>
                  <a:pt x="930074" y="13505"/>
                  <a:pt x="1040728" y="23682"/>
                  <a:pt x="1157670" y="0"/>
                </a:cubicBezTo>
                <a:cubicBezTo>
                  <a:pt x="1274612" y="-23682"/>
                  <a:pt x="1732715" y="-38127"/>
                  <a:pt x="1924962" y="0"/>
                </a:cubicBezTo>
                <a:cubicBezTo>
                  <a:pt x="2117209" y="38127"/>
                  <a:pt x="2299261" y="17383"/>
                  <a:pt x="2550911" y="0"/>
                </a:cubicBezTo>
                <a:cubicBezTo>
                  <a:pt x="2802561" y="-17383"/>
                  <a:pt x="2873352" y="-24010"/>
                  <a:pt x="3176861" y="0"/>
                </a:cubicBezTo>
                <a:cubicBezTo>
                  <a:pt x="3480370" y="24010"/>
                  <a:pt x="3597961" y="-9070"/>
                  <a:pt x="3944153" y="0"/>
                </a:cubicBezTo>
                <a:cubicBezTo>
                  <a:pt x="4290345" y="9070"/>
                  <a:pt x="4345995" y="26854"/>
                  <a:pt x="4711446" y="0"/>
                </a:cubicBezTo>
                <a:cubicBezTo>
                  <a:pt x="4710560" y="5429"/>
                  <a:pt x="4712267" y="14046"/>
                  <a:pt x="4711446" y="18288"/>
                </a:cubicBezTo>
                <a:cubicBezTo>
                  <a:pt x="4574282" y="23897"/>
                  <a:pt x="4363770" y="43566"/>
                  <a:pt x="4132611" y="18288"/>
                </a:cubicBezTo>
                <a:cubicBezTo>
                  <a:pt x="3901452" y="-6990"/>
                  <a:pt x="3795359" y="-7327"/>
                  <a:pt x="3459547" y="18288"/>
                </a:cubicBezTo>
                <a:cubicBezTo>
                  <a:pt x="3123735" y="43903"/>
                  <a:pt x="3000502" y="-9998"/>
                  <a:pt x="2786484" y="18288"/>
                </a:cubicBezTo>
                <a:cubicBezTo>
                  <a:pt x="2572466" y="46574"/>
                  <a:pt x="2424773" y="17766"/>
                  <a:pt x="2160535" y="18288"/>
                </a:cubicBezTo>
                <a:cubicBezTo>
                  <a:pt x="1896297" y="18810"/>
                  <a:pt x="1673486" y="-6557"/>
                  <a:pt x="1393242" y="18288"/>
                </a:cubicBezTo>
                <a:cubicBezTo>
                  <a:pt x="1112998" y="43133"/>
                  <a:pt x="887393" y="39122"/>
                  <a:pt x="625949" y="18288"/>
                </a:cubicBezTo>
                <a:cubicBezTo>
                  <a:pt x="364505" y="-2546"/>
                  <a:pt x="251092" y="19641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512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4" name="Rectangle 922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en-US" sz="4700" b="1">
                <a:latin typeface="Times New Roman" panose="02020603050405020304" pitchFamily="18" charset="0"/>
              </a:rPr>
              <a:t>The Main Thread</a:t>
            </a:r>
          </a:p>
        </p:txBody>
      </p:sp>
      <p:sp>
        <p:nvSpPr>
          <p:cNvPr id="9226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1900">
                <a:latin typeface="Times New Roman" panose="02020603050405020304" pitchFamily="18" charset="0"/>
              </a:rPr>
              <a:t>When a java program starts up, one thread begins running immediately.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1900">
                <a:latin typeface="Times New Roman" panose="02020603050405020304" pitchFamily="18" charset="0"/>
              </a:rPr>
              <a:t>Other child threads are spawned from the main thread.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1900">
                <a:latin typeface="Times New Roman" panose="02020603050405020304" pitchFamily="18" charset="0"/>
              </a:rPr>
              <a:t>Often it must be the last thread to finish execution.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A912FE3-B204-4318-8B8A-055377A9E40D}" type="slidenum">
              <a:rPr lang="en-US" altLang="en-US" smtClean="0"/>
              <a:pPr>
                <a:spcAft>
                  <a:spcPts val="600"/>
                </a:spcAft>
              </a:pPr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696200" cy="838200"/>
          </a:xfrm>
        </p:spPr>
        <p:txBody>
          <a:bodyPr/>
          <a:lstStyle/>
          <a:p>
            <a:r>
              <a:rPr lang="en-US" altLang="en-US" b="1">
                <a:latin typeface="Times New Roman" panose="02020603050405020304" pitchFamily="18" charset="0"/>
              </a:rPr>
              <a:t>Example-Main Thread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914400"/>
            <a:ext cx="8153400" cy="59436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Times New Roman" panose="02020603050405020304" pitchFamily="18" charset="0"/>
              </a:rPr>
              <a:t>class ctdemo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Times New Roman" panose="02020603050405020304" pitchFamily="18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Times New Roman" panose="02020603050405020304" pitchFamily="18" charset="0"/>
              </a:rPr>
              <a:t>        public static void main(String args[])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Times New Roman" panose="02020603050405020304" pitchFamily="18" charset="0"/>
              </a:rPr>
              <a:t>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Times New Roman" panose="02020603050405020304" pitchFamily="18" charset="0"/>
              </a:rPr>
              <a:t>                Thread t = Thread.currentThread();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Times New Roman" panose="02020603050405020304" pitchFamily="18" charset="0"/>
              </a:rPr>
              <a:t>                System.out.println("Current thread: " +t);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600" b="1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Times New Roman" panose="02020603050405020304" pitchFamily="18" charset="0"/>
              </a:rPr>
              <a:t>                t.setName("MyThread");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Times New Roman" panose="02020603050405020304" pitchFamily="18" charset="0"/>
              </a:rPr>
              <a:t>                System.out.println("After name change: " + t);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600" b="1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Times New Roman" panose="02020603050405020304" pitchFamily="18" charset="0"/>
              </a:rPr>
              <a:t>                try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Times New Roman" panose="02020603050405020304" pitchFamily="18" charset="0"/>
              </a:rPr>
              <a:t>        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Times New Roman" panose="02020603050405020304" pitchFamily="18" charset="0"/>
              </a:rPr>
              <a:t>                       for(int n=5;n&gt;0;n--)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Times New Roman" panose="02020603050405020304" pitchFamily="18" charset="0"/>
              </a:rPr>
              <a:t>               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Times New Roman" panose="02020603050405020304" pitchFamily="18" charset="0"/>
              </a:rPr>
              <a:t>                                System.out.println(n);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Times New Roman" panose="02020603050405020304" pitchFamily="18" charset="0"/>
              </a:rPr>
              <a:t>                                Thread.sleep(1000);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Times New Roman" panose="02020603050405020304" pitchFamily="18" charset="0"/>
              </a:rPr>
              <a:t>               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Times New Roman" panose="02020603050405020304" pitchFamily="18" charset="0"/>
              </a:rPr>
              <a:t>       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Times New Roman" panose="02020603050405020304" pitchFamily="18" charset="0"/>
              </a:rPr>
              <a:t>                catch(InterruptedException e)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Times New Roman" panose="02020603050405020304" pitchFamily="18" charset="0"/>
              </a:rPr>
              <a:t>        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Times New Roman" panose="02020603050405020304" pitchFamily="18" charset="0"/>
              </a:rPr>
              <a:t>                        System.out.println("Main thread Interrupted");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Times New Roman" panose="02020603050405020304" pitchFamily="18" charset="0"/>
              </a:rPr>
              <a:t>        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Times New Roman" panose="02020603050405020304" pitchFamily="18" charset="0"/>
              </a:rPr>
              <a:t>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Times New Roman" panose="02020603050405020304" pitchFamily="18" charset="0"/>
              </a:rPr>
              <a:t>}</a:t>
            </a:r>
          </a:p>
          <a:p>
            <a:pPr>
              <a:lnSpc>
                <a:spcPct val="80000"/>
              </a:lnSpc>
            </a:pPr>
            <a:endParaRPr lang="en-US" altLang="en-US" sz="1600" b="1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600">
              <a:latin typeface="Times New Roman" panose="02020603050405020304" pitchFamily="18" charset="0"/>
            </a:endParaRP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4800600" y="2971800"/>
            <a:ext cx="4648200" cy="325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Output:</a:t>
            </a:r>
          </a:p>
          <a:p>
            <a:pPr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Current thread: Thread[main,5, main]</a:t>
            </a:r>
          </a:p>
          <a:p>
            <a:pPr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After name change: Thread[MyThread,5,main]</a:t>
            </a:r>
          </a:p>
          <a:p>
            <a:pPr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5</a:t>
            </a:r>
          </a:p>
          <a:p>
            <a:pPr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4</a:t>
            </a:r>
          </a:p>
          <a:p>
            <a:pPr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3</a:t>
            </a:r>
          </a:p>
          <a:p>
            <a:pPr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2</a:t>
            </a:r>
          </a:p>
          <a:p>
            <a:pPr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12FE3-B204-4318-8B8A-055377A9E40D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2" name="Rectangle 1127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en-US" sz="4700" b="1">
                <a:latin typeface="Times New Roman" panose="02020603050405020304" pitchFamily="18" charset="0"/>
              </a:rPr>
              <a:t>Useful Methods of Thread</a:t>
            </a:r>
          </a:p>
        </p:txBody>
      </p:sp>
      <p:sp>
        <p:nvSpPr>
          <p:cNvPr id="1127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 sz="1900">
                <a:latin typeface="Times New Roman" panose="02020603050405020304" pitchFamily="18" charset="0"/>
              </a:rPr>
              <a:t>static Thread currentThread()</a:t>
            </a:r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	returns a reference to the thread in which it is called.</a:t>
            </a:r>
          </a:p>
          <a:p>
            <a:pPr marL="533400" indent="-533400">
              <a:buFont typeface="Wingdings" panose="05000000000000000000" pitchFamily="2" charset="2"/>
              <a:buAutoNum type="arabicPeriod" startAt="2"/>
            </a:pPr>
            <a:r>
              <a:rPr lang="en-US" altLang="en-US" sz="1900">
                <a:latin typeface="Times New Roman" panose="02020603050405020304" pitchFamily="18" charset="0"/>
              </a:rPr>
              <a:t>static void sleep(long millisecond)</a:t>
            </a:r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	cause the the thread from which it is called to suspend execution for the specified period of milliseconds.</a:t>
            </a:r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3.    final void setName( String threadName)</a:t>
            </a:r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	set the name of the thread from which it is called to the name given as parameter.</a:t>
            </a:r>
          </a:p>
          <a:p>
            <a:pPr marL="533400" indent="-533400">
              <a:buFont typeface="Wingdings" panose="05000000000000000000" pitchFamily="2" charset="2"/>
              <a:buAutoNum type="arabicPeriod" startAt="4"/>
            </a:pPr>
            <a:r>
              <a:rPr lang="en-US" altLang="en-US" sz="1900">
                <a:latin typeface="Times New Roman" panose="02020603050405020304" pitchFamily="18" charset="0"/>
              </a:rPr>
              <a:t>final String getName()</a:t>
            </a:r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	return the name of the thread from which it is called.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A912FE3-B204-4318-8B8A-055377A9E40D}" type="slidenum">
              <a:rPr lang="en-US" altLang="en-US" smtClean="0"/>
              <a:pPr>
                <a:spcAft>
                  <a:spcPts val="600"/>
                </a:spcAft>
              </a:pPr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96" name="Rectangle 12295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en-US" sz="4700">
                <a:latin typeface="Times New Roman" panose="02020603050405020304" pitchFamily="18" charset="0"/>
              </a:rPr>
              <a:t>Creating Threads</a:t>
            </a:r>
          </a:p>
        </p:txBody>
      </p:sp>
      <p:sp>
        <p:nvSpPr>
          <p:cNvPr id="12298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1900">
                <a:latin typeface="Times New Roman" panose="02020603050405020304" pitchFamily="18" charset="0"/>
              </a:rPr>
              <a:t>Two ways: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	1. Implement the </a:t>
            </a:r>
            <a:r>
              <a:rPr lang="en-US" altLang="en-US" sz="1900" b="1">
                <a:latin typeface="Times New Roman" panose="02020603050405020304" pitchFamily="18" charset="0"/>
              </a:rPr>
              <a:t>Runnable</a:t>
            </a:r>
            <a:r>
              <a:rPr lang="en-US" altLang="en-US" sz="1900">
                <a:latin typeface="Times New Roman" panose="02020603050405020304" pitchFamily="18" charset="0"/>
              </a:rPr>
              <a:t> Interface.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	2.Extend the </a:t>
            </a:r>
            <a:r>
              <a:rPr lang="en-US" altLang="en-US" sz="1900" b="1">
                <a:latin typeface="Times New Roman" panose="02020603050405020304" pitchFamily="18" charset="0"/>
              </a:rPr>
              <a:t>Thread</a:t>
            </a:r>
            <a:r>
              <a:rPr lang="en-US" altLang="en-US" sz="1900">
                <a:latin typeface="Times New Roman" panose="02020603050405020304" pitchFamily="18" charset="0"/>
              </a:rPr>
              <a:t> class.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A912FE3-B204-4318-8B8A-055377A9E40D}" type="slidenum">
              <a:rPr lang="en-US" altLang="en-US" smtClean="0"/>
              <a:pPr>
                <a:spcAft>
                  <a:spcPts val="600"/>
                </a:spcAft>
              </a:pPr>
              <a:t>5</a:t>
            </a:fld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20" name="Rectangle 1331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4300" b="1">
                <a:latin typeface="Times New Roman" panose="02020603050405020304" pitchFamily="18" charset="0"/>
              </a:rPr>
              <a:t>First Approach-Implement Runnable</a:t>
            </a:r>
          </a:p>
        </p:txBody>
      </p:sp>
      <p:sp>
        <p:nvSpPr>
          <p:cNvPr id="1332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1900">
                <a:latin typeface="Times New Roman" panose="02020603050405020304" pitchFamily="18" charset="0"/>
              </a:rPr>
              <a:t>Create a class that will implement </a:t>
            </a:r>
            <a:r>
              <a:rPr lang="en-US" altLang="en-US" sz="1900" b="1">
                <a:latin typeface="Times New Roman" panose="02020603050405020304" pitchFamily="18" charset="0"/>
              </a:rPr>
              <a:t>Runnable</a:t>
            </a:r>
            <a:r>
              <a:rPr lang="en-US" altLang="en-US" sz="1900">
                <a:latin typeface="Times New Roman" panose="02020603050405020304" pitchFamily="18" charset="0"/>
              </a:rPr>
              <a:t>. To implement </a:t>
            </a:r>
            <a:r>
              <a:rPr lang="en-US" altLang="en-US" sz="1900" b="1">
                <a:latin typeface="Times New Roman" panose="02020603050405020304" pitchFamily="18" charset="0"/>
              </a:rPr>
              <a:t>Runnable</a:t>
            </a:r>
            <a:r>
              <a:rPr lang="en-US" altLang="en-US" sz="1900">
                <a:latin typeface="Times New Roman" panose="02020603050405020304" pitchFamily="18" charset="0"/>
              </a:rPr>
              <a:t>, the class need only to implement 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	public void run()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900">
                <a:latin typeface="Times New Roman" panose="02020603050405020304" pitchFamily="18" charset="0"/>
              </a:rPr>
              <a:t>	-Establishes the entry point for another, concurrent thread.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1900">
                <a:latin typeface="Times New Roman" panose="02020603050405020304" pitchFamily="18" charset="0"/>
              </a:rPr>
              <a:t>Introduce an object of type </a:t>
            </a:r>
            <a:r>
              <a:rPr lang="en-US" altLang="en-US" sz="1900" b="1">
                <a:latin typeface="Times New Roman" panose="02020603050405020304" pitchFamily="18" charset="0"/>
              </a:rPr>
              <a:t>Thread</a:t>
            </a:r>
            <a:r>
              <a:rPr lang="en-US" altLang="en-US" sz="1900">
                <a:latin typeface="Times New Roman" panose="02020603050405020304" pitchFamily="18" charset="0"/>
              </a:rPr>
              <a:t> from within the same class.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1900">
                <a:latin typeface="Times New Roman" panose="02020603050405020304" pitchFamily="18" charset="0"/>
              </a:rPr>
              <a:t>Call the </a:t>
            </a:r>
            <a:r>
              <a:rPr lang="en-US" altLang="en-US" sz="1900" b="1">
                <a:latin typeface="Times New Roman" panose="02020603050405020304" pitchFamily="18" charset="0"/>
              </a:rPr>
              <a:t>start()</a:t>
            </a:r>
            <a:r>
              <a:rPr lang="en-US" altLang="en-US" sz="1900">
                <a:latin typeface="Times New Roman" panose="02020603050405020304" pitchFamily="18" charset="0"/>
              </a:rPr>
              <a:t> method of the new object of type </a:t>
            </a:r>
            <a:r>
              <a:rPr lang="en-US" altLang="en-US" sz="1900" b="1">
                <a:latin typeface="Times New Roman" panose="02020603050405020304" pitchFamily="18" charset="0"/>
              </a:rPr>
              <a:t>Thread.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A912FE3-B204-4318-8B8A-055377A9E40D}" type="slidenum">
              <a:rPr lang="en-US" altLang="en-US" smtClean="0"/>
              <a:pPr>
                <a:spcAft>
                  <a:spcPts val="600"/>
                </a:spcAft>
              </a:pPr>
              <a:t>6</a:t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76200"/>
            <a:ext cx="7924800" cy="712788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</a:rPr>
              <a:t>Example-First Approach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762000"/>
            <a:ext cx="4724400" cy="60960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 dirty="0">
                <a:latin typeface="Times New Roman" panose="02020603050405020304" pitchFamily="18" charset="0"/>
              </a:rPr>
              <a:t>class </a:t>
            </a:r>
            <a:r>
              <a:rPr lang="en-US" altLang="en-US" sz="1400" b="1" dirty="0" err="1">
                <a:latin typeface="Times New Roman" panose="02020603050405020304" pitchFamily="18" charset="0"/>
              </a:rPr>
              <a:t>NewThread</a:t>
            </a:r>
            <a:r>
              <a:rPr lang="en-US" altLang="en-US" sz="1400" b="1" dirty="0">
                <a:latin typeface="Times New Roman" panose="02020603050405020304" pitchFamily="18" charset="0"/>
              </a:rPr>
              <a:t> implements Runnable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 dirty="0">
                <a:latin typeface="Times New Roman" panose="02020603050405020304" pitchFamily="18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 dirty="0">
                <a:latin typeface="Times New Roman" panose="02020603050405020304" pitchFamily="18" charset="0"/>
              </a:rPr>
              <a:t>        Thread t;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 dirty="0">
                <a:latin typeface="Times New Roman" panose="02020603050405020304" pitchFamily="18" charset="0"/>
              </a:rPr>
              <a:t>        </a:t>
            </a:r>
            <a:r>
              <a:rPr lang="en-US" altLang="en-US" sz="1400" b="1" dirty="0" err="1">
                <a:latin typeface="Times New Roman" panose="02020603050405020304" pitchFamily="18" charset="0"/>
              </a:rPr>
              <a:t>NewThread</a:t>
            </a:r>
            <a:r>
              <a:rPr lang="en-US" altLang="en-US" sz="1400" b="1" dirty="0">
                <a:latin typeface="Times New Roman" panose="02020603050405020304" pitchFamily="18" charset="0"/>
              </a:rPr>
              <a:t>()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 dirty="0">
                <a:latin typeface="Times New Roman" panose="02020603050405020304" pitchFamily="18" charset="0"/>
              </a:rPr>
              <a:t>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 dirty="0">
                <a:latin typeface="Times New Roman" panose="02020603050405020304" pitchFamily="18" charset="0"/>
              </a:rPr>
              <a:t>                t = new Thread(this, "demo thread");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 dirty="0">
                <a:latin typeface="Times New Roman" panose="02020603050405020304" pitchFamily="18" charset="0"/>
              </a:rPr>
              <a:t>                </a:t>
            </a:r>
            <a:r>
              <a:rPr lang="en-US" altLang="en-US" sz="1400" b="1" dirty="0" err="1">
                <a:latin typeface="Times New Roman" panose="02020603050405020304" pitchFamily="18" charset="0"/>
              </a:rPr>
              <a:t>System.out.println</a:t>
            </a:r>
            <a:r>
              <a:rPr lang="en-US" altLang="en-US" sz="1400" b="1" dirty="0">
                <a:latin typeface="Times New Roman" panose="02020603050405020304" pitchFamily="18" charset="0"/>
              </a:rPr>
              <a:t>("Child thread: " +t);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 dirty="0">
                <a:latin typeface="Times New Roman" panose="02020603050405020304" pitchFamily="18" charset="0"/>
              </a:rPr>
              <a:t>                </a:t>
            </a:r>
            <a:r>
              <a:rPr lang="en-US" altLang="en-US" sz="1400" b="1" dirty="0" err="1">
                <a:latin typeface="Times New Roman" panose="02020603050405020304" pitchFamily="18" charset="0"/>
              </a:rPr>
              <a:t>t.start</a:t>
            </a:r>
            <a:r>
              <a:rPr lang="en-US" altLang="en-US" sz="1400" b="1" dirty="0">
                <a:latin typeface="Times New Roman" panose="02020603050405020304" pitchFamily="18" charset="0"/>
              </a:rPr>
              <a:t>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 dirty="0">
                <a:latin typeface="Times New Roman" panose="02020603050405020304" pitchFamily="18" charset="0"/>
              </a:rPr>
              <a:t>        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400" b="1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400" b="1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 dirty="0">
                <a:latin typeface="Times New Roman" panose="02020603050405020304" pitchFamily="18" charset="0"/>
              </a:rPr>
              <a:t>        public void run()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 dirty="0">
                <a:latin typeface="Times New Roman" panose="02020603050405020304" pitchFamily="18" charset="0"/>
              </a:rPr>
              <a:t>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 dirty="0">
                <a:latin typeface="Times New Roman" panose="02020603050405020304" pitchFamily="18" charset="0"/>
              </a:rPr>
              <a:t>                try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 dirty="0">
                <a:latin typeface="Times New Roman" panose="02020603050405020304" pitchFamily="18" charset="0"/>
              </a:rPr>
              <a:t>        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 dirty="0">
                <a:latin typeface="Times New Roman" panose="02020603050405020304" pitchFamily="18" charset="0"/>
              </a:rPr>
              <a:t>                        for(int n=5;n&gt;0;n--)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 dirty="0">
                <a:latin typeface="Times New Roman" panose="02020603050405020304" pitchFamily="18" charset="0"/>
              </a:rPr>
              <a:t>                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 dirty="0">
                <a:latin typeface="Times New Roman" panose="02020603050405020304" pitchFamily="18" charset="0"/>
              </a:rPr>
              <a:t>                           </a:t>
            </a:r>
            <a:r>
              <a:rPr lang="en-US" altLang="en-US" sz="1400" b="1" dirty="0" err="1">
                <a:latin typeface="Times New Roman" panose="02020603050405020304" pitchFamily="18" charset="0"/>
              </a:rPr>
              <a:t>System.out.println</a:t>
            </a:r>
            <a:r>
              <a:rPr lang="en-US" altLang="en-US" sz="1400" b="1" dirty="0">
                <a:latin typeface="Times New Roman" panose="02020603050405020304" pitchFamily="18" charset="0"/>
              </a:rPr>
              <a:t>("Child Thread: " +n);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 dirty="0">
                <a:latin typeface="Times New Roman" panose="02020603050405020304" pitchFamily="18" charset="0"/>
              </a:rPr>
              <a:t>                           </a:t>
            </a:r>
            <a:r>
              <a:rPr lang="en-US" altLang="en-US" sz="1400" b="1" dirty="0" err="1">
                <a:latin typeface="Times New Roman" panose="02020603050405020304" pitchFamily="18" charset="0"/>
              </a:rPr>
              <a:t>Thread.sleep</a:t>
            </a:r>
            <a:r>
              <a:rPr lang="en-US" altLang="en-US" sz="1400" b="1" dirty="0">
                <a:latin typeface="Times New Roman" panose="02020603050405020304" pitchFamily="18" charset="0"/>
              </a:rPr>
              <a:t>(500);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 dirty="0">
                <a:latin typeface="Times New Roman" panose="02020603050405020304" pitchFamily="18" charset="0"/>
              </a:rPr>
              <a:t>                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 dirty="0">
                <a:latin typeface="Times New Roman" panose="02020603050405020304" pitchFamily="18" charset="0"/>
              </a:rPr>
              <a:t>        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 dirty="0">
                <a:latin typeface="Times New Roman" panose="02020603050405020304" pitchFamily="18" charset="0"/>
              </a:rPr>
              <a:t>                catch(</a:t>
            </a:r>
            <a:r>
              <a:rPr lang="en-US" altLang="en-US" sz="1400" b="1" dirty="0" err="1">
                <a:latin typeface="Times New Roman" panose="02020603050405020304" pitchFamily="18" charset="0"/>
              </a:rPr>
              <a:t>InterruptedException</a:t>
            </a:r>
            <a:r>
              <a:rPr lang="en-US" altLang="en-US" sz="1400" b="1" dirty="0">
                <a:latin typeface="Times New Roman" panose="02020603050405020304" pitchFamily="18" charset="0"/>
              </a:rPr>
              <a:t> e)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 dirty="0">
                <a:latin typeface="Times New Roman" panose="02020603050405020304" pitchFamily="18" charset="0"/>
              </a:rPr>
              <a:t>        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 dirty="0">
                <a:latin typeface="Times New Roman" panose="02020603050405020304" pitchFamily="18" charset="0"/>
              </a:rPr>
              <a:t>                        </a:t>
            </a:r>
            <a:r>
              <a:rPr lang="en-US" altLang="en-US" sz="1400" b="1" dirty="0" err="1">
                <a:latin typeface="Times New Roman" panose="02020603050405020304" pitchFamily="18" charset="0"/>
              </a:rPr>
              <a:t>System.out.println</a:t>
            </a:r>
            <a:r>
              <a:rPr lang="en-US" altLang="en-US" sz="1400" b="1" dirty="0">
                <a:latin typeface="Times New Roman" panose="02020603050405020304" pitchFamily="18" charset="0"/>
              </a:rPr>
              <a:t>("Child Interrupted.");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 dirty="0">
                <a:latin typeface="Times New Roman" panose="02020603050405020304" pitchFamily="18" charset="0"/>
              </a:rPr>
              <a:t>        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 dirty="0">
                <a:latin typeface="Times New Roman" panose="02020603050405020304" pitchFamily="18" charset="0"/>
              </a:rPr>
              <a:t>                </a:t>
            </a:r>
            <a:r>
              <a:rPr lang="en-US" altLang="en-US" sz="1400" b="1" dirty="0" err="1">
                <a:latin typeface="Times New Roman" panose="02020603050405020304" pitchFamily="18" charset="0"/>
              </a:rPr>
              <a:t>System.out.println</a:t>
            </a:r>
            <a:r>
              <a:rPr lang="en-US" altLang="en-US" sz="1400" b="1" dirty="0">
                <a:latin typeface="Times New Roman" panose="02020603050405020304" pitchFamily="18" charset="0"/>
              </a:rPr>
              <a:t>("Exiting child thread.");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 dirty="0">
                <a:latin typeface="Times New Roman" panose="02020603050405020304" pitchFamily="18" charset="0"/>
              </a:rPr>
              <a:t>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 dirty="0">
                <a:latin typeface="Times New Roman" panose="02020603050405020304" pitchFamily="18" charset="0"/>
              </a:rPr>
              <a:t>}</a:t>
            </a:r>
          </a:p>
          <a:p>
            <a:pPr>
              <a:lnSpc>
                <a:spcPct val="80000"/>
              </a:lnSpc>
            </a:pPr>
            <a:endParaRPr lang="en-US" altLang="en-US" sz="1400" b="1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600" dirty="0">
              <a:latin typeface="Times New Roman" panose="02020603050405020304" pitchFamily="18" charset="0"/>
            </a:endParaRPr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838200"/>
            <a:ext cx="4648200" cy="5292725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class threadDemo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public static void main(String args[])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new NewThread();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try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        for(int n=5;n&gt;0;n--)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            System.out.println("Main Thread: " +n);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            Thread.sleep(1000);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catch(InterruptedException e)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        System.out.println("Main Interrupted.");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400" b="1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System.out.println("Exiting Main thread.");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400" b="1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}</a:t>
            </a:r>
          </a:p>
          <a:p>
            <a:pPr>
              <a:lnSpc>
                <a:spcPct val="80000"/>
              </a:lnSpc>
            </a:pPr>
            <a:endParaRPr lang="en-US" altLang="en-US" sz="1400" b="1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US" altLang="en-US" sz="1000"/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914400" y="2590800"/>
            <a:ext cx="3124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14343" name="Text Box 7"/>
          <p:cNvSpPr txBox="1">
            <a:spLocks noChangeArrowheads="1"/>
          </p:cNvSpPr>
          <p:nvPr/>
        </p:nvSpPr>
        <p:spPr bwMode="auto">
          <a:xfrm>
            <a:off x="838200" y="2667000"/>
            <a:ext cx="4114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Thread(Runnable thob, String thname)</a:t>
            </a:r>
          </a:p>
        </p:txBody>
      </p:sp>
      <p:sp>
        <p:nvSpPr>
          <p:cNvPr id="14344" name="Line 8"/>
          <p:cNvSpPr>
            <a:spLocks noChangeShapeType="1"/>
          </p:cNvSpPr>
          <p:nvPr/>
        </p:nvSpPr>
        <p:spPr bwMode="auto">
          <a:xfrm>
            <a:off x="3276600" y="1981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A3DE8-8555-4636-8BD5-29E102080436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4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4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34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34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34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34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4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4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34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34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34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34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4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34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34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34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34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34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340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340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340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340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340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340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340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340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340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340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340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340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340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340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43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43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43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43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43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43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4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4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4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4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4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4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43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43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43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43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43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43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43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143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43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43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434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434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1434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434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434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434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1434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1434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1434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1434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1434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1434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3" grpId="0" animBg="1"/>
      <p:bldP spid="1434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</a:rPr>
              <a:t>Output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8229600" cy="54102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Child thread: Thread[demo thread, 5, main]</a:t>
            </a:r>
          </a:p>
          <a:p>
            <a:pPr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Main Thread: 5</a:t>
            </a:r>
          </a:p>
          <a:p>
            <a:pPr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Child Thread: 5</a:t>
            </a:r>
          </a:p>
          <a:p>
            <a:pPr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Child Thread: 4</a:t>
            </a:r>
          </a:p>
          <a:p>
            <a:pPr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Main Thread: 4</a:t>
            </a:r>
          </a:p>
          <a:p>
            <a:pPr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Child Thread: 3</a:t>
            </a:r>
          </a:p>
          <a:p>
            <a:pPr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Child Thread: 2</a:t>
            </a:r>
          </a:p>
          <a:p>
            <a:pPr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Main Thread: 3</a:t>
            </a:r>
          </a:p>
          <a:p>
            <a:pPr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Child Thread: 1</a:t>
            </a:r>
          </a:p>
          <a:p>
            <a:pPr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Exiting Child Thread</a:t>
            </a:r>
          </a:p>
          <a:p>
            <a:pPr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Main Thread: 2</a:t>
            </a:r>
          </a:p>
          <a:p>
            <a:pPr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Main Thread: 1</a:t>
            </a:r>
          </a:p>
          <a:p>
            <a:pPr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Exiting Main thread</a:t>
            </a:r>
            <a:r>
              <a:rPr lang="en-US" altLang="en-US" sz="2400">
                <a:latin typeface="Times New Roman" panose="02020603050405020304" pitchFamily="18" charset="0"/>
              </a:rPr>
              <a:t> </a:t>
            </a:r>
          </a:p>
          <a:p>
            <a:pPr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 </a:t>
            </a:r>
          </a:p>
          <a:p>
            <a:pPr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12FE3-B204-4318-8B8A-055377A9E40D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41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45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49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63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53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63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416" name="Rectangle 17415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en-US" sz="4300">
                <a:latin typeface="Times New Roman" panose="02020603050405020304" pitchFamily="18" charset="0"/>
              </a:rPr>
              <a:t>Second Approach- Extends Thread</a:t>
            </a:r>
          </a:p>
        </p:txBody>
      </p:sp>
      <p:sp>
        <p:nvSpPr>
          <p:cNvPr id="17418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1900">
                <a:latin typeface="Times New Roman" panose="02020603050405020304" pitchFamily="18" charset="0"/>
              </a:rPr>
              <a:t>Create a new class that extends Thread and then create an instance of that class.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1900">
                <a:latin typeface="Times New Roman" panose="02020603050405020304" pitchFamily="18" charset="0"/>
              </a:rPr>
              <a:t>The extending class must override the </a:t>
            </a:r>
            <a:r>
              <a:rPr lang="en-US" altLang="en-US" sz="1900" b="1">
                <a:latin typeface="Times New Roman" panose="02020603050405020304" pitchFamily="18" charset="0"/>
              </a:rPr>
              <a:t>run()</a:t>
            </a:r>
            <a:r>
              <a:rPr lang="en-US" altLang="en-US" sz="1900">
                <a:latin typeface="Times New Roman" panose="02020603050405020304" pitchFamily="18" charset="0"/>
              </a:rPr>
              <a:t> method.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1900">
                <a:latin typeface="Times New Roman" panose="02020603050405020304" pitchFamily="18" charset="0"/>
              </a:rPr>
              <a:t>It must also call the </a:t>
            </a:r>
            <a:r>
              <a:rPr lang="en-US" altLang="en-US" sz="1900" b="1">
                <a:latin typeface="Times New Roman" panose="02020603050405020304" pitchFamily="18" charset="0"/>
              </a:rPr>
              <a:t>start()</a:t>
            </a:r>
            <a:r>
              <a:rPr lang="en-US" altLang="en-US" sz="1900">
                <a:latin typeface="Times New Roman" panose="02020603050405020304" pitchFamily="18" charset="0"/>
              </a:rPr>
              <a:t> method to begin execution of the new thread.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altLang="en-US" sz="1900">
              <a:latin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A912FE3-B204-4318-8B8A-055377A9E40D}" type="slidenum">
              <a:rPr lang="en-US" altLang="en-US" smtClean="0"/>
              <a:pPr>
                <a:spcAft>
                  <a:spcPts val="600"/>
                </a:spcAft>
              </a:pPr>
              <a:t>9</a:t>
            </a:fld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7772400" cy="762000"/>
          </a:xfrm>
        </p:spPr>
        <p:txBody>
          <a:bodyPr/>
          <a:lstStyle/>
          <a:p>
            <a:r>
              <a:rPr lang="en-US" altLang="en-US" b="1">
                <a:latin typeface="Times New Roman" panose="02020603050405020304" pitchFamily="18" charset="0"/>
              </a:rPr>
              <a:t>Example-Second Approach</a:t>
            </a:r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990600"/>
            <a:ext cx="4724400" cy="5140325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class NewThread extends Thread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NewThread()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super("demo thread");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System.out.println("Child Thread: "+this);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start();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400" b="1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public void run()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try{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        for(int i=5;i&gt;0;i--)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        {                                 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                System.out.println("Child Thread: "+i);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                Thread.sleep(500);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catch(InterruptedException e)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        System.out.println("Child Interrupted.");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System.out.println("Exiting Child Thread.");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}</a:t>
            </a:r>
          </a:p>
          <a:p>
            <a:pPr>
              <a:lnSpc>
                <a:spcPct val="80000"/>
              </a:lnSpc>
            </a:pPr>
            <a:endParaRPr lang="en-US" altLang="en-US" sz="1400" b="1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400" b="1">
              <a:latin typeface="Times New Roman" panose="02020603050405020304" pitchFamily="18" charset="0"/>
            </a:endParaRPr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body" sz="half" idx="2"/>
          </p:nvPr>
        </p:nvSpPr>
        <p:spPr>
          <a:xfrm>
            <a:off x="4419600" y="838200"/>
            <a:ext cx="4724400" cy="57150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class exthread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public static void main(String args[])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new NewThread();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400" b="1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try{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        for(int i=5;i&gt;0;i--)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                System.out.println("Main Thread: "+i);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                Thread.sleep(1000);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catch(InterruptedException e)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        System.out.println("Main Interrupted.");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400" b="1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System.out.println("Exiting Main Thread.");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}</a:t>
            </a:r>
          </a:p>
          <a:p>
            <a:pPr>
              <a:lnSpc>
                <a:spcPct val="80000"/>
              </a:lnSpc>
            </a:pPr>
            <a:endParaRPr lang="en-US" altLang="en-US" sz="1400" b="1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US" altLang="en-US" sz="1600" b="1">
              <a:latin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A3DE8-8555-4636-8BD5-29E102080436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84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84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843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843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843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843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843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843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843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843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843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843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1843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8437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18437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184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84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184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184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184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184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500"/>
                                        <p:tgtEl>
                                          <p:spTgt spid="184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184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184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5" dur="500"/>
                                        <p:tgtEl>
                                          <p:spTgt spid="184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500"/>
                                        <p:tgtEl>
                                          <p:spTgt spid="184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1" dur="500"/>
                                        <p:tgtEl>
                                          <p:spTgt spid="184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4" dur="500"/>
                                        <p:tgtEl>
                                          <p:spTgt spid="184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" dur="500"/>
                                        <p:tgtEl>
                                          <p:spTgt spid="184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0" dur="500"/>
                                        <p:tgtEl>
                                          <p:spTgt spid="1843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3" dur="500"/>
                                        <p:tgtEl>
                                          <p:spTgt spid="1843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6" dur="500"/>
                                        <p:tgtEl>
                                          <p:spTgt spid="1843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9" dur="500"/>
                                        <p:tgtEl>
                                          <p:spTgt spid="1843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2" dur="500"/>
                                        <p:tgtEl>
                                          <p:spTgt spid="1843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76200"/>
            <a:ext cx="8382000" cy="381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</a:rPr>
              <a:t>Creating Multiple Thread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457200"/>
            <a:ext cx="4724400" cy="57150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class NewThread implements Runnable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String name;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Thread t;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400" b="1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NewThread(String tmp)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name=tmp;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t= new Thread(this,name);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System.out.println("New Thread: "+t);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t.start();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public void run()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try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        for(int i=5;i&gt;0;i--)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                System.out.println(name+" : "+i);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                Thread.sleep(1000);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catch(InterruptedException e)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        System.out.println(name+" Interrupted.");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System.out.println(name + " Exiting.");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400" b="1">
              <a:latin typeface="Times New Roman" panose="02020603050405020304" pitchFamily="18" charset="0"/>
            </a:endParaRPr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609600"/>
            <a:ext cx="4495800" cy="4987925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class multhread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public static void main(String args[])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new NewThread("One");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new NewThread("Two");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new NewThread("Three");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400" b="1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try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        Thread.sleep(10000);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catch(InterruptedException e)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        System.out.println("Main Interrupted.");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        System.out.println("Exiting Main.");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}</a:t>
            </a:r>
          </a:p>
          <a:p>
            <a:pPr>
              <a:lnSpc>
                <a:spcPct val="80000"/>
              </a:lnSpc>
            </a:pPr>
            <a:endParaRPr lang="en-US" altLang="en-US" sz="1400" b="1">
              <a:latin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A3DE8-8555-4636-8BD5-29E102080436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48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048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048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048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048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048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048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048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048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048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048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2048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048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2048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20484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20484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204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204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20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204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204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204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2048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8" dur="500"/>
                                        <p:tgtEl>
                                          <p:spTgt spid="2048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20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204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3" dur="500"/>
                                        <p:tgtEl>
                                          <p:spTgt spid="204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8" dur="500"/>
                                        <p:tgtEl>
                                          <p:spTgt spid="204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1" dur="500"/>
                                        <p:tgtEl>
                                          <p:spTgt spid="204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4" dur="500"/>
                                        <p:tgtEl>
                                          <p:spTgt spid="2048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7" dur="500"/>
                                        <p:tgtEl>
                                          <p:spTgt spid="2048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0" dur="500"/>
                                        <p:tgtEl>
                                          <p:spTgt spid="2048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3" dur="500"/>
                                        <p:tgtEl>
                                          <p:spTgt spid="2048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6" dur="500"/>
                                        <p:tgtEl>
                                          <p:spTgt spid="2048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9" dur="500"/>
                                        <p:tgtEl>
                                          <p:spTgt spid="2048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2" dur="500"/>
                                        <p:tgtEl>
                                          <p:spTgt spid="2048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228600"/>
            <a:ext cx="7772400" cy="1143000"/>
          </a:xfrm>
        </p:spPr>
        <p:txBody>
          <a:bodyPr/>
          <a:lstStyle/>
          <a:p>
            <a:r>
              <a:rPr lang="en-US" altLang="en-US" b="1">
                <a:latin typeface="Times New Roman" panose="02020603050405020304" pitchFamily="18" charset="0"/>
              </a:rPr>
              <a:t>Output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14400"/>
            <a:ext cx="8382000" cy="59436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New thread: Thread [One, 5, main]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New thread: Thread [Two, 5, main]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New thread: Thread [Three, 5, main]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One: 5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Two: 5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Three:5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One: 4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Two: 4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Three: 4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One: 3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Three: 3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Two: 3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One: 2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Three: 2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Two: 2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One: 1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Three: 1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Two: 1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One Exiting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Two Exiting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Three Exiting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Main Exiting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600">
              <a:latin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12FE3-B204-4318-8B8A-055377A9E40D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41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45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49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53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25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8500"/>
                            </p:stCondLst>
                            <p:childTnLst>
                              <p:par>
                                <p:cTn id="57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25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61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25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21500"/>
                            </p:stCondLst>
                            <p:childTnLst>
                              <p:par>
                                <p:cTn id="65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25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69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253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24500"/>
                            </p:stCondLst>
                            <p:childTnLst>
                              <p:par>
                                <p:cTn id="73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253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6000"/>
                            </p:stCondLst>
                            <p:childTnLst>
                              <p:par>
                                <p:cTn id="77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253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27500"/>
                            </p:stCondLst>
                            <p:childTnLst>
                              <p:par>
                                <p:cTn id="81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22531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29000"/>
                            </p:stCondLst>
                            <p:childTnLst>
                              <p:par>
                                <p:cTn id="85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2531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30500"/>
                            </p:stCondLst>
                            <p:childTnLst>
                              <p:par>
                                <p:cTn id="89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22531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304800"/>
            <a:ext cx="7924800" cy="62484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2800" b="1" u="sng" dirty="0" err="1">
                <a:latin typeface="Times New Roman" panose="02020603050405020304" pitchFamily="18" charset="0"/>
              </a:rPr>
              <a:t>isAlive</a:t>
            </a:r>
            <a:r>
              <a:rPr lang="en-US" altLang="en-US" sz="2800" b="1" u="sng" dirty="0">
                <a:latin typeface="Times New Roman" panose="02020603050405020304" pitchFamily="18" charset="0"/>
              </a:rPr>
              <a:t>():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800" dirty="0">
                <a:latin typeface="Times New Roman" panose="02020603050405020304" pitchFamily="18" charset="0"/>
              </a:rPr>
              <a:t>	- final </a:t>
            </a:r>
            <a:r>
              <a:rPr lang="en-US" altLang="en-US" sz="2800" dirty="0" err="1">
                <a:latin typeface="Times New Roman" panose="02020603050405020304" pitchFamily="18" charset="0"/>
              </a:rPr>
              <a:t>boolean</a:t>
            </a:r>
            <a:r>
              <a:rPr lang="en-US" altLang="en-US" sz="2800" dirty="0">
                <a:latin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</a:rPr>
              <a:t>isAlive</a:t>
            </a:r>
            <a:r>
              <a:rPr lang="en-US" altLang="en-US" sz="2800" dirty="0">
                <a:latin typeface="Times New Roman" panose="02020603050405020304" pitchFamily="18" charset="0"/>
              </a:rPr>
              <a:t>()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800" dirty="0">
                <a:latin typeface="Times New Roman" panose="02020603050405020304" pitchFamily="18" charset="0"/>
              </a:rPr>
              <a:t>	- it returns true if the thread upon which it is called is still running.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800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 b="1" u="sng" dirty="0">
                <a:latin typeface="Times New Roman" panose="02020603050405020304" pitchFamily="18" charset="0"/>
              </a:rPr>
              <a:t>join():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800" dirty="0">
                <a:latin typeface="Times New Roman" panose="02020603050405020304" pitchFamily="18" charset="0"/>
              </a:rPr>
              <a:t>    - final void join() throws </a:t>
            </a:r>
            <a:r>
              <a:rPr lang="en-US" altLang="en-US" sz="2800" dirty="0" err="1">
                <a:latin typeface="Times New Roman" panose="02020603050405020304" pitchFamily="18" charset="0"/>
              </a:rPr>
              <a:t>InterruptedException</a:t>
            </a:r>
            <a:endParaRPr lang="en-US" altLang="en-US" sz="2800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800" dirty="0">
                <a:latin typeface="Times New Roman" panose="02020603050405020304" pitchFamily="18" charset="0"/>
              </a:rPr>
              <a:t>    - This method waits until the thread on which it is called terminates.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12FE3-B204-4318-8B8A-055377A9E40D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7460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-152400"/>
            <a:ext cx="83058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</a:rPr>
              <a:t>Example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533400"/>
            <a:ext cx="4419600" cy="54102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class NewThread implements Runnable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String name;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Thread t;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NewThread(String tmp)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        name=tmp;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        t= new Thread(this,name);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        System.out.println("New Thread: "+t);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        t.start();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public void run()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        try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                for(int i=5;i&gt;0;i--)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        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                        System.out.println(name+" : "+i);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                        Thread.sleep(1000);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        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        catch(InterruptedException e)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                System.out.println(name+" Interrupted.");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        System.out.println(name + " Exiting.");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40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0" y="457200"/>
            <a:ext cx="4572000" cy="54102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class multhread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public static void main(String args[])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      NewThread ob1 = new NewThread("One");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      NewThread ob2 = new NewThread("Two");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      NewThread ob3 = new NewThread("Three");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	     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	      System.out.println(“One alive: “+ob1.t.isAlive());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	      System.out.println(“Two alive: “+ob1.t.isAlive());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      System.out.println(“Three alive: “+ob1.t.isAlive());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40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      try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          System.out.println(“Main is waiting.”);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	          ob1.t.join();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	          ob2.t.join();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	          ob3.t.join();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        catch(InterruptedException e)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  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                System.out.println("Main Interrupted.");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       System.out.println(“One alive: “+ob1.t.isAlive());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	       System.out.println(“Two alive: “+ob1.t.isAlive());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       System.out.println(“Three alive: “+ob1.t.isAlive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        System.out.println("Exiting Main.");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}</a:t>
            </a:r>
          </a:p>
          <a:p>
            <a:pPr>
              <a:lnSpc>
                <a:spcPct val="80000"/>
              </a:lnSpc>
            </a:pPr>
            <a:endParaRPr lang="en-US" altLang="en-US" sz="140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A3DE8-8555-4636-8BD5-29E102080436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0029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76200"/>
            <a:ext cx="8305800" cy="762000"/>
          </a:xfrm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Output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838200"/>
            <a:ext cx="4267200" cy="51816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New thread: Thread [One, 5, main]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New thread: Thread [Two, 5, main]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New thread: Thread [Three, 5, main]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One alive: true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Two alive: true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Three alive: true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Main is Waiting.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One: 5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Two: 5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Three:5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One: 4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Two: 4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Three: 4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One: 3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Three: 3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Two: 3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One: 2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Three: 2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Two: 2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00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US" altLang="en-US" sz="2000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876800" y="838200"/>
            <a:ext cx="3962400" cy="5257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One: 1</a:t>
            </a:r>
          </a:p>
          <a:p>
            <a:pPr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Three: 1</a:t>
            </a:r>
          </a:p>
          <a:p>
            <a:pPr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Two: 1</a:t>
            </a:r>
          </a:p>
          <a:p>
            <a:pPr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One Exiting</a:t>
            </a:r>
          </a:p>
          <a:p>
            <a:pPr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Two Exiting</a:t>
            </a:r>
          </a:p>
          <a:p>
            <a:pPr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Three Exiting</a:t>
            </a:r>
          </a:p>
          <a:p>
            <a:pPr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One alive: false</a:t>
            </a:r>
          </a:p>
          <a:p>
            <a:pPr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Two alive: false</a:t>
            </a:r>
          </a:p>
          <a:p>
            <a:pPr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Three alive: false</a:t>
            </a:r>
          </a:p>
          <a:p>
            <a:pPr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Main Exiting</a:t>
            </a:r>
          </a:p>
          <a:p>
            <a:endParaRPr lang="en-US" altLang="en-US" sz="28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A3DE8-8555-4636-8BD5-29E102080436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42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41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45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49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0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53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04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8500"/>
                            </p:stCondLst>
                            <p:childTnLst>
                              <p:par>
                                <p:cTn id="57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04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61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04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21500"/>
                            </p:stCondLst>
                            <p:childTnLst>
                              <p:par>
                                <p:cTn id="65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04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69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04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24500"/>
                            </p:stCondLst>
                            <p:childTnLst>
                              <p:par>
                                <p:cTn id="73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048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6000"/>
                            </p:stCondLst>
                            <p:childTnLst>
                              <p:par>
                                <p:cTn id="77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048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27500"/>
                            </p:stCondLst>
                            <p:childTnLst>
                              <p:par>
                                <p:cTn id="81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29000"/>
                            </p:stCondLst>
                            <p:childTnLst>
                              <p:par>
                                <p:cTn id="85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0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30500"/>
                            </p:stCondLst>
                            <p:childTnLst>
                              <p:par>
                                <p:cTn id="89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32000"/>
                            </p:stCondLst>
                            <p:childTnLst>
                              <p:par>
                                <p:cTn id="93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204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33500"/>
                            </p:stCondLst>
                            <p:childTnLst>
                              <p:par>
                                <p:cTn id="97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20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35000"/>
                            </p:stCondLst>
                            <p:childTnLst>
                              <p:par>
                                <p:cTn id="101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204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36500"/>
                            </p:stCondLst>
                            <p:childTnLst>
                              <p:par>
                                <p:cTn id="105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20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38000"/>
                            </p:stCondLst>
                            <p:childTnLst>
                              <p:par>
                                <p:cTn id="109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204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39500"/>
                            </p:stCondLst>
                            <p:childTnLst>
                              <p:par>
                                <p:cTn id="113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204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41000"/>
                            </p:stCondLst>
                            <p:childTnLst>
                              <p:par>
                                <p:cTn id="117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204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Chapter Eleven</a:t>
            </a:r>
          </a:p>
          <a:p>
            <a:pPr>
              <a:buFontTx/>
              <a:buNone/>
            </a:pPr>
            <a:r>
              <a:rPr lang="en-US" altLang="en-US"/>
              <a:t>Multithreading programming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12FE3-B204-4318-8B8A-055377A9E40D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334</TotalTime>
  <Words>1797</Words>
  <Application>Microsoft Macintosh PowerPoint</Application>
  <PresentationFormat>On-screen Show (4:3)</PresentationFormat>
  <Paragraphs>363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Times New Roman</vt:lpstr>
      <vt:lpstr>Wingdings</vt:lpstr>
      <vt:lpstr>Default Design</vt:lpstr>
      <vt:lpstr>Lecture 15B</vt:lpstr>
      <vt:lpstr>The Main Thread</vt:lpstr>
      <vt:lpstr>Example-Main Thread</vt:lpstr>
      <vt:lpstr>Useful Methods of Thread</vt:lpstr>
      <vt:lpstr>Creating Threads</vt:lpstr>
      <vt:lpstr>First Approach-Implement Runnable</vt:lpstr>
      <vt:lpstr>Example-First Approach</vt:lpstr>
      <vt:lpstr>Output</vt:lpstr>
      <vt:lpstr>Second Approach- Extends Thread</vt:lpstr>
      <vt:lpstr>Example-Second Approach</vt:lpstr>
      <vt:lpstr>Creating Multiple Thread</vt:lpstr>
      <vt:lpstr>Output</vt:lpstr>
      <vt:lpstr>PowerPoint Presentation</vt:lpstr>
      <vt:lpstr>Example</vt:lpstr>
      <vt:lpstr>Output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Fahim Arefin</cp:lastModifiedBy>
  <cp:revision>120</cp:revision>
  <dcterms:created xsi:type="dcterms:W3CDTF">1601-01-01T00:00:00Z</dcterms:created>
  <dcterms:modified xsi:type="dcterms:W3CDTF">2025-11-08T20:24:44Z</dcterms:modified>
</cp:coreProperties>
</file>